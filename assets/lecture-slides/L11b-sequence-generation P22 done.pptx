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1"/>
  </p:notesMasterIdLst>
  <p:sldIdLst>
    <p:sldId id="352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74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Peng" userId="9a3a89ac-6dd8-4a6b-97d3-85a7a6a6f053" providerId="ADAL" clId="{54604992-C275-4923-B707-0E92A3D5CEFF}"/>
    <pc:docChg chg="undo redo custSel addSld delSld modSld">
      <pc:chgData name="Richard Peng" userId="9a3a89ac-6dd8-4a6b-97d3-85a7a6a6f053" providerId="ADAL" clId="{54604992-C275-4923-B707-0E92A3D5CEFF}" dt="2026-10-23T09:01:11.389" v="165"/>
      <pc:docMkLst>
        <pc:docMk/>
      </pc:docMkLst>
      <pc:sldChg chg="del">
        <pc:chgData name="Richard Peng" userId="9a3a89ac-6dd8-4a6b-97d3-85a7a6a6f053" providerId="ADAL" clId="{54604992-C275-4923-B707-0E92A3D5CEFF}" dt="2026-10-23T08:29:49.494" v="17" actId="47"/>
        <pc:sldMkLst>
          <pc:docMk/>
          <pc:sldMk cId="0" sldId="256"/>
        </pc:sldMkLst>
      </pc:sldChg>
      <pc:sldChg chg="del modNotes">
        <pc:chgData name="Richard Peng" userId="9a3a89ac-6dd8-4a6b-97d3-85a7a6a6f053" providerId="ADAL" clId="{54604992-C275-4923-B707-0E92A3D5CEFF}" dt="2026-10-23T08:30:14.720" v="18" actId="47"/>
        <pc:sldMkLst>
          <pc:docMk/>
          <pc:sldMk cId="0" sldId="258"/>
        </pc:sldMkLst>
      </pc:sldChg>
      <pc:sldChg chg="addSp modSp mod">
        <pc:chgData name="Richard Peng" userId="9a3a89ac-6dd8-4a6b-97d3-85a7a6a6f053" providerId="ADAL" clId="{54604992-C275-4923-B707-0E92A3D5CEFF}" dt="2026-10-23T08:34:26.823" v="25" actId="6549"/>
        <pc:sldMkLst>
          <pc:docMk/>
          <pc:sldMk cId="0" sldId="259"/>
        </pc:sldMkLst>
        <pc:spChg chg="add mod">
          <ac:chgData name="Richard Peng" userId="9a3a89ac-6dd8-4a6b-97d3-85a7a6a6f053" providerId="ADAL" clId="{54604992-C275-4923-B707-0E92A3D5CEFF}" dt="2026-10-23T08:34:01.992" v="22" actId="113"/>
          <ac:spMkLst>
            <pc:docMk/>
            <pc:sldMk cId="0" sldId="259"/>
            <ac:spMk id="3" creationId="{71CF9570-0507-244A-0797-7DB32C935B07}"/>
          </ac:spMkLst>
        </pc:spChg>
        <pc:spChg chg="mod">
          <ac:chgData name="Richard Peng" userId="9a3a89ac-6dd8-4a6b-97d3-85a7a6a6f053" providerId="ADAL" clId="{54604992-C275-4923-B707-0E92A3D5CEFF}" dt="2026-10-23T08:34:26.823" v="25" actId="6549"/>
          <ac:spMkLst>
            <pc:docMk/>
            <pc:sldMk cId="0" sldId="259"/>
            <ac:spMk id="199" creationId="{00000000-0000-0000-0000-000000000000}"/>
          </ac:spMkLst>
        </pc:spChg>
      </pc:sldChg>
      <pc:sldChg chg="delSp mod">
        <pc:chgData name="Richard Peng" userId="9a3a89ac-6dd8-4a6b-97d3-85a7a6a6f053" providerId="ADAL" clId="{54604992-C275-4923-B707-0E92A3D5CEFF}" dt="2026-10-23T08:34:51.766" v="26" actId="478"/>
        <pc:sldMkLst>
          <pc:docMk/>
          <pc:sldMk cId="0" sldId="260"/>
        </pc:sldMkLst>
        <pc:spChg chg="del">
          <ac:chgData name="Richard Peng" userId="9a3a89ac-6dd8-4a6b-97d3-85a7a6a6f053" providerId="ADAL" clId="{54604992-C275-4923-B707-0E92A3D5CEFF}" dt="2026-10-23T08:34:51.766" v="26" actId="478"/>
          <ac:spMkLst>
            <pc:docMk/>
            <pc:sldMk cId="0" sldId="260"/>
            <ac:spMk id="206" creationId="{00000000-0000-0000-0000-000000000000}"/>
          </ac:spMkLst>
        </pc:spChg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261"/>
        </pc:sldMkLst>
      </pc:sldChg>
      <pc:sldChg chg="addSp modSp mod">
        <pc:chgData name="Richard Peng" userId="9a3a89ac-6dd8-4a6b-97d3-85a7a6a6f053" providerId="ADAL" clId="{54604992-C275-4923-B707-0E92A3D5CEFF}" dt="2026-10-23T08:40:10.621" v="28" actId="1076"/>
        <pc:sldMkLst>
          <pc:docMk/>
          <pc:sldMk cId="0" sldId="263"/>
        </pc:sldMkLst>
        <pc:spChg chg="add mod">
          <ac:chgData name="Richard Peng" userId="9a3a89ac-6dd8-4a6b-97d3-85a7a6a6f053" providerId="ADAL" clId="{54604992-C275-4923-B707-0E92A3D5CEFF}" dt="2026-10-23T08:40:10.621" v="28" actId="1076"/>
          <ac:spMkLst>
            <pc:docMk/>
            <pc:sldMk cId="0" sldId="263"/>
            <ac:spMk id="3" creationId="{8AC8E048-69A2-37AA-8400-D1D5ADA2D8A4}"/>
          </ac:spMkLst>
        </pc:spChg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264"/>
        </pc:sldMkLst>
      </pc:sldChg>
      <pc:sldChg chg="del modNotes">
        <pc:chgData name="Richard Peng" userId="9a3a89ac-6dd8-4a6b-97d3-85a7a6a6f053" providerId="ADAL" clId="{54604992-C275-4923-B707-0E92A3D5CEFF}" dt="2026-10-23T08:40:55.878" v="29" actId="47"/>
        <pc:sldMkLst>
          <pc:docMk/>
          <pc:sldMk cId="0" sldId="265"/>
        </pc:sldMkLst>
      </pc:sldChg>
      <pc:sldChg chg="modSp mod">
        <pc:chgData name="Richard Peng" userId="9a3a89ac-6dd8-4a6b-97d3-85a7a6a6f053" providerId="ADAL" clId="{54604992-C275-4923-B707-0E92A3D5CEFF}" dt="2026-10-23T08:43:47.778" v="58" actId="14100"/>
        <pc:sldMkLst>
          <pc:docMk/>
          <pc:sldMk cId="0" sldId="268"/>
        </pc:sldMkLst>
        <pc:spChg chg="mod">
          <ac:chgData name="Richard Peng" userId="9a3a89ac-6dd8-4a6b-97d3-85a7a6a6f053" providerId="ADAL" clId="{54604992-C275-4923-B707-0E92A3D5CEFF}" dt="2026-10-23T08:43:47.778" v="58" actId="14100"/>
          <ac:spMkLst>
            <pc:docMk/>
            <pc:sldMk cId="0" sldId="268"/>
            <ac:spMk id="294" creationId="{00000000-0000-0000-0000-000000000000}"/>
          </ac:spMkLst>
        </pc:spChg>
        <pc:spChg chg="mod">
          <ac:chgData name="Richard Peng" userId="9a3a89ac-6dd8-4a6b-97d3-85a7a6a6f053" providerId="ADAL" clId="{54604992-C275-4923-B707-0E92A3D5CEFF}" dt="2026-10-23T08:43:38.629" v="53" actId="1076"/>
          <ac:spMkLst>
            <pc:docMk/>
            <pc:sldMk cId="0" sldId="268"/>
            <ac:spMk id="298" creationId="{00000000-0000-0000-0000-000000000000}"/>
          </ac:spMkLst>
        </pc:spChg>
        <pc:grpChg chg="mod">
          <ac:chgData name="Richard Peng" userId="9a3a89ac-6dd8-4a6b-97d3-85a7a6a6f053" providerId="ADAL" clId="{54604992-C275-4923-B707-0E92A3D5CEFF}" dt="2026-10-23T08:43:38.629" v="53" actId="1076"/>
          <ac:grpSpMkLst>
            <pc:docMk/>
            <pc:sldMk cId="0" sldId="268"/>
            <ac:grpSpMk id="254" creationId="{00000000-0000-0000-0000-000000000000}"/>
          </ac:grpSpMkLst>
        </pc:grpChg>
      </pc:sldChg>
      <pc:sldChg chg="addSp delSp modSp mod">
        <pc:chgData name="Richard Peng" userId="9a3a89ac-6dd8-4a6b-97d3-85a7a6a6f053" providerId="ADAL" clId="{54604992-C275-4923-B707-0E92A3D5CEFF}" dt="2026-10-23T08:44:18.698" v="63"/>
        <pc:sldMkLst>
          <pc:docMk/>
          <pc:sldMk cId="0" sldId="269"/>
        </pc:sldMkLst>
        <pc:spChg chg="add mod">
          <ac:chgData name="Richard Peng" userId="9a3a89ac-6dd8-4a6b-97d3-85a7a6a6f053" providerId="ADAL" clId="{54604992-C275-4923-B707-0E92A3D5CEFF}" dt="2026-10-23T08:44:18.698" v="63"/>
          <ac:spMkLst>
            <pc:docMk/>
            <pc:sldMk cId="0" sldId="269"/>
            <ac:spMk id="2" creationId="{C09333D0-8A86-7586-CE6C-A7A7BA1456D5}"/>
          </ac:spMkLst>
        </pc:spChg>
        <pc:spChg chg="del">
          <ac:chgData name="Richard Peng" userId="9a3a89ac-6dd8-4a6b-97d3-85a7a6a6f053" providerId="ADAL" clId="{54604992-C275-4923-B707-0E92A3D5CEFF}" dt="2026-10-23T08:44:18.323" v="62" actId="478"/>
          <ac:spMkLst>
            <pc:docMk/>
            <pc:sldMk cId="0" sldId="269"/>
            <ac:spMk id="353" creationId="{00000000-0000-0000-0000-000000000000}"/>
          </ac:spMkLst>
        </pc:spChg>
      </pc:sldChg>
      <pc:sldChg chg="addSp delSp modSp mod">
        <pc:chgData name="Richard Peng" userId="9a3a89ac-6dd8-4a6b-97d3-85a7a6a6f053" providerId="ADAL" clId="{54604992-C275-4923-B707-0E92A3D5CEFF}" dt="2026-10-23T08:44:21.969" v="65"/>
        <pc:sldMkLst>
          <pc:docMk/>
          <pc:sldMk cId="0" sldId="270"/>
        </pc:sldMkLst>
        <pc:spChg chg="add mod">
          <ac:chgData name="Richard Peng" userId="9a3a89ac-6dd8-4a6b-97d3-85a7a6a6f053" providerId="ADAL" clId="{54604992-C275-4923-B707-0E92A3D5CEFF}" dt="2026-10-23T08:44:21.969" v="65"/>
          <ac:spMkLst>
            <pc:docMk/>
            <pc:sldMk cId="0" sldId="270"/>
            <ac:spMk id="2" creationId="{BEF143CB-BB05-AD1B-5A49-AE5EB9A32FA7}"/>
          </ac:spMkLst>
        </pc:spChg>
        <pc:spChg chg="del">
          <ac:chgData name="Richard Peng" userId="9a3a89ac-6dd8-4a6b-97d3-85a7a6a6f053" providerId="ADAL" clId="{54604992-C275-4923-B707-0E92A3D5CEFF}" dt="2026-10-23T08:44:21.683" v="64" actId="478"/>
          <ac:spMkLst>
            <pc:docMk/>
            <pc:sldMk cId="0" sldId="270"/>
            <ac:spMk id="411" creationId="{00000000-0000-0000-0000-000000000000}"/>
          </ac:spMkLst>
        </pc:spChg>
      </pc:sldChg>
      <pc:sldChg chg="addSp delSp modSp mod">
        <pc:chgData name="Richard Peng" userId="9a3a89ac-6dd8-4a6b-97d3-85a7a6a6f053" providerId="ADAL" clId="{54604992-C275-4923-B707-0E92A3D5CEFF}" dt="2026-10-23T08:43:56.732" v="61" actId="1076"/>
        <pc:sldMkLst>
          <pc:docMk/>
          <pc:sldMk cId="0" sldId="271"/>
        </pc:sldMkLst>
        <pc:spChg chg="add mod">
          <ac:chgData name="Richard Peng" userId="9a3a89ac-6dd8-4a6b-97d3-85a7a6a6f053" providerId="ADAL" clId="{54604992-C275-4923-B707-0E92A3D5CEFF}" dt="2026-10-23T08:43:56.732" v="61" actId="1076"/>
          <ac:spMkLst>
            <pc:docMk/>
            <pc:sldMk cId="0" sldId="271"/>
            <ac:spMk id="2" creationId="{E796C46A-D5FE-4014-1FE5-36DE05CF5E96}"/>
          </ac:spMkLst>
        </pc:spChg>
        <pc:spChg chg="del">
          <ac:chgData name="Richard Peng" userId="9a3a89ac-6dd8-4a6b-97d3-85a7a6a6f053" providerId="ADAL" clId="{54604992-C275-4923-B707-0E92A3D5CEFF}" dt="2026-10-23T08:43:53.923" v="59" actId="478"/>
          <ac:spMkLst>
            <pc:docMk/>
            <pc:sldMk cId="0" sldId="271"/>
            <ac:spMk id="465" creationId="{00000000-0000-0000-0000-000000000000}"/>
          </ac:spMkLst>
        </pc:spChg>
      </pc:sldChg>
      <pc:sldChg chg="modSp mod">
        <pc:chgData name="Richard Peng" userId="9a3a89ac-6dd8-4a6b-97d3-85a7a6a6f053" providerId="ADAL" clId="{54604992-C275-4923-B707-0E92A3D5CEFF}" dt="2026-10-23T08:46:08.818" v="76" actId="1076"/>
        <pc:sldMkLst>
          <pc:docMk/>
          <pc:sldMk cId="0" sldId="275"/>
        </pc:sldMkLst>
        <pc:spChg chg="mod">
          <ac:chgData name="Richard Peng" userId="9a3a89ac-6dd8-4a6b-97d3-85a7a6a6f053" providerId="ADAL" clId="{54604992-C275-4923-B707-0E92A3D5CEFF}" dt="2026-10-23T08:46:08.818" v="76" actId="1076"/>
          <ac:spMkLst>
            <pc:docMk/>
            <pc:sldMk cId="0" sldId="275"/>
            <ac:spMk id="756" creationId="{00000000-0000-0000-0000-000000000000}"/>
          </ac:spMkLst>
        </pc:spChg>
      </pc:sldChg>
      <pc:sldChg chg="modSp mod">
        <pc:chgData name="Richard Peng" userId="9a3a89ac-6dd8-4a6b-97d3-85a7a6a6f053" providerId="ADAL" clId="{54604992-C275-4923-B707-0E92A3D5CEFF}" dt="2026-10-23T08:47:11.153" v="78" actId="1076"/>
        <pc:sldMkLst>
          <pc:docMk/>
          <pc:sldMk cId="0" sldId="276"/>
        </pc:sldMkLst>
        <pc:spChg chg="mod">
          <ac:chgData name="Richard Peng" userId="9a3a89ac-6dd8-4a6b-97d3-85a7a6a6f053" providerId="ADAL" clId="{54604992-C275-4923-B707-0E92A3D5CEFF}" dt="2026-10-23T08:47:11.153" v="78" actId="1076"/>
          <ac:spMkLst>
            <pc:docMk/>
            <pc:sldMk cId="0" sldId="276"/>
            <ac:spMk id="784" creationId="{00000000-0000-0000-0000-000000000000}"/>
          </ac:spMkLst>
        </pc:spChg>
      </pc:sldChg>
      <pc:sldChg chg="addSp delSp modSp mod">
        <pc:chgData name="Richard Peng" userId="9a3a89ac-6dd8-4a6b-97d3-85a7a6a6f053" providerId="ADAL" clId="{54604992-C275-4923-B707-0E92A3D5CEFF}" dt="2026-10-23T09:01:11.389" v="165"/>
        <pc:sldMkLst>
          <pc:docMk/>
          <pc:sldMk cId="0" sldId="278"/>
        </pc:sldMkLst>
        <pc:spChg chg="add mod">
          <ac:chgData name="Richard Peng" userId="9a3a89ac-6dd8-4a6b-97d3-85a7a6a6f053" providerId="ADAL" clId="{54604992-C275-4923-B707-0E92A3D5CEFF}" dt="2026-10-23T09:00:58.267" v="154" actId="1076"/>
          <ac:spMkLst>
            <pc:docMk/>
            <pc:sldMk cId="0" sldId="278"/>
            <ac:spMk id="38" creationId="{B0D4499B-A49F-298C-71AA-99FA55CE32D3}"/>
          </ac:spMkLst>
        </pc:spChg>
        <pc:spChg chg="mod">
          <ac:chgData name="Richard Peng" userId="9a3a89ac-6dd8-4a6b-97d3-85a7a6a6f053" providerId="ADAL" clId="{54604992-C275-4923-B707-0E92A3D5CEFF}" dt="2026-10-23T08:58:23.252" v="84" actId="1076"/>
          <ac:spMkLst>
            <pc:docMk/>
            <pc:sldMk cId="0" sldId="278"/>
            <ac:spMk id="805" creationId="{00000000-0000-0000-0000-000000000000}"/>
          </ac:spMkLst>
        </pc:spChg>
        <pc:spChg chg="mod">
          <ac:chgData name="Richard Peng" userId="9a3a89ac-6dd8-4a6b-97d3-85a7a6a6f053" providerId="ADAL" clId="{54604992-C275-4923-B707-0E92A3D5CEFF}" dt="2026-10-23T08:58:23.252" v="84" actId="1076"/>
          <ac:spMkLst>
            <pc:docMk/>
            <pc:sldMk cId="0" sldId="278"/>
            <ac:spMk id="806" creationId="{00000000-0000-0000-0000-000000000000}"/>
          </ac:spMkLst>
        </pc:spChg>
        <pc:grpChg chg="del mod">
          <ac:chgData name="Richard Peng" userId="9a3a89ac-6dd8-4a6b-97d3-85a7a6a6f053" providerId="ADAL" clId="{54604992-C275-4923-B707-0E92A3D5CEFF}" dt="2026-10-23T08:59:11.639" v="93"/>
          <ac:grpSpMkLst>
            <pc:docMk/>
            <pc:sldMk cId="0" sldId="278"/>
            <ac:grpSpMk id="10" creationId="{97172FB5-1A37-3217-B4D2-78AAF825F8C7}"/>
          </ac:grpSpMkLst>
        </pc:grpChg>
        <pc:grpChg chg="del mod">
          <ac:chgData name="Richard Peng" userId="9a3a89ac-6dd8-4a6b-97d3-85a7a6a6f053" providerId="ADAL" clId="{54604992-C275-4923-B707-0E92A3D5CEFF}" dt="2026-10-23T08:59:40.622" v="95"/>
          <ac:grpSpMkLst>
            <pc:docMk/>
            <pc:sldMk cId="0" sldId="278"/>
            <ac:grpSpMk id="11" creationId="{BA8331B2-ED9E-44CA-8530-7FF52F5F3D37}"/>
          </ac:grpSpMkLst>
        </pc:grpChg>
        <pc:grpChg chg="add del mod">
          <ac:chgData name="Richard Peng" userId="9a3a89ac-6dd8-4a6b-97d3-85a7a6a6f053" providerId="ADAL" clId="{54604992-C275-4923-B707-0E92A3D5CEFF}" dt="2026-10-23T08:59:58.492" v="120"/>
          <ac:grpSpMkLst>
            <pc:docMk/>
            <pc:sldMk cId="0" sldId="278"/>
            <ac:grpSpMk id="13" creationId="{ABA8A302-B043-22EF-CE4F-98C8E1F385EB}"/>
          </ac:grpSpMkLst>
        </pc:grpChg>
        <pc:grpChg chg="add del mod">
          <ac:chgData name="Richard Peng" userId="9a3a89ac-6dd8-4a6b-97d3-85a7a6a6f053" providerId="ADAL" clId="{54604992-C275-4923-B707-0E92A3D5CEFF}" dt="2026-10-23T08:59:58.492" v="120"/>
          <ac:grpSpMkLst>
            <pc:docMk/>
            <pc:sldMk cId="0" sldId="278"/>
            <ac:grpSpMk id="20" creationId="{95F3C3E3-0C81-5599-E701-E1BC69D6DD0B}"/>
          </ac:grpSpMkLst>
        </pc:grpChg>
        <pc:grpChg chg="add del mod">
          <ac:chgData name="Richard Peng" userId="9a3a89ac-6dd8-4a6b-97d3-85a7a6a6f053" providerId="ADAL" clId="{54604992-C275-4923-B707-0E92A3D5CEFF}" dt="2026-10-23T08:59:57.213" v="115"/>
          <ac:grpSpMkLst>
            <pc:docMk/>
            <pc:sldMk cId="0" sldId="278"/>
            <ac:grpSpMk id="25" creationId="{573DCBD0-75C1-F0C2-11CF-DB71B050727E}"/>
          </ac:grpSpMkLst>
        </pc:grpChg>
        <pc:grpChg chg="mod">
          <ac:chgData name="Richard Peng" userId="9a3a89ac-6dd8-4a6b-97d3-85a7a6a6f053" providerId="ADAL" clId="{54604992-C275-4923-B707-0E92A3D5CEFF}" dt="2026-10-23T08:59:56.731" v="112"/>
          <ac:grpSpMkLst>
            <pc:docMk/>
            <pc:sldMk cId="0" sldId="278"/>
            <ac:grpSpMk id="28" creationId="{6061860E-42E6-A405-4663-9FB9B4554BBF}"/>
          </ac:grpSpMkLst>
        </pc:grpChg>
        <pc:grpChg chg="mod">
          <ac:chgData name="Richard Peng" userId="9a3a89ac-6dd8-4a6b-97d3-85a7a6a6f053" providerId="ADAL" clId="{54604992-C275-4923-B707-0E92A3D5CEFF}" dt="2026-10-23T09:00:03.045" v="130"/>
          <ac:grpSpMkLst>
            <pc:docMk/>
            <pc:sldMk cId="0" sldId="278"/>
            <ac:grpSpMk id="33" creationId="{7841AADE-C4E0-5405-F880-DAF078CF9B9B}"/>
          </ac:grpSpMkLst>
        </pc:grpChg>
        <pc:grpChg chg="mod">
          <ac:chgData name="Richard Peng" userId="9a3a89ac-6dd8-4a6b-97d3-85a7a6a6f053" providerId="ADAL" clId="{54604992-C275-4923-B707-0E92A3D5CEFF}" dt="2026-10-23T09:00:04.512" v="133"/>
          <ac:grpSpMkLst>
            <pc:docMk/>
            <pc:sldMk cId="0" sldId="278"/>
            <ac:grpSpMk id="36" creationId="{7928CA6D-7705-7D79-53AA-80DC64E1C69D}"/>
          </ac:grpSpMkLst>
        </pc:grpChg>
        <pc:grpChg chg="mod">
          <ac:chgData name="Richard Peng" userId="9a3a89ac-6dd8-4a6b-97d3-85a7a6a6f053" providerId="ADAL" clId="{54604992-C275-4923-B707-0E92A3D5CEFF}" dt="2026-10-23T09:01:11.389" v="165"/>
          <ac:grpSpMkLst>
            <pc:docMk/>
            <pc:sldMk cId="0" sldId="278"/>
            <ac:grpSpMk id="49" creationId="{2DAA3E78-53D9-474B-CFC2-9DD09CCE8C14}"/>
          </ac:grpSpMkLst>
        </pc:grpChg>
        <pc:graphicFrameChg chg="mod">
          <ac:chgData name="Richard Peng" userId="9a3a89ac-6dd8-4a6b-97d3-85a7a6a6f053" providerId="ADAL" clId="{54604992-C275-4923-B707-0E92A3D5CEFF}" dt="2026-10-23T08:58:23.252" v="84" actId="1076"/>
          <ac:graphicFrameMkLst>
            <pc:docMk/>
            <pc:sldMk cId="0" sldId="278"/>
            <ac:graphicFrameMk id="803" creationId="{00000000-0000-0000-0000-000000000000}"/>
          </ac:graphicFrameMkLst>
        </pc:graphicFrameChg>
        <pc:graphicFrameChg chg="mod">
          <ac:chgData name="Richard Peng" userId="9a3a89ac-6dd8-4a6b-97d3-85a7a6a6f053" providerId="ADAL" clId="{54604992-C275-4923-B707-0E92A3D5CEFF}" dt="2026-10-23T08:58:23.252" v="84" actId="1076"/>
          <ac:graphicFrameMkLst>
            <pc:docMk/>
            <pc:sldMk cId="0" sldId="278"/>
            <ac:graphicFrameMk id="804" creationId="{00000000-0000-0000-0000-000000000000}"/>
          </ac:graphicFrameMkLst>
        </pc:graphicFrameChg>
        <pc:picChg chg="add mod">
          <ac:chgData name="Richard Peng" userId="9a3a89ac-6dd8-4a6b-97d3-85a7a6a6f053" providerId="ADAL" clId="{54604992-C275-4923-B707-0E92A3D5CEFF}" dt="2026-10-23T08:58:26.541" v="86" actId="14100"/>
          <ac:picMkLst>
            <pc:docMk/>
            <pc:sldMk cId="0" sldId="278"/>
            <ac:picMk id="3" creationId="{59289D94-D9CB-2EFC-014E-4DBB161BF25F}"/>
          </ac:picMkLst>
        </pc:picChg>
        <pc:inkChg chg="add mod">
          <ac:chgData name="Richard Peng" userId="9a3a89ac-6dd8-4a6b-97d3-85a7a6a6f053" providerId="ADAL" clId="{54604992-C275-4923-B707-0E92A3D5CEFF}" dt="2026-10-23T08:59:58.492" v="120"/>
          <ac:inkMkLst>
            <pc:docMk/>
            <pc:sldMk cId="0" sldId="278"/>
            <ac:inkMk id="4" creationId="{998A15D2-97B0-63DF-579E-5045AB9609EE}"/>
          </ac:inkMkLst>
        </pc:inkChg>
        <pc:inkChg chg="add mod">
          <ac:chgData name="Richard Peng" userId="9a3a89ac-6dd8-4a6b-97d3-85a7a6a6f053" providerId="ADAL" clId="{54604992-C275-4923-B707-0E92A3D5CEFF}" dt="2026-10-23T08:59:58.492" v="120"/>
          <ac:inkMkLst>
            <pc:docMk/>
            <pc:sldMk cId="0" sldId="278"/>
            <ac:inkMk id="5" creationId="{FC19ED42-D6D0-BC18-3A5A-09B2DE1C5CEE}"/>
          </ac:inkMkLst>
        </pc:inkChg>
        <pc:inkChg chg="add mod">
          <ac:chgData name="Richard Peng" userId="9a3a89ac-6dd8-4a6b-97d3-85a7a6a6f053" providerId="ADAL" clId="{54604992-C275-4923-B707-0E92A3D5CEFF}" dt="2026-10-23T08:59:58.492" v="120"/>
          <ac:inkMkLst>
            <pc:docMk/>
            <pc:sldMk cId="0" sldId="278"/>
            <ac:inkMk id="6" creationId="{E0E0D194-6899-CAFD-BC29-AC948C6BBCFE}"/>
          </ac:inkMkLst>
        </pc:inkChg>
        <pc:inkChg chg="add mod">
          <ac:chgData name="Richard Peng" userId="9a3a89ac-6dd8-4a6b-97d3-85a7a6a6f053" providerId="ADAL" clId="{54604992-C275-4923-B707-0E92A3D5CEFF}" dt="2026-10-23T08:59:58.492" v="120"/>
          <ac:inkMkLst>
            <pc:docMk/>
            <pc:sldMk cId="0" sldId="278"/>
            <ac:inkMk id="7" creationId="{F6CF11C3-428C-938D-FD8C-E9D8A8A7C2FF}"/>
          </ac:inkMkLst>
        </pc:inkChg>
        <pc:inkChg chg="add mod">
          <ac:chgData name="Richard Peng" userId="9a3a89ac-6dd8-4a6b-97d3-85a7a6a6f053" providerId="ADAL" clId="{54604992-C275-4923-B707-0E92A3D5CEFF}" dt="2026-10-23T08:59:58.492" v="120"/>
          <ac:inkMkLst>
            <pc:docMk/>
            <pc:sldMk cId="0" sldId="278"/>
            <ac:inkMk id="8" creationId="{EAA6FA98-3749-9152-D241-604E9AA6566E}"/>
          </ac:inkMkLst>
        </pc:inkChg>
        <pc:inkChg chg="add mod">
          <ac:chgData name="Richard Peng" userId="9a3a89ac-6dd8-4a6b-97d3-85a7a6a6f053" providerId="ADAL" clId="{54604992-C275-4923-B707-0E92A3D5CEFF}" dt="2026-10-23T08:59:58.492" v="120"/>
          <ac:inkMkLst>
            <pc:docMk/>
            <pc:sldMk cId="0" sldId="278"/>
            <ac:inkMk id="9" creationId="{EBB1969A-9851-200D-232B-05295584B860}"/>
          </ac:inkMkLst>
        </pc:inkChg>
        <pc:inkChg chg="add mod">
          <ac:chgData name="Richard Peng" userId="9a3a89ac-6dd8-4a6b-97d3-85a7a6a6f053" providerId="ADAL" clId="{54604992-C275-4923-B707-0E92A3D5CEFF}" dt="2026-10-23T08:59:58.492" v="120"/>
          <ac:inkMkLst>
            <pc:docMk/>
            <pc:sldMk cId="0" sldId="278"/>
            <ac:inkMk id="12" creationId="{E0C0DBEF-EA27-C641-2D69-F6AAD52A6D75}"/>
          </ac:inkMkLst>
        </pc:inkChg>
        <pc:inkChg chg="add del mod">
          <ac:chgData name="Richard Peng" userId="9a3a89ac-6dd8-4a6b-97d3-85a7a6a6f053" providerId="ADAL" clId="{54604992-C275-4923-B707-0E92A3D5CEFF}" dt="2026-10-23T09:00:00.316" v="125" actId="9405"/>
          <ac:inkMkLst>
            <pc:docMk/>
            <pc:sldMk cId="0" sldId="278"/>
            <ac:inkMk id="14" creationId="{4D84F784-8BD4-A50C-14E5-00A4D79A77E1}"/>
          </ac:inkMkLst>
        </pc:inkChg>
        <pc:inkChg chg="add del mod">
          <ac:chgData name="Richard Peng" userId="9a3a89ac-6dd8-4a6b-97d3-85a7a6a6f053" providerId="ADAL" clId="{54604992-C275-4923-B707-0E92A3D5CEFF}" dt="2026-10-23T08:59:59.918" v="124" actId="9405"/>
          <ac:inkMkLst>
            <pc:docMk/>
            <pc:sldMk cId="0" sldId="278"/>
            <ac:inkMk id="15" creationId="{3725F301-97E7-8183-6C85-F37ACB83C558}"/>
          </ac:inkMkLst>
        </pc:inkChg>
        <pc:inkChg chg="add del mod">
          <ac:chgData name="Richard Peng" userId="9a3a89ac-6dd8-4a6b-97d3-85a7a6a6f053" providerId="ADAL" clId="{54604992-C275-4923-B707-0E92A3D5CEFF}" dt="2026-10-23T08:59:59.564" v="123" actId="9405"/>
          <ac:inkMkLst>
            <pc:docMk/>
            <pc:sldMk cId="0" sldId="278"/>
            <ac:inkMk id="16" creationId="{37033403-B01A-7950-167F-FC2DA823B855}"/>
          </ac:inkMkLst>
        </pc:inkChg>
        <pc:inkChg chg="add del mod">
          <ac:chgData name="Richard Peng" userId="9a3a89ac-6dd8-4a6b-97d3-85a7a6a6f053" providerId="ADAL" clId="{54604992-C275-4923-B707-0E92A3D5CEFF}" dt="2026-10-23T08:59:59.302" v="122" actId="9405"/>
          <ac:inkMkLst>
            <pc:docMk/>
            <pc:sldMk cId="0" sldId="278"/>
            <ac:inkMk id="17" creationId="{9E1EE838-4628-A658-711F-F26EF95B738C}"/>
          </ac:inkMkLst>
        </pc:inkChg>
        <pc:inkChg chg="add del mod">
          <ac:chgData name="Richard Peng" userId="9a3a89ac-6dd8-4a6b-97d3-85a7a6a6f053" providerId="ADAL" clId="{54604992-C275-4923-B707-0E92A3D5CEFF}" dt="2026-10-23T08:59:58.892" v="121" actId="9405"/>
          <ac:inkMkLst>
            <pc:docMk/>
            <pc:sldMk cId="0" sldId="278"/>
            <ac:inkMk id="18" creationId="{0E71F366-ACCC-F621-BC5C-0DA7E379F27C}"/>
          </ac:inkMkLst>
        </pc:inkChg>
        <pc:inkChg chg="add del mod">
          <ac:chgData name="Richard Peng" userId="9a3a89ac-6dd8-4a6b-97d3-85a7a6a6f053" providerId="ADAL" clId="{54604992-C275-4923-B707-0E92A3D5CEFF}" dt="2026-10-23T08:59:58.492" v="120"/>
          <ac:inkMkLst>
            <pc:docMk/>
            <pc:sldMk cId="0" sldId="278"/>
            <ac:inkMk id="19" creationId="{D2FF3334-3818-1942-BF5B-D02223F424FC}"/>
          </ac:inkMkLst>
        </pc:inkChg>
        <pc:inkChg chg="add del mod">
          <ac:chgData name="Richard Peng" userId="9a3a89ac-6dd8-4a6b-97d3-85a7a6a6f053" providerId="ADAL" clId="{54604992-C275-4923-B707-0E92A3D5CEFF}" dt="2026-10-23T08:59:58.190" v="118" actId="9405"/>
          <ac:inkMkLst>
            <pc:docMk/>
            <pc:sldMk cId="0" sldId="278"/>
            <ac:inkMk id="21" creationId="{F6906250-02CD-88B5-D8CB-409EC8AB7C90}"/>
          </ac:inkMkLst>
        </pc:inkChg>
        <pc:inkChg chg="add del mod">
          <ac:chgData name="Richard Peng" userId="9a3a89ac-6dd8-4a6b-97d3-85a7a6a6f053" providerId="ADAL" clId="{54604992-C275-4923-B707-0E92A3D5CEFF}" dt="2026-10-23T08:59:57.804" v="117" actId="9405"/>
          <ac:inkMkLst>
            <pc:docMk/>
            <pc:sldMk cId="0" sldId="278"/>
            <ac:inkMk id="22" creationId="{64FE9C28-ADF6-1547-D6CF-B8CFE24EB596}"/>
          </ac:inkMkLst>
        </pc:inkChg>
        <pc:inkChg chg="add del mod">
          <ac:chgData name="Richard Peng" userId="9a3a89ac-6dd8-4a6b-97d3-85a7a6a6f053" providerId="ADAL" clId="{54604992-C275-4923-B707-0E92A3D5CEFF}" dt="2026-10-23T08:59:57.450" v="116" actId="9405"/>
          <ac:inkMkLst>
            <pc:docMk/>
            <pc:sldMk cId="0" sldId="278"/>
            <ac:inkMk id="23" creationId="{BD86840E-B8B9-8C6F-6568-2A391726B7AC}"/>
          </ac:inkMkLst>
        </pc:inkChg>
        <pc:inkChg chg="add del mod">
          <ac:chgData name="Richard Peng" userId="9a3a89ac-6dd8-4a6b-97d3-85a7a6a6f053" providerId="ADAL" clId="{54604992-C275-4923-B707-0E92A3D5CEFF}" dt="2026-10-23T08:59:57.213" v="115"/>
          <ac:inkMkLst>
            <pc:docMk/>
            <pc:sldMk cId="0" sldId="278"/>
            <ac:inkMk id="24" creationId="{2813B32C-8DBB-2853-3356-DB17B0169FAD}"/>
          </ac:inkMkLst>
        </pc:inkChg>
        <pc:inkChg chg="add del mod">
          <ac:chgData name="Richard Peng" userId="9a3a89ac-6dd8-4a6b-97d3-85a7a6a6f053" providerId="ADAL" clId="{54604992-C275-4923-B707-0E92A3D5CEFF}" dt="2026-10-23T08:59:56.971" v="113" actId="9405"/>
          <ac:inkMkLst>
            <pc:docMk/>
            <pc:sldMk cId="0" sldId="278"/>
            <ac:inkMk id="26" creationId="{CC8C3363-25BC-72C0-62A7-4E9D8FD0F239}"/>
          </ac:inkMkLst>
        </pc:inkChg>
        <pc:inkChg chg="add del mod">
          <ac:chgData name="Richard Peng" userId="9a3a89ac-6dd8-4a6b-97d3-85a7a6a6f053" providerId="ADAL" clId="{54604992-C275-4923-B707-0E92A3D5CEFF}" dt="2026-10-23T08:59:56.731" v="112"/>
          <ac:inkMkLst>
            <pc:docMk/>
            <pc:sldMk cId="0" sldId="278"/>
            <ac:inkMk id="27" creationId="{CFF5B30B-B5A8-568E-47AD-A3CD433BAF7A}"/>
          </ac:inkMkLst>
        </pc:inkChg>
        <pc:inkChg chg="add mod">
          <ac:chgData name="Richard Peng" userId="9a3a89ac-6dd8-4a6b-97d3-85a7a6a6f053" providerId="ADAL" clId="{54604992-C275-4923-B707-0E92A3D5CEFF}" dt="2026-10-23T09:00:03.045" v="130"/>
          <ac:inkMkLst>
            <pc:docMk/>
            <pc:sldMk cId="0" sldId="278"/>
            <ac:inkMk id="29" creationId="{CC2CCC15-23A9-6979-BD1C-168BC255CEBC}"/>
          </ac:inkMkLst>
        </pc:inkChg>
        <pc:inkChg chg="add mod">
          <ac:chgData name="Richard Peng" userId="9a3a89ac-6dd8-4a6b-97d3-85a7a6a6f053" providerId="ADAL" clId="{54604992-C275-4923-B707-0E92A3D5CEFF}" dt="2026-10-23T09:00:03.045" v="130"/>
          <ac:inkMkLst>
            <pc:docMk/>
            <pc:sldMk cId="0" sldId="278"/>
            <ac:inkMk id="30" creationId="{5CC75113-F1A7-CD7F-2F2E-9151CE09F01A}"/>
          </ac:inkMkLst>
        </pc:inkChg>
        <pc:inkChg chg="add">
          <ac:chgData name="Richard Peng" userId="9a3a89ac-6dd8-4a6b-97d3-85a7a6a6f053" providerId="ADAL" clId="{54604992-C275-4923-B707-0E92A3D5CEFF}" dt="2026-10-23T09:00:01.968" v="128" actId="9405"/>
          <ac:inkMkLst>
            <pc:docMk/>
            <pc:sldMk cId="0" sldId="278"/>
            <ac:inkMk id="31" creationId="{42B8119C-A605-08EA-168E-29A1600EB392}"/>
          </ac:inkMkLst>
        </pc:inkChg>
        <pc:inkChg chg="add">
          <ac:chgData name="Richard Peng" userId="9a3a89ac-6dd8-4a6b-97d3-85a7a6a6f053" providerId="ADAL" clId="{54604992-C275-4923-B707-0E92A3D5CEFF}" dt="2026-10-23T09:00:02.359" v="129" actId="9405"/>
          <ac:inkMkLst>
            <pc:docMk/>
            <pc:sldMk cId="0" sldId="278"/>
            <ac:inkMk id="32" creationId="{FD9AAB81-0699-43FE-9846-CB02A87140FF}"/>
          </ac:inkMkLst>
        </pc:inkChg>
        <pc:inkChg chg="add mod">
          <ac:chgData name="Richard Peng" userId="9a3a89ac-6dd8-4a6b-97d3-85a7a6a6f053" providerId="ADAL" clId="{54604992-C275-4923-B707-0E92A3D5CEFF}" dt="2026-10-23T09:00:04.512" v="133"/>
          <ac:inkMkLst>
            <pc:docMk/>
            <pc:sldMk cId="0" sldId="278"/>
            <ac:inkMk id="34" creationId="{D5322A4E-E605-B5F2-3F6A-5CC5B7B92399}"/>
          </ac:inkMkLst>
        </pc:inkChg>
        <pc:inkChg chg="add mod">
          <ac:chgData name="Richard Peng" userId="9a3a89ac-6dd8-4a6b-97d3-85a7a6a6f053" providerId="ADAL" clId="{54604992-C275-4923-B707-0E92A3D5CEFF}" dt="2026-10-23T09:00:04.512" v="133"/>
          <ac:inkMkLst>
            <pc:docMk/>
            <pc:sldMk cId="0" sldId="278"/>
            <ac:inkMk id="35" creationId="{DE6DE182-51D0-3A53-6075-FC63C5FC5644}"/>
          </ac:inkMkLst>
        </pc:inkChg>
        <pc:inkChg chg="add">
          <ac:chgData name="Richard Peng" userId="9a3a89ac-6dd8-4a6b-97d3-85a7a6a6f053" providerId="ADAL" clId="{54604992-C275-4923-B707-0E92A3D5CEFF}" dt="2026-10-23T09:01:03.187" v="155" actId="9405"/>
          <ac:inkMkLst>
            <pc:docMk/>
            <pc:sldMk cId="0" sldId="278"/>
            <ac:inkMk id="39" creationId="{0A59786D-DC01-3A0B-87A7-80616F3594C8}"/>
          </ac:inkMkLst>
        </pc:inkChg>
        <pc:inkChg chg="add mod">
          <ac:chgData name="Richard Peng" userId="9a3a89ac-6dd8-4a6b-97d3-85a7a6a6f053" providerId="ADAL" clId="{54604992-C275-4923-B707-0E92A3D5CEFF}" dt="2026-10-23T09:01:11.389" v="165"/>
          <ac:inkMkLst>
            <pc:docMk/>
            <pc:sldMk cId="0" sldId="278"/>
            <ac:inkMk id="40" creationId="{64C21FE7-B427-4408-7AB8-ED26F43DE486}"/>
          </ac:inkMkLst>
        </pc:inkChg>
        <pc:inkChg chg="add mod">
          <ac:chgData name="Richard Peng" userId="9a3a89ac-6dd8-4a6b-97d3-85a7a6a6f053" providerId="ADAL" clId="{54604992-C275-4923-B707-0E92A3D5CEFF}" dt="2026-10-23T09:01:11.389" v="165"/>
          <ac:inkMkLst>
            <pc:docMk/>
            <pc:sldMk cId="0" sldId="278"/>
            <ac:inkMk id="41" creationId="{D3EE3D66-E50D-961C-EBBF-BB9764FDF48B}"/>
          </ac:inkMkLst>
        </pc:inkChg>
        <pc:inkChg chg="add mod">
          <ac:chgData name="Richard Peng" userId="9a3a89ac-6dd8-4a6b-97d3-85a7a6a6f053" providerId="ADAL" clId="{54604992-C275-4923-B707-0E92A3D5CEFF}" dt="2026-10-23T09:01:11.389" v="165"/>
          <ac:inkMkLst>
            <pc:docMk/>
            <pc:sldMk cId="0" sldId="278"/>
            <ac:inkMk id="42" creationId="{1EAA272D-A1D5-4EC8-C4D1-08DA5D3E5855}"/>
          </ac:inkMkLst>
        </pc:inkChg>
        <pc:inkChg chg="add mod">
          <ac:chgData name="Richard Peng" userId="9a3a89ac-6dd8-4a6b-97d3-85a7a6a6f053" providerId="ADAL" clId="{54604992-C275-4923-B707-0E92A3D5CEFF}" dt="2026-10-23T09:01:11.389" v="165"/>
          <ac:inkMkLst>
            <pc:docMk/>
            <pc:sldMk cId="0" sldId="278"/>
            <ac:inkMk id="43" creationId="{45910C93-FAC4-507D-690B-679591446422}"/>
          </ac:inkMkLst>
        </pc:inkChg>
        <pc:inkChg chg="add mod">
          <ac:chgData name="Richard Peng" userId="9a3a89ac-6dd8-4a6b-97d3-85a7a6a6f053" providerId="ADAL" clId="{54604992-C275-4923-B707-0E92A3D5CEFF}" dt="2026-10-23T09:01:11.389" v="165"/>
          <ac:inkMkLst>
            <pc:docMk/>
            <pc:sldMk cId="0" sldId="278"/>
            <ac:inkMk id="44" creationId="{87FB34E4-87BB-D551-7D05-ADDEAA4E2D86}"/>
          </ac:inkMkLst>
        </pc:inkChg>
        <pc:inkChg chg="add mod">
          <ac:chgData name="Richard Peng" userId="9a3a89ac-6dd8-4a6b-97d3-85a7a6a6f053" providerId="ADAL" clId="{54604992-C275-4923-B707-0E92A3D5CEFF}" dt="2026-10-23T09:01:11.389" v="165"/>
          <ac:inkMkLst>
            <pc:docMk/>
            <pc:sldMk cId="0" sldId="278"/>
            <ac:inkMk id="45" creationId="{4ECA3B3F-7528-A5AA-4C4F-32E9207F806A}"/>
          </ac:inkMkLst>
        </pc:inkChg>
        <pc:inkChg chg="add mod">
          <ac:chgData name="Richard Peng" userId="9a3a89ac-6dd8-4a6b-97d3-85a7a6a6f053" providerId="ADAL" clId="{54604992-C275-4923-B707-0E92A3D5CEFF}" dt="2026-10-23T09:01:11.389" v="165"/>
          <ac:inkMkLst>
            <pc:docMk/>
            <pc:sldMk cId="0" sldId="278"/>
            <ac:inkMk id="46" creationId="{DF4D16DC-A0A8-4EEA-8D1B-DDE9E1E16A41}"/>
          </ac:inkMkLst>
        </pc:inkChg>
        <pc:inkChg chg="add mod">
          <ac:chgData name="Richard Peng" userId="9a3a89ac-6dd8-4a6b-97d3-85a7a6a6f053" providerId="ADAL" clId="{54604992-C275-4923-B707-0E92A3D5CEFF}" dt="2026-10-23T09:01:11.389" v="165"/>
          <ac:inkMkLst>
            <pc:docMk/>
            <pc:sldMk cId="0" sldId="278"/>
            <ac:inkMk id="47" creationId="{56DB5228-CA4A-3E25-2EEC-C653D52207B0}"/>
          </ac:inkMkLst>
        </pc:inkChg>
        <pc:inkChg chg="add mod">
          <ac:chgData name="Richard Peng" userId="9a3a89ac-6dd8-4a6b-97d3-85a7a6a6f053" providerId="ADAL" clId="{54604992-C275-4923-B707-0E92A3D5CEFF}" dt="2026-10-23T09:01:11.389" v="165"/>
          <ac:inkMkLst>
            <pc:docMk/>
            <pc:sldMk cId="0" sldId="278"/>
            <ac:inkMk id="48" creationId="{FD04F8C1-B106-F51D-F0E3-F4518CB2CD32}"/>
          </ac:inkMkLst>
        </pc:inkChg>
      </pc:sldChg>
      <pc:sldChg chg="modSp mod">
        <pc:chgData name="Richard Peng" userId="9a3a89ac-6dd8-4a6b-97d3-85a7a6a6f053" providerId="ADAL" clId="{54604992-C275-4923-B707-0E92A3D5CEFF}" dt="2026-10-23T08:28:37.684" v="2" actId="27636"/>
        <pc:sldMkLst>
          <pc:docMk/>
          <pc:sldMk cId="0" sldId="279"/>
        </pc:sldMkLst>
        <pc:spChg chg="mod">
          <ac:chgData name="Richard Peng" userId="9a3a89ac-6dd8-4a6b-97d3-85a7a6a6f053" providerId="ADAL" clId="{54604992-C275-4923-B707-0E92A3D5CEFF}" dt="2026-10-23T08:28:37.684" v="2" actId="27636"/>
          <ac:spMkLst>
            <pc:docMk/>
            <pc:sldMk cId="0" sldId="279"/>
            <ac:spMk id="811" creationId="{00000000-0000-0000-0000-000000000000}"/>
          </ac:spMkLst>
        </pc:spChg>
        <pc:spChg chg="mod">
          <ac:chgData name="Richard Peng" userId="9a3a89ac-6dd8-4a6b-97d3-85a7a6a6f053" providerId="ADAL" clId="{54604992-C275-4923-B707-0E92A3D5CEFF}" dt="2026-10-23T08:28:37.683" v="1" actId="27636"/>
          <ac:spMkLst>
            <pc:docMk/>
            <pc:sldMk cId="0" sldId="279"/>
            <ac:spMk id="814" creationId="{00000000-0000-0000-0000-000000000000}"/>
          </ac:spMkLst>
        </pc:spChg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280"/>
        </pc:sldMkLst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296"/>
        </pc:sldMkLst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297"/>
        </pc:sldMkLst>
      </pc:sldChg>
      <pc:sldChg chg="modSp mod">
        <pc:chgData name="Richard Peng" userId="9a3a89ac-6dd8-4a6b-97d3-85a7a6a6f053" providerId="ADAL" clId="{54604992-C275-4923-B707-0E92A3D5CEFF}" dt="2026-10-23T08:28:37.742" v="3" actId="27636"/>
        <pc:sldMkLst>
          <pc:docMk/>
          <pc:sldMk cId="0" sldId="298"/>
        </pc:sldMkLst>
        <pc:spChg chg="mod">
          <ac:chgData name="Richard Peng" userId="9a3a89ac-6dd8-4a6b-97d3-85a7a6a6f053" providerId="ADAL" clId="{54604992-C275-4923-B707-0E92A3D5CEFF}" dt="2026-10-23T08:28:37.742" v="3" actId="27636"/>
          <ac:spMkLst>
            <pc:docMk/>
            <pc:sldMk cId="0" sldId="298"/>
            <ac:spMk id="921" creationId="{00000000-0000-0000-0000-000000000000}"/>
          </ac:spMkLst>
        </pc:spChg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300"/>
        </pc:sldMkLst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301"/>
        </pc:sldMkLst>
      </pc:sldChg>
      <pc:sldChg chg="modSp mod modNotes">
        <pc:chgData name="Richard Peng" userId="9a3a89ac-6dd8-4a6b-97d3-85a7a6a6f053" providerId="ADAL" clId="{54604992-C275-4923-B707-0E92A3D5CEFF}" dt="2026-10-23T08:28:37.751" v="4" actId="27636"/>
        <pc:sldMkLst>
          <pc:docMk/>
          <pc:sldMk cId="0" sldId="303"/>
        </pc:sldMkLst>
        <pc:spChg chg="mod">
          <ac:chgData name="Richard Peng" userId="9a3a89ac-6dd8-4a6b-97d3-85a7a6a6f053" providerId="ADAL" clId="{54604992-C275-4923-B707-0E92A3D5CEFF}" dt="2026-10-23T08:28:37.751" v="4" actId="27636"/>
          <ac:spMkLst>
            <pc:docMk/>
            <pc:sldMk cId="0" sldId="303"/>
            <ac:spMk id="980" creationId="{00000000-0000-0000-0000-000000000000}"/>
          </ac:spMkLst>
        </pc:spChg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305"/>
        </pc:sldMkLst>
      </pc:sldChg>
      <pc:sldChg chg="modSp mod">
        <pc:chgData name="Richard Peng" userId="9a3a89ac-6dd8-4a6b-97d3-85a7a6a6f053" providerId="ADAL" clId="{54604992-C275-4923-B707-0E92A3D5CEFF}" dt="2026-10-23T08:28:37.756" v="5" actId="27636"/>
        <pc:sldMkLst>
          <pc:docMk/>
          <pc:sldMk cId="0" sldId="306"/>
        </pc:sldMkLst>
        <pc:spChg chg="mod">
          <ac:chgData name="Richard Peng" userId="9a3a89ac-6dd8-4a6b-97d3-85a7a6a6f053" providerId="ADAL" clId="{54604992-C275-4923-B707-0E92A3D5CEFF}" dt="2026-10-23T08:28:37.756" v="5" actId="27636"/>
          <ac:spMkLst>
            <pc:docMk/>
            <pc:sldMk cId="0" sldId="306"/>
            <ac:spMk id="1004" creationId="{00000000-0000-0000-0000-000000000000}"/>
          </ac:spMkLst>
        </pc:spChg>
      </pc:sldChg>
      <pc:sldChg chg="modSp mod">
        <pc:chgData name="Richard Peng" userId="9a3a89ac-6dd8-4a6b-97d3-85a7a6a6f053" providerId="ADAL" clId="{54604992-C275-4923-B707-0E92A3D5CEFF}" dt="2026-10-23T08:28:37.762" v="6" actId="27636"/>
        <pc:sldMkLst>
          <pc:docMk/>
          <pc:sldMk cId="0" sldId="307"/>
        </pc:sldMkLst>
        <pc:spChg chg="mod">
          <ac:chgData name="Richard Peng" userId="9a3a89ac-6dd8-4a6b-97d3-85a7a6a6f053" providerId="ADAL" clId="{54604992-C275-4923-B707-0E92A3D5CEFF}" dt="2026-10-23T08:28:37.762" v="6" actId="27636"/>
          <ac:spMkLst>
            <pc:docMk/>
            <pc:sldMk cId="0" sldId="307"/>
            <ac:spMk id="1010" creationId="{00000000-0000-0000-0000-000000000000}"/>
          </ac:spMkLst>
        </pc:spChg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315"/>
        </pc:sldMkLst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316"/>
        </pc:sldMkLst>
      </pc:sldChg>
      <pc:sldChg chg="modSp mod">
        <pc:chgData name="Richard Peng" userId="9a3a89ac-6dd8-4a6b-97d3-85a7a6a6f053" providerId="ADAL" clId="{54604992-C275-4923-B707-0E92A3D5CEFF}" dt="2026-10-23T08:28:37.809" v="7" actId="27636"/>
        <pc:sldMkLst>
          <pc:docMk/>
          <pc:sldMk cId="0" sldId="323"/>
        </pc:sldMkLst>
        <pc:spChg chg="mod">
          <ac:chgData name="Richard Peng" userId="9a3a89ac-6dd8-4a6b-97d3-85a7a6a6f053" providerId="ADAL" clId="{54604992-C275-4923-B707-0E92A3D5CEFF}" dt="2026-10-23T08:28:37.809" v="7" actId="27636"/>
          <ac:spMkLst>
            <pc:docMk/>
            <pc:sldMk cId="0" sldId="323"/>
            <ac:spMk id="1110" creationId="{00000000-0000-0000-0000-000000000000}"/>
          </ac:spMkLst>
        </pc:spChg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325"/>
        </pc:sldMkLst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328"/>
        </pc:sldMkLst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329"/>
        </pc:sldMkLst>
      </pc:sldChg>
      <pc:sldChg chg="modNotes">
        <pc:chgData name="Richard Peng" userId="9a3a89ac-6dd8-4a6b-97d3-85a7a6a6f053" providerId="ADAL" clId="{54604992-C275-4923-B707-0E92A3D5CEFF}" dt="2026-10-23T08:28:37.626" v="0"/>
        <pc:sldMkLst>
          <pc:docMk/>
          <pc:sldMk cId="0" sldId="331"/>
        </pc:sldMkLst>
      </pc:sldChg>
      <pc:sldChg chg="modSp add mod">
        <pc:chgData name="Richard Peng" userId="9a3a89ac-6dd8-4a6b-97d3-85a7a6a6f053" providerId="ADAL" clId="{54604992-C275-4923-B707-0E92A3D5CEFF}" dt="2026-10-23T08:29:37.146" v="16" actId="20577"/>
        <pc:sldMkLst>
          <pc:docMk/>
          <pc:sldMk cId="2502978326" sldId="352"/>
        </pc:sldMkLst>
        <pc:spChg chg="mod">
          <ac:chgData name="Richard Peng" userId="9a3a89ac-6dd8-4a6b-97d3-85a7a6a6f053" providerId="ADAL" clId="{54604992-C275-4923-B707-0E92A3D5CEFF}" dt="2026-10-23T08:28:51.988" v="9"/>
          <ac:spMkLst>
            <pc:docMk/>
            <pc:sldMk cId="2502978326" sldId="352"/>
            <ac:spMk id="3" creationId="{CE8C61DC-DA36-9F0A-3C95-26CF319819D0}"/>
          </ac:spMkLst>
        </pc:spChg>
        <pc:spChg chg="mod">
          <ac:chgData name="Richard Peng" userId="9a3a89ac-6dd8-4a6b-97d3-85a7a6a6f053" providerId="ADAL" clId="{54604992-C275-4923-B707-0E92A3D5CEFF}" dt="2026-10-23T08:29:37.146" v="16" actId="20577"/>
          <ac:spMkLst>
            <pc:docMk/>
            <pc:sldMk cId="2502978326" sldId="352"/>
            <ac:spMk id="9" creationId="{9C7477C1-3C00-EE48-8A0E-7E8D7D717AAF}"/>
          </ac:spMkLst>
        </pc:spChg>
        <pc:spChg chg="mod">
          <ac:chgData name="Richard Peng" userId="9a3a89ac-6dd8-4a6b-97d3-85a7a6a6f053" providerId="ADAL" clId="{54604992-C275-4923-B707-0E92A3D5CEFF}" dt="2026-10-23T08:29:01.168" v="10"/>
          <ac:spMkLst>
            <pc:docMk/>
            <pc:sldMk cId="2502978326" sldId="352"/>
            <ac:spMk id="10" creationId="{D18C8FF1-5D26-36AE-F553-D9BF713DA40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8:59:07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24575,'0'4'0,"0"0"0,1-1 0,0 1 0,0 0 0,0 0 0,0-1 0,0 1 0,1-1 0,0 1 0,0-1 0,3 5 0,11 21 0,151 333 0,132 267 0,-157-362 0,209 290 0,-250-419 0,6-5 0,6-4 0,215 190 0,-207-220-78,254 157-1,-187-151-235,310 124 0,439 87-429,239-21-1598,1152 147 1705,11-92 687,-1719-256-51,-509-75 0,153 48 0,-243-61 0,-1 2 0,0 0 0,0 1 0,-1 1 0,0 1 0,-1 0 0,27 23 0,-36-25 0,-1-1 0,0 2 0,-1-1 0,0 1 0,0 1 0,-1-1 0,-1 1 0,0 0 0,0 0 0,-1 1 0,0-1 0,-1 1 0,-1 0 0,2 15 0,1 16 22,-3 0 1,-2 0-1,-5 47 0,-25 148 276,19-163-205,-152 1652 3,153-1538-9,-59 765 2023,39-717-1549,-10-2-1,-71 232 0,21-177-560,-62 235 0,-42 431 0,-28 118 0,205-1009 0,-98 451 0,98-416 0,7-50 0,2 1 0,-2 73 0,10-123-32,0-1 1,0 1-1,-1-1 0,1 1 0,0 0 1,0-1-1,0 1 0,0-1 0,0 1 1,0-1-1,0 1 0,0 0 0,0-1 1,0 1-1,0-1 0,0 1 0,1-1 1,-1 1-1,0 0 0,0-1 0,0 1 1,1-1-1,-1 1 0,0-1 0,1 0 1,-1 1-1,1-1 0,-1 1 0,0-1 1,1 1-1,-1-1 0,1 0 0,-1 1 1,1-1-1,-1 0 0,1 0 0,-1 1 1,1-1-1,-1 0 0,1 0 0,-1 0 1,2 0-1,20-15-6794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8:59:08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1 24575,'0'13'0,"0"40"0,0 30 0,-7 30 0,-9 22 0,-2 9 0,-4-20 0,1-25 0,4-28-8191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8:59:09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241 0 24575,'16'1'0,"0"1"0,-1 0 0,1 1 0,-1 0 0,0 1 0,0 1 0,0 1 0,0 0 0,-1 1 0,0 0 0,22 17 0,-16-10 0,-2 1 0,0 0 0,-1 2 0,0 0 0,-1 1 0,24 36 0,-32-41 0,0 0 0,0 1 0,-2 0 0,0 0 0,0 0 0,-1 1 0,-1 0 0,0 0 0,1 20 0,-4-28 0,-1 1 0,0 0 0,-1 0 0,0 0 0,0 0 0,0 0 0,-1-1 0,0 1 0,-1-1 0,0 1 0,0-1 0,0 0 0,-1 0 0,0 0 0,-1-1 0,1 1 0,-1-1 0,0 0 0,-9 7 0,1-2 0,-1-2 0,0 1 0,0-2 0,-1 0 0,0-1 0,-1 0 0,1-1 0,-1-1 0,0 0 0,-1-1 0,1-1 0,-1-1 0,-17 1 0,25-2 0,20 1 0,33 7 0,-16 4 0,-2 1 0,0 0 0,-1 2 0,0 1 0,43 41 0,-38-30 0,-1 3 0,-1 0 0,41 62 0,-56-71 0,0 1 0,-1 0 0,-1 1 0,11 36 0,-18-45 0,0 1 0,-1 0 0,0-1 0,-2 1 0,0 0 0,0 0 0,-2 0 0,-2 20 0,2-29 0,-1-1 0,1 0 0,-1 1 0,0-1 0,-1 0 0,1-1 0,-1 1 0,0 0 0,-1-1 0,1 1 0,-1-1 0,0 0 0,-1-1 0,1 1 0,-1-1 0,0 1 0,0-1 0,0-1 0,0 1 0,-1-1 0,-7 4 0,-8 1 0,1-1 0,-1-1 0,0-1 0,-43 5 0,-2 0 0,0-4 0,0-2 0,-1-3 0,-123-15 0,179 12 12,1 0 1,0-1-1,0 0 0,-1-1 0,2 0 0,-14-7 1,18 8-117,0-1 0,1 1 1,0 0-1,0-1 0,0 0 1,0 0-1,0 0 1,1-1-1,0 1 0,0-1 1,0 0-1,0 1 1,-1-7-1,0 0-1603,1 0 1,0 0-1,-1-20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8:59:09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24575,'14'0'0,"11"0"0,9 0 0,4 0 0,4 0 0,1 0 0,7 0 0,2 0 0,-2 0 0,-1 7 0,-10 2-8191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8:59:09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 24575,'14'0'0,"31"0"0,16 0 0,31 0 0,21-7 0,5-2 0,-11 1 0,-24 1-8191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8:59:10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72 24575,'13'-1'0,"-1"-1"0,0 0 0,0-1 0,0 0 0,0-1 0,15-8 0,29-8 0,-28 13 0,0 1 0,-1 1 0,2 1 0,-1 2 0,0 1 0,1 1 0,-1 2 0,45 7 0,-58-6 0,1 1 0,-2 0 0,1 2 0,0-1 0,-1 2 0,0 0 0,0 0 0,-1 2 0,0-1 0,-1 2 0,0 0 0,0 0 0,-1 1 0,0 0 0,-1 1 0,0 0 0,11 19 0,-6-3 0,-1 0 0,-1 1 0,-2 1 0,0 0 0,-2 0 0,-2 1 0,0 0 0,-2 0 0,-2 0 0,-1 1 0,-1 0 0,-6 55 0,0-48 0,-2 0 0,-1-1 0,-2 0 0,-2-1 0,-1 0 0,-2 0 0,-2-2 0,-1 0 0,-42 61 0,47-79 0,-1 0 0,-1-2 0,0 1 0,-1-2 0,-1 0 0,0-1 0,0-1 0,-2-1 0,1 0 0,-1-1 0,-22 7 0,0-3 0,0-1 0,-1-2 0,-1-2 0,-53 4 0,80-11 0,-7 0 0,43-1 0,922-11-1365,-896 10-5461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8:59:39.6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0 24575,'1'51'0,"-2"-1"0,-3 0 0,-1 0 0,-18 71 0,-2-30 0,4 0 0,3 1 0,-6 122 0,23 357 0,5-489 0,4 1 0,3-1 0,4-1 0,3 0 0,4-1 0,3-2 0,4 0 0,3-2 0,53 92 0,-76-153 0,0 0 0,1 0 0,0-1 0,2-1 0,-1 1 0,1-2 0,1 0 0,1 0 0,-1-1 0,2-1 0,-1 0 0,1-1 0,1-1 0,0 0 0,23 7 0,18 0 0,110 12 0,-111-19 0,256 33 0,181 22 0,216 11-365,229 6-1094,192 3 538,3164 150-1932,-3679-204 2567,356 22-1156,-146 5 934,-111 7-79,742 124 707,-23 50 363,-706-113-378,-479-83-105,2231 397 0,-1130-189 0,-60-12 0,-820-134 0,-131 1 0,-293-86 392,-1 2 0,-1 1 0,-1 3 1,-1 1-1,-1 2 0,-1 2 0,50 48 0,-69-56-144,0 0 0,-2 1 1,-1 1-1,-1 1 0,0 0 0,-2 1 0,-1 1 1,-1 0-1,-2 1 0,0 0 0,-2 0 0,0 1 1,4 44-1,11 75-18,5 0 0,71 210 1,133 267 176,-210-569-404,88 199-3,-33-81 0,-60-133 0,103 227 0,-88-205 0,3-2 0,55 73 0,217 249 0,-299-373 0,0 1 0,1-2 0,1 1 0,-1-1 0,1-1 0,14 9 0,0-5 0,0 0 0,31 9 0,498 133 0,25-34 0,-417-87 0,3 0 0,1006 183 0,293 80 0,-765-142 0,-301-73 0,509 118 0,-678-133 0,-186-50 0,0 2 0,73 41 0,-101-50 0,0 1 0,-1 1 0,0 0 0,0 1 0,-1 0 0,0 1 0,-1 0 0,0 1 0,-1 0 0,-1 0 0,0 1 0,-1 1 0,-1 0 0,0 0 0,0 0 0,-2 1 0,0-1 0,-1 1 0,3 20 0,2-6 0,1 0 0,1 0 0,2-1 0,1 0 0,1-1 0,33 45 0,20 36 0,292 640 0,-64 35 0,-247-635-1365,-17-45-5461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0:01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24575,'7'0'0,"29"7"0,37 2 0,33 0 0,25-2 0,19-2 0,-3-2 0,-13-1 0,-28-2-8191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0:01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24575,'0'7'0,"0"43"0,0 41 0,7 25 0,2 41 0,-1 42 0,-1 1 0,-2-14 0,-1-31 0,-3-41-8191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0:01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24575,'20'0'0,"14"0"0,29 0 0,24 0 0,11 0 0,2 0 0,-16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0:0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24575,'14'0'0,"24"0"0,28 0 0,22 0 0,10 0 0,2 0 0,-16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0:03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 24575,'-1'26'0,"-2"1"0,0-1 0,-2 0 0,-13 39 0,1 2 0,15-58 0,-8 28 0,2 1 0,1 0 0,2 0 0,2 0 0,2 56 0,2-88 0,0 0 0,0 0 0,1 0 0,-1-1 0,1 1 0,1 0 0,-1-1 0,1 0 0,0 1 0,0-1 0,0 0 0,1 0 0,-1-1 0,1 1 0,1-1 0,-1 0 0,0 0 0,1 0 0,0-1 0,0 1 0,0-1 0,0-1 0,1 1 0,-1-1 0,1 1 0,0-2 0,10 3 0,12 2 0,2-2 0,-1-1 0,0-1 0,43-3 0,-34 0 0,390-11 0,-367 10 0,2-2 0,-63 4 0,1 0 0,-1 1 0,1-1 0,-1 0 0,0 0-1,1 0 1,-1 0 0,1 0 0,-1 0 0,1 0 0,-1 0 0,0 0-1,1 0 1,-1 0 0,1 0 0,-1 0 0,1 0 0,-1-1 0,0 1 0,1 0-1,-1 0 1,1 0 0,-1-1 0,0 1 0,1 0 0,-1 0 0,0-1-1,1 1 1,-1 0 0,0-1 0,0 1 0,1 0 0,-1-1 0,0 1-1,0-1 1,0 1 0,1 0 0,-1-1 0,0 1 0,0-1 0,0 1 0,0-1-1,0 1 1,0 0 0,0-1 0,0 1 0,0-1 0,0 1 0,0-1-1,0 1 1,0 0 0,0-1 0,-1 0 0,-16-15-848,13 13 338,-33-24-6316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0:03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 52 24575,'-9'0'0,"0"0"0,0-1 0,0 0 0,0-1 0,0 0 0,0-1 0,0 1 0,0-2 0,1 1 0,-1-1 0,1-1 0,-9-6 0,15 11 0,-27-13 0,28 13 0,-1 0 0,1 0 0,0 0 0,0 1 0,0-1 0,0 0 0,0 1 0,-1-1 0,1 1 0,0 0 0,0-1 0,0 1 0,0 0 0,0 0 0,1-1 0,-1 1 0,0 0 0,0 0 0,0 0 0,1 0 0,-1 0 0,0 0 0,1 0 0,-1 0 0,1 0 0,0 1 0,-1 1 0,-5 17 0,0 1 0,2 0 0,1 0 0,0 0 0,1 39 0,1-31 0,-1 817 72,7-421-1509,-5-390-5389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1:03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0 601 24575,'0'-7'0,"0"-29"0,0-16 0,7-6 0,9-6 0,2-7 0,4 2 0,-1 7 0,-4 6 0,2 13 0,4 13 0,-1 6 0,1 6 0,-1 7-8191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1:04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24575,'7'0'0,"9"0"0,9 0 0,13 0 0,22 0 0,13 0 0,2 0 0,-5 0 0,-15 0-8191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1:05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24575,'7'0'0,"9"7"0,15 2 0,17 0 0,27-2 0,28-2 0,11-2 0,-1-1 0,-12-2 0,-24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1:06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1 24575,'0'14'0,"0"31"0,0 37 0,-7 30 0,-2 4 0,0 10 0,2-4 0,2-8 0,2-10 0,1-22-8191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1:06.7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24575,'13'0'0,"12"0"0,9 0 0,4 0 0,11 0 0,3 0 0,0 0 0,-9 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1:07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24575,'7'0'0,"29"0"0,30 0 0,17 0 0,1 0 0,-7 0 0,-9 0 0,-17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1:07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 1 24575,'10'0'0,"32"-1"0,0 2 0,0 2 0,0 1 0,61 15 0,-94-17 0,1 1 0,-1 0 0,0 1 0,0 0 0,0 0 0,0 1 0,-1 0 0,0 0 0,0 1 0,0 0 0,-1 1 0,0 0 0,0 0 0,-1 0 0,0 1 0,0 0 0,0 0 0,-1 0 0,-1 1 0,1 0 0,-1 0 0,-1 0 0,0 0 0,4 19 0,-5-16 0,-1 0 0,-1 0 0,0-1 0,0 1 0,-1 0 0,-1 0 0,0 0 0,0 0 0,-1-1 0,-1 0 0,0 1 0,0-1 0,-1-1 0,-1 1 0,0-1 0,-9 13 0,11-15 0,-1-1 0,1 1 0,1 0 0,0 0 0,0 1 0,1-1 0,-1 1 0,2-1 0,-1 1 0,2 0 0,-1-1 0,1 1 0,0 0 0,2 13 0,4 8 0,0-1 0,21 55 0,-4-12 0,-17-52 0,-2 0 0,0 1 0,-1-1 0,0 24 0,-3-34 0,0 0 0,-1 0 0,0-1 0,-1 1 0,0-1 0,-1 1 0,0-1 0,0 0 0,-1 0 0,0 0 0,-5 8 0,-6 3 0,0-1 0,-2-1 0,0-1 0,0 0 0,-2-2 0,0 0 0,0 0 0,-2-2 0,1-1 0,-2 0 0,0-2 0,0 0 0,-1-2 0,-33 9 0,47-16 9,0 1-1,0-1 0,0 0 1,0-1-1,-1 0 0,1-1 1,0 0-1,0 0 0,0-1 1,0 0-1,0 0 0,-15-7 1,11 2-194,0 1 1,1-2 0,0 0 0,0 0 0,1-1-1,0-1 1,-13-14 0,-31-43-6642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1:08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1 113 24575,'1'0'0,"0"0"0,0 0 0,-1 1 0,1-1 0,0 0 0,0 1 0,0-1 0,-1 1 0,1-1 0,0 1 0,0-1 0,-1 1 0,1-1 0,0 1 0,-1 0 0,1-1 0,-1 1 0,1 0 0,-1 0 0,1-1 0,-1 1 0,0 0 0,1 0 0,0 1 0,6 25 0,-3 0 0,1 52 0,-5-55 0,1 0 0,1 0 0,1-1 0,12 43 0,-14-61 0,1 0 0,0 0 0,1 0 0,-1 0 0,1 0 0,0-1 0,0 1 0,0-1 0,1 0 0,0 0 0,0 0 0,0 0 0,0-1 0,0 1 0,1-1 0,0 0 0,-1 0 0,1-1 0,0 0 0,0 0 0,0 0 0,1 0 0,-1-1 0,0 1 0,9-1 0,-1 0 0,-1-1 0,1 0 0,0-1 0,0-1 0,-1 0 0,1 0 0,-1-1 0,0-1 0,1 0 0,-2-1 0,1 0 0,0-1 0,-1 0 0,0-1 0,-1 0 0,0-1 0,0 0 0,0-1 0,-1 0 0,0 0 0,-1-1 0,0 0 0,8-13 0,-9 13 0,0-1 0,0 0 0,-1-1 0,-1 0 0,1 0 0,-2 0 0,0 0 0,0-1 0,-2 1 0,1-1 0,-1 0 0,-1 0 0,0 0 0,-1 0 0,-1 0 0,0 0 0,0 0 0,-2 0 0,1 0 0,-2 1 0,1-1 0,-12-22 0,13 31 4,0 0 0,0-1-1,-1 2 1,1-1-1,-1 0 1,0 1 0,0-1-1,0 1 1,-1 0 0,1 0-1,-1 0 1,0 0-1,0 1 1,0-1 0,0 1-1,0 0 1,0 0 0,-1 1-1,1-1 1,0 1-1,-1 0 1,1 0 0,-1 1-1,0-1 1,1 1 0,-1 0-1,0 0 1,1 0-1,-1 1 1,1 0 0,-1 0-1,-8 3 1,-3 2-190,1 1 1,-1 0-1,1 1 0,1 1 1,0 1-1,0 0 1,-20 18-1,-17 22-6640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1:09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19 24575,'2'0'0,"0"0"0,1 1 0,-1 0 0,1-1 0,-1 1 0,0 0 0,1 0 0,-1 0 0,0 0 0,0 0 0,0 1 0,0-1 0,0 1 0,0-1 0,0 1 0,-1 0 0,1 0 0,0 0 0,-1 0 0,0 0 0,1 0 0,-1 0 0,0 0 0,0 0 0,0 1 0,0-1 0,0 5 0,4 9 0,-1 0 0,-1 1 0,1 18 0,-3-19 0,7 93 0,-7-73 0,1-1 0,2 0 0,1-1 0,16 56 0,-20-85 0,1 0 0,0-1 0,0 0 0,0 1 0,1-1 0,-1 0 0,1 0 0,0 0 0,0-1 0,0 1 0,1-1 0,6 6 0,-8-8 0,1 1 0,0-1 0,-1 0 0,1 0 0,0 0 0,0 0 0,0-1 0,-1 1 0,1-1 0,0 0 0,0 0 0,0 0 0,0 0 0,0 0 0,0 0 0,0-1 0,0 0 0,-1 1 0,1-1 0,0 0 0,0-1 0,4-1 0,12-8 0,1-1 0,-2-1 0,0 0 0,0-2 0,-1 0 0,20-23 0,-7 4 0,-2-1 0,30-50 0,-55 79 0,16-25 0,17-37 0,-32 60 0,-1 0 0,0 0 0,0 0 0,-1-1 0,0 1 0,0-1 0,-1 1 0,0-1 0,-1 1 0,0-15 0,-1 20 0,0 0 0,0 0 0,0 0 0,0 0 0,-1 0 0,1 0 0,-1 0 0,0 1 0,1-1 0,-1 0 0,-1 1 0,1-1 0,0 1 0,-1 0 0,1 0 0,-1 0 0,1 0 0,-1 0 0,0 1 0,0-1 0,0 1 0,0 0 0,0 0 0,-4-1 0,-8-3 0,-1 2 0,0 0 0,-25-1 0,35 3 0,-208-5 0,182 7 0,0 2 0,0 2 0,1 0 0,-50 17 0,70-19-195,0 1 0,1 1 0,0 0 0,0 0 0,0 1 0,-12 10 0,-1 6-6631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9:01:10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74 24575,'14'0'0,"11"0"0,8 0 0,6 0 0,2 0 0,2 0 0,-7-6 0,-2-3 0,-1 0 0,2 2 0,-6-5 0,13 0 0,6 1 0,-4 4-8191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3" name="Shape 18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ontron.com/class/mtandseq2seq2018/assets/slides/mt-fall2018.chapter11.pdf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cmu.edu/~alavie/papers/ACL-08-WMT-METEOR.pdf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medium.com/explorations-in-language-and-learning/metrics-for-nlg-evaluation-c89b6a781054" TargetMode="Externa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lil-log/2018/06/24/attention-attention.html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6.03099.pdf" TargetMode="External"/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demo.clab.cs.cmu.edu</a:t>
            </a:r>
            <a:r>
              <a:rPr lang="en-US"/>
              <a:t>/NLP/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889F41-3A46-5C48-8B12-8A663AA0B3C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187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3" name="Shape 21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Seq2seq finds applications in many other tasks!</a:t>
            </a:r>
          </a:p>
          <a:p>
            <a:r>
              <a:t>Any task where inputs and outputs are sequences of words/characters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1" name="Shape 23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Seq2seq finds applications in many other tasks!</a:t>
            </a:r>
          </a:p>
          <a:p>
            <a:r>
              <a:t>Any task where inputs and outputs are sequences of words/characters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Shape 82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21" name="Shape 82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Shape 91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13" name="Shape 91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Shape 91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18" name="Shape 91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Shape 94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50" name="Shape 95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repeating words not so good?</a:t>
            </a:r>
          </a:p>
          <a:p>
            <a:r>
              <a:t>Why precision based metrics favor short translations?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Shape 9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69" name="Shape 9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repeating words not so good?</a:t>
            </a:r>
          </a:p>
          <a:p>
            <a:r>
              <a:t>Why precision based metrics favor short translations?</a:t>
            </a:r>
          </a:p>
          <a:p>
            <a:r>
              <a:rPr u="sng">
                <a:hlinkClick r:id="rId3"/>
              </a:rPr>
              <a:t>http://www.phontron.com/class/mtandseq2seq2018/assets/slides/mt-fall2018.chapter11.pdf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Shape 98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90" name="Shape 9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Make sure tokenization + normalization the same across systems</a:t>
            </a:r>
          </a:p>
          <a:p>
            <a:r>
              <a:rPr u="sng">
                <a:hlinkClick r:id="rId3"/>
              </a:rPr>
              <a:t>http://www.cs.cmu.edu/~alavie/papers/ACL-08-WMT-METEOR.pdf</a:t>
            </a:r>
          </a:p>
          <a:p>
            <a:r>
              <a:rPr u="sng">
                <a:hlinkClick r:id="rId4"/>
              </a:rPr>
              <a:t>https://medium.com/explorations-in-language-and-learning/metrics-for-nlg-evaluation-c89b6a781054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hape 100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01" name="Shape 100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Shape 106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65" name="Shape 10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u="sng">
                <a:hlinkClick r:id="rId3"/>
              </a:defRPr>
            </a:lvl1pPr>
          </a:lstStyle>
          <a:p>
            <a:pPr>
              <a:defRPr u="none"/>
            </a:pPr>
            <a:r>
              <a:rPr u="sng">
                <a:hlinkClick r:id="rId3"/>
              </a:rPr>
              <a:t>https://lilianweng.github.io/lil-log/2018/06/24/attention-attention.html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Shape 106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0" name="Shape 107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Shape 113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2" name="Shape 113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u="sng">
                <a:hlinkClick r:id="rId3"/>
              </a:rPr>
              <a:t>https://arxiv.org/pdf/1506.03099.pdf</a:t>
            </a:r>
          </a:p>
          <a:p>
            <a:r>
              <a:t>Faster, more efficient training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Shape 114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48" name="Shape 114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algn="just"/>
          </a:lstStyle>
          <a:p>
            <a:r>
              <a:t>Inverted dropout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Shape 11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56" name="Shape 115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algn="just"/>
            <a:r>
              <a:t>With L2 regularization both types of gradients are normalized by their typical (summed) magnitudes, and</a:t>
            </a:r>
          </a:p>
          <a:p>
            <a:pPr algn="just"/>
            <a:r>
              <a:t>therefore weights x with large typical gradient magnitude s are regularized by a smaller relative</a:t>
            </a:r>
          </a:p>
          <a:p>
            <a:pPr algn="just"/>
            <a:r>
              <a:t>amount than other weights</a:t>
            </a:r>
          </a:p>
          <a:p>
            <a:pPr algn="just"/>
            <a:endParaRPr/>
          </a:p>
          <a:p>
            <a:pPr algn="just"/>
            <a:r>
              <a:t>Decoupled weight decay regularizes all weights with the</a:t>
            </a:r>
          </a:p>
          <a:p>
            <a:pPr algn="just"/>
            <a:r>
              <a:t>same rate λ, effectively regularizing weights x with large s more than standard L2 regularization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Shape 117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1" name="Shape 11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algn="just"/>
          </a:lstStyle>
          <a:p>
            <a:r>
              <a:t>At test time - each neuron is always present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lIns="71437" tIns="71437" rIns="71437" bIns="71437" anchor="b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</p:spPr>
        <p:txBody>
          <a:bodyPr lIns="71437" tIns="71437" rIns="71437" bIns="71437"/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sz="half" idx="21"/>
          </p:nvPr>
        </p:nvSpPr>
        <p:spPr>
          <a:xfrm>
            <a:off x="5329062" y="406546"/>
            <a:ext cx="13716003" cy="914876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lIns="71437" tIns="71437" rIns="71437" bIns="71437" anchor="b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</p:spPr>
        <p:txBody>
          <a:bodyPr lIns="71437" tIns="71437" rIns="71437" bIns="71437"/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6231433" y="863203"/>
            <a:ext cx="17439681" cy="1162645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lIns="71437" tIns="71437" rIns="71437" bIns="71437" anchor="b"/>
          <a:lstStyle>
            <a:lvl1pPr algn="ctr" defTabSz="821531">
              <a:lnSpc>
                <a:spcPct val="100000"/>
              </a:lnSpc>
              <a:defRPr sz="8400" b="0" spc="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</p:spPr>
        <p:txBody>
          <a:bodyPr lIns="71437" tIns="71437" rIns="71437" bIns="71437"/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387453" y="3643312"/>
            <a:ext cx="15609094" cy="7129798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03250" indent="-603250" defTabSz="821531">
              <a:lnSpc>
                <a:spcPct val="100000"/>
              </a:lnSpc>
              <a:spcBef>
                <a:spcPts val="1400"/>
              </a:spcBef>
              <a:buSzPct val="145000"/>
              <a:defRPr sz="3800">
                <a:latin typeface="Georgia"/>
                <a:ea typeface="Georgia"/>
                <a:cs typeface="Georgia"/>
                <a:sym typeface="Georgia"/>
              </a:defRPr>
            </a:lvl1pPr>
            <a:lvl2pPr marL="1047750" indent="-603250" defTabSz="821531">
              <a:lnSpc>
                <a:spcPct val="100000"/>
              </a:lnSpc>
              <a:spcBef>
                <a:spcPts val="1400"/>
              </a:spcBef>
              <a:buSzPct val="145000"/>
              <a:defRPr sz="3800">
                <a:latin typeface="Georgia"/>
                <a:ea typeface="Georgia"/>
                <a:cs typeface="Georgia"/>
                <a:sym typeface="Georgia"/>
              </a:defRPr>
            </a:lvl2pPr>
            <a:lvl3pPr marL="1492250" indent="-603250" defTabSz="821531">
              <a:lnSpc>
                <a:spcPct val="100000"/>
              </a:lnSpc>
              <a:spcBef>
                <a:spcPts val="1400"/>
              </a:spcBef>
              <a:buSzPct val="145000"/>
              <a:defRPr sz="3800">
                <a:latin typeface="Georgia"/>
                <a:ea typeface="Georgia"/>
                <a:cs typeface="Georgia"/>
                <a:sym typeface="Georgia"/>
              </a:defRPr>
            </a:lvl3pPr>
            <a:lvl4pPr marL="1936750" indent="-603250" defTabSz="821531">
              <a:lnSpc>
                <a:spcPct val="100000"/>
              </a:lnSpc>
              <a:spcBef>
                <a:spcPts val="1400"/>
              </a:spcBef>
              <a:buSzPct val="145000"/>
              <a:defRPr sz="3800">
                <a:latin typeface="Georgia"/>
                <a:ea typeface="Georgia"/>
                <a:cs typeface="Georgia"/>
                <a:sym typeface="Georgia"/>
              </a:defRPr>
            </a:lvl4pPr>
            <a:lvl5pPr marL="2381250" indent="-603250" defTabSz="821531">
              <a:lnSpc>
                <a:spcPct val="100000"/>
              </a:lnSpc>
              <a:spcBef>
                <a:spcPts val="1400"/>
              </a:spcBef>
              <a:buSzPct val="145000"/>
              <a:defRPr sz="3800">
                <a:latin typeface="Georgia"/>
                <a:ea typeface="Georgia"/>
                <a:cs typeface="Georgia"/>
                <a:sym typeface="Georgi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21"/>
          </p:nvPr>
        </p:nvSpPr>
        <p:spPr>
          <a:xfrm>
            <a:off x="8794253" y="3637358"/>
            <a:ext cx="13260587" cy="88403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465364" indent="-465364" defTabSz="821531">
              <a:lnSpc>
                <a:spcPct val="100000"/>
              </a:lnSpc>
              <a:buSzPct val="145000"/>
              <a:defRPr sz="3800"/>
            </a:lvl1pPr>
            <a:lvl2pPr marL="808264" indent="-465364" defTabSz="821531">
              <a:lnSpc>
                <a:spcPct val="100000"/>
              </a:lnSpc>
              <a:buSzPct val="145000"/>
              <a:defRPr sz="3800"/>
            </a:lvl2pPr>
            <a:lvl3pPr marL="1151164" indent="-465364" defTabSz="821531">
              <a:lnSpc>
                <a:spcPct val="100000"/>
              </a:lnSpc>
              <a:buSzPct val="145000"/>
              <a:defRPr sz="3800"/>
            </a:lvl3pPr>
            <a:lvl4pPr marL="1494064" indent="-465364" defTabSz="821531">
              <a:lnSpc>
                <a:spcPct val="100000"/>
              </a:lnSpc>
              <a:buSzPct val="145000"/>
              <a:defRPr sz="3800"/>
            </a:lvl4pPr>
            <a:lvl5pPr marL="1836964" indent="-465364" defTabSz="821531">
              <a:lnSpc>
                <a:spcPct val="100000"/>
              </a:lnSpc>
              <a:buSzPct val="145000"/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3076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11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1pPr>
            <a:lvl2pPr marL="10556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2pPr>
            <a:lvl3pPr marL="15001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3pPr>
            <a:lvl4pPr marL="19446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4pPr>
            <a:lvl5pPr marL="23891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21"/>
          </p:nvPr>
        </p:nvSpPr>
        <p:spPr>
          <a:xfrm>
            <a:off x="12442031" y="7072312"/>
            <a:ext cx="8514489" cy="567928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12192000" y="1250156"/>
            <a:ext cx="8251032" cy="55006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23"/>
          </p:nvPr>
        </p:nvSpPr>
        <p:spPr>
          <a:xfrm>
            <a:off x="-291704" y="1250156"/>
            <a:ext cx="16850320" cy="1123354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47701"/>
          </a:xfrm>
          <a:prstGeom prst="rect">
            <a:avLst/>
          </a:prstGeom>
        </p:spPr>
        <p:txBody>
          <a:bodyPr lIns="71437" tIns="71437" rIns="71437" bIns="71437">
            <a:spAutoFit/>
          </a:bodyPr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5997575"/>
            <a:ext cx="14716126" cy="863601"/>
          </a:xfrm>
          <a:prstGeom prst="rect">
            <a:avLst/>
          </a:prstGeom>
        </p:spPr>
        <p:txBody>
          <a:bodyPr lIns="71437" tIns="71437" rIns="71437" bIns="71437" anchor="ctr">
            <a:spAutoFit/>
          </a:bodyPr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46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1712269" y="0"/>
            <a:ext cx="20959463" cy="1398389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11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1pPr>
            <a:lvl2pPr marL="10556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2pPr>
            <a:lvl3pPr marL="15001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3pPr>
            <a:lvl4pPr marL="19446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4pPr>
            <a:lvl5pPr marL="23891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/>
          </p:nvPr>
        </p:nvSpPr>
        <p:spPr>
          <a:xfrm>
            <a:off x="4419599" y="2857500"/>
            <a:ext cx="15544801" cy="10210800"/>
          </a:xfrm>
          <a:prstGeom prst="rect">
            <a:avLst/>
          </a:prstGeom>
        </p:spPr>
        <p:txBody>
          <a:bodyPr lIns="91439" tIns="91439" rIns="91439" bIns="91439">
            <a:noAutofit/>
          </a:bodyPr>
          <a:lstStyle>
            <a:lvl1pPr marL="657225" indent="-657225" defTabSz="1285875">
              <a:lnSpc>
                <a:spcPct val="100000"/>
              </a:lnSpc>
              <a:spcBef>
                <a:spcPts val="800"/>
              </a:spcBef>
              <a:buClr>
                <a:srgbClr val="CC0000"/>
              </a:buClr>
              <a:buSzPct val="100000"/>
              <a:buFont typeface="Times Roman"/>
              <a:defRPr sz="4600"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982979" indent="-525779" defTabSz="1285875">
              <a:lnSpc>
                <a:spcPct val="100000"/>
              </a:lnSpc>
              <a:spcBef>
                <a:spcPts val="800"/>
              </a:spcBef>
              <a:buClr>
                <a:srgbClr val="CC0000"/>
              </a:buClr>
              <a:buSzPct val="100000"/>
              <a:buFont typeface="Times Roman"/>
              <a:defRPr sz="4600"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384300" indent="-584200" defTabSz="1285875">
              <a:lnSpc>
                <a:spcPct val="100000"/>
              </a:lnSpc>
              <a:spcBef>
                <a:spcPts val="800"/>
              </a:spcBef>
              <a:buClr>
                <a:srgbClr val="CC0000"/>
              </a:buClr>
              <a:buSzPct val="100000"/>
              <a:buFont typeface="Times Roman"/>
              <a:defRPr sz="4600"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800225" indent="-657225" defTabSz="1285875">
              <a:lnSpc>
                <a:spcPct val="100000"/>
              </a:lnSpc>
              <a:spcBef>
                <a:spcPts val="800"/>
              </a:spcBef>
              <a:buClr>
                <a:srgbClr val="CC0000"/>
              </a:buClr>
              <a:buSzPct val="100000"/>
              <a:buFont typeface="Times Roman"/>
              <a:defRPr sz="4600"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237014" indent="-751114" defTabSz="1285875">
              <a:lnSpc>
                <a:spcPct val="100000"/>
              </a:lnSpc>
              <a:spcBef>
                <a:spcPts val="800"/>
              </a:spcBef>
              <a:buClr>
                <a:srgbClr val="CC0000"/>
              </a:buClr>
              <a:buSzPct val="100000"/>
              <a:buFont typeface="Times Roman"/>
              <a:defRPr sz="4600"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7" name="Text"/>
          <p:cNvSpPr txBox="1"/>
          <p:nvPr/>
        </p:nvSpPr>
        <p:spPr>
          <a:xfrm>
            <a:off x="11526786" y="6392862"/>
            <a:ext cx="1330428" cy="9302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defRPr sz="5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28" name="Line"/>
          <p:cNvSpPr/>
          <p:nvPr/>
        </p:nvSpPr>
        <p:spPr>
          <a:xfrm flipV="1">
            <a:off x="11477625" y="6143624"/>
            <a:ext cx="1785938" cy="1785939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  <a:effectLst>
                  <a:outerShdw blurRad="25400" dist="23998" dir="2700000" rotWithShape="0">
                    <a:srgbClr val="000000">
                      <a:alpha val="31034"/>
                    </a:srgbClr>
                  </a:outerShdw>
                </a:effectLst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79540" y="12967176"/>
            <a:ext cx="3810001" cy="551181"/>
          </a:xfrm>
          <a:prstGeom prst="rect">
            <a:avLst/>
          </a:prstGeom>
        </p:spPr>
        <p:txBody>
          <a:bodyPr wrap="square" lIns="91439" tIns="91439" rIns="91439" bIns="91439"/>
          <a:lstStyle>
            <a:lvl1pPr algn="r" defTabSz="1285875"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3058715" y="-553641"/>
            <a:ext cx="18266571" cy="2743201"/>
          </a:xfrm>
          <a:prstGeom prst="rect">
            <a:avLst/>
          </a:prstGeom>
        </p:spPr>
        <p:txBody>
          <a:bodyPr lIns="91439" tIns="91439" rIns="91439" bIns="91439" anchor="b">
            <a:noAutofit/>
          </a:bodyPr>
          <a:lstStyle>
            <a:lvl1pPr algn="ctr" defTabSz="1285875">
              <a:lnSpc>
                <a:spcPct val="100000"/>
              </a:lnSpc>
              <a:defRPr sz="7000" b="0" spc="0">
                <a:solidFill>
                  <a:srgbClr val="941100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38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1187" indent="-611187" defTabSz="821531">
              <a:lnSpc>
                <a:spcPct val="120000"/>
              </a:lnSpc>
              <a:spcBef>
                <a:spcPts val="4200"/>
              </a:spcBef>
              <a:buSzPct val="145000"/>
              <a:defRPr sz="4400"/>
            </a:lvl1pPr>
            <a:lvl2pPr marL="1055687" indent="-611187" defTabSz="821531">
              <a:lnSpc>
                <a:spcPct val="120000"/>
              </a:lnSpc>
              <a:spcBef>
                <a:spcPts val="4200"/>
              </a:spcBef>
              <a:buSzPct val="145000"/>
              <a:defRPr sz="4400"/>
            </a:lvl2pPr>
            <a:lvl3pPr marL="1500187" indent="-611187" defTabSz="821531">
              <a:lnSpc>
                <a:spcPct val="120000"/>
              </a:lnSpc>
              <a:spcBef>
                <a:spcPts val="4200"/>
              </a:spcBef>
              <a:buSzPct val="145000"/>
              <a:defRPr sz="4400"/>
            </a:lvl3pPr>
            <a:lvl4pPr marL="1944687" indent="-611187" defTabSz="821531">
              <a:lnSpc>
                <a:spcPct val="120000"/>
              </a:lnSpc>
              <a:spcBef>
                <a:spcPts val="4200"/>
              </a:spcBef>
              <a:buSzPct val="145000"/>
              <a:defRPr sz="4400"/>
            </a:lvl4pPr>
            <a:lvl5pPr marL="2389187" indent="-611187" defTabSz="821531">
              <a:lnSpc>
                <a:spcPct val="120000"/>
              </a:lnSpc>
              <a:spcBef>
                <a:spcPts val="4200"/>
              </a:spcBef>
              <a:buSzPct val="145000"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112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1187" indent="-611187" defTabSz="821531">
              <a:lnSpc>
                <a:spcPct val="100000"/>
              </a:lnSpc>
              <a:spcBef>
                <a:spcPts val="5900"/>
              </a:spcBef>
              <a:buSzPct val="145000"/>
              <a:defRPr sz="4400"/>
            </a:lvl1pPr>
            <a:lvl2pPr marL="1055687" indent="-611187" defTabSz="821531">
              <a:lnSpc>
                <a:spcPct val="100000"/>
              </a:lnSpc>
              <a:spcBef>
                <a:spcPts val="5900"/>
              </a:spcBef>
              <a:buSzPct val="145000"/>
              <a:defRPr sz="4400"/>
            </a:lvl2pPr>
            <a:lvl3pPr marL="1500187" indent="-611187" defTabSz="821531">
              <a:lnSpc>
                <a:spcPct val="100000"/>
              </a:lnSpc>
              <a:spcBef>
                <a:spcPts val="5900"/>
              </a:spcBef>
              <a:buSzPct val="145000"/>
              <a:defRPr sz="4400"/>
            </a:lvl3pPr>
            <a:lvl4pPr marL="1944687" indent="-611187" defTabSz="821531">
              <a:lnSpc>
                <a:spcPct val="100000"/>
              </a:lnSpc>
              <a:spcBef>
                <a:spcPts val="5900"/>
              </a:spcBef>
              <a:buSzPct val="145000"/>
              <a:defRPr sz="4400"/>
            </a:lvl4pPr>
            <a:lvl5pPr marL="2389187" indent="-611187" defTabSz="821531">
              <a:lnSpc>
                <a:spcPct val="100000"/>
              </a:lnSpc>
              <a:spcBef>
                <a:spcPts val="5900"/>
              </a:spcBef>
              <a:buSzPct val="145000"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8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56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1187" indent="-611187" defTabSz="821531">
              <a:lnSpc>
                <a:spcPct val="100000"/>
              </a:lnSpc>
              <a:spcBef>
                <a:spcPts val="7000"/>
              </a:spcBef>
              <a:buSzPct val="145000"/>
              <a:defRPr sz="4400"/>
            </a:lvl1pPr>
            <a:lvl2pPr marL="1055687" indent="-611187" defTabSz="821531">
              <a:lnSpc>
                <a:spcPct val="100000"/>
              </a:lnSpc>
              <a:spcBef>
                <a:spcPts val="7000"/>
              </a:spcBef>
              <a:buSzPct val="145000"/>
              <a:defRPr sz="4400"/>
            </a:lvl2pPr>
            <a:lvl3pPr marL="1500187" indent="-611187" defTabSz="821531">
              <a:lnSpc>
                <a:spcPct val="100000"/>
              </a:lnSpc>
              <a:spcBef>
                <a:spcPts val="7000"/>
              </a:spcBef>
              <a:buSzPct val="145000"/>
              <a:defRPr sz="4400"/>
            </a:lvl3pPr>
            <a:lvl4pPr marL="1944687" indent="-611187" defTabSz="821531">
              <a:lnSpc>
                <a:spcPct val="100000"/>
              </a:lnSpc>
              <a:spcBef>
                <a:spcPts val="7000"/>
              </a:spcBef>
              <a:buSzPct val="145000"/>
              <a:defRPr sz="4400"/>
            </a:lvl4pPr>
            <a:lvl5pPr marL="2389187" indent="-611187" defTabSz="821531">
              <a:lnSpc>
                <a:spcPct val="100000"/>
              </a:lnSpc>
              <a:spcBef>
                <a:spcPts val="7000"/>
              </a:spcBef>
              <a:buSzPct val="145000"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 Text"/>
          <p:cNvSpPr txBox="1">
            <a:spLocks noGrp="1"/>
          </p:cNvSpPr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lIns="71437" tIns="71437" rIns="71437" bIns="71437" anchor="b"/>
          <a:lstStyle>
            <a:lvl1pPr algn="ctr" defTabSz="821531">
              <a:lnSpc>
                <a:spcPct val="100000"/>
              </a:lnSpc>
              <a:defRPr sz="78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6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</p:spPr>
        <p:txBody>
          <a:bodyPr lIns="71437" tIns="71437" rIns="71437" bIns="71437"/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7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75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457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914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1371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18288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22860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2743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3200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3657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6096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192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8288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4384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0480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6576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2672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8768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4864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4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.png"/><Relationship Id="rId11" Type="http://schemas.openxmlformats.org/officeDocument/2006/relationships/image" Target="../media/image11.png"/><Relationship Id="rId5" Type="http://schemas.openxmlformats.org/officeDocument/2006/relationships/image" Target="../media/image18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1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8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4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42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43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42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43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42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0.png"/><Relationship Id="rId11" Type="http://schemas.openxmlformats.org/officeDocument/2006/relationships/image" Target="../media/image45.png"/><Relationship Id="rId5" Type="http://schemas.openxmlformats.org/officeDocument/2006/relationships/image" Target="../media/image44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68.png"/><Relationship Id="rId21" Type="http://schemas.openxmlformats.org/officeDocument/2006/relationships/image" Target="../media/image59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72.png"/><Relationship Id="rId7" Type="http://schemas.openxmlformats.org/officeDocument/2006/relationships/image" Target="../media/image52.png"/><Relationship Id="rId2" Type="http://schemas.openxmlformats.org/officeDocument/2006/relationships/image" Target="../media/image49.png"/><Relationship Id="rId16" Type="http://schemas.openxmlformats.org/officeDocument/2006/relationships/customXml" Target="../ink/ink7.xml"/><Relationship Id="rId29" Type="http://schemas.openxmlformats.org/officeDocument/2006/relationships/image" Target="../media/image63.png"/><Relationship Id="rId11" Type="http://schemas.openxmlformats.org/officeDocument/2006/relationships/image" Target="../media/image54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67.png"/><Relationship Id="rId40" Type="http://schemas.openxmlformats.org/officeDocument/2006/relationships/customXml" Target="../ink/ink19.xml"/><Relationship Id="rId45" Type="http://schemas.openxmlformats.org/officeDocument/2006/relationships/image" Target="../media/image71.png"/><Relationship Id="rId5" Type="http://schemas.openxmlformats.org/officeDocument/2006/relationships/image" Target="../media/image51.png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73.png"/><Relationship Id="rId10" Type="http://schemas.openxmlformats.org/officeDocument/2006/relationships/customXml" Target="../ink/ink4.xml"/><Relationship Id="rId19" Type="http://schemas.openxmlformats.org/officeDocument/2006/relationships/image" Target="../media/image58.png"/><Relationship Id="rId31" Type="http://schemas.openxmlformats.org/officeDocument/2006/relationships/image" Target="../media/image64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53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62.png"/><Relationship Id="rId30" Type="http://schemas.openxmlformats.org/officeDocument/2006/relationships/customXml" Target="../ink/ink14.xml"/><Relationship Id="rId35" Type="http://schemas.openxmlformats.org/officeDocument/2006/relationships/image" Target="../media/image66.png"/><Relationship Id="rId43" Type="http://schemas.openxmlformats.org/officeDocument/2006/relationships/image" Target="../media/image70.png"/><Relationship Id="rId48" Type="http://schemas.openxmlformats.org/officeDocument/2006/relationships/customXml" Target="../ink/ink23.xml"/><Relationship Id="rId8" Type="http://schemas.openxmlformats.org/officeDocument/2006/relationships/customXml" Target="../ink/ink3.xml"/><Relationship Id="rId3" Type="http://schemas.openxmlformats.org/officeDocument/2006/relationships/image" Target="../media/image50.png"/><Relationship Id="rId12" Type="http://schemas.openxmlformats.org/officeDocument/2006/relationships/customXml" Target="../ink/ink5.xml"/><Relationship Id="rId17" Type="http://schemas.openxmlformats.org/officeDocument/2006/relationships/image" Target="../media/image57.png"/><Relationship Id="rId25" Type="http://schemas.openxmlformats.org/officeDocument/2006/relationships/image" Target="../media/image61.png"/><Relationship Id="rId33" Type="http://schemas.openxmlformats.org/officeDocument/2006/relationships/image" Target="../media/image65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3.png"/><Relationship Id="rId4" Type="http://schemas.openxmlformats.org/officeDocument/2006/relationships/image" Target="../media/image9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tif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tif"/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tif"/><Relationship Id="rId1" Type="http://schemas.openxmlformats.org/officeDocument/2006/relationships/slideLayout" Target="../slideLayouts/slideLayout1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t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7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5.tif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52091" y="4688482"/>
            <a:ext cx="21336000" cy="1569660"/>
          </a:xfrm>
        </p:spPr>
        <p:txBody>
          <a:bodyPr>
            <a:normAutofit/>
          </a:bodyPr>
          <a:lstStyle/>
          <a:p>
            <a:r>
              <a:rPr lang="en-US" sz="8000" dirty="0"/>
              <a:t>CMPT 413/713: Natural Language Processing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659119" y="9708974"/>
            <a:ext cx="18288000" cy="1978772"/>
          </a:xfrm>
        </p:spPr>
        <p:txBody>
          <a:bodyPr>
            <a:normAutofit/>
          </a:bodyPr>
          <a:lstStyle/>
          <a:p>
            <a:r>
              <a:rPr lang="en-US" sz="7200" dirty="0"/>
              <a:t>Zhiyun (Richard) Peng</a:t>
            </a:r>
          </a:p>
        </p:txBody>
      </p:sp>
      <p:sp>
        <p:nvSpPr>
          <p:cNvPr id="7" name="Subtitle 4"/>
          <p:cNvSpPr txBox="1">
            <a:spLocks/>
          </p:cNvSpPr>
          <p:nvPr/>
        </p:nvSpPr>
        <p:spPr>
          <a:xfrm>
            <a:off x="3048000" y="11116390"/>
            <a:ext cx="18288000" cy="812872"/>
          </a:xfrm>
          <a:prstGeom prst="rect">
            <a:avLst/>
          </a:prstGeom>
        </p:spPr>
        <p:txBody>
          <a:bodyPr vert="horz" lIns="182880" tIns="91440" rIns="182880" bIns="9144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8800">
              <a:spcBef>
                <a:spcPts val="2000"/>
              </a:spcBef>
              <a:defRPr/>
            </a:pPr>
            <a:r>
              <a:rPr lang="en-US" sz="4800" dirty="0">
                <a:solidFill>
                  <a:prstClr val="black"/>
                </a:solidFill>
                <a:latin typeface="Calibri" panose="020F0502020204030204"/>
              </a:rPr>
              <a:t>2026-10-23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676891" y="133366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8800" hangingPunct="1">
              <a:defRPr/>
            </a:pPr>
            <a:fld id="{0678F3BA-CF26-A443-A03B-DCCCF0EAA5A1}" type="slidenum">
              <a:rPr lang="en-US" smtClean="0"/>
              <a:pPr algn="r" defTabSz="1828800" hangingPunct="1">
                <a:defRPr/>
              </a:pPr>
              <a:t>1</a:t>
            </a:fld>
            <a:endParaRPr lang="en-US" sz="2400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477C1-3C00-EE48-8A0E-7E8D7D717AAF}"/>
              </a:ext>
            </a:extLst>
          </p:cNvPr>
          <p:cNvSpPr/>
          <p:nvPr/>
        </p:nvSpPr>
        <p:spPr>
          <a:xfrm>
            <a:off x="2659119" y="12275467"/>
            <a:ext cx="197594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 hangingPunct="1">
              <a:defRPr/>
            </a:pP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Adapted from slides from Angel Chang, Anoop Sarkar, </a:t>
            </a:r>
            <a:r>
              <a:rPr lang="en-US" sz="3600" kern="1200" dirty="0" err="1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Danqi</a:t>
            </a: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 Chen, Karthik Narasimhan, and Justin Johnson, Chris Manning, Abigail See, Andrej </a:t>
            </a:r>
            <a:r>
              <a:rPr lang="en-US" sz="3600" kern="1200" dirty="0" err="1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Karpathy</a:t>
            </a: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, Graham </a:t>
            </a:r>
            <a:r>
              <a:rPr lang="en-US" sz="3600" kern="1200" dirty="0" err="1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Neubig</a:t>
            </a:r>
            <a:endParaRPr lang="en-US" sz="3600" kern="1200" dirty="0">
              <a:solidFill>
                <a:srgbClr val="E7E6E6">
                  <a:lumMod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5D0A0-CDDF-E5D1-9AAB-16996183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890" y="840368"/>
            <a:ext cx="7440708" cy="3225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C61DC-DA36-9F0A-3C95-26CF319819D0}"/>
              </a:ext>
            </a:extLst>
          </p:cNvPr>
          <p:cNvSpPr txBox="1"/>
          <p:nvPr/>
        </p:nvSpPr>
        <p:spPr>
          <a:xfrm>
            <a:off x="144483" y="7053395"/>
            <a:ext cx="2366752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dirty="0"/>
              <a:t>Sequence to Sequence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8C8FF1-5D26-36AE-F553-D9BF713DA40C}"/>
              </a:ext>
            </a:extLst>
          </p:cNvPr>
          <p:cNvSpPr txBox="1"/>
          <p:nvPr/>
        </p:nvSpPr>
        <p:spPr>
          <a:xfrm>
            <a:off x="3917604" y="8570254"/>
            <a:ext cx="16121279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(Seq2Seq)</a:t>
            </a:r>
          </a:p>
        </p:txBody>
      </p:sp>
    </p:spTree>
    <p:extLst>
      <p:ext uri="{BB962C8B-B14F-4D97-AF65-F5344CB8AC3E}">
        <p14:creationId xmlns:p14="http://schemas.microsoft.com/office/powerpoint/2010/main" val="250297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Over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Overview</a:t>
            </a:r>
          </a:p>
        </p:txBody>
      </p:sp>
      <p:sp>
        <p:nvSpPr>
          <p:cNvPr id="192" name="Sequence generation tasks…"/>
          <p:cNvSpPr txBox="1">
            <a:spLocks noGrp="1"/>
          </p:cNvSpPr>
          <p:nvPr>
            <p:ph type="body" sz="half" idx="1"/>
          </p:nvPr>
        </p:nvSpPr>
        <p:spPr>
          <a:xfrm>
            <a:off x="4647266" y="4381029"/>
            <a:ext cx="13132970" cy="5162815"/>
          </a:xfrm>
          <a:prstGeom prst="rect">
            <a:avLst/>
          </a:prstGeom>
        </p:spPr>
        <p:txBody>
          <a:bodyPr/>
          <a:lstStyle/>
          <a:p>
            <a:r>
              <a:t>Sequence generation tasks</a:t>
            </a:r>
          </a:p>
          <a:p>
            <a:r>
              <a:t>Seq2Seq models - Encoder/Decoder</a:t>
            </a:r>
          </a:p>
          <a:p>
            <a:r>
              <a:t>Decoding strategies</a:t>
            </a:r>
          </a:p>
          <a:p>
            <a:r>
              <a:t>Evaluating text generation</a:t>
            </a:r>
          </a:p>
          <a:p>
            <a:r>
              <a:t>Attention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Understanding what is said…"/>
          <p:cNvSpPr txBox="1">
            <a:spLocks noGrp="1"/>
          </p:cNvSpPr>
          <p:nvPr>
            <p:ph type="body" sz="quarter" idx="1"/>
          </p:nvPr>
        </p:nvSpPr>
        <p:spPr>
          <a:xfrm>
            <a:off x="1245537" y="10541867"/>
            <a:ext cx="8791150" cy="2315045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</a:pPr>
            <a:r>
              <a:rPr dirty="0"/>
              <a:t>Understanding what is said </a:t>
            </a:r>
          </a:p>
          <a:p>
            <a:pPr marL="0" indent="0" algn="ctr">
              <a:buSzTx/>
              <a:buNone/>
            </a:pPr>
            <a:r>
              <a:rPr dirty="0"/>
              <a:t>(encoding, feature extraction)</a:t>
            </a:r>
          </a:p>
        </p:txBody>
      </p:sp>
      <p:sp>
        <p:nvSpPr>
          <p:cNvPr id="200" name="Deciding what to say…"/>
          <p:cNvSpPr txBox="1"/>
          <p:nvPr/>
        </p:nvSpPr>
        <p:spPr>
          <a:xfrm>
            <a:off x="16216951" y="10541867"/>
            <a:ext cx="5677118" cy="2315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Deciding what to say </a:t>
            </a:r>
          </a:p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(decoding, generating)</a:t>
            </a:r>
          </a:p>
        </p:txBody>
      </p:sp>
      <p:sp>
        <p:nvSpPr>
          <p:cNvPr id="201" name="Want computer friendly representation for applications"/>
          <p:cNvSpPr txBox="1">
            <a:spLocks noGrp="1"/>
          </p:cNvSpPr>
          <p:nvPr>
            <p:ph type="title"/>
          </p:nvPr>
        </p:nvSpPr>
        <p:spPr>
          <a:xfrm>
            <a:off x="3452153" y="357187"/>
            <a:ext cx="17479694" cy="3036094"/>
          </a:xfrm>
          <a:prstGeom prst="rect">
            <a:avLst/>
          </a:prstGeom>
        </p:spPr>
        <p:txBody>
          <a:bodyPr/>
          <a:lstStyle/>
          <a:p>
            <a:r>
              <a:t>Want computer friendly representation for applications </a:t>
            </a:r>
          </a:p>
        </p:txBody>
      </p:sp>
      <p:sp>
        <p:nvSpPr>
          <p:cNvPr id="202" name="Latent…"/>
          <p:cNvSpPr txBox="1"/>
          <p:nvPr/>
        </p:nvSpPr>
        <p:spPr>
          <a:xfrm>
            <a:off x="10654789" y="8146430"/>
            <a:ext cx="4062503" cy="1573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4800"/>
            </a:pPr>
            <a:r>
              <a:t>Latent</a:t>
            </a:r>
          </a:p>
          <a:p>
            <a:pPr>
              <a:defRPr sz="4800"/>
            </a:pPr>
            <a:r>
              <a:t>representation</a:t>
            </a:r>
          </a:p>
        </p:txBody>
      </p:sp>
      <p:pic>
        <p:nvPicPr>
          <p:cNvPr id="20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714" y="3376958"/>
            <a:ext cx="21226461" cy="624162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F9570-0507-244A-0797-7DB32C935B07}"/>
              </a:ext>
            </a:extLst>
          </p:cNvPr>
          <p:cNvSpPr txBox="1"/>
          <p:nvPr/>
        </p:nvSpPr>
        <p:spPr>
          <a:xfrm>
            <a:off x="19456400" y="7761709"/>
            <a:ext cx="368300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Greek 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Encoder-Decoder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Encoder-Decoder Model</a:t>
            </a:r>
          </a:p>
        </p:txBody>
      </p:sp>
      <p:pic>
        <p:nvPicPr>
          <p:cNvPr id="20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760" y="4339726"/>
            <a:ext cx="20318326" cy="61143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eq2Seq Tasks and Applic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Seq2Seq Tasks and Applications</a:t>
            </a:r>
          </a:p>
        </p:txBody>
      </p:sp>
      <p:graphicFrame>
        <p:nvGraphicFramePr>
          <p:cNvPr id="210" name="Table 1"/>
          <p:cNvGraphicFramePr/>
          <p:nvPr/>
        </p:nvGraphicFramePr>
        <p:xfrm>
          <a:off x="3639492" y="3382140"/>
          <a:ext cx="17105013" cy="893163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701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1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1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 b="1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Task/Application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Input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 b="1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Output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Machine Translation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French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English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Summarization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Document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Short Summary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Dialogue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 dirty="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Utterance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Response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Parsing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Sentence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Parse tree 
(as sequence)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Question Answering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Context + Question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 dirty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Answer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ross-Modal Seq2Seq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Cross-Modal Seq2Seq</a:t>
            </a:r>
          </a:p>
        </p:txBody>
      </p:sp>
      <p:graphicFrame>
        <p:nvGraphicFramePr>
          <p:cNvPr id="216" name="Table 1"/>
          <p:cNvGraphicFramePr/>
          <p:nvPr/>
        </p:nvGraphicFramePr>
        <p:xfrm>
          <a:off x="3639492" y="3287168"/>
          <a:ext cx="17105013" cy="893163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701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1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1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 b="1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Task/Application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Input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 b="1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Output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Speech Recognition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Speech Signal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Transcript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Image Captioning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Image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Text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Video Captioning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Video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Text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Vision-Language Navigation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Text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Actions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>
                        <a:defRPr sz="30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/>
                      </a:pPr>
                      <a:endParaRPr dirty="0"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ross-modal sequence gener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Cross-modal sequence generation</a:t>
            </a:r>
          </a:p>
        </p:txBody>
      </p:sp>
      <p:sp>
        <p:nvSpPr>
          <p:cNvPr id="220" name="Video captioning (video frames to text)"/>
          <p:cNvSpPr txBox="1">
            <a:spLocks noGrp="1"/>
          </p:cNvSpPr>
          <p:nvPr>
            <p:ph type="body" sz="quarter" idx="1"/>
          </p:nvPr>
        </p:nvSpPr>
        <p:spPr>
          <a:xfrm>
            <a:off x="4663611" y="2759300"/>
            <a:ext cx="15609095" cy="1541647"/>
          </a:xfrm>
          <a:prstGeom prst="rect">
            <a:avLst/>
          </a:prstGeom>
        </p:spPr>
        <p:txBody>
          <a:bodyPr/>
          <a:lstStyle/>
          <a:p>
            <a:r>
              <a:t>Video captioning (video frames to text)</a:t>
            </a:r>
          </a:p>
        </p:txBody>
      </p:sp>
      <p:sp>
        <p:nvSpPr>
          <p:cNvPr id="2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222" name="Image" descr="Imag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57311" y="4068416"/>
            <a:ext cx="14821885" cy="4894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229" y="9914066"/>
            <a:ext cx="16857592" cy="2916125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Embodied AI (text + frames to actions)"/>
          <p:cNvSpPr txBox="1"/>
          <p:nvPr/>
        </p:nvSpPr>
        <p:spPr>
          <a:xfrm>
            <a:off x="4663611" y="8485043"/>
            <a:ext cx="15609095" cy="214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611187" indent="-611187" algn="l">
              <a:lnSpc>
                <a:spcPct val="120000"/>
              </a:lnSpc>
              <a:spcBef>
                <a:spcPts val="4200"/>
              </a:spcBef>
              <a:buSzPct val="145000"/>
              <a:buChar char="•"/>
            </a:lvl1pPr>
          </a:lstStyle>
          <a:p>
            <a:r>
              <a:t>Embodied AI (text + frames to actions)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C8E048-69A2-37AA-8400-D1D5ADA2D8A4}"/>
              </a:ext>
            </a:extLst>
          </p:cNvPr>
          <p:cNvSpPr txBox="1"/>
          <p:nvPr/>
        </p:nvSpPr>
        <p:spPr>
          <a:xfrm>
            <a:off x="-160224" y="12303621"/>
            <a:ext cx="1219200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Vision-Language Navigation (VLN)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eq2Seq Tasks and Applic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Seq2Seq Tasks and Applications</a:t>
            </a:r>
          </a:p>
        </p:txBody>
      </p:sp>
      <p:graphicFrame>
        <p:nvGraphicFramePr>
          <p:cNvPr id="227" name="Table 1"/>
          <p:cNvGraphicFramePr/>
          <p:nvPr/>
        </p:nvGraphicFramePr>
        <p:xfrm>
          <a:off x="3639492" y="3382140"/>
          <a:ext cx="17105013" cy="893163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701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1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1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 b="1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Task/Application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Input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 b="1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Output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Machine Translation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French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English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Summarization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Document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Short Summary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Dialogue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Utterance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Response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Parsing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Sentence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Parse tree 
(as sequence)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73398"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1">
                              <a:lumOff val="-13575"/>
                            </a:schemeClr>
                          </a:solidFill>
                        </a:rPr>
                        <a:t>Question Answering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</a:rPr>
                        <a:t>Context + Question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80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</a:rPr>
                        <a:t>Answer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229" name="Rectangle"/>
          <p:cNvSpPr/>
          <p:nvPr/>
        </p:nvSpPr>
        <p:spPr>
          <a:xfrm>
            <a:off x="3233424" y="4925238"/>
            <a:ext cx="17826427" cy="1270001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Neural Machine Transla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Neural Machine Translation</a:t>
            </a:r>
          </a:p>
        </p:txBody>
      </p:sp>
      <p:sp>
        <p:nvSpPr>
          <p:cNvPr id="239" name="A single neural network is used to translate from source to target…"/>
          <p:cNvSpPr txBox="1">
            <a:spLocks noGrp="1"/>
          </p:cNvSpPr>
          <p:nvPr>
            <p:ph type="body" idx="1"/>
          </p:nvPr>
        </p:nvSpPr>
        <p:spPr>
          <a:xfrm>
            <a:off x="4387453" y="3135994"/>
            <a:ext cx="15609094" cy="8739065"/>
          </a:xfrm>
          <a:prstGeom prst="rect">
            <a:avLst/>
          </a:prstGeom>
        </p:spPr>
        <p:txBody>
          <a:bodyPr anchor="t"/>
          <a:lstStyle/>
          <a:p>
            <a:pPr>
              <a:buClr>
                <a:schemeClr val="accent1">
                  <a:lumOff val="-13575"/>
                </a:schemeClr>
              </a:buClr>
              <a:buChar char="‣"/>
            </a:pPr>
            <a:r>
              <a:t>A </a:t>
            </a:r>
            <a:r>
              <a:rPr b="1"/>
              <a:t>single neural network</a:t>
            </a:r>
            <a:r>
              <a:t> is used to translate from source to target</a:t>
            </a:r>
          </a:p>
          <a:p>
            <a:pPr>
              <a:buClr>
                <a:schemeClr val="accent1">
                  <a:lumOff val="-13575"/>
                </a:schemeClr>
              </a:buClr>
              <a:buChar char="‣"/>
            </a:pPr>
            <a:r>
              <a:t>Architecture: Encoder-Decoder</a:t>
            </a:r>
          </a:p>
          <a:p>
            <a:pPr lvl="1">
              <a:buClr>
                <a:schemeClr val="accent1">
                  <a:lumOff val="-13575"/>
                </a:schemeClr>
              </a:buClr>
              <a:buChar char="‣"/>
            </a:pPr>
            <a:r>
              <a:t>Two main components:</a:t>
            </a:r>
          </a:p>
          <a:p>
            <a:pPr lvl="2">
              <a:buClr>
                <a:schemeClr val="accent1">
                  <a:lumOff val="-13575"/>
                </a:schemeClr>
              </a:buClr>
              <a:buChar char="‣"/>
            </a:pPr>
            <a:r>
              <a:rPr>
                <a:solidFill>
                  <a:schemeClr val="accent5">
                    <a:lumOff val="-29866"/>
                  </a:schemeClr>
                </a:solidFill>
              </a:rPr>
              <a:t>Encoder:</a:t>
            </a:r>
            <a:r>
              <a:t> Convert source sentence (input) into a vector/matrix</a:t>
            </a:r>
          </a:p>
          <a:p>
            <a:pPr lvl="2">
              <a:buClr>
                <a:schemeClr val="accent1">
                  <a:lumOff val="-13575"/>
                </a:schemeClr>
              </a:buClr>
              <a:buChar char="‣"/>
            </a:pPr>
            <a:r>
              <a:rPr>
                <a:solidFill>
                  <a:schemeClr val="accent5">
                    <a:lumOff val="-29866"/>
                  </a:schemeClr>
                </a:solidFill>
              </a:rPr>
              <a:t>Decoder: </a:t>
            </a:r>
            <a:r>
              <a:t>Convert encoding into a sentence in target language (output)</a:t>
            </a:r>
          </a:p>
        </p:txBody>
      </p:sp>
      <p:sp>
        <p:nvSpPr>
          <p:cNvPr id="2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equence to Sequence learning (Seq2seq)"/>
          <p:cNvSpPr txBox="1">
            <a:spLocks noGrp="1"/>
          </p:cNvSpPr>
          <p:nvPr>
            <p:ph type="title"/>
          </p:nvPr>
        </p:nvSpPr>
        <p:spPr>
          <a:xfrm>
            <a:off x="4387453" y="-178594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 sz="7800"/>
            </a:lvl1pPr>
          </a:lstStyle>
          <a:p>
            <a:r>
              <a:t>Sequence to Sequence learning (Seq2seq)</a:t>
            </a:r>
          </a:p>
        </p:txBody>
      </p:sp>
      <p:pic>
        <p:nvPicPr>
          <p:cNvPr id="24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011" y="2967329"/>
            <a:ext cx="17857979" cy="5058485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Encode entire input sequence into a single vector (e.g. using an RNN)…"/>
          <p:cNvSpPr txBox="1">
            <a:spLocks noGrp="1"/>
          </p:cNvSpPr>
          <p:nvPr>
            <p:ph type="body" sz="half" idx="1"/>
          </p:nvPr>
        </p:nvSpPr>
        <p:spPr>
          <a:xfrm>
            <a:off x="4387453" y="8135642"/>
            <a:ext cx="15609094" cy="4348062"/>
          </a:xfrm>
          <a:prstGeom prst="rect">
            <a:avLst/>
          </a:prstGeom>
        </p:spPr>
        <p:txBody>
          <a:bodyPr/>
          <a:lstStyle/>
          <a:p>
            <a:pPr marL="519509" indent="-519509" defTabSz="698301">
              <a:spcBef>
                <a:spcPts val="5000"/>
              </a:spcBef>
              <a:buSzPct val="100000"/>
              <a:defRPr sz="3740"/>
            </a:pPr>
            <a:r>
              <a:rPr b="1" dirty="0"/>
              <a:t>Encode</a:t>
            </a:r>
            <a:r>
              <a:rPr dirty="0"/>
              <a:t> entire input sequence into a single vector (e.g. using an RNN)</a:t>
            </a:r>
          </a:p>
          <a:p>
            <a:pPr marL="519509" indent="-519509" defTabSz="698301">
              <a:spcBef>
                <a:spcPts val="5000"/>
              </a:spcBef>
              <a:buSzPct val="100000"/>
              <a:defRPr sz="3740"/>
            </a:pPr>
            <a:r>
              <a:rPr b="1" dirty="0"/>
              <a:t>Decode</a:t>
            </a:r>
            <a:r>
              <a:rPr dirty="0"/>
              <a:t> one word at a time (e.g. using an RNN!)</a:t>
            </a:r>
          </a:p>
          <a:p>
            <a:pPr marL="519509" indent="-519509" defTabSz="698301">
              <a:spcBef>
                <a:spcPts val="5000"/>
              </a:spcBef>
              <a:buSzPct val="100000"/>
              <a:defRPr sz="3740"/>
            </a:pPr>
            <a:r>
              <a:rPr dirty="0"/>
              <a:t>Beam search for better inference</a:t>
            </a:r>
          </a:p>
          <a:p>
            <a:pPr marL="519509" indent="-519509" defTabSz="698301">
              <a:spcBef>
                <a:spcPts val="5000"/>
              </a:spcBef>
              <a:buSzPct val="100000"/>
              <a:defRPr sz="3740"/>
            </a:pPr>
            <a:r>
              <a:rPr dirty="0"/>
              <a:t>Learning is not trivial! (vanishing/exploding gradients)</a:t>
            </a:r>
          </a:p>
        </p:txBody>
      </p:sp>
      <p:sp>
        <p:nvSpPr>
          <p:cNvPr id="245" name="(Sutskever et al., 2014)"/>
          <p:cNvSpPr txBox="1"/>
          <p:nvPr/>
        </p:nvSpPr>
        <p:spPr>
          <a:xfrm>
            <a:off x="16552017" y="12712039"/>
            <a:ext cx="4257778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(Sutskever et al., 2014)</a:t>
            </a:r>
          </a:p>
        </p:txBody>
      </p:sp>
      <p:sp>
        <p:nvSpPr>
          <p:cNvPr id="2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 build="p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Encoder"/>
          <p:cNvSpPr txBox="1">
            <a:spLocks noGrp="1"/>
          </p:cNvSpPr>
          <p:nvPr>
            <p:ph type="title"/>
          </p:nvPr>
        </p:nvSpPr>
        <p:spPr>
          <a:xfrm>
            <a:off x="4387453" y="-178594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 sz="7800"/>
            </a:lvl1pPr>
          </a:lstStyle>
          <a:p>
            <a:r>
              <a:t>Encoder</a:t>
            </a:r>
          </a:p>
        </p:txBody>
      </p:sp>
      <p:grpSp>
        <p:nvGrpSpPr>
          <p:cNvPr id="254" name="Group"/>
          <p:cNvGrpSpPr/>
          <p:nvPr/>
        </p:nvGrpSpPr>
        <p:grpSpPr>
          <a:xfrm rot="16200000">
            <a:off x="6421405" y="9737281"/>
            <a:ext cx="706005" cy="2156713"/>
            <a:chOff x="0" y="0"/>
            <a:chExt cx="706003" cy="2156712"/>
          </a:xfrm>
        </p:grpSpPr>
        <p:sp>
          <p:nvSpPr>
            <p:cNvPr id="249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250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51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52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53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260" name="Group"/>
          <p:cNvGrpSpPr/>
          <p:nvPr/>
        </p:nvGrpSpPr>
        <p:grpSpPr>
          <a:xfrm rot="16200000">
            <a:off x="9993279" y="9737281"/>
            <a:ext cx="706005" cy="2156713"/>
            <a:chOff x="0" y="0"/>
            <a:chExt cx="706003" cy="2156712"/>
          </a:xfrm>
        </p:grpSpPr>
        <p:sp>
          <p:nvSpPr>
            <p:cNvPr id="255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256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57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58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59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266" name="Group"/>
          <p:cNvGrpSpPr/>
          <p:nvPr/>
        </p:nvGrpSpPr>
        <p:grpSpPr>
          <a:xfrm rot="16200000">
            <a:off x="13922342" y="9737281"/>
            <a:ext cx="706004" cy="2156713"/>
            <a:chOff x="0" y="0"/>
            <a:chExt cx="706003" cy="2156712"/>
          </a:xfrm>
        </p:grpSpPr>
        <p:sp>
          <p:nvSpPr>
            <p:cNvPr id="261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262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63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64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65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272" name="Group"/>
          <p:cNvGrpSpPr/>
          <p:nvPr/>
        </p:nvGrpSpPr>
        <p:grpSpPr>
          <a:xfrm rot="16200000">
            <a:off x="17851404" y="9737281"/>
            <a:ext cx="706005" cy="2156713"/>
            <a:chOff x="0" y="0"/>
            <a:chExt cx="706003" cy="2156712"/>
          </a:xfrm>
        </p:grpSpPr>
        <p:sp>
          <p:nvSpPr>
            <p:cNvPr id="267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268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69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70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71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3" name="Circle"/>
              <p:cNvSpPr/>
              <p:nvPr/>
            </p:nvSpPr>
            <p:spPr>
              <a:xfrm>
                <a:off x="6042173" y="7696892"/>
                <a:ext cx="1336570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273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173" y="7696892"/>
                <a:ext cx="1336570" cy="133098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4" name="Circle"/>
              <p:cNvSpPr/>
              <p:nvPr/>
            </p:nvSpPr>
            <p:spPr>
              <a:xfrm>
                <a:off x="3791891" y="5077517"/>
                <a:ext cx="1336571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274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891" y="5077517"/>
                <a:ext cx="1336571" cy="133099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5" name="Line"/>
          <p:cNvSpPr/>
          <p:nvPr/>
        </p:nvSpPr>
        <p:spPr>
          <a:xfrm flipV="1">
            <a:off x="6710457" y="9178587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6" name="Circle"/>
              <p:cNvSpPr/>
              <p:nvPr/>
            </p:nvSpPr>
            <p:spPr>
              <a:xfrm>
                <a:off x="9614047" y="7750470"/>
                <a:ext cx="1336570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276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047" y="7750470"/>
                <a:ext cx="1336570" cy="13309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7" name="Circle"/>
              <p:cNvSpPr/>
              <p:nvPr/>
            </p:nvSpPr>
            <p:spPr>
              <a:xfrm>
                <a:off x="6113610" y="5077517"/>
                <a:ext cx="1336571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277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610" y="5077517"/>
                <a:ext cx="1336571" cy="133099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Line"/>
          <p:cNvSpPr/>
          <p:nvPr/>
        </p:nvSpPr>
        <p:spPr>
          <a:xfrm flipV="1">
            <a:off x="10282332" y="9232165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9" name="Circle"/>
              <p:cNvSpPr/>
              <p:nvPr/>
            </p:nvSpPr>
            <p:spPr>
              <a:xfrm>
                <a:off x="13543109" y="7750470"/>
                <a:ext cx="1336571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279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3109" y="7750470"/>
                <a:ext cx="1336571" cy="13309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0" name="Circle"/>
              <p:cNvSpPr/>
              <p:nvPr/>
            </p:nvSpPr>
            <p:spPr>
              <a:xfrm>
                <a:off x="9685484" y="5077517"/>
                <a:ext cx="1336571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280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484" y="5077517"/>
                <a:ext cx="1336571" cy="133099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Line"/>
          <p:cNvSpPr/>
          <p:nvPr/>
        </p:nvSpPr>
        <p:spPr>
          <a:xfrm flipV="1">
            <a:off x="14211394" y="9232165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82" name="Line"/>
          <p:cNvSpPr/>
          <p:nvPr/>
        </p:nvSpPr>
        <p:spPr>
          <a:xfrm flipV="1">
            <a:off x="6710457" y="6499680"/>
            <a:ext cx="1" cy="1137557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83" name="Line"/>
          <p:cNvSpPr/>
          <p:nvPr/>
        </p:nvSpPr>
        <p:spPr>
          <a:xfrm flipV="1">
            <a:off x="10282332" y="6553259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84" name="Line"/>
          <p:cNvSpPr/>
          <p:nvPr/>
        </p:nvSpPr>
        <p:spPr>
          <a:xfrm>
            <a:off x="11353645" y="5743012"/>
            <a:ext cx="1914337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5" name="Circle"/>
              <p:cNvSpPr/>
              <p:nvPr/>
            </p:nvSpPr>
            <p:spPr>
              <a:xfrm>
                <a:off x="13614547" y="5077517"/>
                <a:ext cx="1336570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285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547" y="5077517"/>
                <a:ext cx="1336570" cy="133099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" name="Line"/>
          <p:cNvSpPr/>
          <p:nvPr/>
        </p:nvSpPr>
        <p:spPr>
          <a:xfrm flipV="1">
            <a:off x="14211394" y="6553259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87" name="Line"/>
          <p:cNvSpPr/>
          <p:nvPr/>
        </p:nvSpPr>
        <p:spPr>
          <a:xfrm>
            <a:off x="15297683" y="5743012"/>
            <a:ext cx="1914337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8" name="Circle"/>
              <p:cNvSpPr/>
              <p:nvPr/>
            </p:nvSpPr>
            <p:spPr>
              <a:xfrm>
                <a:off x="17532911" y="7657714"/>
                <a:ext cx="1336570" cy="133099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288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2911" y="7657714"/>
                <a:ext cx="1336570" cy="133099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9" name="Line"/>
          <p:cNvSpPr/>
          <p:nvPr/>
        </p:nvSpPr>
        <p:spPr>
          <a:xfrm flipV="1">
            <a:off x="18201195" y="9139408"/>
            <a:ext cx="1" cy="1137557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0" name="Circle"/>
              <p:cNvSpPr/>
              <p:nvPr/>
            </p:nvSpPr>
            <p:spPr>
              <a:xfrm>
                <a:off x="17604348" y="4984762"/>
                <a:ext cx="1336571" cy="1330989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290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4348" y="4984762"/>
                <a:ext cx="1336571" cy="13309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1" name="Line"/>
          <p:cNvSpPr/>
          <p:nvPr/>
        </p:nvSpPr>
        <p:spPr>
          <a:xfrm flipV="1">
            <a:off x="18201195" y="6460502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92" name="Line"/>
          <p:cNvSpPr/>
          <p:nvPr/>
        </p:nvSpPr>
        <p:spPr>
          <a:xfrm flipV="1">
            <a:off x="18201195" y="3781596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93" name="h"/>
          <p:cNvSpPr txBox="1"/>
          <p:nvPr/>
        </p:nvSpPr>
        <p:spPr>
          <a:xfrm>
            <a:off x="18620712" y="3887223"/>
            <a:ext cx="466268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</a:t>
            </a:r>
          </a:p>
        </p:txBody>
      </p:sp>
      <p:sp>
        <p:nvSpPr>
          <p:cNvPr id="294" name="This                  cat                       is                     cute"/>
          <p:cNvSpPr txBox="1"/>
          <p:nvPr/>
        </p:nvSpPr>
        <p:spPr>
          <a:xfrm>
            <a:off x="6774409" y="11514206"/>
            <a:ext cx="13077876" cy="821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l" defTabSz="642937">
              <a:spcBef>
                <a:spcPts val="1600"/>
              </a:spcBef>
              <a:defRPr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dirty="0"/>
              <a:t>This      cat          is        cute</a:t>
            </a:r>
          </a:p>
        </p:txBody>
      </p:sp>
      <p:sp>
        <p:nvSpPr>
          <p:cNvPr id="295" name="Sentence: This cat is cute"/>
          <p:cNvSpPr txBox="1"/>
          <p:nvPr/>
        </p:nvSpPr>
        <p:spPr>
          <a:xfrm>
            <a:off x="4620840" y="2871149"/>
            <a:ext cx="6562218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/>
            </a:lvl1pPr>
          </a:lstStyle>
          <a:p>
            <a:r>
              <a:t>Sentence: This cat is cute</a:t>
            </a:r>
          </a:p>
        </p:txBody>
      </p:sp>
      <p:sp>
        <p:nvSpPr>
          <p:cNvPr id="296" name="Line"/>
          <p:cNvSpPr/>
          <p:nvPr/>
        </p:nvSpPr>
        <p:spPr>
          <a:xfrm>
            <a:off x="5192562" y="5743012"/>
            <a:ext cx="856948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97" name="Line"/>
          <p:cNvSpPr/>
          <p:nvPr/>
        </p:nvSpPr>
        <p:spPr>
          <a:xfrm>
            <a:off x="7759155" y="5743012"/>
            <a:ext cx="1617028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98" name="word…"/>
          <p:cNvSpPr txBox="1"/>
          <p:nvPr/>
        </p:nvSpPr>
        <p:spPr>
          <a:xfrm>
            <a:off x="3354603" y="10267288"/>
            <a:ext cx="2211147" cy="10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/>
            </a:pPr>
            <a:r>
              <a:rPr dirty="0"/>
              <a:t>word</a:t>
            </a:r>
          </a:p>
          <a:p>
            <a:pPr>
              <a:defRPr sz="3200"/>
            </a:pPr>
            <a:r>
              <a:rPr dirty="0"/>
              <a:t>embedding</a:t>
            </a:r>
          </a:p>
        </p:txBody>
      </p:sp>
      <p:sp>
        <p:nvSpPr>
          <p:cNvPr id="299" name="Rectangle"/>
          <p:cNvSpPr/>
          <p:nvPr/>
        </p:nvSpPr>
        <p:spPr>
          <a:xfrm>
            <a:off x="3567207" y="3741566"/>
            <a:ext cx="16751345" cy="65754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Encoder"/>
          <p:cNvSpPr txBox="1">
            <a:spLocks noGrp="1"/>
          </p:cNvSpPr>
          <p:nvPr>
            <p:ph type="title"/>
          </p:nvPr>
        </p:nvSpPr>
        <p:spPr>
          <a:xfrm>
            <a:off x="4387453" y="-178594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 sz="7800"/>
            </a:lvl1pPr>
          </a:lstStyle>
          <a:p>
            <a:r>
              <a:t>Encoder</a:t>
            </a:r>
          </a:p>
        </p:txBody>
      </p:sp>
      <p:grpSp>
        <p:nvGrpSpPr>
          <p:cNvPr id="308" name="Group"/>
          <p:cNvGrpSpPr/>
          <p:nvPr/>
        </p:nvGrpSpPr>
        <p:grpSpPr>
          <a:xfrm rot="16200000">
            <a:off x="6421405" y="9737281"/>
            <a:ext cx="706005" cy="2156713"/>
            <a:chOff x="0" y="0"/>
            <a:chExt cx="706003" cy="2156712"/>
          </a:xfrm>
        </p:grpSpPr>
        <p:sp>
          <p:nvSpPr>
            <p:cNvPr id="303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304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05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06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07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314" name="Group"/>
          <p:cNvGrpSpPr/>
          <p:nvPr/>
        </p:nvGrpSpPr>
        <p:grpSpPr>
          <a:xfrm rot="16200000">
            <a:off x="9993279" y="9737281"/>
            <a:ext cx="706005" cy="2156713"/>
            <a:chOff x="0" y="0"/>
            <a:chExt cx="706003" cy="2156712"/>
          </a:xfrm>
        </p:grpSpPr>
        <p:sp>
          <p:nvSpPr>
            <p:cNvPr id="309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310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11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12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13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320" name="Group"/>
          <p:cNvGrpSpPr/>
          <p:nvPr/>
        </p:nvGrpSpPr>
        <p:grpSpPr>
          <a:xfrm rot="16200000">
            <a:off x="13922342" y="9737281"/>
            <a:ext cx="706004" cy="2156713"/>
            <a:chOff x="0" y="0"/>
            <a:chExt cx="706003" cy="2156712"/>
          </a:xfrm>
        </p:grpSpPr>
        <p:sp>
          <p:nvSpPr>
            <p:cNvPr id="315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316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17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18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19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326" name="Group"/>
          <p:cNvGrpSpPr/>
          <p:nvPr/>
        </p:nvGrpSpPr>
        <p:grpSpPr>
          <a:xfrm rot="16200000">
            <a:off x="17851404" y="9737281"/>
            <a:ext cx="706005" cy="2156713"/>
            <a:chOff x="0" y="0"/>
            <a:chExt cx="706003" cy="2156712"/>
          </a:xfrm>
        </p:grpSpPr>
        <p:sp>
          <p:nvSpPr>
            <p:cNvPr id="321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322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23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24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25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7" name="Circle"/>
              <p:cNvSpPr/>
              <p:nvPr/>
            </p:nvSpPr>
            <p:spPr>
              <a:xfrm>
                <a:off x="6042173" y="7696892"/>
                <a:ext cx="1336570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27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173" y="7696892"/>
                <a:ext cx="1336570" cy="133098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8" name="Circle"/>
              <p:cNvSpPr/>
              <p:nvPr/>
            </p:nvSpPr>
            <p:spPr>
              <a:xfrm>
                <a:off x="3791891" y="5077517"/>
                <a:ext cx="1336571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28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891" y="5077517"/>
                <a:ext cx="1336571" cy="133099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Line"/>
          <p:cNvSpPr/>
          <p:nvPr/>
        </p:nvSpPr>
        <p:spPr>
          <a:xfrm flipV="1">
            <a:off x="6710457" y="9178587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0" name="Circle"/>
              <p:cNvSpPr/>
              <p:nvPr/>
            </p:nvSpPr>
            <p:spPr>
              <a:xfrm>
                <a:off x="9614047" y="7750470"/>
                <a:ext cx="1336570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30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047" y="7750470"/>
                <a:ext cx="1336570" cy="13309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1" name="Circle"/>
              <p:cNvSpPr/>
              <p:nvPr/>
            </p:nvSpPr>
            <p:spPr>
              <a:xfrm>
                <a:off x="6113610" y="5077517"/>
                <a:ext cx="1336571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31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610" y="5077517"/>
                <a:ext cx="1336571" cy="133099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2" name="Line"/>
          <p:cNvSpPr/>
          <p:nvPr/>
        </p:nvSpPr>
        <p:spPr>
          <a:xfrm flipV="1">
            <a:off x="10282332" y="9232165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3" name="Circle"/>
              <p:cNvSpPr/>
              <p:nvPr/>
            </p:nvSpPr>
            <p:spPr>
              <a:xfrm>
                <a:off x="13543109" y="7750470"/>
                <a:ext cx="1336571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33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3109" y="7750470"/>
                <a:ext cx="1336571" cy="13309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4" name="Circle"/>
              <p:cNvSpPr/>
              <p:nvPr/>
            </p:nvSpPr>
            <p:spPr>
              <a:xfrm>
                <a:off x="9685484" y="5077517"/>
                <a:ext cx="1336571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34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484" y="5077517"/>
                <a:ext cx="1336571" cy="133099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5" name="Line"/>
          <p:cNvSpPr/>
          <p:nvPr/>
        </p:nvSpPr>
        <p:spPr>
          <a:xfrm flipV="1">
            <a:off x="14211394" y="9232165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36" name="Line"/>
          <p:cNvSpPr/>
          <p:nvPr/>
        </p:nvSpPr>
        <p:spPr>
          <a:xfrm flipV="1">
            <a:off x="6710457" y="6499680"/>
            <a:ext cx="1" cy="1137557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37" name="Line"/>
          <p:cNvSpPr/>
          <p:nvPr/>
        </p:nvSpPr>
        <p:spPr>
          <a:xfrm flipV="1">
            <a:off x="10282332" y="6553259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38" name="Line"/>
          <p:cNvSpPr/>
          <p:nvPr/>
        </p:nvSpPr>
        <p:spPr>
          <a:xfrm>
            <a:off x="11353645" y="5743012"/>
            <a:ext cx="1914337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9" name="Circle"/>
              <p:cNvSpPr/>
              <p:nvPr/>
            </p:nvSpPr>
            <p:spPr>
              <a:xfrm>
                <a:off x="13614547" y="5077517"/>
                <a:ext cx="1336570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39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547" y="5077517"/>
                <a:ext cx="1336570" cy="133099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0" name="Line"/>
          <p:cNvSpPr/>
          <p:nvPr/>
        </p:nvSpPr>
        <p:spPr>
          <a:xfrm flipV="1">
            <a:off x="14211394" y="6553259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41" name="Line"/>
          <p:cNvSpPr/>
          <p:nvPr/>
        </p:nvSpPr>
        <p:spPr>
          <a:xfrm>
            <a:off x="15297683" y="5743012"/>
            <a:ext cx="1914337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2" name="Circle"/>
              <p:cNvSpPr/>
              <p:nvPr/>
            </p:nvSpPr>
            <p:spPr>
              <a:xfrm>
                <a:off x="17532911" y="7657714"/>
                <a:ext cx="1336570" cy="133099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42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2911" y="7657714"/>
                <a:ext cx="1336570" cy="133099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3" name="Line"/>
          <p:cNvSpPr/>
          <p:nvPr/>
        </p:nvSpPr>
        <p:spPr>
          <a:xfrm flipV="1">
            <a:off x="18201195" y="9139408"/>
            <a:ext cx="1" cy="1137557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4" name="Circle"/>
              <p:cNvSpPr/>
              <p:nvPr/>
            </p:nvSpPr>
            <p:spPr>
              <a:xfrm>
                <a:off x="17604348" y="4984762"/>
                <a:ext cx="1336571" cy="1330989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44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4348" y="4984762"/>
                <a:ext cx="1336571" cy="13309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5" name="Line"/>
          <p:cNvSpPr/>
          <p:nvPr/>
        </p:nvSpPr>
        <p:spPr>
          <a:xfrm flipV="1">
            <a:off x="18201195" y="6460502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46" name="Line"/>
          <p:cNvSpPr/>
          <p:nvPr/>
        </p:nvSpPr>
        <p:spPr>
          <a:xfrm flipV="1">
            <a:off x="18201195" y="3781596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47" name="h"/>
          <p:cNvSpPr txBox="1"/>
          <p:nvPr/>
        </p:nvSpPr>
        <p:spPr>
          <a:xfrm>
            <a:off x="18620712" y="3887223"/>
            <a:ext cx="466268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</a:t>
            </a:r>
          </a:p>
        </p:txBody>
      </p:sp>
      <p:sp>
        <p:nvSpPr>
          <p:cNvPr id="348" name="Sentence: This cat is cute"/>
          <p:cNvSpPr txBox="1"/>
          <p:nvPr/>
        </p:nvSpPr>
        <p:spPr>
          <a:xfrm>
            <a:off x="4620840" y="2871149"/>
            <a:ext cx="6562218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/>
            </a:lvl1pPr>
          </a:lstStyle>
          <a:p>
            <a:r>
              <a:t>Sentence: This cat is cute</a:t>
            </a:r>
          </a:p>
        </p:txBody>
      </p:sp>
      <p:sp>
        <p:nvSpPr>
          <p:cNvPr id="349" name="Line"/>
          <p:cNvSpPr/>
          <p:nvPr/>
        </p:nvSpPr>
        <p:spPr>
          <a:xfrm>
            <a:off x="5192562" y="5743012"/>
            <a:ext cx="856948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50" name="Line"/>
          <p:cNvSpPr/>
          <p:nvPr/>
        </p:nvSpPr>
        <p:spPr>
          <a:xfrm>
            <a:off x="7759155" y="5743012"/>
            <a:ext cx="1617028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51" name="word…"/>
          <p:cNvSpPr txBox="1"/>
          <p:nvPr/>
        </p:nvSpPr>
        <p:spPr>
          <a:xfrm>
            <a:off x="3354603" y="10267288"/>
            <a:ext cx="2211147" cy="10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/>
            </a:pPr>
            <a:r>
              <a:t>word</a:t>
            </a:r>
          </a:p>
          <a:p>
            <a:pPr>
              <a:defRPr sz="3200"/>
            </a:pPr>
            <a:r>
              <a:t>embedding</a:t>
            </a:r>
          </a:p>
        </p:txBody>
      </p:sp>
      <p:sp>
        <p:nvSpPr>
          <p:cNvPr id="352" name="Rectangle"/>
          <p:cNvSpPr/>
          <p:nvPr/>
        </p:nvSpPr>
        <p:spPr>
          <a:xfrm>
            <a:off x="7514280" y="3741566"/>
            <a:ext cx="12804272" cy="65754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sp>
        <p:nvSpPr>
          <p:cNvPr id="2" name="This                  cat                       is                     cute">
            <a:extLst>
              <a:ext uri="{FF2B5EF4-FFF2-40B4-BE49-F238E27FC236}">
                <a16:creationId xmlns:a16="http://schemas.microsoft.com/office/drawing/2014/main" id="{C09333D0-8A86-7586-CE6C-A7A7BA1456D5}"/>
              </a:ext>
            </a:extLst>
          </p:cNvPr>
          <p:cNvSpPr txBox="1"/>
          <p:nvPr/>
        </p:nvSpPr>
        <p:spPr>
          <a:xfrm>
            <a:off x="6774409" y="11514206"/>
            <a:ext cx="13077876" cy="821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l" defTabSz="642937">
              <a:spcBef>
                <a:spcPts val="1600"/>
              </a:spcBef>
              <a:defRPr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dirty="0"/>
              <a:t>This      cat          is        cute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6" name="Circle"/>
              <p:cNvSpPr/>
              <p:nvPr/>
            </p:nvSpPr>
            <p:spPr>
              <a:xfrm>
                <a:off x="6042173" y="7696892"/>
                <a:ext cx="1336570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56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173" y="7696892"/>
                <a:ext cx="1336570" cy="133098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7" name="Circle"/>
              <p:cNvSpPr/>
              <p:nvPr/>
            </p:nvSpPr>
            <p:spPr>
              <a:xfrm>
                <a:off x="3791891" y="5077517"/>
                <a:ext cx="1336571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57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891" y="5077517"/>
                <a:ext cx="1336571" cy="133099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8" name="Circle"/>
              <p:cNvSpPr/>
              <p:nvPr/>
            </p:nvSpPr>
            <p:spPr>
              <a:xfrm>
                <a:off x="9614047" y="7750470"/>
                <a:ext cx="1336570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58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047" y="7750470"/>
                <a:ext cx="1336570" cy="13309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9" name="Circle"/>
              <p:cNvSpPr/>
              <p:nvPr/>
            </p:nvSpPr>
            <p:spPr>
              <a:xfrm>
                <a:off x="6113610" y="5077517"/>
                <a:ext cx="1336571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59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610" y="5077517"/>
                <a:ext cx="1336571" cy="133099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0" name="Circle"/>
              <p:cNvSpPr/>
              <p:nvPr/>
            </p:nvSpPr>
            <p:spPr>
              <a:xfrm>
                <a:off x="13543109" y="7750470"/>
                <a:ext cx="1336571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60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3109" y="7750470"/>
                <a:ext cx="1336571" cy="13309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1" name="Circle"/>
              <p:cNvSpPr/>
              <p:nvPr/>
            </p:nvSpPr>
            <p:spPr>
              <a:xfrm>
                <a:off x="9685484" y="5077517"/>
                <a:ext cx="1336571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61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484" y="5077517"/>
                <a:ext cx="1336571" cy="133099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2" name="Circle"/>
              <p:cNvSpPr/>
              <p:nvPr/>
            </p:nvSpPr>
            <p:spPr>
              <a:xfrm>
                <a:off x="13614547" y="5077517"/>
                <a:ext cx="1336570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62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547" y="5077517"/>
                <a:ext cx="1336570" cy="133099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3" name="Circle"/>
              <p:cNvSpPr/>
              <p:nvPr/>
            </p:nvSpPr>
            <p:spPr>
              <a:xfrm>
                <a:off x="17532911" y="7657714"/>
                <a:ext cx="1336570" cy="133099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63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2911" y="7657714"/>
                <a:ext cx="1336570" cy="133099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4" name="Circle"/>
              <p:cNvSpPr/>
              <p:nvPr/>
            </p:nvSpPr>
            <p:spPr>
              <a:xfrm>
                <a:off x="17604348" y="4984762"/>
                <a:ext cx="1336571" cy="1330989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64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4348" y="4984762"/>
                <a:ext cx="1336571" cy="13309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5" name="Encoder"/>
          <p:cNvSpPr txBox="1">
            <a:spLocks noGrp="1"/>
          </p:cNvSpPr>
          <p:nvPr>
            <p:ph type="title"/>
          </p:nvPr>
        </p:nvSpPr>
        <p:spPr>
          <a:xfrm>
            <a:off x="4387453" y="-178594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 sz="7800"/>
            </a:lvl1pPr>
          </a:lstStyle>
          <a:p>
            <a:r>
              <a:t>Encoder</a:t>
            </a:r>
          </a:p>
        </p:txBody>
      </p:sp>
      <p:grpSp>
        <p:nvGrpSpPr>
          <p:cNvPr id="371" name="Group"/>
          <p:cNvGrpSpPr/>
          <p:nvPr/>
        </p:nvGrpSpPr>
        <p:grpSpPr>
          <a:xfrm rot="16200000">
            <a:off x="6421405" y="9737281"/>
            <a:ext cx="706005" cy="2156713"/>
            <a:chOff x="0" y="0"/>
            <a:chExt cx="706003" cy="2156712"/>
          </a:xfrm>
        </p:grpSpPr>
        <p:sp>
          <p:nvSpPr>
            <p:cNvPr id="366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367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68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69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70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377" name="Group"/>
          <p:cNvGrpSpPr/>
          <p:nvPr/>
        </p:nvGrpSpPr>
        <p:grpSpPr>
          <a:xfrm rot="16200000">
            <a:off x="9993279" y="9737281"/>
            <a:ext cx="706005" cy="2156713"/>
            <a:chOff x="0" y="0"/>
            <a:chExt cx="706003" cy="2156712"/>
          </a:xfrm>
        </p:grpSpPr>
        <p:sp>
          <p:nvSpPr>
            <p:cNvPr id="372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373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74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75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76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383" name="Group"/>
          <p:cNvGrpSpPr/>
          <p:nvPr/>
        </p:nvGrpSpPr>
        <p:grpSpPr>
          <a:xfrm rot="16200000">
            <a:off x="13922342" y="9737281"/>
            <a:ext cx="706004" cy="2156713"/>
            <a:chOff x="0" y="0"/>
            <a:chExt cx="706003" cy="2156712"/>
          </a:xfrm>
        </p:grpSpPr>
        <p:sp>
          <p:nvSpPr>
            <p:cNvPr id="378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379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80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81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82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389" name="Group"/>
          <p:cNvGrpSpPr/>
          <p:nvPr/>
        </p:nvGrpSpPr>
        <p:grpSpPr>
          <a:xfrm rot="16200000">
            <a:off x="17851404" y="9737281"/>
            <a:ext cx="706005" cy="2156713"/>
            <a:chOff x="0" y="0"/>
            <a:chExt cx="706003" cy="2156712"/>
          </a:xfrm>
        </p:grpSpPr>
        <p:sp>
          <p:nvSpPr>
            <p:cNvPr id="384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385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86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87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88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390" name="Line"/>
          <p:cNvSpPr/>
          <p:nvPr/>
        </p:nvSpPr>
        <p:spPr>
          <a:xfrm flipV="1">
            <a:off x="6710457" y="9178587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91" name="Line"/>
          <p:cNvSpPr/>
          <p:nvPr/>
        </p:nvSpPr>
        <p:spPr>
          <a:xfrm flipV="1">
            <a:off x="10282332" y="9232165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2" name="Circle"/>
              <p:cNvSpPr/>
              <p:nvPr/>
            </p:nvSpPr>
            <p:spPr>
              <a:xfrm>
                <a:off x="13543109" y="7750470"/>
                <a:ext cx="1336571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92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3109" y="7750470"/>
                <a:ext cx="1336571" cy="133098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3" name="Line"/>
          <p:cNvSpPr/>
          <p:nvPr/>
        </p:nvSpPr>
        <p:spPr>
          <a:xfrm flipV="1">
            <a:off x="14211394" y="9232165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94" name="Line"/>
          <p:cNvSpPr/>
          <p:nvPr/>
        </p:nvSpPr>
        <p:spPr>
          <a:xfrm flipV="1">
            <a:off x="6710457" y="6499680"/>
            <a:ext cx="1" cy="1137557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95" name="Line"/>
          <p:cNvSpPr/>
          <p:nvPr/>
        </p:nvSpPr>
        <p:spPr>
          <a:xfrm flipV="1">
            <a:off x="10282332" y="6553259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96" name="Line"/>
          <p:cNvSpPr/>
          <p:nvPr/>
        </p:nvSpPr>
        <p:spPr>
          <a:xfrm>
            <a:off x="11353645" y="5743012"/>
            <a:ext cx="1914337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7" name="Circle"/>
              <p:cNvSpPr/>
              <p:nvPr/>
            </p:nvSpPr>
            <p:spPr>
              <a:xfrm>
                <a:off x="13614547" y="5077517"/>
                <a:ext cx="1336570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397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547" y="5077517"/>
                <a:ext cx="1336570" cy="133099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8" name="Line"/>
          <p:cNvSpPr/>
          <p:nvPr/>
        </p:nvSpPr>
        <p:spPr>
          <a:xfrm flipV="1">
            <a:off x="14211394" y="6553259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99" name="Line"/>
          <p:cNvSpPr/>
          <p:nvPr/>
        </p:nvSpPr>
        <p:spPr>
          <a:xfrm>
            <a:off x="15297683" y="5743012"/>
            <a:ext cx="1914337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0" name="Circle"/>
              <p:cNvSpPr/>
              <p:nvPr/>
            </p:nvSpPr>
            <p:spPr>
              <a:xfrm>
                <a:off x="17532911" y="7657714"/>
                <a:ext cx="1336570" cy="133099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00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2911" y="7657714"/>
                <a:ext cx="1336570" cy="133099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1" name="Line"/>
          <p:cNvSpPr/>
          <p:nvPr/>
        </p:nvSpPr>
        <p:spPr>
          <a:xfrm flipV="1">
            <a:off x="18201195" y="9139408"/>
            <a:ext cx="1" cy="1137557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2" name="Circle"/>
              <p:cNvSpPr/>
              <p:nvPr/>
            </p:nvSpPr>
            <p:spPr>
              <a:xfrm>
                <a:off x="17604348" y="4984762"/>
                <a:ext cx="1336571" cy="1330989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02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4348" y="4984762"/>
                <a:ext cx="1336571" cy="1330989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Line"/>
          <p:cNvSpPr/>
          <p:nvPr/>
        </p:nvSpPr>
        <p:spPr>
          <a:xfrm flipV="1">
            <a:off x="18201195" y="6460502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04" name="Line"/>
          <p:cNvSpPr/>
          <p:nvPr/>
        </p:nvSpPr>
        <p:spPr>
          <a:xfrm flipV="1">
            <a:off x="18201195" y="3781596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05" name="h"/>
          <p:cNvSpPr txBox="1"/>
          <p:nvPr/>
        </p:nvSpPr>
        <p:spPr>
          <a:xfrm>
            <a:off x="18620712" y="3887223"/>
            <a:ext cx="466268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</a:t>
            </a:r>
          </a:p>
        </p:txBody>
      </p:sp>
      <p:sp>
        <p:nvSpPr>
          <p:cNvPr id="406" name="Sentence: This cat is cute"/>
          <p:cNvSpPr txBox="1"/>
          <p:nvPr/>
        </p:nvSpPr>
        <p:spPr>
          <a:xfrm>
            <a:off x="4620840" y="2871149"/>
            <a:ext cx="6562218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/>
            </a:lvl1pPr>
          </a:lstStyle>
          <a:p>
            <a:r>
              <a:t>Sentence: This cat is cute</a:t>
            </a:r>
          </a:p>
        </p:txBody>
      </p:sp>
      <p:sp>
        <p:nvSpPr>
          <p:cNvPr id="407" name="Line"/>
          <p:cNvSpPr/>
          <p:nvPr/>
        </p:nvSpPr>
        <p:spPr>
          <a:xfrm>
            <a:off x="5192562" y="5743012"/>
            <a:ext cx="856948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08" name="Line"/>
          <p:cNvSpPr/>
          <p:nvPr/>
        </p:nvSpPr>
        <p:spPr>
          <a:xfrm>
            <a:off x="7759155" y="5743012"/>
            <a:ext cx="1617028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09" name="word…"/>
          <p:cNvSpPr txBox="1"/>
          <p:nvPr/>
        </p:nvSpPr>
        <p:spPr>
          <a:xfrm>
            <a:off x="3354603" y="10267288"/>
            <a:ext cx="2211147" cy="10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/>
            </a:pPr>
            <a:r>
              <a:t>word</a:t>
            </a:r>
          </a:p>
          <a:p>
            <a:pPr>
              <a:defRPr sz="3200"/>
            </a:pPr>
            <a:r>
              <a:t>embedding</a:t>
            </a:r>
          </a:p>
        </p:txBody>
      </p:sp>
      <p:sp>
        <p:nvSpPr>
          <p:cNvPr id="410" name="Rectangle"/>
          <p:cNvSpPr/>
          <p:nvPr/>
        </p:nvSpPr>
        <p:spPr>
          <a:xfrm>
            <a:off x="11085828" y="3741566"/>
            <a:ext cx="9232724" cy="65754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sp>
        <p:nvSpPr>
          <p:cNvPr id="2" name="This                  cat                       is                     cute">
            <a:extLst>
              <a:ext uri="{FF2B5EF4-FFF2-40B4-BE49-F238E27FC236}">
                <a16:creationId xmlns:a16="http://schemas.microsoft.com/office/drawing/2014/main" id="{BEF143CB-BB05-AD1B-5A49-AE5EB9A32FA7}"/>
              </a:ext>
            </a:extLst>
          </p:cNvPr>
          <p:cNvSpPr txBox="1"/>
          <p:nvPr/>
        </p:nvSpPr>
        <p:spPr>
          <a:xfrm>
            <a:off x="6774409" y="11514206"/>
            <a:ext cx="13077876" cy="821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l" defTabSz="642937">
              <a:spcBef>
                <a:spcPts val="1600"/>
              </a:spcBef>
              <a:defRPr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dirty="0"/>
              <a:t>This      cat          is        cute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Encoder"/>
          <p:cNvSpPr txBox="1">
            <a:spLocks noGrp="1"/>
          </p:cNvSpPr>
          <p:nvPr>
            <p:ph type="title"/>
          </p:nvPr>
        </p:nvSpPr>
        <p:spPr>
          <a:xfrm>
            <a:off x="4387453" y="-178594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 sz="7800"/>
            </a:lvl1pPr>
          </a:lstStyle>
          <a:p>
            <a:r>
              <a:t>Encoder</a:t>
            </a:r>
          </a:p>
        </p:txBody>
      </p:sp>
      <p:grpSp>
        <p:nvGrpSpPr>
          <p:cNvPr id="420" name="Group"/>
          <p:cNvGrpSpPr/>
          <p:nvPr/>
        </p:nvGrpSpPr>
        <p:grpSpPr>
          <a:xfrm rot="16200000">
            <a:off x="6421405" y="9737281"/>
            <a:ext cx="706005" cy="2156713"/>
            <a:chOff x="0" y="0"/>
            <a:chExt cx="706003" cy="2156712"/>
          </a:xfrm>
        </p:grpSpPr>
        <p:sp>
          <p:nvSpPr>
            <p:cNvPr id="415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416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17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18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19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426" name="Group"/>
          <p:cNvGrpSpPr/>
          <p:nvPr/>
        </p:nvGrpSpPr>
        <p:grpSpPr>
          <a:xfrm rot="16200000">
            <a:off x="9993279" y="9737281"/>
            <a:ext cx="706005" cy="2156713"/>
            <a:chOff x="0" y="0"/>
            <a:chExt cx="706003" cy="2156712"/>
          </a:xfrm>
        </p:grpSpPr>
        <p:sp>
          <p:nvSpPr>
            <p:cNvPr id="421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422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23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24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25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432" name="Group"/>
          <p:cNvGrpSpPr/>
          <p:nvPr/>
        </p:nvGrpSpPr>
        <p:grpSpPr>
          <a:xfrm rot="16200000">
            <a:off x="13922342" y="9737281"/>
            <a:ext cx="706004" cy="2156713"/>
            <a:chOff x="0" y="0"/>
            <a:chExt cx="706003" cy="2156712"/>
          </a:xfrm>
        </p:grpSpPr>
        <p:sp>
          <p:nvSpPr>
            <p:cNvPr id="427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428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29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30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31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438" name="Group"/>
          <p:cNvGrpSpPr/>
          <p:nvPr/>
        </p:nvGrpSpPr>
        <p:grpSpPr>
          <a:xfrm rot="16200000">
            <a:off x="17851404" y="9737281"/>
            <a:ext cx="706005" cy="2156713"/>
            <a:chOff x="0" y="0"/>
            <a:chExt cx="706003" cy="2156712"/>
          </a:xfrm>
        </p:grpSpPr>
        <p:sp>
          <p:nvSpPr>
            <p:cNvPr id="433" name="Rounded Rectangle"/>
            <p:cNvSpPr/>
            <p:nvPr/>
          </p:nvSpPr>
          <p:spPr>
            <a:xfrm>
              <a:off x="0" y="0"/>
              <a:ext cx="706004" cy="2156713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434" name="Oval"/>
            <p:cNvSpPr/>
            <p:nvPr/>
          </p:nvSpPr>
          <p:spPr>
            <a:xfrm>
              <a:off x="132888" y="127891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35" name="Oval"/>
            <p:cNvSpPr/>
            <p:nvPr/>
          </p:nvSpPr>
          <p:spPr>
            <a:xfrm>
              <a:off x="132888" y="630607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36" name="Oval"/>
            <p:cNvSpPr/>
            <p:nvPr/>
          </p:nvSpPr>
          <p:spPr>
            <a:xfrm>
              <a:off x="132888" y="1133323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37" name="Oval"/>
            <p:cNvSpPr/>
            <p:nvPr/>
          </p:nvSpPr>
          <p:spPr>
            <a:xfrm>
              <a:off x="132888" y="1636039"/>
              <a:ext cx="435241" cy="40289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9" name="Circle"/>
              <p:cNvSpPr/>
              <p:nvPr/>
            </p:nvSpPr>
            <p:spPr>
              <a:xfrm>
                <a:off x="6042173" y="7696892"/>
                <a:ext cx="1336570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39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173" y="7696892"/>
                <a:ext cx="1336570" cy="133098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0" name="Circle"/>
              <p:cNvSpPr/>
              <p:nvPr/>
            </p:nvSpPr>
            <p:spPr>
              <a:xfrm>
                <a:off x="3791891" y="5077517"/>
                <a:ext cx="1336571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40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891" y="5077517"/>
                <a:ext cx="1336571" cy="133099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1" name="Line"/>
          <p:cNvSpPr/>
          <p:nvPr/>
        </p:nvSpPr>
        <p:spPr>
          <a:xfrm flipV="1">
            <a:off x="6710457" y="9178587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2" name="Circle"/>
              <p:cNvSpPr/>
              <p:nvPr/>
            </p:nvSpPr>
            <p:spPr>
              <a:xfrm>
                <a:off x="9614047" y="7750470"/>
                <a:ext cx="1336570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42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047" y="7750470"/>
                <a:ext cx="1336570" cy="13309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3" name="Circle"/>
              <p:cNvSpPr/>
              <p:nvPr/>
            </p:nvSpPr>
            <p:spPr>
              <a:xfrm>
                <a:off x="6113610" y="5077517"/>
                <a:ext cx="1336571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43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610" y="5077517"/>
                <a:ext cx="1336571" cy="133099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4" name="Line"/>
          <p:cNvSpPr/>
          <p:nvPr/>
        </p:nvSpPr>
        <p:spPr>
          <a:xfrm flipV="1">
            <a:off x="10282332" y="9232165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5" name="Circle"/>
              <p:cNvSpPr/>
              <p:nvPr/>
            </p:nvSpPr>
            <p:spPr>
              <a:xfrm>
                <a:off x="13543109" y="7750470"/>
                <a:ext cx="1336571" cy="1330989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45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3109" y="7750470"/>
                <a:ext cx="1336571" cy="13309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6" name="Circle"/>
              <p:cNvSpPr/>
              <p:nvPr/>
            </p:nvSpPr>
            <p:spPr>
              <a:xfrm>
                <a:off x="9685484" y="5077517"/>
                <a:ext cx="1336571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46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484" y="5077517"/>
                <a:ext cx="1336571" cy="133099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7" name="Line"/>
          <p:cNvSpPr/>
          <p:nvPr/>
        </p:nvSpPr>
        <p:spPr>
          <a:xfrm flipV="1">
            <a:off x="14211394" y="9232165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48" name="Line"/>
          <p:cNvSpPr/>
          <p:nvPr/>
        </p:nvSpPr>
        <p:spPr>
          <a:xfrm flipV="1">
            <a:off x="6710457" y="6499680"/>
            <a:ext cx="1" cy="1137557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49" name="Line"/>
          <p:cNvSpPr/>
          <p:nvPr/>
        </p:nvSpPr>
        <p:spPr>
          <a:xfrm flipV="1">
            <a:off x="10282332" y="6553259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50" name="Line"/>
          <p:cNvSpPr/>
          <p:nvPr/>
        </p:nvSpPr>
        <p:spPr>
          <a:xfrm>
            <a:off x="11353645" y="5743012"/>
            <a:ext cx="1914337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1" name="Circle"/>
              <p:cNvSpPr/>
              <p:nvPr/>
            </p:nvSpPr>
            <p:spPr>
              <a:xfrm>
                <a:off x="13614547" y="5077517"/>
                <a:ext cx="1336570" cy="133099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51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547" y="5077517"/>
                <a:ext cx="1336570" cy="133099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2" name="Line"/>
          <p:cNvSpPr/>
          <p:nvPr/>
        </p:nvSpPr>
        <p:spPr>
          <a:xfrm flipV="1">
            <a:off x="14211394" y="6553259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53" name="Line"/>
          <p:cNvSpPr/>
          <p:nvPr/>
        </p:nvSpPr>
        <p:spPr>
          <a:xfrm>
            <a:off x="15297683" y="5743012"/>
            <a:ext cx="1914337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4" name="Circle"/>
              <p:cNvSpPr/>
              <p:nvPr/>
            </p:nvSpPr>
            <p:spPr>
              <a:xfrm>
                <a:off x="17532911" y="7657714"/>
                <a:ext cx="1336570" cy="133099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54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2911" y="7657714"/>
                <a:ext cx="1336570" cy="133099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5" name="Line"/>
          <p:cNvSpPr/>
          <p:nvPr/>
        </p:nvSpPr>
        <p:spPr>
          <a:xfrm flipV="1">
            <a:off x="18201195" y="9139408"/>
            <a:ext cx="1" cy="1137557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6" name="Circle"/>
              <p:cNvSpPr/>
              <p:nvPr/>
            </p:nvSpPr>
            <p:spPr>
              <a:xfrm>
                <a:off x="17604348" y="4984762"/>
                <a:ext cx="1336571" cy="1330989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56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4348" y="4984762"/>
                <a:ext cx="1336571" cy="13309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7" name="Line"/>
          <p:cNvSpPr/>
          <p:nvPr/>
        </p:nvSpPr>
        <p:spPr>
          <a:xfrm flipV="1">
            <a:off x="18201195" y="6460502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58" name="Line"/>
          <p:cNvSpPr/>
          <p:nvPr/>
        </p:nvSpPr>
        <p:spPr>
          <a:xfrm flipV="1">
            <a:off x="18201195" y="3781596"/>
            <a:ext cx="1" cy="1137556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59" name="(encoded representation)"/>
          <p:cNvSpPr txBox="1"/>
          <p:nvPr/>
        </p:nvSpPr>
        <p:spPr>
          <a:xfrm>
            <a:off x="15113734" y="2755508"/>
            <a:ext cx="6174926" cy="68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800">
                <a:solidFill>
                  <a:srgbClr val="C82506"/>
                </a:solidFill>
                <a:latin typeface="Corbel"/>
                <a:ea typeface="Corbel"/>
                <a:cs typeface="Corbel"/>
                <a:sym typeface="Corbel"/>
              </a:defRPr>
            </a:lvl1pPr>
          </a:lstStyle>
          <a:p>
            <a:r>
              <a:t>(encoded representation)</a:t>
            </a:r>
          </a:p>
        </p:txBody>
      </p:sp>
      <p:sp>
        <p:nvSpPr>
          <p:cNvPr id="460" name="Sentence: This cat is cute"/>
          <p:cNvSpPr txBox="1"/>
          <p:nvPr/>
        </p:nvSpPr>
        <p:spPr>
          <a:xfrm>
            <a:off x="4620840" y="2871149"/>
            <a:ext cx="6562218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/>
            </a:lvl1pPr>
          </a:lstStyle>
          <a:p>
            <a:r>
              <a:t>Sentence: This cat is cute</a:t>
            </a:r>
          </a:p>
        </p:txBody>
      </p:sp>
      <p:sp>
        <p:nvSpPr>
          <p:cNvPr id="461" name="Line"/>
          <p:cNvSpPr/>
          <p:nvPr/>
        </p:nvSpPr>
        <p:spPr>
          <a:xfrm>
            <a:off x="5192562" y="5743012"/>
            <a:ext cx="856948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62" name="Line"/>
          <p:cNvSpPr/>
          <p:nvPr/>
        </p:nvSpPr>
        <p:spPr>
          <a:xfrm>
            <a:off x="7759155" y="5743012"/>
            <a:ext cx="1617028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63" name="word…"/>
          <p:cNvSpPr txBox="1"/>
          <p:nvPr/>
        </p:nvSpPr>
        <p:spPr>
          <a:xfrm>
            <a:off x="3354603" y="10267288"/>
            <a:ext cx="2211147" cy="10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/>
            </a:pPr>
            <a:r>
              <a:t>word</a:t>
            </a:r>
          </a:p>
          <a:p>
            <a:pPr>
              <a:defRPr sz="3200"/>
            </a:pPr>
            <a:r>
              <a:t>embedding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4" name="Equation"/>
              <p:cNvSpPr txBox="1"/>
              <p:nvPr/>
            </p:nvSpPr>
            <p:spPr>
              <a:xfrm>
                <a:off x="18615829" y="3956398"/>
                <a:ext cx="860509" cy="39611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4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𝑒𝑛𝑐</m:t>
                          </m:r>
                        </m:sup>
                      </m:sSup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46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5829" y="3956398"/>
                <a:ext cx="860509" cy="396113"/>
              </a:xfrm>
              <a:prstGeom prst="rect">
                <a:avLst/>
              </a:prstGeom>
              <a:blipFill>
                <a:blip r:embed="rId11"/>
                <a:stretch>
                  <a:fillRect r="-20567" b="-4153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sp>
        <p:nvSpPr>
          <p:cNvPr id="2" name="This                  cat                       is                     cute">
            <a:extLst>
              <a:ext uri="{FF2B5EF4-FFF2-40B4-BE49-F238E27FC236}">
                <a16:creationId xmlns:a16="http://schemas.microsoft.com/office/drawing/2014/main" id="{E796C46A-D5FE-4014-1FE5-36DE05CF5E96}"/>
              </a:ext>
            </a:extLst>
          </p:cNvPr>
          <p:cNvSpPr txBox="1"/>
          <p:nvPr/>
        </p:nvSpPr>
        <p:spPr>
          <a:xfrm>
            <a:off x="6697253" y="11493356"/>
            <a:ext cx="13077876" cy="821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l" defTabSz="642937">
              <a:spcBef>
                <a:spcPts val="1600"/>
              </a:spcBef>
              <a:defRPr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dirty="0"/>
              <a:t>This      cat          is        cute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&lt;s&gt;                  ce                     chat                 est           mianon"/>
          <p:cNvSpPr txBox="1"/>
          <p:nvPr/>
        </p:nvSpPr>
        <p:spPr>
          <a:xfrm>
            <a:off x="5489634" y="12179929"/>
            <a:ext cx="15857427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/>
          <a:p>
            <a:pPr algn="l" defTabSz="642937">
              <a:spcBef>
                <a:spcPts val="1600"/>
              </a:spcBef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&lt;s&gt;                  </a:t>
            </a:r>
            <a:r>
              <a: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rPr>
              <a:t>ce                     chat                 est           mianon</a:t>
            </a:r>
          </a:p>
        </p:txBody>
      </p:sp>
      <p:sp>
        <p:nvSpPr>
          <p:cNvPr id="469" name="Decoder"/>
          <p:cNvSpPr txBox="1">
            <a:spLocks noGrp="1"/>
          </p:cNvSpPr>
          <p:nvPr>
            <p:ph type="title"/>
          </p:nvPr>
        </p:nvSpPr>
        <p:spPr>
          <a:xfrm>
            <a:off x="4387453" y="-178594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 sz="7800"/>
            </a:lvl1pPr>
          </a:lstStyle>
          <a:p>
            <a:r>
              <a:t>Decoder</a:t>
            </a:r>
          </a:p>
        </p:txBody>
      </p:sp>
      <p:grpSp>
        <p:nvGrpSpPr>
          <p:cNvPr id="475" name="Group"/>
          <p:cNvGrpSpPr/>
          <p:nvPr/>
        </p:nvGrpSpPr>
        <p:grpSpPr>
          <a:xfrm rot="16200000">
            <a:off x="5749704" y="10341519"/>
            <a:ext cx="688691" cy="2103825"/>
            <a:chOff x="0" y="0"/>
            <a:chExt cx="688690" cy="2103823"/>
          </a:xfrm>
        </p:grpSpPr>
        <p:sp>
          <p:nvSpPr>
            <p:cNvPr id="470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471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72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73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74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481" name="Group"/>
          <p:cNvGrpSpPr/>
          <p:nvPr/>
        </p:nvGrpSpPr>
        <p:grpSpPr>
          <a:xfrm rot="16200000">
            <a:off x="9233987" y="10341519"/>
            <a:ext cx="688691" cy="2103825"/>
            <a:chOff x="0" y="0"/>
            <a:chExt cx="688690" cy="2103823"/>
          </a:xfrm>
        </p:grpSpPr>
        <p:sp>
          <p:nvSpPr>
            <p:cNvPr id="476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477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78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79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80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487" name="Group"/>
          <p:cNvGrpSpPr/>
          <p:nvPr/>
        </p:nvGrpSpPr>
        <p:grpSpPr>
          <a:xfrm rot="16200000">
            <a:off x="13066698" y="10341519"/>
            <a:ext cx="688691" cy="2103825"/>
            <a:chOff x="0" y="0"/>
            <a:chExt cx="688690" cy="2103823"/>
          </a:xfrm>
        </p:grpSpPr>
        <p:sp>
          <p:nvSpPr>
            <p:cNvPr id="482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483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84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85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86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493" name="Group"/>
          <p:cNvGrpSpPr/>
          <p:nvPr/>
        </p:nvGrpSpPr>
        <p:grpSpPr>
          <a:xfrm rot="16200000">
            <a:off x="16899408" y="10341519"/>
            <a:ext cx="688692" cy="2103825"/>
            <a:chOff x="0" y="0"/>
            <a:chExt cx="688690" cy="2103823"/>
          </a:xfrm>
        </p:grpSpPr>
        <p:sp>
          <p:nvSpPr>
            <p:cNvPr id="488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489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90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91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92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4" name="Oval"/>
              <p:cNvSpPr/>
              <p:nvPr/>
            </p:nvSpPr>
            <p:spPr>
              <a:xfrm>
                <a:off x="5379771" y="8351166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94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771" y="8351166"/>
                <a:ext cx="1303794" cy="129835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5" name="Line"/>
          <p:cNvSpPr/>
          <p:nvPr/>
        </p:nvSpPr>
        <p:spPr>
          <a:xfrm flipV="1">
            <a:off x="6031668" y="9796526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6" name="Oval"/>
              <p:cNvSpPr/>
              <p:nvPr/>
            </p:nvSpPr>
            <p:spPr>
              <a:xfrm>
                <a:off x="8864054" y="8403431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96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054" y="8403431"/>
                <a:ext cx="1303794" cy="129835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7" name="Oval"/>
              <p:cNvSpPr/>
              <p:nvPr/>
            </p:nvSpPr>
            <p:spPr>
              <a:xfrm>
                <a:off x="5449456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97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456" y="5796025"/>
                <a:ext cx="1303795" cy="129835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8" name="Line"/>
          <p:cNvSpPr/>
          <p:nvPr/>
        </p:nvSpPr>
        <p:spPr>
          <a:xfrm flipV="1">
            <a:off x="9515951" y="9848789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9" name="Oval"/>
              <p:cNvSpPr/>
              <p:nvPr/>
            </p:nvSpPr>
            <p:spPr>
              <a:xfrm>
                <a:off x="12696765" y="8403431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499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6765" y="8403431"/>
                <a:ext cx="1303794" cy="129835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0" name="Oval"/>
              <p:cNvSpPr/>
              <p:nvPr/>
            </p:nvSpPr>
            <p:spPr>
              <a:xfrm>
                <a:off x="8933739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00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739" y="5796025"/>
                <a:ext cx="1303795" cy="129835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" name="Line"/>
          <p:cNvSpPr/>
          <p:nvPr/>
        </p:nvSpPr>
        <p:spPr>
          <a:xfrm flipV="1">
            <a:off x="13348662" y="9848789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02" name="Line"/>
          <p:cNvSpPr/>
          <p:nvPr/>
        </p:nvSpPr>
        <p:spPr>
          <a:xfrm flipV="1">
            <a:off x="6031668" y="7183312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03" name="Line"/>
          <p:cNvSpPr/>
          <p:nvPr/>
        </p:nvSpPr>
        <p:spPr>
          <a:xfrm flipV="1">
            <a:off x="9515951" y="7235577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04" name="Line"/>
          <p:cNvSpPr/>
          <p:nvPr/>
        </p:nvSpPr>
        <p:spPr>
          <a:xfrm flipV="1">
            <a:off x="6031668" y="4570101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05" name="Line"/>
          <p:cNvSpPr/>
          <p:nvPr/>
        </p:nvSpPr>
        <p:spPr>
          <a:xfrm flipV="1">
            <a:off x="9515951" y="4622365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06" name="ce"/>
          <p:cNvSpPr txBox="1"/>
          <p:nvPr/>
        </p:nvSpPr>
        <p:spPr>
          <a:xfrm>
            <a:off x="5537855" y="3689967"/>
            <a:ext cx="1128323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ce</a:t>
            </a:r>
          </a:p>
        </p:txBody>
      </p:sp>
      <p:sp>
        <p:nvSpPr>
          <p:cNvPr id="507" name="Line"/>
          <p:cNvSpPr/>
          <p:nvPr/>
        </p:nvSpPr>
        <p:spPr>
          <a:xfrm>
            <a:off x="6891356" y="6449928"/>
            <a:ext cx="1667460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8" name="Rectangle"/>
              <p:cNvSpPr txBox="1"/>
              <p:nvPr/>
            </p:nvSpPr>
            <p:spPr>
              <a:xfrm>
                <a:off x="6352428" y="4716670"/>
                <a:ext cx="631771" cy="7857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508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428" y="4716670"/>
                <a:ext cx="631771" cy="7857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9" name="Rectangle"/>
              <p:cNvSpPr txBox="1"/>
              <p:nvPr/>
            </p:nvSpPr>
            <p:spPr>
              <a:xfrm>
                <a:off x="9836711" y="4716670"/>
                <a:ext cx="631772" cy="7857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509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11" y="4716670"/>
                <a:ext cx="631772" cy="7857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0" name="Oval"/>
              <p:cNvSpPr/>
              <p:nvPr/>
            </p:nvSpPr>
            <p:spPr>
              <a:xfrm>
                <a:off x="12766450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10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6450" y="5796025"/>
                <a:ext cx="1303795" cy="129835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1" name="Line"/>
          <p:cNvSpPr/>
          <p:nvPr/>
        </p:nvSpPr>
        <p:spPr>
          <a:xfrm flipV="1">
            <a:off x="13348662" y="7235577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12" name="Line"/>
          <p:cNvSpPr/>
          <p:nvPr/>
        </p:nvSpPr>
        <p:spPr>
          <a:xfrm flipV="1">
            <a:off x="13348662" y="4622365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3" name="Rectangle"/>
              <p:cNvSpPr txBox="1"/>
              <p:nvPr/>
            </p:nvSpPr>
            <p:spPr>
              <a:xfrm>
                <a:off x="13669422" y="4716670"/>
                <a:ext cx="631772" cy="7857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513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9422" y="4716670"/>
                <a:ext cx="631772" cy="7857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4" name="Oval"/>
              <p:cNvSpPr/>
              <p:nvPr/>
            </p:nvSpPr>
            <p:spPr>
              <a:xfrm>
                <a:off x="16588725" y="8312949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14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8725" y="8312949"/>
                <a:ext cx="1303794" cy="129835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5" name="Line"/>
          <p:cNvSpPr/>
          <p:nvPr/>
        </p:nvSpPr>
        <p:spPr>
          <a:xfrm flipV="1">
            <a:off x="17240623" y="9758308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6" name="Oval"/>
              <p:cNvSpPr/>
              <p:nvPr/>
            </p:nvSpPr>
            <p:spPr>
              <a:xfrm>
                <a:off x="16658411" y="5705544"/>
                <a:ext cx="1303794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16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8411" y="5705544"/>
                <a:ext cx="1303794" cy="129835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7" name="Line"/>
          <p:cNvSpPr/>
          <p:nvPr/>
        </p:nvSpPr>
        <p:spPr>
          <a:xfrm flipV="1">
            <a:off x="17240623" y="7145096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18" name="Line"/>
          <p:cNvSpPr/>
          <p:nvPr/>
        </p:nvSpPr>
        <p:spPr>
          <a:xfrm flipV="1">
            <a:off x="17240623" y="4531884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9" name="Rectangle"/>
              <p:cNvSpPr txBox="1"/>
              <p:nvPr/>
            </p:nvSpPr>
            <p:spPr>
              <a:xfrm>
                <a:off x="17561383" y="4626189"/>
                <a:ext cx="631772" cy="7857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519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383" y="4626189"/>
                <a:ext cx="631772" cy="785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0" name="chat"/>
          <p:cNvSpPr txBox="1"/>
          <p:nvPr/>
        </p:nvSpPr>
        <p:spPr>
          <a:xfrm>
            <a:off x="8824538" y="3689967"/>
            <a:ext cx="1667460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chat</a:t>
            </a:r>
          </a:p>
        </p:txBody>
      </p:sp>
      <p:sp>
        <p:nvSpPr>
          <p:cNvPr id="521" name="mignon"/>
          <p:cNvSpPr txBox="1"/>
          <p:nvPr/>
        </p:nvSpPr>
        <p:spPr>
          <a:xfrm>
            <a:off x="16064107" y="3533174"/>
            <a:ext cx="2229409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mignon</a:t>
            </a:r>
          </a:p>
        </p:txBody>
      </p:sp>
      <p:sp>
        <p:nvSpPr>
          <p:cNvPr id="522" name="est"/>
          <p:cNvSpPr txBox="1"/>
          <p:nvPr/>
        </p:nvSpPr>
        <p:spPr>
          <a:xfrm>
            <a:off x="12921502" y="3489158"/>
            <a:ext cx="901007" cy="815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est</a:t>
            </a:r>
          </a:p>
        </p:txBody>
      </p:sp>
      <p:grpSp>
        <p:nvGrpSpPr>
          <p:cNvPr id="528" name="Group"/>
          <p:cNvGrpSpPr/>
          <p:nvPr/>
        </p:nvGrpSpPr>
        <p:grpSpPr>
          <a:xfrm rot="16200000">
            <a:off x="19756908" y="10341519"/>
            <a:ext cx="688692" cy="2103825"/>
            <a:chOff x="0" y="0"/>
            <a:chExt cx="688690" cy="2103823"/>
          </a:xfrm>
        </p:grpSpPr>
        <p:sp>
          <p:nvSpPr>
            <p:cNvPr id="523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524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25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26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27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9" name="Oval"/>
              <p:cNvSpPr/>
              <p:nvPr/>
            </p:nvSpPr>
            <p:spPr>
              <a:xfrm>
                <a:off x="19446225" y="8312949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29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6225" y="8312949"/>
                <a:ext cx="1303794" cy="129835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0" name="Line"/>
          <p:cNvSpPr/>
          <p:nvPr/>
        </p:nvSpPr>
        <p:spPr>
          <a:xfrm flipV="1">
            <a:off x="20098123" y="9758308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1" name="Oval"/>
              <p:cNvSpPr/>
              <p:nvPr/>
            </p:nvSpPr>
            <p:spPr>
              <a:xfrm>
                <a:off x="19515911" y="5705544"/>
                <a:ext cx="1303794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31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5911" y="5705544"/>
                <a:ext cx="1303794" cy="129835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2" name="Line"/>
          <p:cNvSpPr/>
          <p:nvPr/>
        </p:nvSpPr>
        <p:spPr>
          <a:xfrm flipV="1">
            <a:off x="20098123" y="7145096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33" name="Line"/>
          <p:cNvSpPr/>
          <p:nvPr/>
        </p:nvSpPr>
        <p:spPr>
          <a:xfrm flipV="1">
            <a:off x="20098123" y="4531884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4" name="Rectangle"/>
              <p:cNvSpPr txBox="1"/>
              <p:nvPr/>
            </p:nvSpPr>
            <p:spPr>
              <a:xfrm>
                <a:off x="20418883" y="4626189"/>
                <a:ext cx="631772" cy="7857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534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8883" y="4626189"/>
                <a:ext cx="631772" cy="785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5" name="&lt;e&gt;"/>
          <p:cNvSpPr txBox="1"/>
          <p:nvPr/>
        </p:nvSpPr>
        <p:spPr>
          <a:xfrm>
            <a:off x="18921607" y="3533174"/>
            <a:ext cx="2229409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&lt;e&gt;</a:t>
            </a:r>
          </a:p>
        </p:txBody>
      </p:sp>
      <p:sp>
        <p:nvSpPr>
          <p:cNvPr id="536" name="mignon"/>
          <p:cNvSpPr txBox="1"/>
          <p:nvPr/>
        </p:nvSpPr>
        <p:spPr>
          <a:xfrm>
            <a:off x="18921607" y="12407720"/>
            <a:ext cx="2229409" cy="688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mignon</a:t>
            </a:r>
          </a:p>
        </p:txBody>
      </p:sp>
      <p:sp>
        <p:nvSpPr>
          <p:cNvPr id="537" name="Line"/>
          <p:cNvSpPr/>
          <p:nvPr/>
        </p:nvSpPr>
        <p:spPr>
          <a:xfrm>
            <a:off x="10641824" y="6449928"/>
            <a:ext cx="1667460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38" name="Line"/>
          <p:cNvSpPr/>
          <p:nvPr/>
        </p:nvSpPr>
        <p:spPr>
          <a:xfrm>
            <a:off x="14570887" y="6449928"/>
            <a:ext cx="1667460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39" name="Line"/>
          <p:cNvSpPr/>
          <p:nvPr/>
        </p:nvSpPr>
        <p:spPr>
          <a:xfrm>
            <a:off x="18142762" y="6449928"/>
            <a:ext cx="1103375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40" name="Line"/>
          <p:cNvSpPr/>
          <p:nvPr/>
        </p:nvSpPr>
        <p:spPr>
          <a:xfrm>
            <a:off x="4569637" y="6449928"/>
            <a:ext cx="741714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41" name="word…"/>
          <p:cNvSpPr txBox="1"/>
          <p:nvPr/>
        </p:nvSpPr>
        <p:spPr>
          <a:xfrm>
            <a:off x="3124082" y="11304633"/>
            <a:ext cx="2211147" cy="10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/>
            </a:pPr>
            <a:r>
              <a:t>word</a:t>
            </a:r>
          </a:p>
          <a:p>
            <a:pPr>
              <a:defRPr sz="3200"/>
            </a:pPr>
            <a:r>
              <a:t>embedding</a:t>
            </a:r>
          </a:p>
        </p:txBody>
      </p:sp>
      <p:sp>
        <p:nvSpPr>
          <p:cNvPr id="542" name="Rectangle"/>
          <p:cNvSpPr/>
          <p:nvPr/>
        </p:nvSpPr>
        <p:spPr>
          <a:xfrm>
            <a:off x="4561329" y="3111639"/>
            <a:ext cx="16462743" cy="78233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43" name="Rectangle"/>
          <p:cNvSpPr/>
          <p:nvPr/>
        </p:nvSpPr>
        <p:spPr>
          <a:xfrm>
            <a:off x="7696382" y="5949398"/>
            <a:ext cx="13559731" cy="78233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4" name="Oval"/>
              <p:cNvSpPr/>
              <p:nvPr/>
            </p:nvSpPr>
            <p:spPr>
              <a:xfrm>
                <a:off x="3184672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2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4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𝑒𝑛𝑐</m:t>
                          </m:r>
                        </m:sup>
                      </m:sSup>
                    </m:oMath>
                  </m:oMathPara>
                </a14:m>
                <a:endParaRPr sz="3400"/>
              </a:p>
            </p:txBody>
          </p:sp>
        </mc:Choice>
        <mc:Fallback>
          <p:sp>
            <p:nvSpPr>
              <p:cNvPr id="544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672" y="5796025"/>
                <a:ext cx="1303795" cy="129835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&lt;s&gt;                  ce                     chat                 est           mianon"/>
          <p:cNvSpPr txBox="1"/>
          <p:nvPr/>
        </p:nvSpPr>
        <p:spPr>
          <a:xfrm>
            <a:off x="5489634" y="12179929"/>
            <a:ext cx="15857427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/>
          <a:p>
            <a:pPr algn="l" defTabSz="642937">
              <a:spcBef>
                <a:spcPts val="1600"/>
              </a:spcBef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&lt;s&gt;                  </a:t>
            </a:r>
            <a:r>
              <a: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rPr>
              <a:t>ce                     chat                 est           mianon</a:t>
            </a:r>
          </a:p>
        </p:txBody>
      </p:sp>
      <p:sp>
        <p:nvSpPr>
          <p:cNvPr id="548" name="Decoder"/>
          <p:cNvSpPr txBox="1">
            <a:spLocks noGrp="1"/>
          </p:cNvSpPr>
          <p:nvPr>
            <p:ph type="title"/>
          </p:nvPr>
        </p:nvSpPr>
        <p:spPr>
          <a:xfrm>
            <a:off x="4387453" y="-178594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 sz="7800"/>
            </a:lvl1pPr>
          </a:lstStyle>
          <a:p>
            <a:r>
              <a:t>Decoder</a:t>
            </a:r>
          </a:p>
        </p:txBody>
      </p:sp>
      <p:grpSp>
        <p:nvGrpSpPr>
          <p:cNvPr id="554" name="Group"/>
          <p:cNvGrpSpPr/>
          <p:nvPr/>
        </p:nvGrpSpPr>
        <p:grpSpPr>
          <a:xfrm rot="16200000">
            <a:off x="5749704" y="10341519"/>
            <a:ext cx="688691" cy="2103825"/>
            <a:chOff x="0" y="0"/>
            <a:chExt cx="688690" cy="2103823"/>
          </a:xfrm>
        </p:grpSpPr>
        <p:sp>
          <p:nvSpPr>
            <p:cNvPr id="549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550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51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52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53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560" name="Group"/>
          <p:cNvGrpSpPr/>
          <p:nvPr/>
        </p:nvGrpSpPr>
        <p:grpSpPr>
          <a:xfrm rot="16200000">
            <a:off x="9233987" y="10341519"/>
            <a:ext cx="688691" cy="2103825"/>
            <a:chOff x="0" y="0"/>
            <a:chExt cx="688690" cy="2103823"/>
          </a:xfrm>
        </p:grpSpPr>
        <p:sp>
          <p:nvSpPr>
            <p:cNvPr id="555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556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57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58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59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566" name="Group"/>
          <p:cNvGrpSpPr/>
          <p:nvPr/>
        </p:nvGrpSpPr>
        <p:grpSpPr>
          <a:xfrm rot="16200000">
            <a:off x="13066698" y="10341519"/>
            <a:ext cx="688691" cy="2103825"/>
            <a:chOff x="0" y="0"/>
            <a:chExt cx="688690" cy="2103823"/>
          </a:xfrm>
        </p:grpSpPr>
        <p:sp>
          <p:nvSpPr>
            <p:cNvPr id="561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562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63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64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65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572" name="Group"/>
          <p:cNvGrpSpPr/>
          <p:nvPr/>
        </p:nvGrpSpPr>
        <p:grpSpPr>
          <a:xfrm rot="16200000">
            <a:off x="16899408" y="10341519"/>
            <a:ext cx="688692" cy="2103825"/>
            <a:chOff x="0" y="0"/>
            <a:chExt cx="688690" cy="2103823"/>
          </a:xfrm>
        </p:grpSpPr>
        <p:sp>
          <p:nvSpPr>
            <p:cNvPr id="567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568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69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70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71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3" name="Oval"/>
              <p:cNvSpPr/>
              <p:nvPr/>
            </p:nvSpPr>
            <p:spPr>
              <a:xfrm>
                <a:off x="5379771" y="8351166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73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771" y="8351166"/>
                <a:ext cx="1303794" cy="129835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4" name="Oval"/>
              <p:cNvSpPr/>
              <p:nvPr/>
            </p:nvSpPr>
            <p:spPr>
              <a:xfrm>
                <a:off x="3184672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2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4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𝑒𝑛𝑐</m:t>
                          </m:r>
                        </m:sup>
                      </m:sSup>
                    </m:oMath>
                  </m:oMathPara>
                </a14:m>
                <a:endParaRPr sz="3400"/>
              </a:p>
            </p:txBody>
          </p:sp>
        </mc:Choice>
        <mc:Fallback>
          <p:sp>
            <p:nvSpPr>
              <p:cNvPr id="574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672" y="5796025"/>
                <a:ext cx="1303795" cy="129835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5" name="Line"/>
          <p:cNvSpPr/>
          <p:nvPr/>
        </p:nvSpPr>
        <p:spPr>
          <a:xfrm flipV="1">
            <a:off x="6031668" y="9796526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6" name="Oval"/>
              <p:cNvSpPr/>
              <p:nvPr/>
            </p:nvSpPr>
            <p:spPr>
              <a:xfrm>
                <a:off x="8864054" y="8403431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76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054" y="8403431"/>
                <a:ext cx="1303794" cy="129835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7" name="Oval"/>
              <p:cNvSpPr/>
              <p:nvPr/>
            </p:nvSpPr>
            <p:spPr>
              <a:xfrm>
                <a:off x="5449456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77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456" y="5796025"/>
                <a:ext cx="1303795" cy="129835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8" name="Line"/>
          <p:cNvSpPr/>
          <p:nvPr/>
        </p:nvSpPr>
        <p:spPr>
          <a:xfrm flipV="1">
            <a:off x="9515951" y="9848789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9" name="Oval"/>
              <p:cNvSpPr/>
              <p:nvPr/>
            </p:nvSpPr>
            <p:spPr>
              <a:xfrm>
                <a:off x="12696765" y="8403431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79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6765" y="8403431"/>
                <a:ext cx="1303794" cy="129835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0" name="Oval"/>
              <p:cNvSpPr/>
              <p:nvPr/>
            </p:nvSpPr>
            <p:spPr>
              <a:xfrm>
                <a:off x="8933739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80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739" y="5796025"/>
                <a:ext cx="1303795" cy="129835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1" name="Line"/>
          <p:cNvSpPr/>
          <p:nvPr/>
        </p:nvSpPr>
        <p:spPr>
          <a:xfrm flipV="1">
            <a:off x="13348662" y="9848789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82" name="Line"/>
          <p:cNvSpPr/>
          <p:nvPr/>
        </p:nvSpPr>
        <p:spPr>
          <a:xfrm flipV="1">
            <a:off x="6031668" y="7183312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83" name="Line"/>
          <p:cNvSpPr/>
          <p:nvPr/>
        </p:nvSpPr>
        <p:spPr>
          <a:xfrm flipV="1">
            <a:off x="9515951" y="7235577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84" name="Line"/>
          <p:cNvSpPr/>
          <p:nvPr/>
        </p:nvSpPr>
        <p:spPr>
          <a:xfrm flipV="1">
            <a:off x="6031668" y="4570101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85" name="Line"/>
          <p:cNvSpPr/>
          <p:nvPr/>
        </p:nvSpPr>
        <p:spPr>
          <a:xfrm flipV="1">
            <a:off x="9515951" y="4622365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86" name="ce"/>
          <p:cNvSpPr txBox="1"/>
          <p:nvPr/>
        </p:nvSpPr>
        <p:spPr>
          <a:xfrm>
            <a:off x="5537855" y="3689967"/>
            <a:ext cx="1128323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ce</a:t>
            </a:r>
          </a:p>
        </p:txBody>
      </p:sp>
      <p:sp>
        <p:nvSpPr>
          <p:cNvPr id="587" name="Line"/>
          <p:cNvSpPr/>
          <p:nvPr/>
        </p:nvSpPr>
        <p:spPr>
          <a:xfrm>
            <a:off x="6891356" y="6449928"/>
            <a:ext cx="1667460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8" name="Rectangle"/>
              <p:cNvSpPr txBox="1"/>
              <p:nvPr/>
            </p:nvSpPr>
            <p:spPr>
              <a:xfrm>
                <a:off x="6352428" y="4716670"/>
                <a:ext cx="631771" cy="7857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588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428" y="4716670"/>
                <a:ext cx="631771" cy="7857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9" name="Rectangle"/>
              <p:cNvSpPr txBox="1"/>
              <p:nvPr/>
            </p:nvSpPr>
            <p:spPr>
              <a:xfrm>
                <a:off x="9836711" y="4716670"/>
                <a:ext cx="631772" cy="7857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589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11" y="4716670"/>
                <a:ext cx="631772" cy="7857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0" name="Oval"/>
              <p:cNvSpPr/>
              <p:nvPr/>
            </p:nvSpPr>
            <p:spPr>
              <a:xfrm>
                <a:off x="12766450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90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6450" y="5796025"/>
                <a:ext cx="1303795" cy="129835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1" name="Line"/>
          <p:cNvSpPr/>
          <p:nvPr/>
        </p:nvSpPr>
        <p:spPr>
          <a:xfrm flipV="1">
            <a:off x="13348662" y="7235577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92" name="Line"/>
          <p:cNvSpPr/>
          <p:nvPr/>
        </p:nvSpPr>
        <p:spPr>
          <a:xfrm flipV="1">
            <a:off x="13348662" y="4622365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3" name="Rectangle"/>
              <p:cNvSpPr txBox="1"/>
              <p:nvPr/>
            </p:nvSpPr>
            <p:spPr>
              <a:xfrm>
                <a:off x="13669422" y="4716670"/>
                <a:ext cx="631772" cy="7857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593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9422" y="4716670"/>
                <a:ext cx="631772" cy="78577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4" name="Oval"/>
              <p:cNvSpPr/>
              <p:nvPr/>
            </p:nvSpPr>
            <p:spPr>
              <a:xfrm>
                <a:off x="16588725" y="8312949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94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8725" y="8312949"/>
                <a:ext cx="1303794" cy="129835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5" name="Line"/>
          <p:cNvSpPr/>
          <p:nvPr/>
        </p:nvSpPr>
        <p:spPr>
          <a:xfrm flipV="1">
            <a:off x="17240623" y="9758308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6" name="Oval"/>
              <p:cNvSpPr/>
              <p:nvPr/>
            </p:nvSpPr>
            <p:spPr>
              <a:xfrm>
                <a:off x="16658411" y="5705544"/>
                <a:ext cx="1303794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596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8411" y="5705544"/>
                <a:ext cx="1303794" cy="129835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7" name="Line"/>
          <p:cNvSpPr/>
          <p:nvPr/>
        </p:nvSpPr>
        <p:spPr>
          <a:xfrm flipV="1">
            <a:off x="17240623" y="7145096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98" name="Line"/>
          <p:cNvSpPr/>
          <p:nvPr/>
        </p:nvSpPr>
        <p:spPr>
          <a:xfrm flipV="1">
            <a:off x="17240623" y="4531884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9" name="Rectangle"/>
              <p:cNvSpPr txBox="1"/>
              <p:nvPr/>
            </p:nvSpPr>
            <p:spPr>
              <a:xfrm>
                <a:off x="17561383" y="4626189"/>
                <a:ext cx="631772" cy="7857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599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383" y="4626189"/>
                <a:ext cx="631772" cy="785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" name="chat"/>
          <p:cNvSpPr txBox="1"/>
          <p:nvPr/>
        </p:nvSpPr>
        <p:spPr>
          <a:xfrm>
            <a:off x="8824538" y="3689967"/>
            <a:ext cx="1667460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chat</a:t>
            </a:r>
          </a:p>
        </p:txBody>
      </p:sp>
      <p:sp>
        <p:nvSpPr>
          <p:cNvPr id="601" name="mignon"/>
          <p:cNvSpPr txBox="1"/>
          <p:nvPr/>
        </p:nvSpPr>
        <p:spPr>
          <a:xfrm>
            <a:off x="16064107" y="3533174"/>
            <a:ext cx="2229409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mignon</a:t>
            </a:r>
          </a:p>
        </p:txBody>
      </p:sp>
      <p:sp>
        <p:nvSpPr>
          <p:cNvPr id="602" name="est"/>
          <p:cNvSpPr txBox="1"/>
          <p:nvPr/>
        </p:nvSpPr>
        <p:spPr>
          <a:xfrm>
            <a:off x="12921502" y="3489158"/>
            <a:ext cx="901007" cy="815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est</a:t>
            </a:r>
          </a:p>
        </p:txBody>
      </p:sp>
      <p:grpSp>
        <p:nvGrpSpPr>
          <p:cNvPr id="608" name="Group"/>
          <p:cNvGrpSpPr/>
          <p:nvPr/>
        </p:nvGrpSpPr>
        <p:grpSpPr>
          <a:xfrm rot="16200000">
            <a:off x="19756908" y="10341519"/>
            <a:ext cx="688692" cy="2103825"/>
            <a:chOff x="0" y="0"/>
            <a:chExt cx="688690" cy="2103823"/>
          </a:xfrm>
        </p:grpSpPr>
        <p:sp>
          <p:nvSpPr>
            <p:cNvPr id="603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604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05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06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07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9" name="Oval"/>
              <p:cNvSpPr/>
              <p:nvPr/>
            </p:nvSpPr>
            <p:spPr>
              <a:xfrm>
                <a:off x="19446225" y="8312949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609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6225" y="8312949"/>
                <a:ext cx="1303794" cy="129835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0" name="Line"/>
          <p:cNvSpPr/>
          <p:nvPr/>
        </p:nvSpPr>
        <p:spPr>
          <a:xfrm flipV="1">
            <a:off x="20098123" y="9758308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1" name="Oval"/>
              <p:cNvSpPr/>
              <p:nvPr/>
            </p:nvSpPr>
            <p:spPr>
              <a:xfrm>
                <a:off x="19515911" y="5705544"/>
                <a:ext cx="1303794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611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5911" y="5705544"/>
                <a:ext cx="1303794" cy="129835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2" name="Line"/>
          <p:cNvSpPr/>
          <p:nvPr/>
        </p:nvSpPr>
        <p:spPr>
          <a:xfrm flipV="1">
            <a:off x="20098123" y="7145096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13" name="Line"/>
          <p:cNvSpPr/>
          <p:nvPr/>
        </p:nvSpPr>
        <p:spPr>
          <a:xfrm flipV="1">
            <a:off x="20098123" y="4531884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" name="Rectangle"/>
              <p:cNvSpPr txBox="1"/>
              <p:nvPr/>
            </p:nvSpPr>
            <p:spPr>
              <a:xfrm>
                <a:off x="20418883" y="4626189"/>
                <a:ext cx="631772" cy="7857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614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8883" y="4626189"/>
                <a:ext cx="631772" cy="785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" name="&lt;e&gt;"/>
          <p:cNvSpPr txBox="1"/>
          <p:nvPr/>
        </p:nvSpPr>
        <p:spPr>
          <a:xfrm>
            <a:off x="18921607" y="3533174"/>
            <a:ext cx="2229409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&lt;e&gt;</a:t>
            </a:r>
          </a:p>
        </p:txBody>
      </p:sp>
      <p:sp>
        <p:nvSpPr>
          <p:cNvPr id="616" name="mignon"/>
          <p:cNvSpPr txBox="1"/>
          <p:nvPr/>
        </p:nvSpPr>
        <p:spPr>
          <a:xfrm>
            <a:off x="18921607" y="12407720"/>
            <a:ext cx="2229409" cy="688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mignon</a:t>
            </a:r>
          </a:p>
        </p:txBody>
      </p:sp>
      <p:sp>
        <p:nvSpPr>
          <p:cNvPr id="617" name="Line"/>
          <p:cNvSpPr/>
          <p:nvPr/>
        </p:nvSpPr>
        <p:spPr>
          <a:xfrm>
            <a:off x="10641824" y="6449928"/>
            <a:ext cx="1667460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18" name="Line"/>
          <p:cNvSpPr/>
          <p:nvPr/>
        </p:nvSpPr>
        <p:spPr>
          <a:xfrm>
            <a:off x="14570887" y="6449928"/>
            <a:ext cx="1667460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19" name="Line"/>
          <p:cNvSpPr/>
          <p:nvPr/>
        </p:nvSpPr>
        <p:spPr>
          <a:xfrm>
            <a:off x="18142762" y="6449928"/>
            <a:ext cx="1103375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20" name="Line"/>
          <p:cNvSpPr/>
          <p:nvPr/>
        </p:nvSpPr>
        <p:spPr>
          <a:xfrm>
            <a:off x="4569637" y="6449928"/>
            <a:ext cx="741714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21" name="word…"/>
          <p:cNvSpPr txBox="1"/>
          <p:nvPr/>
        </p:nvSpPr>
        <p:spPr>
          <a:xfrm>
            <a:off x="3124082" y="11304633"/>
            <a:ext cx="2211147" cy="10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/>
            </a:pPr>
            <a:r>
              <a:t>word</a:t>
            </a:r>
          </a:p>
          <a:p>
            <a:pPr>
              <a:defRPr sz="3200"/>
            </a:pPr>
            <a:r>
              <a:t>embedding</a:t>
            </a:r>
          </a:p>
        </p:txBody>
      </p:sp>
      <p:sp>
        <p:nvSpPr>
          <p:cNvPr id="622" name="Rectangle"/>
          <p:cNvSpPr/>
          <p:nvPr/>
        </p:nvSpPr>
        <p:spPr>
          <a:xfrm>
            <a:off x="6820503" y="3111639"/>
            <a:ext cx="14203569" cy="78233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23" name="Rectangle"/>
          <p:cNvSpPr/>
          <p:nvPr/>
        </p:nvSpPr>
        <p:spPr>
          <a:xfrm>
            <a:off x="7701540" y="5683480"/>
            <a:ext cx="13952960" cy="78233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&lt;s&gt;                  ce                     chat                 est           mianon"/>
          <p:cNvSpPr txBox="1"/>
          <p:nvPr/>
        </p:nvSpPr>
        <p:spPr>
          <a:xfrm>
            <a:off x="5489634" y="12179929"/>
            <a:ext cx="15857427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/>
          <a:p>
            <a:pPr algn="l" defTabSz="642937">
              <a:spcBef>
                <a:spcPts val="1600"/>
              </a:spcBef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&lt;s&gt;                  </a:t>
            </a:r>
            <a:r>
              <a: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rPr>
              <a:t>ce                     chat                 est           mianon</a:t>
            </a:r>
          </a:p>
        </p:txBody>
      </p:sp>
      <p:sp>
        <p:nvSpPr>
          <p:cNvPr id="627" name="Decoder"/>
          <p:cNvSpPr txBox="1">
            <a:spLocks noGrp="1"/>
          </p:cNvSpPr>
          <p:nvPr>
            <p:ph type="title"/>
          </p:nvPr>
        </p:nvSpPr>
        <p:spPr>
          <a:xfrm>
            <a:off x="4387453" y="-178594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 sz="7800"/>
            </a:lvl1pPr>
          </a:lstStyle>
          <a:p>
            <a:r>
              <a:t>Decoder</a:t>
            </a:r>
          </a:p>
        </p:txBody>
      </p:sp>
      <p:grpSp>
        <p:nvGrpSpPr>
          <p:cNvPr id="633" name="Group"/>
          <p:cNvGrpSpPr/>
          <p:nvPr/>
        </p:nvGrpSpPr>
        <p:grpSpPr>
          <a:xfrm rot="16200000">
            <a:off x="5749704" y="10341519"/>
            <a:ext cx="688691" cy="2103825"/>
            <a:chOff x="0" y="0"/>
            <a:chExt cx="688690" cy="2103823"/>
          </a:xfrm>
        </p:grpSpPr>
        <p:sp>
          <p:nvSpPr>
            <p:cNvPr id="628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629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30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31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32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639" name="Group"/>
          <p:cNvGrpSpPr/>
          <p:nvPr/>
        </p:nvGrpSpPr>
        <p:grpSpPr>
          <a:xfrm rot="16200000">
            <a:off x="9233987" y="10341519"/>
            <a:ext cx="688691" cy="2103825"/>
            <a:chOff x="0" y="0"/>
            <a:chExt cx="688690" cy="2103823"/>
          </a:xfrm>
        </p:grpSpPr>
        <p:sp>
          <p:nvSpPr>
            <p:cNvPr id="634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635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36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37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38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645" name="Group"/>
          <p:cNvGrpSpPr/>
          <p:nvPr/>
        </p:nvGrpSpPr>
        <p:grpSpPr>
          <a:xfrm rot="16200000">
            <a:off x="13066698" y="10341519"/>
            <a:ext cx="688691" cy="2103825"/>
            <a:chOff x="0" y="0"/>
            <a:chExt cx="688690" cy="2103823"/>
          </a:xfrm>
        </p:grpSpPr>
        <p:sp>
          <p:nvSpPr>
            <p:cNvPr id="640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641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42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43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44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651" name="Group"/>
          <p:cNvGrpSpPr/>
          <p:nvPr/>
        </p:nvGrpSpPr>
        <p:grpSpPr>
          <a:xfrm rot="16200000">
            <a:off x="16899408" y="10341519"/>
            <a:ext cx="688692" cy="2103825"/>
            <a:chOff x="0" y="0"/>
            <a:chExt cx="688690" cy="2103823"/>
          </a:xfrm>
        </p:grpSpPr>
        <p:sp>
          <p:nvSpPr>
            <p:cNvPr id="646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647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48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49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50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52" name="Oval"/>
              <p:cNvSpPr/>
              <p:nvPr/>
            </p:nvSpPr>
            <p:spPr>
              <a:xfrm>
                <a:off x="5379771" y="8351166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652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771" y="8351166"/>
                <a:ext cx="1303794" cy="129835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3" name="Line"/>
          <p:cNvSpPr/>
          <p:nvPr/>
        </p:nvSpPr>
        <p:spPr>
          <a:xfrm flipV="1">
            <a:off x="6031668" y="9796526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4" name="Oval"/>
              <p:cNvSpPr/>
              <p:nvPr/>
            </p:nvSpPr>
            <p:spPr>
              <a:xfrm>
                <a:off x="8864054" y="8403431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654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054" y="8403431"/>
                <a:ext cx="1303794" cy="129835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5" name="Oval"/>
              <p:cNvSpPr/>
              <p:nvPr/>
            </p:nvSpPr>
            <p:spPr>
              <a:xfrm>
                <a:off x="5449456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655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456" y="5796025"/>
                <a:ext cx="1303795" cy="129835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6" name="Line"/>
          <p:cNvSpPr/>
          <p:nvPr/>
        </p:nvSpPr>
        <p:spPr>
          <a:xfrm flipV="1">
            <a:off x="9515951" y="9848789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7" name="Oval"/>
              <p:cNvSpPr/>
              <p:nvPr/>
            </p:nvSpPr>
            <p:spPr>
              <a:xfrm>
                <a:off x="12696765" y="8403431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657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6765" y="8403431"/>
                <a:ext cx="1303794" cy="129835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8" name="Oval"/>
              <p:cNvSpPr/>
              <p:nvPr/>
            </p:nvSpPr>
            <p:spPr>
              <a:xfrm>
                <a:off x="8933739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658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739" y="5796025"/>
                <a:ext cx="1303795" cy="129835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9" name="Line"/>
          <p:cNvSpPr/>
          <p:nvPr/>
        </p:nvSpPr>
        <p:spPr>
          <a:xfrm flipV="1">
            <a:off x="13348662" y="9848789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60" name="Line"/>
          <p:cNvSpPr/>
          <p:nvPr/>
        </p:nvSpPr>
        <p:spPr>
          <a:xfrm flipV="1">
            <a:off x="6031668" y="7183312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61" name="Line"/>
          <p:cNvSpPr/>
          <p:nvPr/>
        </p:nvSpPr>
        <p:spPr>
          <a:xfrm flipV="1">
            <a:off x="9515951" y="7235577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62" name="Line"/>
          <p:cNvSpPr/>
          <p:nvPr/>
        </p:nvSpPr>
        <p:spPr>
          <a:xfrm flipV="1">
            <a:off x="6031668" y="4570101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63" name="Line"/>
          <p:cNvSpPr/>
          <p:nvPr/>
        </p:nvSpPr>
        <p:spPr>
          <a:xfrm flipV="1">
            <a:off x="9515951" y="4622365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64" name="ce"/>
          <p:cNvSpPr txBox="1"/>
          <p:nvPr/>
        </p:nvSpPr>
        <p:spPr>
          <a:xfrm>
            <a:off x="5537855" y="3689967"/>
            <a:ext cx="1128323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ce</a:t>
            </a:r>
          </a:p>
        </p:txBody>
      </p:sp>
      <p:sp>
        <p:nvSpPr>
          <p:cNvPr id="665" name="Line"/>
          <p:cNvSpPr/>
          <p:nvPr/>
        </p:nvSpPr>
        <p:spPr>
          <a:xfrm>
            <a:off x="6891356" y="6449928"/>
            <a:ext cx="1667460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6" name="Rectangle"/>
              <p:cNvSpPr txBox="1"/>
              <p:nvPr/>
            </p:nvSpPr>
            <p:spPr>
              <a:xfrm>
                <a:off x="6352428" y="4716670"/>
                <a:ext cx="631771" cy="7857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666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428" y="4716670"/>
                <a:ext cx="631771" cy="7857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7" name="Rectangle"/>
              <p:cNvSpPr txBox="1"/>
              <p:nvPr/>
            </p:nvSpPr>
            <p:spPr>
              <a:xfrm>
                <a:off x="9836711" y="4716670"/>
                <a:ext cx="631772" cy="7857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667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11" y="4716670"/>
                <a:ext cx="631772" cy="7857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8" name="Oval"/>
              <p:cNvSpPr/>
              <p:nvPr/>
            </p:nvSpPr>
            <p:spPr>
              <a:xfrm>
                <a:off x="12766450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668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6450" y="5796025"/>
                <a:ext cx="1303795" cy="129835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9" name="Line"/>
          <p:cNvSpPr/>
          <p:nvPr/>
        </p:nvSpPr>
        <p:spPr>
          <a:xfrm flipV="1">
            <a:off x="13348662" y="7235577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70" name="Line"/>
          <p:cNvSpPr/>
          <p:nvPr/>
        </p:nvSpPr>
        <p:spPr>
          <a:xfrm flipV="1">
            <a:off x="13348662" y="4622365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1" name="Rectangle"/>
              <p:cNvSpPr txBox="1"/>
              <p:nvPr/>
            </p:nvSpPr>
            <p:spPr>
              <a:xfrm>
                <a:off x="13669422" y="4716670"/>
                <a:ext cx="631772" cy="7857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671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9422" y="4716670"/>
                <a:ext cx="631772" cy="7857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2" name="Oval"/>
              <p:cNvSpPr/>
              <p:nvPr/>
            </p:nvSpPr>
            <p:spPr>
              <a:xfrm>
                <a:off x="16588725" y="8312949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672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8725" y="8312949"/>
                <a:ext cx="1303794" cy="129835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3" name="Line"/>
          <p:cNvSpPr/>
          <p:nvPr/>
        </p:nvSpPr>
        <p:spPr>
          <a:xfrm flipV="1">
            <a:off x="17240623" y="9758308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4" name="Oval"/>
              <p:cNvSpPr/>
              <p:nvPr/>
            </p:nvSpPr>
            <p:spPr>
              <a:xfrm>
                <a:off x="16658411" y="5705544"/>
                <a:ext cx="1303794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674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8411" y="5705544"/>
                <a:ext cx="1303794" cy="129835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" name="Line"/>
          <p:cNvSpPr/>
          <p:nvPr/>
        </p:nvSpPr>
        <p:spPr>
          <a:xfrm flipV="1">
            <a:off x="17240623" y="7145096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76" name="Line"/>
          <p:cNvSpPr/>
          <p:nvPr/>
        </p:nvSpPr>
        <p:spPr>
          <a:xfrm flipV="1">
            <a:off x="17240623" y="4531884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7" name="Rectangle"/>
              <p:cNvSpPr txBox="1"/>
              <p:nvPr/>
            </p:nvSpPr>
            <p:spPr>
              <a:xfrm>
                <a:off x="17561383" y="4626189"/>
                <a:ext cx="631772" cy="7857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677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383" y="4626189"/>
                <a:ext cx="631772" cy="785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8" name="chat"/>
          <p:cNvSpPr txBox="1"/>
          <p:nvPr/>
        </p:nvSpPr>
        <p:spPr>
          <a:xfrm>
            <a:off x="8824538" y="3689967"/>
            <a:ext cx="1667460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chat</a:t>
            </a:r>
          </a:p>
        </p:txBody>
      </p:sp>
      <p:sp>
        <p:nvSpPr>
          <p:cNvPr id="679" name="mignon"/>
          <p:cNvSpPr txBox="1"/>
          <p:nvPr/>
        </p:nvSpPr>
        <p:spPr>
          <a:xfrm>
            <a:off x="16064107" y="3533174"/>
            <a:ext cx="2229409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mignon</a:t>
            </a:r>
          </a:p>
        </p:txBody>
      </p:sp>
      <p:sp>
        <p:nvSpPr>
          <p:cNvPr id="680" name="est"/>
          <p:cNvSpPr txBox="1"/>
          <p:nvPr/>
        </p:nvSpPr>
        <p:spPr>
          <a:xfrm>
            <a:off x="12921502" y="3489158"/>
            <a:ext cx="901007" cy="815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est</a:t>
            </a:r>
          </a:p>
        </p:txBody>
      </p:sp>
      <p:grpSp>
        <p:nvGrpSpPr>
          <p:cNvPr id="686" name="Group"/>
          <p:cNvGrpSpPr/>
          <p:nvPr/>
        </p:nvGrpSpPr>
        <p:grpSpPr>
          <a:xfrm rot="16200000">
            <a:off x="19756908" y="10341519"/>
            <a:ext cx="688692" cy="2103825"/>
            <a:chOff x="0" y="0"/>
            <a:chExt cx="688690" cy="2103823"/>
          </a:xfrm>
        </p:grpSpPr>
        <p:sp>
          <p:nvSpPr>
            <p:cNvPr id="681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682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83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84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85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87" name="Oval"/>
              <p:cNvSpPr/>
              <p:nvPr/>
            </p:nvSpPr>
            <p:spPr>
              <a:xfrm>
                <a:off x="19446225" y="8312949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687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6225" y="8312949"/>
                <a:ext cx="1303794" cy="129835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8" name="Line"/>
          <p:cNvSpPr/>
          <p:nvPr/>
        </p:nvSpPr>
        <p:spPr>
          <a:xfrm flipV="1">
            <a:off x="20098123" y="9758308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9" name="Oval"/>
              <p:cNvSpPr/>
              <p:nvPr/>
            </p:nvSpPr>
            <p:spPr>
              <a:xfrm>
                <a:off x="19515911" y="5705544"/>
                <a:ext cx="1303794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689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5911" y="5705544"/>
                <a:ext cx="1303794" cy="129835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0" name="Line"/>
          <p:cNvSpPr/>
          <p:nvPr/>
        </p:nvSpPr>
        <p:spPr>
          <a:xfrm flipV="1">
            <a:off x="20098123" y="7145096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91" name="Line"/>
          <p:cNvSpPr/>
          <p:nvPr/>
        </p:nvSpPr>
        <p:spPr>
          <a:xfrm flipV="1">
            <a:off x="20098123" y="4531884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2" name="Rectangle"/>
              <p:cNvSpPr txBox="1"/>
              <p:nvPr/>
            </p:nvSpPr>
            <p:spPr>
              <a:xfrm>
                <a:off x="20418883" y="4626189"/>
                <a:ext cx="631772" cy="7857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692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8883" y="4626189"/>
                <a:ext cx="631772" cy="785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3" name="&lt;e&gt;"/>
          <p:cNvSpPr txBox="1"/>
          <p:nvPr/>
        </p:nvSpPr>
        <p:spPr>
          <a:xfrm>
            <a:off x="18921607" y="3533174"/>
            <a:ext cx="2229409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&lt;e&gt;</a:t>
            </a:r>
          </a:p>
        </p:txBody>
      </p:sp>
      <p:sp>
        <p:nvSpPr>
          <p:cNvPr id="694" name="mignon"/>
          <p:cNvSpPr txBox="1"/>
          <p:nvPr/>
        </p:nvSpPr>
        <p:spPr>
          <a:xfrm>
            <a:off x="18921607" y="12407720"/>
            <a:ext cx="2229409" cy="688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mignon</a:t>
            </a:r>
          </a:p>
        </p:txBody>
      </p:sp>
      <p:sp>
        <p:nvSpPr>
          <p:cNvPr id="695" name="Line"/>
          <p:cNvSpPr/>
          <p:nvPr/>
        </p:nvSpPr>
        <p:spPr>
          <a:xfrm>
            <a:off x="10641824" y="6449928"/>
            <a:ext cx="1667460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96" name="Line"/>
          <p:cNvSpPr/>
          <p:nvPr/>
        </p:nvSpPr>
        <p:spPr>
          <a:xfrm>
            <a:off x="14570887" y="6449928"/>
            <a:ext cx="1667460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97" name="Line"/>
          <p:cNvSpPr/>
          <p:nvPr/>
        </p:nvSpPr>
        <p:spPr>
          <a:xfrm>
            <a:off x="18142762" y="6449928"/>
            <a:ext cx="1103375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98" name="Line"/>
          <p:cNvSpPr/>
          <p:nvPr/>
        </p:nvSpPr>
        <p:spPr>
          <a:xfrm>
            <a:off x="4569637" y="6449928"/>
            <a:ext cx="741714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99" name="word…"/>
          <p:cNvSpPr txBox="1"/>
          <p:nvPr/>
        </p:nvSpPr>
        <p:spPr>
          <a:xfrm>
            <a:off x="3124082" y="11304633"/>
            <a:ext cx="2211147" cy="10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/>
            </a:pPr>
            <a:r>
              <a:t>word</a:t>
            </a:r>
          </a:p>
          <a:p>
            <a:pPr>
              <a:defRPr sz="3200"/>
            </a:pPr>
            <a:r>
              <a:t>embedding</a:t>
            </a:r>
          </a:p>
        </p:txBody>
      </p:sp>
      <p:sp>
        <p:nvSpPr>
          <p:cNvPr id="700" name="Rectangle"/>
          <p:cNvSpPr/>
          <p:nvPr/>
        </p:nvSpPr>
        <p:spPr>
          <a:xfrm>
            <a:off x="10402470" y="3111639"/>
            <a:ext cx="10621601" cy="78233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01" name="Rectangle"/>
          <p:cNvSpPr/>
          <p:nvPr/>
        </p:nvSpPr>
        <p:spPr>
          <a:xfrm>
            <a:off x="11868012" y="5683480"/>
            <a:ext cx="10308600" cy="78233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2" name="Oval"/>
              <p:cNvSpPr/>
              <p:nvPr/>
            </p:nvSpPr>
            <p:spPr>
              <a:xfrm>
                <a:off x="3184672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2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4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𝑒𝑛𝑐</m:t>
                          </m:r>
                        </m:sup>
                      </m:sSup>
                    </m:oMath>
                  </m:oMathPara>
                </a14:m>
                <a:endParaRPr sz="3400"/>
              </a:p>
            </p:txBody>
          </p:sp>
        </mc:Choice>
        <mc:Fallback>
          <p:sp>
            <p:nvSpPr>
              <p:cNvPr id="702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672" y="5796025"/>
                <a:ext cx="1303795" cy="129835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Decoder"/>
          <p:cNvSpPr txBox="1">
            <a:spLocks noGrp="1"/>
          </p:cNvSpPr>
          <p:nvPr>
            <p:ph type="title"/>
          </p:nvPr>
        </p:nvSpPr>
        <p:spPr>
          <a:xfrm>
            <a:off x="4387453" y="-178594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 sz="7800"/>
            </a:lvl1pPr>
          </a:lstStyle>
          <a:p>
            <a:r>
              <a:t>Decoder</a:t>
            </a:r>
          </a:p>
        </p:txBody>
      </p:sp>
      <p:grpSp>
        <p:nvGrpSpPr>
          <p:cNvPr id="711" name="Group"/>
          <p:cNvGrpSpPr/>
          <p:nvPr/>
        </p:nvGrpSpPr>
        <p:grpSpPr>
          <a:xfrm rot="16200000">
            <a:off x="5749704" y="10341519"/>
            <a:ext cx="688691" cy="2103825"/>
            <a:chOff x="0" y="0"/>
            <a:chExt cx="688690" cy="2103823"/>
          </a:xfrm>
        </p:grpSpPr>
        <p:sp>
          <p:nvSpPr>
            <p:cNvPr id="706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707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08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09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10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717" name="Group"/>
          <p:cNvGrpSpPr/>
          <p:nvPr/>
        </p:nvGrpSpPr>
        <p:grpSpPr>
          <a:xfrm rot="16200000">
            <a:off x="9233987" y="10341519"/>
            <a:ext cx="688691" cy="2103825"/>
            <a:chOff x="0" y="0"/>
            <a:chExt cx="688690" cy="2103823"/>
          </a:xfrm>
        </p:grpSpPr>
        <p:sp>
          <p:nvSpPr>
            <p:cNvPr id="712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713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14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15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16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723" name="Group"/>
          <p:cNvGrpSpPr/>
          <p:nvPr/>
        </p:nvGrpSpPr>
        <p:grpSpPr>
          <a:xfrm rot="16200000">
            <a:off x="13066698" y="10341519"/>
            <a:ext cx="688691" cy="2103825"/>
            <a:chOff x="0" y="0"/>
            <a:chExt cx="688690" cy="2103823"/>
          </a:xfrm>
        </p:grpSpPr>
        <p:sp>
          <p:nvSpPr>
            <p:cNvPr id="718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719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20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21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22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729" name="Group"/>
          <p:cNvGrpSpPr/>
          <p:nvPr/>
        </p:nvGrpSpPr>
        <p:grpSpPr>
          <a:xfrm rot="16200000">
            <a:off x="16899408" y="10341519"/>
            <a:ext cx="688692" cy="2103825"/>
            <a:chOff x="0" y="0"/>
            <a:chExt cx="688690" cy="2103823"/>
          </a:xfrm>
        </p:grpSpPr>
        <p:sp>
          <p:nvSpPr>
            <p:cNvPr id="724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725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26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27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28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30" name="Oval"/>
              <p:cNvSpPr/>
              <p:nvPr/>
            </p:nvSpPr>
            <p:spPr>
              <a:xfrm>
                <a:off x="5379771" y="8351166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730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771" y="8351166"/>
                <a:ext cx="1303794" cy="129835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1" name="Line"/>
          <p:cNvSpPr/>
          <p:nvPr/>
        </p:nvSpPr>
        <p:spPr>
          <a:xfrm flipV="1">
            <a:off x="6031668" y="9796526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2" name="Oval"/>
              <p:cNvSpPr/>
              <p:nvPr/>
            </p:nvSpPr>
            <p:spPr>
              <a:xfrm>
                <a:off x="8864054" y="8403431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732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054" y="8403431"/>
                <a:ext cx="1303794" cy="129835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3" name="Oval"/>
              <p:cNvSpPr/>
              <p:nvPr/>
            </p:nvSpPr>
            <p:spPr>
              <a:xfrm>
                <a:off x="5449456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733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456" y="5796025"/>
                <a:ext cx="1303795" cy="129835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4" name="Line"/>
          <p:cNvSpPr/>
          <p:nvPr/>
        </p:nvSpPr>
        <p:spPr>
          <a:xfrm flipV="1">
            <a:off x="9515951" y="9848789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5" name="Oval"/>
              <p:cNvSpPr/>
              <p:nvPr/>
            </p:nvSpPr>
            <p:spPr>
              <a:xfrm>
                <a:off x="12696765" y="8403431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735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6765" y="8403431"/>
                <a:ext cx="1303794" cy="129835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6" name="Oval"/>
              <p:cNvSpPr/>
              <p:nvPr/>
            </p:nvSpPr>
            <p:spPr>
              <a:xfrm>
                <a:off x="8933739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736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739" y="5796025"/>
                <a:ext cx="1303795" cy="129835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" name="Line"/>
          <p:cNvSpPr/>
          <p:nvPr/>
        </p:nvSpPr>
        <p:spPr>
          <a:xfrm flipV="1">
            <a:off x="13348662" y="9848789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38" name="Line"/>
          <p:cNvSpPr/>
          <p:nvPr/>
        </p:nvSpPr>
        <p:spPr>
          <a:xfrm flipV="1">
            <a:off x="6031668" y="7183312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39" name="Line"/>
          <p:cNvSpPr/>
          <p:nvPr/>
        </p:nvSpPr>
        <p:spPr>
          <a:xfrm flipV="1">
            <a:off x="9515951" y="7235577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40" name="Line"/>
          <p:cNvSpPr/>
          <p:nvPr/>
        </p:nvSpPr>
        <p:spPr>
          <a:xfrm flipV="1">
            <a:off x="6031668" y="4570101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41" name="Line"/>
          <p:cNvSpPr/>
          <p:nvPr/>
        </p:nvSpPr>
        <p:spPr>
          <a:xfrm flipV="1">
            <a:off x="9515951" y="4622365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42" name="ce"/>
          <p:cNvSpPr txBox="1"/>
          <p:nvPr/>
        </p:nvSpPr>
        <p:spPr>
          <a:xfrm>
            <a:off x="5537855" y="3626670"/>
            <a:ext cx="1128323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ce</a:t>
            </a:r>
          </a:p>
        </p:txBody>
      </p:sp>
      <p:sp>
        <p:nvSpPr>
          <p:cNvPr id="743" name="Line"/>
          <p:cNvSpPr/>
          <p:nvPr/>
        </p:nvSpPr>
        <p:spPr>
          <a:xfrm>
            <a:off x="6891356" y="6449928"/>
            <a:ext cx="1667460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4" name="Rectangle"/>
              <p:cNvSpPr txBox="1"/>
              <p:nvPr/>
            </p:nvSpPr>
            <p:spPr>
              <a:xfrm>
                <a:off x="6352428" y="4716670"/>
                <a:ext cx="631771" cy="7857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744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428" y="4716670"/>
                <a:ext cx="631771" cy="7857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5" name="Rectangle"/>
              <p:cNvSpPr txBox="1"/>
              <p:nvPr/>
            </p:nvSpPr>
            <p:spPr>
              <a:xfrm>
                <a:off x="9836711" y="4716670"/>
                <a:ext cx="631772" cy="7857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745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11" y="4716670"/>
                <a:ext cx="631772" cy="7857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6" name="Oval"/>
              <p:cNvSpPr/>
              <p:nvPr/>
            </p:nvSpPr>
            <p:spPr>
              <a:xfrm>
                <a:off x="12766450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746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6450" y="5796025"/>
                <a:ext cx="1303795" cy="129835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7" name="Line"/>
          <p:cNvSpPr/>
          <p:nvPr/>
        </p:nvSpPr>
        <p:spPr>
          <a:xfrm flipV="1">
            <a:off x="13348662" y="7235577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48" name="Line"/>
          <p:cNvSpPr/>
          <p:nvPr/>
        </p:nvSpPr>
        <p:spPr>
          <a:xfrm flipV="1">
            <a:off x="13348662" y="4622365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9" name="Rectangle"/>
              <p:cNvSpPr txBox="1"/>
              <p:nvPr/>
            </p:nvSpPr>
            <p:spPr>
              <a:xfrm>
                <a:off x="13669422" y="4716670"/>
                <a:ext cx="631772" cy="7857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749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9422" y="4716670"/>
                <a:ext cx="631772" cy="7857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0" name="Oval"/>
              <p:cNvSpPr/>
              <p:nvPr/>
            </p:nvSpPr>
            <p:spPr>
              <a:xfrm>
                <a:off x="16588725" y="8312949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750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8725" y="8312949"/>
                <a:ext cx="1303794" cy="129835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1" name="Line"/>
          <p:cNvSpPr/>
          <p:nvPr/>
        </p:nvSpPr>
        <p:spPr>
          <a:xfrm flipV="1">
            <a:off x="17240623" y="9758308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2" name="Oval"/>
              <p:cNvSpPr/>
              <p:nvPr/>
            </p:nvSpPr>
            <p:spPr>
              <a:xfrm>
                <a:off x="16658411" y="5705544"/>
                <a:ext cx="1303794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752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8411" y="5705544"/>
                <a:ext cx="1303794" cy="129835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3" name="Line"/>
          <p:cNvSpPr/>
          <p:nvPr/>
        </p:nvSpPr>
        <p:spPr>
          <a:xfrm flipV="1">
            <a:off x="17240623" y="7145096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54" name="Line"/>
          <p:cNvSpPr/>
          <p:nvPr/>
        </p:nvSpPr>
        <p:spPr>
          <a:xfrm flipV="1">
            <a:off x="17240623" y="4531884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5" name="Rectangle"/>
              <p:cNvSpPr txBox="1"/>
              <p:nvPr/>
            </p:nvSpPr>
            <p:spPr>
              <a:xfrm>
                <a:off x="17561383" y="4626189"/>
                <a:ext cx="631772" cy="7857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755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383" y="4626189"/>
                <a:ext cx="631772" cy="785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6" name="&lt;s&gt;                  ce                     chat                 est           mignon"/>
          <p:cNvSpPr txBox="1"/>
          <p:nvPr/>
        </p:nvSpPr>
        <p:spPr>
          <a:xfrm>
            <a:off x="6031668" y="11798406"/>
            <a:ext cx="17941866" cy="9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/>
          <a:p>
            <a:pPr algn="l" defTabSz="642937">
              <a:spcBef>
                <a:spcPts val="1600"/>
              </a:spcBef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rPr dirty="0"/>
              <a:t>&lt;s&gt;      </a:t>
            </a:r>
            <a:r>
              <a:rPr dirty="0" err="1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rPr>
              <a:t>ce</a:t>
            </a:r>
            <a:r>
              <a:rPr dirty="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rPr>
              <a:t>         chat   </a:t>
            </a:r>
            <a:r>
              <a:rPr lang="en-US" dirty="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rPr>
              <a:t>   </a:t>
            </a:r>
            <a:r>
              <a:rPr dirty="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rPr>
              <a:t>   </a:t>
            </a:r>
            <a:r>
              <a:rPr dirty="0" err="1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rPr>
              <a:t>est</a:t>
            </a:r>
            <a:r>
              <a:rPr dirty="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rPr>
              <a:t>      mignon</a:t>
            </a:r>
          </a:p>
        </p:txBody>
      </p:sp>
      <p:sp>
        <p:nvSpPr>
          <p:cNvPr id="757" name="chat"/>
          <p:cNvSpPr txBox="1"/>
          <p:nvPr/>
        </p:nvSpPr>
        <p:spPr>
          <a:xfrm>
            <a:off x="8824538" y="3626670"/>
            <a:ext cx="1667460" cy="68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chat</a:t>
            </a:r>
          </a:p>
        </p:txBody>
      </p:sp>
      <p:sp>
        <p:nvSpPr>
          <p:cNvPr id="758" name="mignon"/>
          <p:cNvSpPr txBox="1"/>
          <p:nvPr/>
        </p:nvSpPr>
        <p:spPr>
          <a:xfrm>
            <a:off x="16064107" y="3382274"/>
            <a:ext cx="2229409" cy="9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dirty="0"/>
              <a:t>mignon</a:t>
            </a:r>
          </a:p>
        </p:txBody>
      </p:sp>
      <p:sp>
        <p:nvSpPr>
          <p:cNvPr id="759" name="A conditioned language model"/>
          <p:cNvSpPr txBox="1">
            <a:spLocks noGrp="1"/>
          </p:cNvSpPr>
          <p:nvPr>
            <p:ph type="body" sz="quarter" idx="1"/>
          </p:nvPr>
        </p:nvSpPr>
        <p:spPr>
          <a:xfrm>
            <a:off x="4387453" y="2357437"/>
            <a:ext cx="15609094" cy="1043449"/>
          </a:xfrm>
          <a:prstGeom prst="rect">
            <a:avLst/>
          </a:prstGeom>
        </p:spPr>
        <p:txBody>
          <a:bodyPr/>
          <a:lstStyle/>
          <a:p>
            <a:r>
              <a:t>A conditioned language model</a:t>
            </a:r>
          </a:p>
        </p:txBody>
      </p:sp>
      <p:sp>
        <p:nvSpPr>
          <p:cNvPr id="760" name="est"/>
          <p:cNvSpPr txBox="1"/>
          <p:nvPr/>
        </p:nvSpPr>
        <p:spPr>
          <a:xfrm>
            <a:off x="12921502" y="3499385"/>
            <a:ext cx="901007" cy="815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est</a:t>
            </a:r>
          </a:p>
        </p:txBody>
      </p:sp>
      <p:grpSp>
        <p:nvGrpSpPr>
          <p:cNvPr id="766" name="Group"/>
          <p:cNvGrpSpPr/>
          <p:nvPr/>
        </p:nvGrpSpPr>
        <p:grpSpPr>
          <a:xfrm rot="16200000">
            <a:off x="19756908" y="10341519"/>
            <a:ext cx="688692" cy="2103825"/>
            <a:chOff x="0" y="0"/>
            <a:chExt cx="688690" cy="2103823"/>
          </a:xfrm>
        </p:grpSpPr>
        <p:sp>
          <p:nvSpPr>
            <p:cNvPr id="761" name="Rounded Rectangle"/>
            <p:cNvSpPr/>
            <p:nvPr/>
          </p:nvSpPr>
          <p:spPr>
            <a:xfrm>
              <a:off x="0" y="0"/>
              <a:ext cx="688691" cy="2103824"/>
            </a:xfrm>
            <a:prstGeom prst="roundRect">
              <a:avLst>
                <a:gd name="adj" fmla="val 22252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1168400">
                <a:defRPr sz="3000">
                  <a:solidFill>
                    <a:srgbClr val="C82506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762" name="Oval"/>
            <p:cNvSpPr/>
            <p:nvPr/>
          </p:nvSpPr>
          <p:spPr>
            <a:xfrm>
              <a:off x="129629" y="124755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63" name="Oval"/>
            <p:cNvSpPr/>
            <p:nvPr/>
          </p:nvSpPr>
          <p:spPr>
            <a:xfrm>
              <a:off x="129629" y="615143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64" name="Oval"/>
            <p:cNvSpPr/>
            <p:nvPr/>
          </p:nvSpPr>
          <p:spPr>
            <a:xfrm>
              <a:off x="129629" y="1105531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65" name="Oval"/>
            <p:cNvSpPr/>
            <p:nvPr/>
          </p:nvSpPr>
          <p:spPr>
            <a:xfrm>
              <a:off x="129629" y="1595919"/>
              <a:ext cx="424568" cy="39301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solidFill>
                    <a:srgbClr val="C82506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7" name="Oval"/>
              <p:cNvSpPr/>
              <p:nvPr/>
            </p:nvSpPr>
            <p:spPr>
              <a:xfrm>
                <a:off x="19446225" y="8312949"/>
                <a:ext cx="1303794" cy="1298350"/>
              </a:xfrm>
              <a:prstGeom prst="ellipse">
                <a:avLst/>
              </a:prstGeom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767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6225" y="8312949"/>
                <a:ext cx="1303794" cy="129835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25400">
                <a:solidFill>
                  <a:schemeClr val="accent1">
                    <a:lumOff val="-13575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" name="Line"/>
          <p:cNvSpPr/>
          <p:nvPr/>
        </p:nvSpPr>
        <p:spPr>
          <a:xfrm flipV="1">
            <a:off x="20098123" y="9758308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9" name="Oval"/>
              <p:cNvSpPr/>
              <p:nvPr/>
            </p:nvSpPr>
            <p:spPr>
              <a:xfrm>
                <a:off x="19515911" y="5705544"/>
                <a:ext cx="1303794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6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4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sz="3700"/>
              </a:p>
            </p:txBody>
          </p:sp>
        </mc:Choice>
        <mc:Fallback>
          <p:sp>
            <p:nvSpPr>
              <p:cNvPr id="769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5911" y="5705544"/>
                <a:ext cx="1303794" cy="129835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0" name="Line"/>
          <p:cNvSpPr/>
          <p:nvPr/>
        </p:nvSpPr>
        <p:spPr>
          <a:xfrm flipV="1">
            <a:off x="20098123" y="7145096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71" name="Line"/>
          <p:cNvSpPr/>
          <p:nvPr/>
        </p:nvSpPr>
        <p:spPr>
          <a:xfrm flipV="1">
            <a:off x="20098123" y="4531884"/>
            <a:ext cx="1" cy="1109660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2" name="Rectangle"/>
              <p:cNvSpPr txBox="1"/>
              <p:nvPr/>
            </p:nvSpPr>
            <p:spPr>
              <a:xfrm>
                <a:off x="20418883" y="4626189"/>
                <a:ext cx="631772" cy="7857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772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8883" y="4626189"/>
                <a:ext cx="631772" cy="785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3" name="&lt;e&gt;"/>
          <p:cNvSpPr txBox="1"/>
          <p:nvPr/>
        </p:nvSpPr>
        <p:spPr>
          <a:xfrm>
            <a:off x="18986549" y="3360751"/>
            <a:ext cx="2229409" cy="976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&lt;e&gt;</a:t>
            </a:r>
          </a:p>
        </p:txBody>
      </p:sp>
      <p:sp>
        <p:nvSpPr>
          <p:cNvPr id="774" name="Line"/>
          <p:cNvSpPr/>
          <p:nvPr/>
        </p:nvSpPr>
        <p:spPr>
          <a:xfrm>
            <a:off x="10641824" y="6449928"/>
            <a:ext cx="1667460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75" name="Line"/>
          <p:cNvSpPr/>
          <p:nvPr/>
        </p:nvSpPr>
        <p:spPr>
          <a:xfrm>
            <a:off x="14570887" y="6449928"/>
            <a:ext cx="1667460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76" name="Line"/>
          <p:cNvSpPr/>
          <p:nvPr/>
        </p:nvSpPr>
        <p:spPr>
          <a:xfrm>
            <a:off x="18142762" y="6449928"/>
            <a:ext cx="1103375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77" name="Line"/>
          <p:cNvSpPr/>
          <p:nvPr/>
        </p:nvSpPr>
        <p:spPr>
          <a:xfrm>
            <a:off x="4569637" y="6449928"/>
            <a:ext cx="741714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78" name="word…"/>
          <p:cNvSpPr txBox="1"/>
          <p:nvPr/>
        </p:nvSpPr>
        <p:spPr>
          <a:xfrm>
            <a:off x="3124082" y="11304633"/>
            <a:ext cx="2211147" cy="10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/>
            </a:pPr>
            <a:r>
              <a:t>word</a:t>
            </a:r>
          </a:p>
          <a:p>
            <a:pPr>
              <a:defRPr sz="3200"/>
            </a:pPr>
            <a:r>
              <a:t>embedding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9" name="Oval"/>
              <p:cNvSpPr/>
              <p:nvPr/>
            </p:nvSpPr>
            <p:spPr>
              <a:xfrm>
                <a:off x="3184672" y="5796025"/>
                <a:ext cx="1303795" cy="1298350"/>
              </a:xfrm>
              <a:prstGeom prst="ellipse">
                <a:avLst/>
              </a:prstGeom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2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4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𝑒𝑛𝑐</m:t>
                          </m:r>
                        </m:sup>
                      </m:sSup>
                    </m:oMath>
                  </m:oMathPara>
                </a14:m>
                <a:endParaRPr sz="3400"/>
              </a:p>
            </p:txBody>
          </p:sp>
        </mc:Choice>
        <mc:Fallback>
          <p:sp>
            <p:nvSpPr>
              <p:cNvPr id="779" name="Ov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672" y="5796025"/>
                <a:ext cx="1303795" cy="129835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25400">
                <a:solidFill>
                  <a:schemeClr val="accent5">
                    <a:lumOff val="-29866"/>
                  </a:schemeClr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Seq2seq train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Seq2seq 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3" name="Similar to training a language model!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387453" y="2707369"/>
                <a:ext cx="15609094" cy="7209058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580628" indent="-580628" defTabSz="780454">
                  <a:spcBef>
                    <a:spcPts val="40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80"/>
                </a:pPr>
                <a:r>
                  <a:t>Similar to training a language model!</a:t>
                </a:r>
              </a:p>
              <a:p>
                <a:pPr marL="580628" indent="-580628" defTabSz="780454">
                  <a:spcBef>
                    <a:spcPts val="40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80"/>
                </a:pPr>
                <a:r>
                  <a:t>Minimize cross-entropy loss:</a:t>
                </a:r>
              </a:p>
              <a:p>
                <a:pPr marL="0" lvl="1" indent="0" algn="ctr" defTabSz="780454">
                  <a:spcBef>
                    <a:spcPts val="4000"/>
                  </a:spcBef>
                  <a:buSzTx/>
                  <a:buNone/>
                  <a:defRPr sz="4180">
                    <a:solidFill>
                      <a:schemeClr val="accent1">
                        <a:lumOff val="-13575"/>
                      </a:schemeClr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5000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5000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50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50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50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lim>
                      </m:limUpp>
                      <m:r>
                        <a:rPr sz="50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sz="50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sz="50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50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50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50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50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50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50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50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marL="580628" indent="-580628" defTabSz="780454">
                  <a:spcBef>
                    <a:spcPts val="40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80"/>
                </a:pPr>
                <a:r>
                  <a:t>Back-propagate gradients through </a:t>
                </a:r>
                <a:r>
                  <a:rPr i="1">
                    <a:solidFill>
                      <a:schemeClr val="accent5">
                        <a:lumOff val="-29866"/>
                      </a:schemeClr>
                    </a:solidFill>
                  </a:rPr>
                  <a:t>both decoder and encoder</a:t>
                </a:r>
                <a:endParaRPr>
                  <a:solidFill>
                    <a:schemeClr val="accent5">
                      <a:lumOff val="-29866"/>
                    </a:schemeClr>
                  </a:solidFill>
                </a:endParaRPr>
              </a:p>
              <a:p>
                <a:pPr marL="580628" indent="-580628" defTabSz="780454">
                  <a:spcBef>
                    <a:spcPts val="40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80"/>
                </a:pPr>
                <a:r>
                  <a:t>Need a really big corpus</a:t>
                </a:r>
              </a:p>
            </p:txBody>
          </p:sp>
        </mc:Choice>
        <mc:Fallback>
          <p:sp>
            <p:nvSpPr>
              <p:cNvPr id="783" name="Similar to training a language model!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387453" y="2707369"/>
                <a:ext cx="15609094" cy="7209058"/>
              </a:xfrm>
              <a:prstGeom prst="rect">
                <a:avLst/>
              </a:prstGeom>
              <a:blipFill>
                <a:blip r:embed="rId2"/>
                <a:stretch>
                  <a:fillRect l="-6094" t="-15385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9" name="Group"/>
          <p:cNvGrpSpPr/>
          <p:nvPr/>
        </p:nvGrpSpPr>
        <p:grpSpPr>
          <a:xfrm>
            <a:off x="11950146" y="10005228"/>
            <a:ext cx="8254998" cy="3486035"/>
            <a:chOff x="0" y="0"/>
            <a:chExt cx="8254997" cy="3486034"/>
          </a:xfrm>
        </p:grpSpPr>
        <p:sp>
          <p:nvSpPr>
            <p:cNvPr id="784" name="English: Machine translation is cool!"/>
            <p:cNvSpPr txBox="1"/>
            <p:nvPr/>
          </p:nvSpPr>
          <p:spPr>
            <a:xfrm>
              <a:off x="470226" y="2301535"/>
              <a:ext cx="7584304" cy="11844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600" i="1">
                  <a:solidFill>
                    <a:srgbClr val="0365C0"/>
                  </a:solidFill>
                  <a:latin typeface="+mj-lt"/>
                  <a:ea typeface="+mj-ea"/>
                  <a:cs typeface="+mj-cs"/>
                  <a:sym typeface="Gill Sans"/>
                </a:defRPr>
              </a:pPr>
              <a:r>
                <a:rPr dirty="0"/>
                <a:t>English: </a:t>
              </a:r>
              <a:r>
                <a:rPr i="0" dirty="0"/>
                <a:t>Machine translation is cool!</a:t>
              </a:r>
            </a:p>
          </p:txBody>
        </p:sp>
        <p:grpSp>
          <p:nvGrpSpPr>
            <p:cNvPr id="787" name="Group"/>
            <p:cNvGrpSpPr/>
            <p:nvPr/>
          </p:nvGrpSpPr>
          <p:grpSpPr>
            <a:xfrm rot="18900000">
              <a:off x="3601461" y="1156161"/>
              <a:ext cx="1052073" cy="1055472"/>
              <a:chOff x="0" y="0"/>
              <a:chExt cx="1052072" cy="1055471"/>
            </a:xfrm>
          </p:grpSpPr>
          <p:sp>
            <p:nvSpPr>
              <p:cNvPr id="785" name="Arrow"/>
              <p:cNvSpPr/>
              <p:nvPr/>
            </p:nvSpPr>
            <p:spPr>
              <a:xfrm rot="8100000">
                <a:off x="126055" y="370183"/>
                <a:ext cx="538763" cy="579703"/>
              </a:xfrm>
              <a:prstGeom prst="rightArrow">
                <a:avLst>
                  <a:gd name="adj1" fmla="val 47562"/>
                  <a:gd name="adj2" fmla="val 60107"/>
                </a:avLst>
              </a:prstGeom>
              <a:solidFill>
                <a:srgbClr val="C0C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786" name="Arrow"/>
              <p:cNvSpPr/>
              <p:nvPr/>
            </p:nvSpPr>
            <p:spPr>
              <a:xfrm rot="18900000">
                <a:off x="387254" y="105585"/>
                <a:ext cx="538763" cy="579703"/>
              </a:xfrm>
              <a:prstGeom prst="rightArrow">
                <a:avLst>
                  <a:gd name="adj1" fmla="val 47562"/>
                  <a:gd name="adj2" fmla="val 60107"/>
                </a:avLst>
              </a:prstGeom>
              <a:solidFill>
                <a:srgbClr val="C0C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  <p:sp>
          <p:nvSpPr>
            <p:cNvPr id="788" name="Rounded Rectangle"/>
            <p:cNvSpPr/>
            <p:nvPr/>
          </p:nvSpPr>
          <p:spPr>
            <a:xfrm>
              <a:off x="0" y="0"/>
              <a:ext cx="8254997" cy="3367796"/>
            </a:xfrm>
            <a:prstGeom prst="roundRect">
              <a:avLst>
                <a:gd name="adj" fmla="val 13709"/>
              </a:avLst>
            </a:prstGeom>
            <a:noFill/>
            <a:ln w="12700" cap="flat">
              <a:solidFill>
                <a:srgbClr val="85888D"/>
              </a:solidFill>
              <a:prstDash val="solid"/>
              <a:miter lim="400000"/>
            </a:ln>
            <a:effectLst>
              <a:outerShdw blurRad="889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200"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790" name="36M sentence pairs"/>
          <p:cNvSpPr/>
          <p:nvPr/>
        </p:nvSpPr>
        <p:spPr>
          <a:xfrm rot="21600000">
            <a:off x="13474673" y="8686016"/>
            <a:ext cx="5205945" cy="1742327"/>
          </a:xfrm>
          <a:prstGeom prst="rect">
            <a:avLst/>
          </a:prstGeom>
          <a:solidFill>
            <a:srgbClr val="FAFACC"/>
          </a:solidFill>
          <a:ln w="25400">
            <a:solidFill>
              <a:srgbClr val="F0E09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5900"/>
              </a:spcBef>
              <a:defRPr sz="46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36M sentence pairs</a:t>
            </a:r>
          </a:p>
        </p:txBody>
      </p:sp>
      <p:sp>
        <p:nvSpPr>
          <p:cNvPr id="791" name="Russian: Машинный перевод - это крутo!"/>
          <p:cNvSpPr txBox="1"/>
          <p:nvPr/>
        </p:nvSpPr>
        <p:spPr>
          <a:xfrm>
            <a:off x="12076042" y="10705366"/>
            <a:ext cx="8003209" cy="663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600">
                <a:solidFill>
                  <a:srgbClr val="00882B"/>
                </a:solidFill>
                <a:latin typeface="+mj-lt"/>
                <a:ea typeface="+mj-ea"/>
                <a:cs typeface="+mj-cs"/>
                <a:sym typeface="Gill Sans"/>
              </a:defRPr>
            </a:pPr>
            <a:r>
              <a:rPr i="1"/>
              <a:t>Russian</a:t>
            </a:r>
            <a:r>
              <a:t>: Машинный перевод - это крутo! </a:t>
            </a:r>
          </a:p>
        </p:txBody>
      </p:sp>
      <p:sp>
        <p:nvSpPr>
          <p:cNvPr id="7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Seq2seq train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Seq2seq training</a:t>
            </a:r>
          </a:p>
        </p:txBody>
      </p:sp>
      <p:pic>
        <p:nvPicPr>
          <p:cNvPr id="795" name="Screen Shot 2019-11-11 at 8.48.46 PM.jpg" descr="Screen Shot 2019-11-11 at 8.48.46 PM.jpg"/>
          <p:cNvPicPr>
            <a:picLocks noChangeAspect="1"/>
          </p:cNvPicPr>
          <p:nvPr/>
        </p:nvPicPr>
        <p:blipFill>
          <a:blip r:embed="rId2"/>
          <a:srcRect l="836"/>
          <a:stretch>
            <a:fillRect/>
          </a:stretch>
        </p:blipFill>
        <p:spPr>
          <a:xfrm>
            <a:off x="3703278" y="2365280"/>
            <a:ext cx="16293189" cy="10787064"/>
          </a:xfrm>
          <a:prstGeom prst="rect">
            <a:avLst/>
          </a:prstGeom>
          <a:ln w="12700">
            <a:miter lim="400000"/>
          </a:ln>
        </p:spPr>
      </p:pic>
      <p:sp>
        <p:nvSpPr>
          <p:cNvPr id="796" name="Square"/>
          <p:cNvSpPr/>
          <p:nvPr/>
        </p:nvSpPr>
        <p:spPr>
          <a:xfrm>
            <a:off x="3665211" y="11715441"/>
            <a:ext cx="1785938" cy="17859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97" name="(slide credit: Abigail See)"/>
          <p:cNvSpPr txBox="1"/>
          <p:nvPr/>
        </p:nvSpPr>
        <p:spPr>
          <a:xfrm>
            <a:off x="16439337" y="12761397"/>
            <a:ext cx="4603624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(slide credit: Abigail See)</a:t>
            </a:r>
          </a:p>
        </p:txBody>
      </p:sp>
      <p:sp>
        <p:nvSpPr>
          <p:cNvPr id="7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Efficient Training: Batch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Efficient Training: Batching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1" name="Apply RNNs to batches of sequences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2653467"/>
                <a:ext cx="15609094" cy="2340406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Apply RNNs to batches of sequences</a:t>
                </a:r>
              </a:p>
              <a:p>
                <a:r>
                  <a:rPr dirty="0"/>
                  <a:t>Present data as 3D tensor of (</a:t>
                </a:r>
                <a14:m>
                  <m:oMath xmlns:m="http://schemas.openxmlformats.org/officeDocument/2006/math"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dirty="0"/>
                  <a:t>)</a:t>
                </a:r>
              </a:p>
              <a:p>
                <a:r>
                  <a:rPr dirty="0"/>
                  <a:t>Use mask matrix to aid with computations that ignore padded zeros</a:t>
                </a:r>
              </a:p>
            </p:txBody>
          </p:sp>
        </mc:Choice>
        <mc:Fallback>
          <p:sp>
            <p:nvSpPr>
              <p:cNvPr id="801" name="Apply RNNs to batches of sequence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2653467"/>
                <a:ext cx="15609094" cy="2340406"/>
              </a:xfrm>
              <a:prstGeom prst="rect">
                <a:avLst/>
              </a:prstGeom>
              <a:blipFill>
                <a:blip r:embed="rId2"/>
                <a:stretch>
                  <a:fillRect l="-2109" t="-11719" b="-14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2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21</a:t>
            </a:fld>
            <a:endParaRPr/>
          </a:p>
        </p:txBody>
      </p:sp>
      <p:graphicFrame>
        <p:nvGraphicFramePr>
          <p:cNvPr id="803" name="Table 1"/>
          <p:cNvGraphicFramePr/>
          <p:nvPr>
            <p:extLst>
              <p:ext uri="{D42A27DB-BD31-4B8C-83A1-F6EECF244321}">
                <p14:modId xmlns:p14="http://schemas.microsoft.com/office/powerpoint/2010/main" val="4017801609"/>
              </p:ext>
            </p:extLst>
          </p:nvPr>
        </p:nvGraphicFramePr>
        <p:xfrm>
          <a:off x="266879" y="6399841"/>
          <a:ext cx="10107090" cy="5281832"/>
        </p:xfrm>
        <a:graphic>
          <a:graphicData uri="http://schemas.openxmlformats.org/drawingml/2006/table">
            <a:tbl>
              <a:tblPr>
                <a:tableStyleId>{2708684C-4D16-4618-839F-0558EEFCDFE6}</a:tableStyleId>
              </a:tblPr>
              <a:tblGrid>
                <a:gridCol w="1684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4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45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20458"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C98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C98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458"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C98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C98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C98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C98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C98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458"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0458"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FE489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C98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C98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C98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04" name="Table 1-1"/>
          <p:cNvGraphicFramePr/>
          <p:nvPr>
            <p:extLst>
              <p:ext uri="{D42A27DB-BD31-4B8C-83A1-F6EECF244321}">
                <p14:modId xmlns:p14="http://schemas.microsoft.com/office/powerpoint/2010/main" val="4275712134"/>
              </p:ext>
            </p:extLst>
          </p:nvPr>
        </p:nvGraphicFramePr>
        <p:xfrm>
          <a:off x="12302652" y="6399841"/>
          <a:ext cx="1684515" cy="5281832"/>
        </p:xfrm>
        <a:graphic>
          <a:graphicData uri="http://schemas.openxmlformats.org/drawingml/2006/table">
            <a:tbl>
              <a:tblPr>
                <a:tableStyleId>{2708684C-4D16-4618-839F-0558EEFCDFE6}</a:tableStyleId>
              </a:tblPr>
              <a:tblGrid>
                <a:gridCol w="1684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20458"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B6E6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458"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B6E6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458"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B6E6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0458">
                <a:tc>
                  <a:txBody>
                    <a:bodyPr/>
                    <a:lstStyle/>
                    <a:p>
                      <a:pPr defTabSz="914400"/>
                      <a:r>
                        <a:rPr sz="3000" b="1"/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B6E6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5" name="Padded sequences"/>
          <p:cNvSpPr txBox="1"/>
          <p:nvPr/>
        </p:nvSpPr>
        <p:spPr>
          <a:xfrm>
            <a:off x="3115218" y="5259499"/>
            <a:ext cx="497913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Padded sequences</a:t>
            </a:r>
          </a:p>
        </p:txBody>
      </p:sp>
      <p:sp>
        <p:nvSpPr>
          <p:cNvPr id="806" name="Lengths"/>
          <p:cNvSpPr txBox="1"/>
          <p:nvPr/>
        </p:nvSpPr>
        <p:spPr>
          <a:xfrm>
            <a:off x="12062959" y="5259499"/>
            <a:ext cx="216390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Lengths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289D94-D9CB-2EFC-014E-4DBB161BF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6863" y="8855112"/>
            <a:ext cx="9678166" cy="445678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BA8A302-B043-22EF-CE4F-98C8E1F385EB}"/>
              </a:ext>
            </a:extLst>
          </p:cNvPr>
          <p:cNvGrpSpPr/>
          <p:nvPr/>
        </p:nvGrpSpPr>
        <p:grpSpPr>
          <a:xfrm>
            <a:off x="11524069" y="4063949"/>
            <a:ext cx="11206800" cy="4819320"/>
            <a:chOff x="11524069" y="4063949"/>
            <a:chExt cx="11206800" cy="48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98A15D2-97B0-63DF-579E-5045AB9609EE}"/>
                    </a:ext>
                  </a:extLst>
                </p14:cNvPr>
                <p14:cNvContentPartPr/>
                <p14:nvPr/>
              </p14:nvContentPartPr>
              <p14:xfrm>
                <a:off x="12569149" y="4107509"/>
                <a:ext cx="3914280" cy="4775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98A15D2-97B0-63DF-579E-5045AB9609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563029" y="4101389"/>
                  <a:ext cx="3926520" cy="47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C19ED42-D6D0-BC18-3A5A-09B2DE1C5CEE}"/>
                    </a:ext>
                  </a:extLst>
                </p14:cNvPr>
                <p14:cNvContentPartPr/>
                <p14:nvPr/>
              </p14:nvContentPartPr>
              <p14:xfrm>
                <a:off x="16843429" y="7198829"/>
                <a:ext cx="36720" cy="300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19ED42-D6D0-BC18-3A5A-09B2DE1C5C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837309" y="7192709"/>
                  <a:ext cx="489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0E0D194-6899-CAFD-BC29-AC948C6BBCFE}"/>
                    </a:ext>
                  </a:extLst>
                </p14:cNvPr>
                <p14:cNvContentPartPr/>
                <p14:nvPr/>
              </p14:nvContentPartPr>
              <p14:xfrm>
                <a:off x="16865749" y="7082909"/>
                <a:ext cx="304200" cy="516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0E0D194-6899-CAFD-BC29-AC948C6BBC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859629" y="7076789"/>
                  <a:ext cx="31644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6CF11C3-428C-938D-FD8C-E9D8A8A7C2FF}"/>
                    </a:ext>
                  </a:extLst>
                </p14:cNvPr>
                <p14:cNvContentPartPr/>
                <p14:nvPr/>
              </p14:nvContentPartPr>
              <p14:xfrm>
                <a:off x="17271829" y="7387469"/>
                <a:ext cx="156960" cy="6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6CF11C3-428C-938D-FD8C-E9D8A8A7C2F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265709" y="7381349"/>
                  <a:ext cx="1692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A6FA98-3749-9152-D241-604E9AA6566E}"/>
                    </a:ext>
                  </a:extLst>
                </p14:cNvPr>
                <p14:cNvContentPartPr/>
                <p14:nvPr/>
              </p14:nvContentPartPr>
              <p14:xfrm>
                <a:off x="17300989" y="7535789"/>
                <a:ext cx="228240" cy="11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A6FA98-3749-9152-D241-604E9AA6566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294869" y="7529669"/>
                  <a:ext cx="240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BB1969A-9851-200D-232B-05295584B860}"/>
                    </a:ext>
                  </a:extLst>
                </p14:cNvPr>
                <p14:cNvContentPartPr/>
                <p14:nvPr/>
              </p14:nvContentPartPr>
              <p14:xfrm>
                <a:off x="17721829" y="7289189"/>
                <a:ext cx="399240" cy="465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BB1969A-9851-200D-232B-05295584B8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715709" y="7283069"/>
                  <a:ext cx="4114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0C0DBEF-EA27-C641-2D69-F6AAD52A6D75}"/>
                    </a:ext>
                  </a:extLst>
                </p14:cNvPr>
                <p14:cNvContentPartPr/>
                <p14:nvPr/>
              </p14:nvContentPartPr>
              <p14:xfrm>
                <a:off x="11524069" y="4063949"/>
                <a:ext cx="11206800" cy="4430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0C0DBEF-EA27-C641-2D69-F6AAD52A6D7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17949" y="4057829"/>
                  <a:ext cx="11219040" cy="444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41AADE-C4E0-5405-F880-DAF078CF9B9B}"/>
              </a:ext>
            </a:extLst>
          </p:cNvPr>
          <p:cNvGrpSpPr/>
          <p:nvPr/>
        </p:nvGrpSpPr>
        <p:grpSpPr>
          <a:xfrm>
            <a:off x="19536229" y="8055269"/>
            <a:ext cx="320760" cy="473760"/>
            <a:chOff x="19536229" y="8055269"/>
            <a:chExt cx="320760" cy="4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C2CCC15-23A9-6979-BD1C-168BC255CEBC}"/>
                    </a:ext>
                  </a:extLst>
                </p14:cNvPr>
                <p14:cNvContentPartPr/>
                <p14:nvPr/>
              </p14:nvContentPartPr>
              <p14:xfrm>
                <a:off x="19536229" y="8055269"/>
                <a:ext cx="320760" cy="15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C2CCC15-23A9-6979-BD1C-168BC255CEB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530109" y="8049149"/>
                  <a:ext cx="333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C75113-F1A7-CD7F-2F2E-9151CE09F01A}"/>
                    </a:ext>
                  </a:extLst>
                </p14:cNvPr>
                <p14:cNvContentPartPr/>
                <p14:nvPr/>
              </p14:nvContentPartPr>
              <p14:xfrm>
                <a:off x="19753669" y="8069669"/>
                <a:ext cx="15120" cy="459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C75113-F1A7-CD7F-2F2E-9151CE09F0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747549" y="8063549"/>
                  <a:ext cx="27360" cy="47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2B8119C-A605-08EA-168E-29A1600EB392}"/>
                  </a:ext>
                </a:extLst>
              </p14:cNvPr>
              <p14:cNvContentPartPr/>
              <p14:nvPr/>
            </p14:nvContentPartPr>
            <p14:xfrm>
              <a:off x="20203669" y="8273069"/>
              <a:ext cx="17568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2B8119C-A605-08EA-168E-29A1600EB39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197549" y="8266949"/>
                <a:ext cx="1879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D9AAB81-0699-43FE-9846-CB02A87140FF}"/>
                  </a:ext>
                </a:extLst>
              </p14:cNvPr>
              <p14:cNvContentPartPr/>
              <p14:nvPr/>
            </p14:nvContentPartPr>
            <p14:xfrm>
              <a:off x="20261629" y="8476109"/>
              <a:ext cx="17604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D9AAB81-0699-43FE-9846-CB02A87140F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0255509" y="8469989"/>
                <a:ext cx="18828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7928CA6D-7705-7D79-53AA-80DC64E1C69D}"/>
              </a:ext>
            </a:extLst>
          </p:cNvPr>
          <p:cNvGrpSpPr/>
          <p:nvPr/>
        </p:nvGrpSpPr>
        <p:grpSpPr>
          <a:xfrm>
            <a:off x="20754469" y="8113229"/>
            <a:ext cx="326160" cy="645840"/>
            <a:chOff x="20754469" y="8113229"/>
            <a:chExt cx="326160" cy="64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322A4E-E605-B5F2-3F6A-5CC5B7B92399}"/>
                    </a:ext>
                  </a:extLst>
                </p14:cNvPr>
                <p14:cNvContentPartPr/>
                <p14:nvPr/>
              </p14:nvContentPartPr>
              <p14:xfrm>
                <a:off x="20754469" y="8113229"/>
                <a:ext cx="326160" cy="240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322A4E-E605-B5F2-3F6A-5CC5B7B9239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748349" y="8107109"/>
                  <a:ext cx="338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E6DE182-51D0-3A53-6075-FC63C5FC5644}"/>
                    </a:ext>
                  </a:extLst>
                </p14:cNvPr>
                <p14:cNvContentPartPr/>
                <p14:nvPr/>
              </p14:nvContentPartPr>
              <p14:xfrm>
                <a:off x="20898469" y="8210789"/>
                <a:ext cx="74880" cy="548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E6DE182-51D0-3A53-6075-FC63C5FC564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892349" y="8204669"/>
                  <a:ext cx="87120" cy="560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0D4499B-A49F-298C-71AA-99FA55CE32D3}"/>
              </a:ext>
            </a:extLst>
          </p:cNvPr>
          <p:cNvSpPr txBox="1"/>
          <p:nvPr/>
        </p:nvSpPr>
        <p:spPr>
          <a:xfrm>
            <a:off x="11433229" y="2699774"/>
            <a:ext cx="1219200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feature, or Embedding dimension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A59786D-DC01-3A0B-87A7-80616F3594C8}"/>
                  </a:ext>
                </a:extLst>
              </p14:cNvPr>
              <p14:cNvContentPartPr/>
              <p14:nvPr/>
            </p14:nvContentPartPr>
            <p14:xfrm>
              <a:off x="13411189" y="3354029"/>
              <a:ext cx="75960" cy="2167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A59786D-DC01-3A0B-87A7-80616F3594C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3405069" y="3347909"/>
                <a:ext cx="88200" cy="22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2DAA3E78-53D9-474B-CFC2-9DD09CCE8C14}"/>
              </a:ext>
            </a:extLst>
          </p:cNvPr>
          <p:cNvGrpSpPr/>
          <p:nvPr/>
        </p:nvGrpSpPr>
        <p:grpSpPr>
          <a:xfrm>
            <a:off x="14310829" y="3570029"/>
            <a:ext cx="1522800" cy="445320"/>
            <a:chOff x="14310829" y="3570029"/>
            <a:chExt cx="1522800" cy="44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4C21FE7-B427-4408-7AB8-ED26F43DE486}"/>
                    </a:ext>
                  </a:extLst>
                </p14:cNvPr>
                <p14:cNvContentPartPr/>
                <p14:nvPr/>
              </p14:nvContentPartPr>
              <p14:xfrm>
                <a:off x="14383549" y="3657509"/>
                <a:ext cx="15120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4C21FE7-B427-4408-7AB8-ED26F43DE48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377429" y="3651389"/>
                  <a:ext cx="163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3EE3D66-E50D-961C-EBBF-BB9764FDF48B}"/>
                    </a:ext>
                  </a:extLst>
                </p14:cNvPr>
                <p14:cNvContentPartPr/>
                <p14:nvPr/>
              </p14:nvContentPartPr>
              <p14:xfrm>
                <a:off x="14310829" y="3788189"/>
                <a:ext cx="246960" cy="15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EE3D66-E50D-961C-EBBF-BB9764FDF48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304709" y="3782069"/>
                  <a:ext cx="259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EAA272D-A1D5-4EC8-C4D1-08DA5D3E5855}"/>
                    </a:ext>
                  </a:extLst>
                </p14:cNvPr>
                <p14:cNvContentPartPr/>
                <p14:nvPr/>
              </p14:nvContentPartPr>
              <p14:xfrm>
                <a:off x="14383189" y="3642749"/>
                <a:ext cx="15120" cy="330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EAA272D-A1D5-4EC8-C4D1-08DA5D3E585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377069" y="3636629"/>
                  <a:ext cx="273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5910C93-FAC4-507D-690B-679591446422}"/>
                    </a:ext>
                  </a:extLst>
                </p14:cNvPr>
                <p14:cNvContentPartPr/>
                <p14:nvPr/>
              </p14:nvContentPartPr>
              <p14:xfrm>
                <a:off x="14717269" y="3715469"/>
                <a:ext cx="11052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5910C93-FAC4-507D-690B-6795914464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711149" y="3709349"/>
                  <a:ext cx="122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7FB34E4-87BB-D551-7D05-ADDEAA4E2D86}"/>
                    </a:ext>
                  </a:extLst>
                </p14:cNvPr>
                <p14:cNvContentPartPr/>
                <p14:nvPr/>
              </p14:nvContentPartPr>
              <p14:xfrm>
                <a:off x="14673709" y="3831749"/>
                <a:ext cx="17064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7FB34E4-87BB-D551-7D05-ADDEAA4E2D8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667589" y="3825629"/>
                  <a:ext cx="1828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ECA3B3F-7528-A5AA-4C4F-32E9207F806A}"/>
                    </a:ext>
                  </a:extLst>
                </p14:cNvPr>
                <p14:cNvContentPartPr/>
                <p14:nvPr/>
              </p14:nvContentPartPr>
              <p14:xfrm>
                <a:off x="14980069" y="3570029"/>
                <a:ext cx="235800" cy="445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ECA3B3F-7528-A5AA-4C4F-32E9207F806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973949" y="3563909"/>
                  <a:ext cx="2480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F4D16DC-A0A8-4EEA-8D1B-DDE9E1E16A41}"/>
                    </a:ext>
                  </a:extLst>
                </p14:cNvPr>
                <p14:cNvContentPartPr/>
                <p14:nvPr/>
              </p14:nvContentPartPr>
              <p14:xfrm>
                <a:off x="15326749" y="3733109"/>
                <a:ext cx="178920" cy="184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F4D16DC-A0A8-4EEA-8D1B-DDE9E1E16A4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320629" y="3726989"/>
                  <a:ext cx="191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6DB5228-CA4A-3E25-2EEC-C653D52207B0}"/>
                    </a:ext>
                  </a:extLst>
                </p14:cNvPr>
                <p14:cNvContentPartPr/>
                <p14:nvPr/>
              </p14:nvContentPartPr>
              <p14:xfrm>
                <a:off x="15588469" y="3766949"/>
                <a:ext cx="245160" cy="205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6DB5228-CA4A-3E25-2EEC-C653D52207B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582349" y="3760829"/>
                  <a:ext cx="2574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D04F8C1-B106-F51D-F0E3-F4518CB2CD32}"/>
                    </a:ext>
                  </a:extLst>
                </p14:cNvPr>
                <p14:cNvContentPartPr/>
                <p14:nvPr/>
              </p14:nvContentPartPr>
              <p14:xfrm>
                <a:off x="15050989" y="3732389"/>
                <a:ext cx="178920" cy="27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D04F8C1-B106-F51D-F0E3-F4518CB2CD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044869" y="3726269"/>
                  <a:ext cx="191160" cy="39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Batching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514975"/>
          </a:xfrm>
          <a:prstGeom prst="rect">
            <a:avLst/>
          </a:prstGeom>
        </p:spPr>
        <p:txBody>
          <a:bodyPr/>
          <a:lstStyle/>
          <a:p>
            <a:r>
              <a:t>Batching</a:t>
            </a:r>
          </a:p>
        </p:txBody>
      </p:sp>
      <p:sp>
        <p:nvSpPr>
          <p:cNvPr id="809" name="Sorting (partially) can help to create more efficient mini-batches…"/>
          <p:cNvSpPr txBox="1">
            <a:spLocks noGrp="1"/>
          </p:cNvSpPr>
          <p:nvPr>
            <p:ph type="body" sz="quarter" idx="1"/>
          </p:nvPr>
        </p:nvSpPr>
        <p:spPr>
          <a:xfrm>
            <a:off x="3978239" y="2334991"/>
            <a:ext cx="16427523" cy="1514975"/>
          </a:xfrm>
          <a:prstGeom prst="rect">
            <a:avLst/>
          </a:prstGeom>
        </p:spPr>
        <p:txBody>
          <a:bodyPr/>
          <a:lstStyle/>
          <a:p>
            <a:r>
              <a:rPr dirty="0"/>
              <a:t>Sorting (partially) can help to create more efficient mini-batches</a:t>
            </a:r>
          </a:p>
          <a:p>
            <a:r>
              <a:rPr dirty="0"/>
              <a:t>However, the input is less randomized</a:t>
            </a:r>
          </a:p>
        </p:txBody>
      </p:sp>
      <p:grpSp>
        <p:nvGrpSpPr>
          <p:cNvPr id="812" name="Group"/>
          <p:cNvGrpSpPr/>
          <p:nvPr/>
        </p:nvGrpSpPr>
        <p:grpSpPr>
          <a:xfrm>
            <a:off x="3217664" y="3834931"/>
            <a:ext cx="17948672" cy="4349923"/>
            <a:chOff x="0" y="0"/>
            <a:chExt cx="17948671" cy="4349922"/>
          </a:xfrm>
        </p:grpSpPr>
        <p:pic>
          <p:nvPicPr>
            <p:cNvPr id="810" name="Screen Shot 2020-03-05 at 2.24.13 PM.png" descr="Screen Shot 2020-03-05 at 2.24.13 PM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06609"/>
              <a:ext cx="17948672" cy="36433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11" name="Unsorted"/>
            <p:cNvSpPr txBox="1"/>
            <p:nvPr/>
          </p:nvSpPr>
          <p:spPr>
            <a:xfrm>
              <a:off x="285302" y="0"/>
              <a:ext cx="2542889" cy="7597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lnSpcReduction="10000"/>
            </a:bodyPr>
            <a:lstStyle>
              <a:lvl1pPr algn="l" defTabSz="328612">
                <a:spcBef>
                  <a:spcPts val="500"/>
                </a:spcBef>
                <a:defRPr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Unsorted</a:t>
              </a:r>
            </a:p>
          </p:txBody>
        </p:sp>
      </p:grpSp>
      <p:grpSp>
        <p:nvGrpSpPr>
          <p:cNvPr id="815" name="Group"/>
          <p:cNvGrpSpPr/>
          <p:nvPr/>
        </p:nvGrpSpPr>
        <p:grpSpPr>
          <a:xfrm>
            <a:off x="3253382" y="8605297"/>
            <a:ext cx="17877236" cy="4281832"/>
            <a:chOff x="0" y="0"/>
            <a:chExt cx="17877234" cy="4281831"/>
          </a:xfrm>
        </p:grpSpPr>
        <p:pic>
          <p:nvPicPr>
            <p:cNvPr id="813" name="Screen Shot 2020-03-05 at 2.24.21 PM.png" descr="Screen Shot 2020-03-05 at 2.24.21 P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727815"/>
              <a:ext cx="17877235" cy="35540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14" name="Sorted"/>
            <p:cNvSpPr txBox="1"/>
            <p:nvPr/>
          </p:nvSpPr>
          <p:spPr>
            <a:xfrm>
              <a:off x="249583" y="0"/>
              <a:ext cx="2542889" cy="7597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lnSpcReduction="10000"/>
            </a:bodyPr>
            <a:lstStyle>
              <a:lvl1pPr algn="l" defTabSz="328612">
                <a:spcBef>
                  <a:spcPts val="500"/>
                </a:spcBef>
                <a:defRPr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Sorted</a:t>
              </a:r>
            </a:p>
          </p:txBody>
        </p:sp>
      </p:grpSp>
      <p:sp>
        <p:nvSpPr>
          <p:cNvPr id="816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22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2" grpId="0" animBg="1" advAuto="0"/>
      <p:bldP spid="815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Decoding strategies"/>
          <p:cNvSpPr txBox="1">
            <a:spLocks noGrp="1"/>
          </p:cNvSpPr>
          <p:nvPr>
            <p:ph type="title"/>
          </p:nvPr>
        </p:nvSpPr>
        <p:spPr>
          <a:xfrm>
            <a:off x="4214243" y="4860625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Decoding strategies</a:t>
            </a:r>
          </a:p>
        </p:txBody>
      </p:sp>
      <p:sp>
        <p:nvSpPr>
          <p:cNvPr id="81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23</a:t>
            </a:fld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ener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Generation</a:t>
            </a:r>
          </a:p>
        </p:txBody>
      </p:sp>
      <p:sp>
        <p:nvSpPr>
          <p:cNvPr id="824" name="How can we use our model (decoder) to generate sentences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13315">
              <a:spcBef>
                <a:spcPts val="4100"/>
              </a:spcBef>
              <a:buSzTx/>
              <a:buNone/>
              <a:defRPr sz="5742"/>
            </a:pPr>
            <a:r>
              <a:t>How can we use our model (decoder) to generate sentences?  </a:t>
            </a:r>
          </a:p>
          <a:p>
            <a:pPr marL="607694" indent="-607694" defTabSz="813315">
              <a:spcBef>
                <a:spcPts val="4100"/>
              </a:spcBef>
              <a:defRPr sz="5742"/>
            </a:pPr>
            <a:r>
              <a:rPr>
                <a:solidFill>
                  <a:schemeClr val="accent5">
                    <a:lumOff val="-29866"/>
                  </a:schemeClr>
                </a:solidFill>
              </a:rPr>
              <a:t>Sampling</a:t>
            </a:r>
            <a:r>
              <a:t>: Try to generate a </a:t>
            </a:r>
            <a:r>
              <a:rPr i="1">
                <a:solidFill>
                  <a:schemeClr val="accent5">
                    <a:lumOff val="-29866"/>
                  </a:schemeClr>
                </a:solidFill>
              </a:rPr>
              <a:t>random</a:t>
            </a:r>
            <a:r>
              <a:t> sentence according the the probability distribution</a:t>
            </a:r>
          </a:p>
          <a:p>
            <a:pPr marL="586739" indent="-586739" defTabSz="813315">
              <a:spcBef>
                <a:spcPts val="4100"/>
              </a:spcBef>
              <a:defRPr sz="1584"/>
            </a:pPr>
            <a:endParaRPr/>
          </a:p>
          <a:p>
            <a:pPr marL="607694" indent="-607694" defTabSz="813315">
              <a:spcBef>
                <a:spcPts val="4100"/>
              </a:spcBef>
              <a:defRPr sz="5742"/>
            </a:pPr>
            <a:r>
              <a:rPr>
                <a:solidFill>
                  <a:schemeClr val="accent5">
                    <a:lumOff val="-29866"/>
                  </a:schemeClr>
                </a:solidFill>
              </a:rPr>
              <a:t>Argmax</a:t>
            </a:r>
            <a:r>
              <a:t>: Try to generate the </a:t>
            </a:r>
            <a:r>
              <a:rPr i="1">
                <a:solidFill>
                  <a:schemeClr val="accent5">
                    <a:lumOff val="-29866"/>
                  </a:schemeClr>
                </a:solidFill>
              </a:rPr>
              <a:t>best</a:t>
            </a:r>
            <a:r>
              <a:t> sentence, the sentence with the </a:t>
            </a:r>
            <a:r>
              <a:rPr i="1">
                <a:solidFill>
                  <a:schemeClr val="accent5">
                    <a:lumOff val="-29866"/>
                  </a:schemeClr>
                </a:solidFill>
              </a:rPr>
              <a:t>highest</a:t>
            </a:r>
            <a:r>
              <a:t> probability</a:t>
            </a:r>
          </a:p>
        </p:txBody>
      </p:sp>
      <p:sp>
        <p:nvSpPr>
          <p:cNvPr id="8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Decoding Strategies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Decoding Strategies</a:t>
            </a:r>
          </a:p>
        </p:txBody>
      </p:sp>
      <p:sp>
        <p:nvSpPr>
          <p:cNvPr id="828" name="Square"/>
          <p:cNvSpPr/>
          <p:nvPr/>
        </p:nvSpPr>
        <p:spPr>
          <a:xfrm>
            <a:off x="3665211" y="11715441"/>
            <a:ext cx="1785938" cy="17859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29" name="Pure (ancestral) sampling…"/>
          <p:cNvSpPr txBox="1">
            <a:spLocks noGrp="1"/>
          </p:cNvSpPr>
          <p:nvPr>
            <p:ph type="body" idx="1"/>
          </p:nvPr>
        </p:nvSpPr>
        <p:spPr>
          <a:xfrm>
            <a:off x="4687997" y="3283156"/>
            <a:ext cx="15609094" cy="9209242"/>
          </a:xfrm>
          <a:prstGeom prst="rect">
            <a:avLst/>
          </a:prstGeom>
        </p:spPr>
        <p:txBody>
          <a:bodyPr anchor="t"/>
          <a:lstStyle/>
          <a:p>
            <a:pPr marL="613833" indent="-613833">
              <a:buClr>
                <a:schemeClr val="accent1">
                  <a:lumOff val="-13575"/>
                </a:schemeClr>
              </a:buClr>
              <a:buChar char="‣"/>
              <a:defRPr sz="5800"/>
            </a:pPr>
            <a:r>
              <a:t>Pure (ancestral) sampling</a:t>
            </a:r>
          </a:p>
          <a:p>
            <a:pPr marL="613833" indent="-613833">
              <a:buClr>
                <a:schemeClr val="accent1">
                  <a:lumOff val="-13575"/>
                </a:schemeClr>
              </a:buClr>
              <a:buChar char="‣"/>
              <a:defRPr sz="5800"/>
            </a:pPr>
            <a:r>
              <a:t>Greedy decoding</a:t>
            </a:r>
          </a:p>
          <a:p>
            <a:pPr marL="613833" indent="-613833">
              <a:buClr>
                <a:schemeClr val="accent1">
                  <a:lumOff val="-13575"/>
                </a:schemeClr>
              </a:buClr>
              <a:buChar char="‣"/>
              <a:defRPr sz="5800"/>
            </a:pPr>
            <a:r>
              <a:t>Exhaustive search</a:t>
            </a:r>
          </a:p>
          <a:p>
            <a:pPr marL="613833" indent="-613833">
              <a:buClr>
                <a:schemeClr val="accent1">
                  <a:lumOff val="-13575"/>
                </a:schemeClr>
              </a:buClr>
              <a:buChar char="‣"/>
              <a:defRPr sz="5800"/>
            </a:pPr>
            <a:r>
              <a:t>Beam search</a:t>
            </a:r>
          </a:p>
          <a:p>
            <a:pPr marL="613833" indent="-613833">
              <a:buClr>
                <a:schemeClr val="accent1">
                  <a:lumOff val="-13575"/>
                </a:schemeClr>
              </a:buClr>
              <a:buChar char="‣"/>
              <a:defRPr sz="5800"/>
            </a:pPr>
            <a:r>
              <a:t>More on sampling</a:t>
            </a:r>
          </a:p>
        </p:txBody>
      </p:sp>
      <p:sp>
        <p:nvSpPr>
          <p:cNvPr id="8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ure (ancestral) 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Pure (ancestral) Sampling</a:t>
            </a:r>
          </a:p>
        </p:txBody>
      </p:sp>
      <p:sp>
        <p:nvSpPr>
          <p:cNvPr id="833" name="Randomly sample words one by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43312"/>
            <a:ext cx="15609094" cy="2398573"/>
          </a:xfrm>
          <a:prstGeom prst="rect">
            <a:avLst/>
          </a:prstGeom>
        </p:spPr>
        <p:txBody>
          <a:bodyPr/>
          <a:lstStyle/>
          <a:p>
            <a:r>
              <a:t>Randomly sample words one by one</a:t>
            </a:r>
          </a:p>
          <a:p>
            <a:r>
              <a:t>Provides diverse output (high variance)</a:t>
            </a:r>
          </a:p>
        </p:txBody>
      </p:sp>
      <p:pic>
        <p:nvPicPr>
          <p:cNvPr id="834" name="Screen Shot 2020-03-12 at 2.24.02 PM.png" descr="Screen Shot 2020-03-12 at 2.24.02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907" y="6513793"/>
            <a:ext cx="11746429" cy="5999879"/>
          </a:xfrm>
          <a:prstGeom prst="rect">
            <a:avLst/>
          </a:prstGeom>
          <a:ln w="12700">
            <a:miter lim="400000"/>
          </a:ln>
        </p:spPr>
      </p:pic>
      <p:sp>
        <p:nvSpPr>
          <p:cNvPr id="835" name="(figure credit: Luong, Cho, and Manning)"/>
          <p:cNvSpPr txBox="1"/>
          <p:nvPr/>
        </p:nvSpPr>
        <p:spPr>
          <a:xfrm>
            <a:off x="15015718" y="12761397"/>
            <a:ext cx="7450862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(figure credit: Luong, Cho, and Manning)</a:t>
            </a:r>
          </a:p>
        </p:txBody>
      </p:sp>
      <p:sp>
        <p:nvSpPr>
          <p:cNvPr id="8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reedy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Greedy decoding</a:t>
            </a:r>
          </a:p>
        </p:txBody>
      </p:sp>
      <p:sp>
        <p:nvSpPr>
          <p:cNvPr id="839" name="Square"/>
          <p:cNvSpPr/>
          <p:nvPr/>
        </p:nvSpPr>
        <p:spPr>
          <a:xfrm>
            <a:off x="3665211" y="11715441"/>
            <a:ext cx="1785938" cy="17859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840" name="Screen Shot 2019-11-11 at 8.50.49 PM.jpg" descr="Screen Shot 2019-11-11 at 8.50.49 P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096" y="2609417"/>
            <a:ext cx="10488999" cy="6541995"/>
          </a:xfrm>
          <a:prstGeom prst="rect">
            <a:avLst/>
          </a:prstGeom>
          <a:ln w="12700">
            <a:miter lim="400000"/>
          </a:ln>
        </p:spPr>
      </p:pic>
      <p:sp>
        <p:nvSpPr>
          <p:cNvPr id="841" name="Compute argmax at every step of decoder to generate word…"/>
          <p:cNvSpPr txBox="1">
            <a:spLocks noGrp="1"/>
          </p:cNvSpPr>
          <p:nvPr>
            <p:ph type="body" sz="half" idx="1"/>
          </p:nvPr>
        </p:nvSpPr>
        <p:spPr>
          <a:xfrm>
            <a:off x="4687997" y="9700503"/>
            <a:ext cx="15609094" cy="4326025"/>
          </a:xfrm>
          <a:prstGeom prst="rect">
            <a:avLst/>
          </a:prstGeom>
        </p:spPr>
        <p:txBody>
          <a:bodyPr anchor="t"/>
          <a:lstStyle/>
          <a:p>
            <a:pPr marL="617361" indent="-617361">
              <a:buClr>
                <a:schemeClr val="accent1">
                  <a:lumOff val="-13575"/>
                </a:schemeClr>
              </a:buClr>
              <a:buChar char="‣"/>
              <a:defRPr sz="5000"/>
            </a:pPr>
            <a:r>
              <a:t>Compute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argmax</a:t>
            </a:r>
            <a:r>
              <a:t> at every step of decoder to generate word</a:t>
            </a:r>
          </a:p>
          <a:p>
            <a:pPr marL="617361" indent="-617361">
              <a:buClr>
                <a:schemeClr val="accent1">
                  <a:lumOff val="-13575"/>
                </a:schemeClr>
              </a:buClr>
              <a:buChar char="‣"/>
              <a:defRPr sz="5000">
                <a:solidFill>
                  <a:schemeClr val="accent5">
                    <a:lumOff val="-29866"/>
                  </a:schemeClr>
                </a:solidFill>
              </a:defRPr>
            </a:pPr>
            <a:r>
              <a:t>What’s wrong?</a:t>
            </a:r>
          </a:p>
        </p:txBody>
      </p:sp>
      <p:sp>
        <p:nvSpPr>
          <p:cNvPr id="8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Exhaustive search?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Exhaustive search?</a:t>
            </a:r>
          </a:p>
        </p:txBody>
      </p:sp>
      <p:sp>
        <p:nvSpPr>
          <p:cNvPr id="845" name="Square"/>
          <p:cNvSpPr/>
          <p:nvPr/>
        </p:nvSpPr>
        <p:spPr>
          <a:xfrm>
            <a:off x="3665211" y="11715441"/>
            <a:ext cx="1785938" cy="17859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6" name="Find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687997" y="3283156"/>
                <a:ext cx="15609094" cy="9209242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617361" indent="-617361">
                  <a:buClr>
                    <a:schemeClr val="accent1">
                      <a:lumOff val="-13575"/>
                    </a:schemeClr>
                  </a:buClr>
                  <a:buChar char="‣"/>
                  <a:defRPr sz="5000"/>
                </a:pPr>
                <a:r>
                  <a:t>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sSub>
                          <m:sSubPr>
                            <m:ctrlPr>
                              <a:rPr sz="6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6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sz="6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,...,</m:t>
                        </m:r>
                        <m:sSub>
                          <m:sSubPr>
                            <m:ctrlPr>
                              <a:rPr sz="6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6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sz="6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lim>
                    </m:limLow>
                    <m:r>
                      <a:rPr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617361" indent="-617361">
                  <a:buClr>
                    <a:schemeClr val="accent1">
                      <a:lumOff val="-13575"/>
                    </a:schemeClr>
                  </a:buClr>
                  <a:buChar char="‣"/>
                  <a:defRPr sz="5000"/>
                </a:pPr>
                <a:r>
                  <a:t>Requires computing all possible sequences </a:t>
                </a:r>
              </a:p>
              <a:p>
                <a:pPr marL="1061861" lvl="1" indent="-617361">
                  <a:buClr>
                    <a:schemeClr val="accent1">
                      <a:lumOff val="-13575"/>
                    </a:schemeClr>
                  </a:buClr>
                  <a:buChar char="‣"/>
                  <a:defRPr sz="5000"/>
                </a:pPr>
                <a14:m>
                  <m:oMath xmlns:m="http://schemas.openxmlformats.org/officeDocument/2006/math">
                    <m:r>
                      <a:rPr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sz="6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complexity!</a:t>
                </a:r>
              </a:p>
              <a:p>
                <a:pPr marL="1061861" lvl="1" indent="-617361">
                  <a:buClr>
                    <a:schemeClr val="accent1">
                      <a:lumOff val="-13575"/>
                    </a:schemeClr>
                  </a:buClr>
                  <a:buChar char="‣"/>
                  <a:defRPr sz="5000"/>
                </a:pPr>
                <a:r>
                  <a:t>Too expensive</a:t>
                </a:r>
              </a:p>
            </p:txBody>
          </p:sp>
        </mc:Choice>
        <mc:Fallback>
          <p:sp>
            <p:nvSpPr>
              <p:cNvPr id="846" name="Find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87997" y="3283156"/>
                <a:ext cx="15609094" cy="9209242"/>
              </a:xfrm>
              <a:prstGeom prst="rect">
                <a:avLst/>
              </a:prstGeom>
              <a:blipFill>
                <a:blip r:embed="rId2"/>
                <a:stretch>
                  <a:fillRect l="-7380" t="-1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Recall: Beam search (a middle ground)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Recall: Beam search (a middle ground)</a:t>
            </a:r>
          </a:p>
        </p:txBody>
      </p:sp>
      <p:sp>
        <p:nvSpPr>
          <p:cNvPr id="850" name="Square"/>
          <p:cNvSpPr/>
          <p:nvPr/>
        </p:nvSpPr>
        <p:spPr>
          <a:xfrm>
            <a:off x="3665211" y="11715441"/>
            <a:ext cx="1785938" cy="17859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1" name="Key idea: At every step, keep track of the k most probable partial translations (hypotheses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687997" y="3283156"/>
                <a:ext cx="15609094" cy="9209242"/>
              </a:xfrm>
              <a:prstGeom prst="rect">
                <a:avLst/>
              </a:prstGeom>
            </p:spPr>
            <p:txBody>
              <a:bodyPr anchor="t"/>
              <a:lstStyle/>
              <a:p>
                <a:pPr defTabSz="813315">
                  <a:spcBef>
                    <a:spcPts val="41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950"/>
                </a:pPr>
                <a:r>
                  <a:rPr b="1"/>
                  <a:t>Key idea:</a:t>
                </a:r>
                <a:r>
                  <a:t> At every step, keep track of the </a:t>
                </a:r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k most probable</a:t>
                </a:r>
                <a:r>
                  <a:t> partial translations (hypotheses)</a:t>
                </a:r>
              </a:p>
              <a:p>
                <a:pPr defTabSz="813315">
                  <a:spcBef>
                    <a:spcPts val="41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950"/>
                </a:pPr>
                <a:r>
                  <a:t>Score of each hypothesis = log probability</a:t>
                </a:r>
              </a:p>
              <a:p>
                <a:pPr marL="0" lvl="1" indent="0" algn="ctr" defTabSz="813315">
                  <a:spcBef>
                    <a:spcPts val="4100"/>
                  </a:spcBef>
                  <a:buSzTx/>
                  <a:buNone/>
                  <a:defRPr sz="495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60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60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60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60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60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lim>
                      </m:limUpp>
                      <m:r>
                        <m:rPr>
                          <m:sty m:val="p"/>
                        </m:rPr>
                        <a:rPr sz="6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sz="6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6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6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6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6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6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6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6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defTabSz="813315">
                  <a:spcBef>
                    <a:spcPts val="41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950"/>
                </a:pPr>
                <a:r>
                  <a:t>Not guaranteed to be optimal</a:t>
                </a:r>
              </a:p>
              <a:p>
                <a:pPr defTabSz="813315">
                  <a:spcBef>
                    <a:spcPts val="41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950"/>
                </a:pPr>
                <a:r>
                  <a:t>More efficient than exhaustive search</a:t>
                </a:r>
              </a:p>
            </p:txBody>
          </p:sp>
        </mc:Choice>
        <mc:Fallback>
          <p:sp>
            <p:nvSpPr>
              <p:cNvPr id="851" name="Key idea: At every step, keep track of the k most probable partial translations (hypotheses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87997" y="3283156"/>
                <a:ext cx="15609094" cy="9209242"/>
              </a:xfrm>
              <a:prstGeom prst="rect">
                <a:avLst/>
              </a:prstGeom>
              <a:blipFill>
                <a:blip r:embed="rId2"/>
                <a:stretch>
                  <a:fillRect l="-7341" t="-14636" b="-12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Beam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Beam decoding</a:t>
            </a:r>
          </a:p>
        </p:txBody>
      </p:sp>
      <p:sp>
        <p:nvSpPr>
          <p:cNvPr id="855" name="Square"/>
          <p:cNvSpPr/>
          <p:nvPr/>
        </p:nvSpPr>
        <p:spPr>
          <a:xfrm>
            <a:off x="3665211" y="11715441"/>
            <a:ext cx="1785938" cy="17859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856" name="Screen Shot 2019-11-11 at 9.14.01 PM.jpg" descr="Screen Shot 2019-11-11 at 9.14.01 PM.jpg"/>
          <p:cNvPicPr>
            <a:picLocks noChangeAspect="1"/>
          </p:cNvPicPr>
          <p:nvPr/>
        </p:nvPicPr>
        <p:blipFill>
          <a:blip r:embed="rId2"/>
          <a:srcRect l="449" r="325"/>
          <a:stretch>
            <a:fillRect/>
          </a:stretch>
        </p:blipFill>
        <p:spPr>
          <a:xfrm>
            <a:off x="3429528" y="2549597"/>
            <a:ext cx="16850958" cy="9828147"/>
          </a:xfrm>
          <a:prstGeom prst="rect">
            <a:avLst/>
          </a:prstGeom>
          <a:ln w="12700">
            <a:miter lim="400000"/>
          </a:ln>
        </p:spPr>
      </p:pic>
      <p:sp>
        <p:nvSpPr>
          <p:cNvPr id="857" name="(slide credit: Abigail See)"/>
          <p:cNvSpPr txBox="1"/>
          <p:nvPr/>
        </p:nvSpPr>
        <p:spPr>
          <a:xfrm>
            <a:off x="16439337" y="12761397"/>
            <a:ext cx="4603624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(slide credit: Abigail See)</a:t>
            </a:r>
          </a:p>
        </p:txBody>
      </p:sp>
      <p:sp>
        <p:nvSpPr>
          <p:cNvPr id="858" name="Rectangle"/>
          <p:cNvSpPr/>
          <p:nvPr/>
        </p:nvSpPr>
        <p:spPr>
          <a:xfrm>
            <a:off x="5954418" y="3847409"/>
            <a:ext cx="14690061" cy="845005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Beam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Beam decoding</a:t>
            </a:r>
          </a:p>
        </p:txBody>
      </p:sp>
      <p:sp>
        <p:nvSpPr>
          <p:cNvPr id="862" name="Square"/>
          <p:cNvSpPr/>
          <p:nvPr/>
        </p:nvSpPr>
        <p:spPr>
          <a:xfrm>
            <a:off x="3665211" y="11715441"/>
            <a:ext cx="1785938" cy="17859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863" name="Screen Shot 2019-11-11 at 9.14.01 PM.jpg" descr="Screen Shot 2019-11-11 at 9.14.01 PM.jpg"/>
          <p:cNvPicPr>
            <a:picLocks noChangeAspect="1"/>
          </p:cNvPicPr>
          <p:nvPr/>
        </p:nvPicPr>
        <p:blipFill>
          <a:blip r:embed="rId2"/>
          <a:srcRect l="449" r="325"/>
          <a:stretch>
            <a:fillRect/>
          </a:stretch>
        </p:blipFill>
        <p:spPr>
          <a:xfrm>
            <a:off x="3429528" y="2513878"/>
            <a:ext cx="16850958" cy="9828147"/>
          </a:xfrm>
          <a:prstGeom prst="rect">
            <a:avLst/>
          </a:prstGeom>
          <a:ln w="12700">
            <a:miter lim="400000"/>
          </a:ln>
        </p:spPr>
      </p:pic>
      <p:sp>
        <p:nvSpPr>
          <p:cNvPr id="864" name="(slide credit: Abigail See)"/>
          <p:cNvSpPr txBox="1"/>
          <p:nvPr/>
        </p:nvSpPr>
        <p:spPr>
          <a:xfrm>
            <a:off x="16439337" y="12761397"/>
            <a:ext cx="4603624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(slide credit: Abigail See)</a:t>
            </a:r>
          </a:p>
        </p:txBody>
      </p:sp>
      <p:sp>
        <p:nvSpPr>
          <p:cNvPr id="865" name="Rectangle"/>
          <p:cNvSpPr/>
          <p:nvPr/>
        </p:nvSpPr>
        <p:spPr>
          <a:xfrm>
            <a:off x="8775383" y="3847409"/>
            <a:ext cx="11869095" cy="845005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Beam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Beam decoding</a:t>
            </a:r>
          </a:p>
        </p:txBody>
      </p:sp>
      <p:sp>
        <p:nvSpPr>
          <p:cNvPr id="869" name="Square"/>
          <p:cNvSpPr/>
          <p:nvPr/>
        </p:nvSpPr>
        <p:spPr>
          <a:xfrm>
            <a:off x="3665211" y="11715441"/>
            <a:ext cx="1785938" cy="17859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870" name="Screen Shot 2019-11-11 at 9.14.01 PM.jpg" descr="Screen Shot 2019-11-11 at 9.14.01 PM.jpg"/>
          <p:cNvPicPr>
            <a:picLocks noChangeAspect="1"/>
          </p:cNvPicPr>
          <p:nvPr/>
        </p:nvPicPr>
        <p:blipFill>
          <a:blip r:embed="rId2"/>
          <a:srcRect l="449" r="325"/>
          <a:stretch>
            <a:fillRect/>
          </a:stretch>
        </p:blipFill>
        <p:spPr>
          <a:xfrm>
            <a:off x="3429528" y="2513878"/>
            <a:ext cx="16850958" cy="9828147"/>
          </a:xfrm>
          <a:prstGeom prst="rect">
            <a:avLst/>
          </a:prstGeom>
          <a:ln w="12700">
            <a:miter lim="400000"/>
          </a:ln>
        </p:spPr>
      </p:pic>
      <p:sp>
        <p:nvSpPr>
          <p:cNvPr id="871" name="(slide credit: Abigail See)"/>
          <p:cNvSpPr txBox="1"/>
          <p:nvPr/>
        </p:nvSpPr>
        <p:spPr>
          <a:xfrm>
            <a:off x="16439337" y="12743538"/>
            <a:ext cx="4603624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(slide credit: Abigail See)</a:t>
            </a:r>
          </a:p>
        </p:txBody>
      </p:sp>
      <p:sp>
        <p:nvSpPr>
          <p:cNvPr id="8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32</a:t>
            </a:fld>
            <a:endParaRPr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Backtrack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Backtrack</a:t>
            </a:r>
          </a:p>
        </p:txBody>
      </p:sp>
      <p:sp>
        <p:nvSpPr>
          <p:cNvPr id="875" name="Square"/>
          <p:cNvSpPr/>
          <p:nvPr/>
        </p:nvSpPr>
        <p:spPr>
          <a:xfrm>
            <a:off x="3665211" y="11715441"/>
            <a:ext cx="1785938" cy="17859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76" name="(slide credit: Abigail See)"/>
          <p:cNvSpPr txBox="1"/>
          <p:nvPr/>
        </p:nvSpPr>
        <p:spPr>
          <a:xfrm>
            <a:off x="16439337" y="12743538"/>
            <a:ext cx="4603624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(slide credit: Abigail See)</a:t>
            </a:r>
          </a:p>
        </p:txBody>
      </p:sp>
      <p:pic>
        <p:nvPicPr>
          <p:cNvPr id="877" name="Screen Shot 2019-11-12 at 8.13.04 AM.jpg" descr="Screen Shot 2019-11-12 at 8.13.04 AM.jpg"/>
          <p:cNvPicPr>
            <a:picLocks noChangeAspect="1"/>
          </p:cNvPicPr>
          <p:nvPr/>
        </p:nvPicPr>
        <p:blipFill>
          <a:blip r:embed="rId2"/>
          <a:srcRect l="333" t="1119"/>
          <a:stretch>
            <a:fillRect/>
          </a:stretch>
        </p:blipFill>
        <p:spPr>
          <a:xfrm>
            <a:off x="3636737" y="2737933"/>
            <a:ext cx="16386110" cy="9692677"/>
          </a:xfrm>
          <a:prstGeom prst="rect">
            <a:avLst/>
          </a:prstGeom>
          <a:ln w="12700">
            <a:miter lim="400000"/>
          </a:ln>
        </p:spPr>
      </p:pic>
      <p:sp>
        <p:nvSpPr>
          <p:cNvPr id="8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33</a:t>
            </a:fld>
            <a:endParaRPr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Beam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Beam decoding</a:t>
            </a:r>
          </a:p>
        </p:txBody>
      </p:sp>
      <p:sp>
        <p:nvSpPr>
          <p:cNvPr id="881" name="Square"/>
          <p:cNvSpPr/>
          <p:nvPr/>
        </p:nvSpPr>
        <p:spPr>
          <a:xfrm>
            <a:off x="3665211" y="11715441"/>
            <a:ext cx="1785938" cy="17859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2" name="Different hypotheses may produce   (end) token at different time steps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687997" y="3283156"/>
                <a:ext cx="15609094" cy="9209242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409495" indent="-409495" defTabSz="550425">
                  <a:spcBef>
                    <a:spcPts val="28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484"/>
                </a:pPr>
                <a:r>
                  <a:t>Different hypotheses may produce </a:t>
                </a:r>
                <a14:m>
                  <m:oMath xmlns:m="http://schemas.openxmlformats.org/officeDocument/2006/math">
                    <m:r>
                      <a:rPr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𝑒𝑜𝑠</m:t>
                    </m:r>
                    <m:r>
                      <a:rPr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t> (end) token at different time steps</a:t>
                </a:r>
              </a:p>
              <a:p>
                <a:pPr marL="707310" lvl="1" indent="-409495" defTabSz="550425">
                  <a:spcBef>
                    <a:spcPts val="28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484"/>
                </a:pPr>
                <a:r>
                  <a:t>When a hypothesis produces </a:t>
                </a:r>
                <a14:m>
                  <m:oMath xmlns:m="http://schemas.openxmlformats.org/officeDocument/2006/math">
                    <m:r>
                      <a:rPr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𝑒𝑜𝑠</m:t>
                    </m:r>
                    <m:r>
                      <a:rPr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t>, stop expanding it and place it aside</a:t>
                </a:r>
              </a:p>
              <a:p>
                <a:pPr marL="409495" indent="-409495" defTabSz="550425">
                  <a:spcBef>
                    <a:spcPts val="28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484"/>
                </a:pPr>
                <a:r>
                  <a:t>Continue beam search until:</a:t>
                </a:r>
              </a:p>
              <a:p>
                <a:pPr marL="707310" lvl="1" indent="-409495" defTabSz="550425">
                  <a:spcBef>
                    <a:spcPts val="28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484"/>
                </a:pPr>
                <a:r>
                  <a:t>All </a:t>
                </a:r>
                <a14:m>
                  <m:oMath xmlns:m="http://schemas.openxmlformats.org/officeDocument/2006/math">
                    <m:r>
                      <a:rPr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 hypotheses produce </a:t>
                </a:r>
                <a14:m>
                  <m:oMath xmlns:m="http://schemas.openxmlformats.org/officeDocument/2006/math">
                    <m:r>
                      <a:rPr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𝑒𝑜𝑠</m:t>
                    </m:r>
                    <m:r>
                      <a:rPr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t> OR</a:t>
                </a:r>
              </a:p>
              <a:p>
                <a:pPr marL="707310" lvl="1" indent="-409495" defTabSz="550425">
                  <a:spcBef>
                    <a:spcPts val="28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484"/>
                </a:pPr>
                <a:r>
                  <a:t>Hit max decoding limit T</a:t>
                </a:r>
              </a:p>
              <a:p>
                <a:pPr marL="409495" indent="-409495" defTabSz="550425">
                  <a:spcBef>
                    <a:spcPts val="28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484"/>
                </a:pPr>
                <a:r>
                  <a:t>Select top hypotheses using the </a:t>
                </a:r>
                <a:r>
                  <a:rPr i="1"/>
                  <a:t>normalized </a:t>
                </a:r>
                <a:r>
                  <a:t>likelihood score</a:t>
                </a:r>
              </a:p>
              <a:p>
                <a:pPr marL="0" lvl="1" indent="0" algn="ctr" defTabSz="550425">
                  <a:spcBef>
                    <a:spcPts val="2800"/>
                  </a:spcBef>
                  <a:buSzTx/>
                  <a:buNone/>
                  <a:defRPr sz="3484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limUpp>
                        <m:limUp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lim>
                      </m:limUpp>
                      <m:r>
                        <m:rPr>
                          <m:sty m:val="p"/>
                        </m:rP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marL="707310" lvl="1" indent="-409495" defTabSz="550425">
                  <a:spcBef>
                    <a:spcPts val="28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484"/>
                </a:pPr>
                <a:r>
                  <a:t>Otherwise shorter hypotheses have higher scores</a:t>
                </a:r>
              </a:p>
            </p:txBody>
          </p:sp>
        </mc:Choice>
        <mc:Fallback>
          <p:sp>
            <p:nvSpPr>
              <p:cNvPr id="882" name="Different hypotheses may produce   (end) token at different time step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87997" y="3283156"/>
                <a:ext cx="15609094" cy="9209242"/>
              </a:xfrm>
              <a:prstGeom prst="rect">
                <a:avLst/>
              </a:prstGeom>
              <a:blipFill>
                <a:blip r:embed="rId2"/>
                <a:stretch>
                  <a:fillRect l="-4998" t="-9073" b="-7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34</a:t>
            </a:fld>
            <a:endParaRPr/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Beam Search Pitfal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Beam Search Pitfalls</a:t>
            </a:r>
          </a:p>
        </p:txBody>
      </p:sp>
      <p:sp>
        <p:nvSpPr>
          <p:cNvPr id="886" name="Beam search can still be very repetitive.…"/>
          <p:cNvSpPr txBox="1">
            <a:spLocks noGrp="1"/>
          </p:cNvSpPr>
          <p:nvPr>
            <p:ph type="body" idx="1"/>
          </p:nvPr>
        </p:nvSpPr>
        <p:spPr>
          <a:xfrm>
            <a:off x="1206500" y="3251324"/>
            <a:ext cx="21971000" cy="9403177"/>
          </a:xfrm>
          <a:prstGeom prst="rect">
            <a:avLst/>
          </a:prstGeom>
        </p:spPr>
        <p:txBody>
          <a:bodyPr/>
          <a:lstStyle/>
          <a:p>
            <a:pPr marL="603504" indent="-603504" defTabSz="2413955">
              <a:spcBef>
                <a:spcPts val="4400"/>
              </a:spcBef>
              <a:defRPr sz="4752"/>
            </a:pPr>
            <a:r>
              <a:t>Beam search can still be very repetitive. </a:t>
            </a:r>
          </a:p>
          <a:p>
            <a:pPr marL="1207008" lvl="1" indent="-603504" defTabSz="2413955">
              <a:spcBef>
                <a:spcPts val="4400"/>
              </a:spcBef>
              <a:defRPr sz="4752"/>
            </a:pPr>
            <a:r>
              <a:t>Heuristic is to penalize repeated n-grams in the output. </a:t>
            </a:r>
          </a:p>
          <a:p>
            <a:pPr marL="1207008" lvl="1" indent="-603504" defTabSz="2413955">
              <a:spcBef>
                <a:spcPts val="4400"/>
              </a:spcBef>
              <a:defRPr sz="4752"/>
            </a:pPr>
            <a:r>
              <a:t>Manually set the probability of next words that could create an already seen n-gram to 0</a:t>
            </a:r>
          </a:p>
          <a:p>
            <a:pPr marL="1207008" lvl="1" indent="-603504" defTabSz="2413955">
              <a:spcBef>
                <a:spcPts val="4400"/>
              </a:spcBef>
              <a:defRPr sz="4752"/>
            </a:pPr>
            <a:r>
              <a:t>n should be greater than 2 or 3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The choices in beam search may not be very diverse.</a:t>
            </a:r>
          </a:p>
          <a:p>
            <a:pPr marL="1207008" lvl="1" indent="-603504" defTabSz="2413955">
              <a:spcBef>
                <a:spcPts val="4400"/>
              </a:spcBef>
              <a:defRPr sz="4752"/>
            </a:pPr>
            <a:r>
              <a:t>Similar continuations can happen due to common sub-trees in different branches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These issues are referred to as </a:t>
            </a:r>
            <a:r>
              <a:rPr b="1"/>
              <a:t>model degeneration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9" name="Sampling is represented by the operator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1206500" y="2729994"/>
                <a:ext cx="21971000" cy="6042861"/>
              </a:xfrm>
              <a:prstGeom prst="rect">
                <a:avLst/>
              </a:prstGeom>
            </p:spPr>
            <p:txBody>
              <a:bodyPr/>
              <a:lstStyle/>
              <a:p>
                <a:pPr marL="512063" indent="-512063" defTabSz="2048204">
                  <a:spcBef>
                    <a:spcPts val="3700"/>
                  </a:spcBef>
                  <a:defRPr sz="4032"/>
                </a:pPr>
                <a:r>
                  <a:t>Sampling is represented by the operator </a:t>
                </a:r>
                <a14:m>
                  <m:oMath xmlns:m="http://schemas.openxmlformats.org/officeDocument/2006/math">
                    <m:r>
                      <a:rPr sz="4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endParaRPr/>
              </a:p>
              <a:p>
                <a:pPr marL="512063" indent="-512063" defTabSz="2048204">
                  <a:spcBef>
                    <a:spcPts val="3700"/>
                  </a:spcBef>
                  <a:defRPr sz="4032"/>
                </a:pPr>
                <a:r>
                  <a:t>We pick the next 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8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4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sz="4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4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sz="4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𝑙𝑜𝑔𝑖𝑡𝑠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num>
                      <m:den>
                        <m:sSub>
                          <m:sSubPr>
                            <m:ctrlP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sub>
                            <m:sSup>
                              <m:sSupPr>
                                <m:ctrlPr>
                                  <a:rPr sz="48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48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sz="48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m:rPr>
                            <m:sty m:val="p"/>
                          </m:rP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𝑙𝑜𝑔𝑖𝑡𝑠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den>
                    </m:f>
                  </m:oMath>
                </a14:m>
                <a:endParaRPr/>
              </a:p>
              <a:p>
                <a:pPr marL="512063" indent="-512063" defTabSz="2048204">
                  <a:spcBef>
                    <a:spcPts val="3700"/>
                  </a:spcBef>
                  <a:defRPr sz="4032"/>
                </a:pPr>
                <a:r>
                  <a:t>Generation is no longer </a:t>
                </a:r>
                <a:r>
                  <a:rPr i="1"/>
                  <a:t>deterministic.</a:t>
                </a:r>
              </a:p>
              <a:p>
                <a:pPr marL="512063" indent="-512063" defTabSz="2048204">
                  <a:spcBef>
                    <a:spcPts val="3700"/>
                  </a:spcBef>
                  <a:defRPr sz="4032"/>
                </a:pPr>
                <a:r>
                  <a:t>Sampling can generate gibberish. Solution: use temperature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𝑙𝑜𝑔𝑖𝑡𝑠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)/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sub>
                            <m:sSup>
                              <m:sSupPr>
                                <m:ctrlPr>
                                  <a:rPr sz="48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48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sz="48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m:rPr>
                            <m:sty m:val="p"/>
                          </m:rP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𝑙𝑜𝑔𝑖𝑡𝑠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4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)/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4800"/>
              </a:p>
            </p:txBody>
          </p:sp>
        </mc:Choice>
        <mc:Fallback>
          <p:sp>
            <p:nvSpPr>
              <p:cNvPr id="889" name="Sampling is represented by the operator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206500" y="2729994"/>
                <a:ext cx="21971000" cy="6042861"/>
              </a:xfrm>
              <a:prstGeom prst="rect">
                <a:avLst/>
              </a:prstGeom>
              <a:blipFill>
                <a:blip r:embed="rId2"/>
                <a:stretch>
                  <a:fillRect l="-1387" t="-2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0" name="Screenshot 2023-11-07 at 12.37.54 PM.png" descr="Screenshot 2023-11-07 at 12.37.54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008" y="8497552"/>
            <a:ext cx="20255984" cy="5138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Top-k 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Top-k Sampling</a:t>
            </a:r>
          </a:p>
        </p:txBody>
      </p:sp>
      <p:sp>
        <p:nvSpPr>
          <p:cNvPr id="893" name="K most likely next words are filtered and we re-normalize over the K words…"/>
          <p:cNvSpPr txBox="1">
            <a:spLocks noGrp="1"/>
          </p:cNvSpPr>
          <p:nvPr>
            <p:ph type="body" sz="quarter" idx="1"/>
          </p:nvPr>
        </p:nvSpPr>
        <p:spPr>
          <a:xfrm>
            <a:off x="1206500" y="2729994"/>
            <a:ext cx="21971000" cy="2903961"/>
          </a:xfrm>
          <a:prstGeom prst="rect">
            <a:avLst/>
          </a:prstGeom>
        </p:spPr>
        <p:txBody>
          <a:bodyPr/>
          <a:lstStyle/>
          <a:p>
            <a:r>
              <a:t>K most likely next words are filtered and we re-normalize over the K words</a:t>
            </a:r>
          </a:p>
          <a:p>
            <a:r>
              <a:t>GPT2 showed that this worked better than beam search</a:t>
            </a:r>
          </a:p>
        </p:txBody>
      </p:sp>
      <p:pic>
        <p:nvPicPr>
          <p:cNvPr id="894" name="Screenshot 2023-11-07 at 12.47.25 PM.png" descr="Screenshot 2023-11-07 at 12.47.2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113" y="5213831"/>
            <a:ext cx="18743774" cy="8183197"/>
          </a:xfrm>
          <a:prstGeom prst="rect">
            <a:avLst/>
          </a:prstGeom>
          <a:ln w="12700">
            <a:miter lim="400000"/>
          </a:ln>
        </p:spPr>
      </p:pic>
      <p:sp>
        <p:nvSpPr>
          <p:cNvPr id="895" name="K=6"/>
          <p:cNvSpPr/>
          <p:nvPr/>
        </p:nvSpPr>
        <p:spPr>
          <a:xfrm>
            <a:off x="11557000" y="8670429"/>
            <a:ext cx="1270000" cy="1270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K=6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Top-p Nucleus 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Top-p Nucleus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8" name="Choose the smallest set of words whose cumulative probability exceeds a threshold probability  . The probability mass is redistributed among this set of words.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1206500" y="2493026"/>
                <a:ext cx="21971000" cy="3732516"/>
              </a:xfrm>
              <a:prstGeom prst="rect">
                <a:avLst/>
              </a:prstGeom>
            </p:spPr>
            <p:txBody>
              <a:bodyPr/>
              <a:lstStyle/>
              <a:p>
                <a:pPr marL="566927" indent="-566927" defTabSz="2267655">
                  <a:spcBef>
                    <a:spcPts val="4100"/>
                  </a:spcBef>
                  <a:defRPr sz="4464"/>
                </a:pPr>
                <a:r>
                  <a:t>Choose the smallest set of words whose cumulative probability exceeds a threshold probability </a:t>
                </a:r>
                <a14:m>
                  <m:oMath xmlns:m="http://schemas.openxmlformats.org/officeDocument/2006/math"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t>. The probability mass is redistributed among this set of words.</a:t>
                </a:r>
              </a:p>
              <a:p>
                <a:pPr marL="566927" indent="-566927" defTabSz="2267655">
                  <a:spcBef>
                    <a:spcPts val="4100"/>
                  </a:spcBef>
                  <a:defRPr sz="4464"/>
                </a:pPr>
                <a:r>
                  <a:t>The size of the set being sampled from grows and shrinks depending on the probability distribution.</a:t>
                </a:r>
              </a:p>
            </p:txBody>
          </p:sp>
        </mc:Choice>
        <mc:Fallback>
          <p:sp>
            <p:nvSpPr>
              <p:cNvPr id="898" name="Choose the smallest set of words whose cumulative probability exceeds a threshold probability  . The probability mass is redistributed among this set of words.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206500" y="2493026"/>
                <a:ext cx="21971000" cy="3732516"/>
              </a:xfrm>
              <a:prstGeom prst="rect">
                <a:avLst/>
              </a:prstGeom>
              <a:blipFill>
                <a:blip r:embed="rId2"/>
                <a:stretch>
                  <a:fillRect l="-1554" t="-7843" r="-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9" name="Screenshot 2023-11-07 at 12.50.50 PM.png" descr="Screenshot 2023-11-07 at 12.50.50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109" y="5937935"/>
            <a:ext cx="17615782" cy="78161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: Where are you going?…"/>
          <p:cNvSpPr txBox="1"/>
          <p:nvPr/>
        </p:nvSpPr>
        <p:spPr>
          <a:xfrm>
            <a:off x="991874" y="5567601"/>
            <a:ext cx="5628582" cy="3419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457200"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A: Where are you going? </a:t>
            </a:r>
          </a:p>
          <a:p>
            <a:pPr algn="l" defTabSz="457200"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B: I’m going to the restroom. </a:t>
            </a:r>
          </a:p>
          <a:p>
            <a:pPr algn="l" defTabSz="457200"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A: See you later. </a:t>
            </a:r>
          </a:p>
          <a:p>
            <a:pPr algn="l" defTabSz="457200"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B: See you later. </a:t>
            </a:r>
          </a:p>
          <a:p>
            <a:pPr algn="l" defTabSz="457200"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A: See you later. </a:t>
            </a:r>
          </a:p>
          <a:p>
            <a:pPr algn="l" defTabSz="457200"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B: See you later. </a:t>
            </a:r>
          </a:p>
        </p:txBody>
      </p:sp>
      <p:sp>
        <p:nvSpPr>
          <p:cNvPr id="902" name="Repetitive"/>
          <p:cNvSpPr txBox="1"/>
          <p:nvPr/>
        </p:nvSpPr>
        <p:spPr>
          <a:xfrm>
            <a:off x="660689" y="4860187"/>
            <a:ext cx="3711301" cy="715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800" b="1"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Repetitive</a:t>
            </a:r>
          </a:p>
        </p:txBody>
      </p:sp>
      <p:sp>
        <p:nvSpPr>
          <p:cNvPr id="903" name="Sampling"/>
          <p:cNvSpPr txBox="1"/>
          <p:nvPr/>
        </p:nvSpPr>
        <p:spPr>
          <a:xfrm>
            <a:off x="12609674" y="2550363"/>
            <a:ext cx="4852620" cy="926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5200" b="1"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4" name="Randomly sample words from distribution at each time step…"/>
              <p:cNvSpPr txBox="1"/>
              <p:nvPr/>
            </p:nvSpPr>
            <p:spPr>
              <a:xfrm>
                <a:off x="9101386" y="3346379"/>
                <a:ext cx="13590515" cy="786192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algn="l" defTabSz="457200">
                  <a:defRPr sz="3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Randomly sample words from distribution at each time step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t> </a:t>
                </a:r>
              </a:p>
              <a:p>
                <a:pPr marL="500062" indent="-500062" algn="l" defTabSz="457200">
                  <a:buSzPct val="145000"/>
                  <a:buChar char="•"/>
                  <a:defRPr sz="3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b="1"/>
                  <a:t>Basic/pure sampling</a:t>
                </a:r>
                <a:r>
                  <a:t>: sample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directly</a:t>
                </a:r>
              </a:p>
              <a:p>
                <a:pPr marL="944562" lvl="1" indent="-500062" algn="l" defTabSz="457200">
                  <a:buSzPct val="145000"/>
                  <a:buChar char="•"/>
                  <a:defRPr sz="3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Can get some very bad samples</a:t>
                </a:r>
              </a:p>
              <a:p>
                <a:pPr marL="944562" lvl="1" indent="-500062" algn="l" defTabSz="457200">
                  <a:buSzPct val="145000"/>
                  <a:buChar char="•"/>
                  <a:defRPr sz="3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No control</a:t>
                </a:r>
              </a:p>
              <a:p>
                <a:pPr marL="500062" indent="-500062" algn="l" defTabSz="457200">
                  <a:buSzPct val="145000"/>
                  <a:buChar char="•"/>
                  <a:defRPr sz="3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b="1"/>
                  <a:t>Top-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b="1"/>
                  <a:t> sampling</a:t>
                </a:r>
                <a:r>
                  <a:t>: sample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truncated to top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t> words</a:t>
                </a:r>
              </a:p>
              <a:p>
                <a:pPr marL="944562" lvl="1" indent="-500062" algn="l" defTabSz="457200">
                  <a:buSzPct val="145000"/>
                  <a:buChar char="•"/>
                  <a:defRPr sz="3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Increase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t> to get more diverse/risky output </a:t>
                </a:r>
              </a:p>
              <a:p>
                <a:pPr marL="944562" lvl="1" indent="-500062" algn="l" defTabSz="457200">
                  <a:buSzPct val="145000"/>
                  <a:buChar char="•"/>
                  <a:defRPr sz="3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Decrease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t> to get more generic/safe output</a:t>
                </a:r>
              </a:p>
              <a:p>
                <a:pPr marL="500062" indent="-500062" algn="l" defTabSz="457200">
                  <a:buSzPct val="145000"/>
                  <a:buChar char="•"/>
                  <a:defRPr sz="3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b="1"/>
                  <a:t>Top-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b="1"/>
                  <a:t> (nucleus) sampling</a:t>
                </a:r>
                <a:r>
                  <a:t>: sample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restricted to top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t> proportion of words</a:t>
                </a:r>
              </a:p>
              <a:p>
                <a:pPr marL="944562" lvl="1" indent="-500062" algn="l" defTabSz="457200">
                  <a:buSzPct val="145000"/>
                  <a:buChar char="•"/>
                  <a:defRPr sz="3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Better when probability distribution is spread</a:t>
                </a:r>
              </a:p>
              <a:p>
                <a:pPr marL="500062" indent="-500062" algn="l" defTabSz="457200">
                  <a:buSzPct val="145000"/>
                  <a:buChar char="•"/>
                  <a:defRPr sz="3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b="1"/>
                  <a:t>Temperature based</a:t>
                </a:r>
                <a:r>
                  <a:t>:</a:t>
                </a:r>
              </a:p>
              <a:p>
                <a:pPr marL="944562" lvl="1" indent="-500062" algn="l" defTabSz="457200">
                  <a:buSzPct val="145000"/>
                  <a:buChar char="•"/>
                  <a:defRPr sz="3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Increase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t> to get more diverse/risky output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is more uniform) </a:t>
                </a:r>
              </a:p>
              <a:p>
                <a:pPr marL="944562" lvl="1" indent="-500062" algn="l" defTabSz="457200">
                  <a:buSzPct val="145000"/>
                  <a:buChar char="•"/>
                  <a:defRPr sz="3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Decrease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t> to get more generic/safe output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is more spiky)</a:t>
                </a:r>
              </a:p>
            </p:txBody>
          </p:sp>
        </mc:Choice>
        <mc:Fallback>
          <p:sp>
            <p:nvSpPr>
              <p:cNvPr id="904" name="Randomly sample words from distribution at each time step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386" y="3346379"/>
                <a:ext cx="13590515" cy="7861920"/>
              </a:xfrm>
              <a:prstGeom prst="rect">
                <a:avLst/>
              </a:prstGeom>
              <a:blipFill>
                <a:blip r:embed="rId3"/>
                <a:stretch>
                  <a:fillRect l="-2198" b="-147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5" name="(adapted from slides: Stanford CS224N, Chris Manning)"/>
          <p:cNvSpPr txBox="1"/>
          <p:nvPr/>
        </p:nvSpPr>
        <p:spPr>
          <a:xfrm>
            <a:off x="14054474" y="12930499"/>
            <a:ext cx="10204629" cy="626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>
                <a:solidFill>
                  <a:srgbClr val="5E5E5E"/>
                </a:solidFill>
              </a:defRPr>
            </a:lvl1pPr>
          </a:lstStyle>
          <a:p>
            <a:r>
              <a:t>(adapted from slides: Stanford CS224N, Chris Manning)</a:t>
            </a:r>
          </a:p>
        </p:txBody>
      </p:sp>
      <p:pic>
        <p:nvPicPr>
          <p:cNvPr id="906" name="Screen Shot 2020-04-07 at 2.11.18 PM.png" descr="Screen Shot 2020-04-07 at 2.11.18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1537" y="10749419"/>
            <a:ext cx="7009613" cy="177458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09" name="Group"/>
          <p:cNvGrpSpPr/>
          <p:nvPr/>
        </p:nvGrpSpPr>
        <p:grpSpPr>
          <a:xfrm>
            <a:off x="435982" y="9797191"/>
            <a:ext cx="7769836" cy="1950276"/>
            <a:chOff x="0" y="0"/>
            <a:chExt cx="7769834" cy="1950274"/>
          </a:xfrm>
        </p:grpSpPr>
        <p:sp>
          <p:nvSpPr>
            <p:cNvPr id="907" name="Sample and Rank"/>
            <p:cNvSpPr txBox="1"/>
            <p:nvPr/>
          </p:nvSpPr>
          <p:spPr>
            <a:xfrm>
              <a:off x="0" y="0"/>
              <a:ext cx="4852620" cy="7150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 sz="3800" b="1">
                  <a:latin typeface="Optima"/>
                  <a:ea typeface="Optima"/>
                  <a:cs typeface="Optima"/>
                  <a:sym typeface="Optima"/>
                </a:defRPr>
              </a:lvl1pPr>
            </a:lstStyle>
            <a:p>
              <a:r>
                <a:t>Sample and Rank</a:t>
              </a:r>
            </a:p>
          </p:txBody>
        </p:sp>
        <p:sp>
          <p:nvSpPr>
            <p:cNvPr id="908" name="Sample N candidate…"/>
            <p:cNvSpPr txBox="1"/>
            <p:nvPr/>
          </p:nvSpPr>
          <p:spPr>
            <a:xfrm>
              <a:off x="514265" y="715199"/>
              <a:ext cx="7255570" cy="12350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 marL="714375" indent="-714375" algn="l" defTabSz="457200">
                <a:buSzPct val="100000"/>
                <a:buAutoNum type="arabicPeriod"/>
                <a:defRPr sz="3600"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t>Sample N candidate</a:t>
              </a:r>
            </a:p>
            <a:p>
              <a:pPr marL="714375" indent="-714375" algn="l" defTabSz="457200">
                <a:buSzPct val="100000"/>
                <a:buAutoNum type="arabicPeriod"/>
                <a:defRPr sz="3600"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t>Rank candidate and select best one</a:t>
              </a:r>
            </a:p>
          </p:txBody>
        </p:sp>
      </p:grpSp>
      <p:sp>
        <p:nvSpPr>
          <p:cNvPr id="910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39</a:t>
            </a:fld>
            <a:endParaRPr/>
          </a:p>
        </p:txBody>
      </p:sp>
      <p:sp>
        <p:nvSpPr>
          <p:cNvPr id="911" name="Summary of sampling for text generation"/>
          <p:cNvSpPr txBox="1">
            <a:spLocks noGrp="1"/>
          </p:cNvSpPr>
          <p:nvPr>
            <p:ph type="title" idx="4294967295"/>
          </p:nvPr>
        </p:nvSpPr>
        <p:spPr>
          <a:xfrm>
            <a:off x="3910867" y="335722"/>
            <a:ext cx="17249139" cy="1883033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Summary of sampling for text generation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0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9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9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9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9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" grpId="0" build="p" animBg="1" advAuto="0"/>
      <p:bldP spid="906" grpId="0" animBg="1" advAuto="0"/>
      <p:bldP spid="909" grpId="0" animBg="1" advAuto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Evaluating text generation"/>
          <p:cNvSpPr txBox="1">
            <a:spLocks noGrp="1"/>
          </p:cNvSpPr>
          <p:nvPr>
            <p:ph type="title"/>
          </p:nvPr>
        </p:nvSpPr>
        <p:spPr>
          <a:xfrm>
            <a:off x="4214243" y="4860625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Evaluating text generation</a:t>
            </a:r>
          </a:p>
        </p:txBody>
      </p:sp>
      <p:sp>
        <p:nvSpPr>
          <p:cNvPr id="916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40</a:t>
            </a:fld>
            <a:endParaRPr/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Evaluating translation quality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Evaluating translation quality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1" name="Two main criteria: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387453" y="3135994"/>
                <a:ext cx="16072027" cy="4792618"/>
              </a:xfrm>
              <a:prstGeom prst="rect">
                <a:avLst/>
              </a:prstGeom>
            </p:spPr>
            <p:txBody>
              <a:bodyPr anchor="t">
                <a:normAutofit lnSpcReduction="10000"/>
              </a:bodyPr>
              <a:lstStyle/>
              <a:p>
                <a:pPr marL="537844" indent="-537844" defTabSz="722947">
                  <a:spcBef>
                    <a:spcPts val="3700"/>
                  </a:spcBef>
                  <a:defRPr sz="3872"/>
                </a:pPr>
                <a:r>
                  <a:t>Two main criteria:</a:t>
                </a:r>
              </a:p>
              <a:p>
                <a:pPr marL="929005" lvl="1" indent="-537844" defTabSz="722947">
                  <a:spcBef>
                    <a:spcPts val="3700"/>
                  </a:spcBef>
                  <a:defRPr sz="3872"/>
                </a:pPr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Adequacy:</a:t>
                </a:r>
                <a:r>
                  <a:t> Translation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t> should adequately reflect the linguistic content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/>
              </a:p>
              <a:p>
                <a:pPr marL="929005" lvl="1" indent="-537844" defTabSz="722947">
                  <a:spcBef>
                    <a:spcPts val="3700"/>
                  </a:spcBef>
                  <a:defRPr sz="3872"/>
                </a:pPr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Fluency:</a:t>
                </a:r>
                <a:r>
                  <a:t> Translation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t> should be fluent text in the target language</a:t>
                </a:r>
                <a:endParaRPr sz="4400"/>
              </a:p>
            </p:txBody>
          </p:sp>
        </mc:Choice>
        <mc:Fallback>
          <p:sp>
            <p:nvSpPr>
              <p:cNvPr id="921" name="Two main criteria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387453" y="3135994"/>
                <a:ext cx="16072027" cy="4792618"/>
              </a:xfrm>
              <a:prstGeom prst="rect">
                <a:avLst/>
              </a:prstGeom>
              <a:blipFill>
                <a:blip r:embed="rId2"/>
                <a:stretch>
                  <a:fillRect l="-2086" t="-5972" b="-4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4" name="Group"/>
          <p:cNvGrpSpPr/>
          <p:nvPr/>
        </p:nvGrpSpPr>
        <p:grpSpPr>
          <a:xfrm>
            <a:off x="5770881" y="8056219"/>
            <a:ext cx="13108765" cy="4553325"/>
            <a:chOff x="0" y="0"/>
            <a:chExt cx="13108764" cy="4553323"/>
          </a:xfrm>
        </p:grpSpPr>
        <p:pic>
          <p:nvPicPr>
            <p:cNvPr id="922" name="Screen Shot 2019-11-06 at 10.12.22 AM.png" descr="Screen Shot 2019-11-06 at 10.12.22 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9534" y="0"/>
              <a:ext cx="11749231" cy="363808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23" name="Different translations of A Vinay le gusta Python"/>
            <p:cNvSpPr txBox="1"/>
            <p:nvPr/>
          </p:nvSpPr>
          <p:spPr>
            <a:xfrm>
              <a:off x="0" y="3765695"/>
              <a:ext cx="11956314" cy="7876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Different translations of </a:t>
              </a:r>
              <a:r>
                <a:rPr i="1">
                  <a:solidFill>
                    <a:schemeClr val="accent1">
                      <a:lumOff val="-13575"/>
                    </a:schemeClr>
                  </a:solidFill>
                </a:rPr>
                <a:t>A Vinay le gusta Python</a:t>
              </a:r>
            </a:p>
          </p:txBody>
        </p:sp>
      </p:grpSp>
      <p:sp>
        <p:nvSpPr>
          <p:cNvPr id="9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41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" grpId="0" animBg="1" advAuto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Evaluation metrics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Evaluation metrics</a:t>
            </a:r>
          </a:p>
        </p:txBody>
      </p:sp>
      <p:sp>
        <p:nvSpPr>
          <p:cNvPr id="928" name="Manual evaluation is most accurate, but expensive…"/>
          <p:cNvSpPr txBox="1">
            <a:spLocks noGrp="1"/>
          </p:cNvSpPr>
          <p:nvPr>
            <p:ph type="body" sz="half" idx="1"/>
          </p:nvPr>
        </p:nvSpPr>
        <p:spPr>
          <a:xfrm>
            <a:off x="4387453" y="2745582"/>
            <a:ext cx="17443886" cy="6550787"/>
          </a:xfrm>
          <a:prstGeom prst="rect">
            <a:avLst/>
          </a:prstGeom>
        </p:spPr>
        <p:txBody>
          <a:bodyPr anchor="t"/>
          <a:lstStyle/>
          <a:p>
            <a:r>
              <a:t>Manual evaluation is most accurate, but expensive</a:t>
            </a:r>
          </a:p>
          <a:p>
            <a:r>
              <a:t>Automated evaluation metrics:</a:t>
            </a:r>
          </a:p>
          <a:p>
            <a:pPr lvl="1"/>
            <a:r>
              <a:t>Compare system hypothesis with reference translations</a:t>
            </a:r>
          </a:p>
          <a:p>
            <a:pPr lvl="1"/>
            <a:r>
              <a:t>BiLingual Evaluation Understudy (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BLEU</a:t>
            </a:r>
            <a:r>
              <a:t>) (Papineni et al., 2002)</a:t>
            </a:r>
          </a:p>
          <a:p>
            <a:pPr lvl="2"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Modified n-gram precision</a:t>
            </a:r>
          </a:p>
        </p:txBody>
      </p:sp>
      <p:grpSp>
        <p:nvGrpSpPr>
          <p:cNvPr id="933" name="Group"/>
          <p:cNvGrpSpPr/>
          <p:nvPr/>
        </p:nvGrpSpPr>
        <p:grpSpPr>
          <a:xfrm>
            <a:off x="2962079" y="9961608"/>
            <a:ext cx="18581114" cy="1732549"/>
            <a:chOff x="0" y="0"/>
            <a:chExt cx="18581112" cy="1732548"/>
          </a:xfrm>
        </p:grpSpPr>
        <p:pic>
          <p:nvPicPr>
            <p:cNvPr id="929" name="Screen Shot 2019-11-06 at 10.28.37 AM.png" descr="Screen Shot 2019-11-06 at 10.28.37 AM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18581113" cy="16516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0" name="reference"/>
            <p:cNvSpPr txBox="1"/>
            <p:nvPr/>
          </p:nvSpPr>
          <p:spPr>
            <a:xfrm>
              <a:off x="10048186" y="227030"/>
              <a:ext cx="2183600" cy="70086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 sz="380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reference</a:t>
              </a:r>
            </a:p>
          </p:txBody>
        </p:sp>
        <p:sp>
          <p:nvSpPr>
            <p:cNvPr id="931" name="hypothesis"/>
            <p:cNvSpPr txBox="1"/>
            <p:nvPr/>
          </p:nvSpPr>
          <p:spPr>
            <a:xfrm>
              <a:off x="13238627" y="239730"/>
              <a:ext cx="2595096" cy="70086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 sz="3800">
                  <a:solidFill>
                    <a:schemeClr val="accent6"/>
                  </a:solidFill>
                </a:defRPr>
              </a:lvl1pPr>
            </a:lstStyle>
            <a:p>
              <a:r>
                <a:t>hypothesis</a:t>
              </a:r>
            </a:p>
          </p:txBody>
        </p:sp>
        <p:sp>
          <p:nvSpPr>
            <p:cNvPr id="932" name="hypothesis"/>
            <p:cNvSpPr txBox="1"/>
            <p:nvPr/>
          </p:nvSpPr>
          <p:spPr>
            <a:xfrm>
              <a:off x="11599555" y="1031685"/>
              <a:ext cx="2595096" cy="70086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t">
              <a:spAutoFit/>
            </a:bodyPr>
            <a:lstStyle>
              <a:lvl1pPr>
                <a:defRPr sz="3800">
                  <a:solidFill>
                    <a:schemeClr val="accent6"/>
                  </a:solidFill>
                </a:defRPr>
              </a:lvl1pPr>
            </a:lstStyle>
            <a:p>
              <a:r>
                <a:t>hypothesis</a:t>
              </a:r>
            </a:p>
          </p:txBody>
        </p:sp>
      </p:grpSp>
      <p:sp>
        <p:nvSpPr>
          <p:cNvPr id="9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9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" grpId="0" build="p" animBg="1" advAuto="0"/>
      <p:bldP spid="933" grpId="0" animBg="1" advAuto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BLEU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099113"/>
          </a:xfrm>
          <a:prstGeom prst="rect">
            <a:avLst/>
          </a:prstGeom>
        </p:spPr>
        <p:txBody>
          <a:bodyPr/>
          <a:lstStyle/>
          <a:p>
            <a:r>
              <a:t>BLEU</a:t>
            </a:r>
          </a:p>
        </p:txBody>
      </p:sp>
      <p:sp>
        <p:nvSpPr>
          <p:cNvPr id="937" name="Double-click to edit"/>
          <p:cNvSpPr txBox="1">
            <a:spLocks noGrp="1"/>
          </p:cNvSpPr>
          <p:nvPr>
            <p:ph type="body" sz="quarter" idx="1"/>
          </p:nvPr>
        </p:nvSpPr>
        <p:spPr>
          <a:xfrm>
            <a:off x="2949438" y="1972137"/>
            <a:ext cx="17824357" cy="2099114"/>
          </a:xfrm>
          <a:prstGeom prst="rect">
            <a:avLst/>
          </a:prstGeom>
        </p:spPr>
        <p:txBody>
          <a:bodyPr anchor="t"/>
          <a:lstStyle/>
          <a:p>
            <a:pPr marL="0" indent="0" algn="ctr" defTabSz="328612">
              <a:lnSpc>
                <a:spcPct val="80000"/>
              </a:lnSpc>
              <a:spcBef>
                <a:spcPts val="1600"/>
              </a:spcBef>
              <a:buSzTx/>
              <a:buNone/>
              <a:defRPr sz="1760"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8" name="BLEU-N ="/>
              <p:cNvSpPr txBox="1"/>
              <p:nvPr/>
            </p:nvSpPr>
            <p:spPr>
              <a:xfrm>
                <a:off x="2949438" y="1972137"/>
                <a:ext cx="5485337" cy="174830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>
                  <a:defRPr sz="3200"/>
                </a:pPr>
                <a:r>
                  <a:t>BLEU-N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limUpp>
                      <m:limUpp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lim>
                    </m:limUpp>
                    <m:r>
                      <m:rPr>
                        <m:sty m:val="p"/>
                      </m:rP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/>
              </a:p>
            </p:txBody>
          </p:sp>
        </mc:Choice>
        <mc:Fallback>
          <p:sp>
            <p:nvSpPr>
              <p:cNvPr id="938" name="BLEU-N =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438" y="1972137"/>
                <a:ext cx="5485337" cy="1748309"/>
              </a:xfrm>
              <a:prstGeom prst="rect">
                <a:avLst/>
              </a:prstGeom>
              <a:blipFill>
                <a:blip r:embed="rId3"/>
                <a:stretch>
                  <a:fillRect l="-11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/>
          </a:p>
        </p:txBody>
      </p:sp>
      <p:grpSp>
        <p:nvGrpSpPr>
          <p:cNvPr id="942" name="Group"/>
          <p:cNvGrpSpPr/>
          <p:nvPr/>
        </p:nvGrpSpPr>
        <p:grpSpPr>
          <a:xfrm>
            <a:off x="14374096" y="1720793"/>
            <a:ext cx="4882903" cy="1151459"/>
            <a:chOff x="0" y="0"/>
            <a:chExt cx="4882901" cy="1151457"/>
          </a:xfrm>
        </p:grpSpPr>
        <p:sp>
          <p:nvSpPr>
            <p:cNvPr id="940" name="n-gram precision"/>
            <p:cNvSpPr txBox="1"/>
            <p:nvPr/>
          </p:nvSpPr>
          <p:spPr>
            <a:xfrm>
              <a:off x="338511" y="-1"/>
              <a:ext cx="4544392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n-gram precision </a:t>
              </a:r>
            </a:p>
          </p:txBody>
        </p:sp>
        <p:sp>
          <p:nvSpPr>
            <p:cNvPr id="941" name="Line"/>
            <p:cNvSpPr/>
            <p:nvPr/>
          </p:nvSpPr>
          <p:spPr>
            <a:xfrm flipH="1">
              <a:off x="0" y="682767"/>
              <a:ext cx="468691" cy="468691"/>
            </a:xfrm>
            <a:prstGeom prst="line">
              <a:avLst/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943" name="Example…"/>
          <p:cNvSpPr txBox="1"/>
          <p:nvPr/>
        </p:nvSpPr>
        <p:spPr>
          <a:xfrm>
            <a:off x="2312219" y="4661199"/>
            <a:ext cx="17443886" cy="655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>
            <a:normAutofit/>
          </a:bodyPr>
          <a:lstStyle/>
          <a:p>
            <a:pPr algn="l">
              <a:lnSpc>
                <a:spcPct val="120000"/>
              </a:lnSpc>
              <a:spcBef>
                <a:spcPts val="4200"/>
              </a:spcBef>
            </a:pPr>
            <a:r>
              <a:t>Example</a:t>
            </a:r>
          </a:p>
          <a:p>
            <a:pPr lvl="1" indent="635000" algn="l">
              <a:lnSpc>
                <a:spcPct val="120000"/>
              </a:lnSpc>
              <a:spcBef>
                <a:spcPts val="4200"/>
              </a:spcBef>
            </a:pPr>
            <a:r>
              <a:t>Reference: </a:t>
            </a:r>
            <a:r>
              <a:rPr>
                <a:solidFill>
                  <a:srgbClr val="5E5E5E"/>
                </a:solidFill>
              </a:rPr>
              <a:t>Vinay likes programming in Python</a:t>
            </a:r>
            <a:r>
              <a:t> </a:t>
            </a:r>
          </a:p>
        </p:txBody>
      </p:sp>
      <p:graphicFrame>
        <p:nvGraphicFramePr>
          <p:cNvPr id="944" name="Table 1"/>
          <p:cNvGraphicFramePr/>
          <p:nvPr/>
        </p:nvGraphicFramePr>
        <p:xfrm>
          <a:off x="2578861" y="7378768"/>
          <a:ext cx="20540158" cy="422021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337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06737">
                <a:tc>
                  <a:txBody>
                    <a:bodyPr/>
                    <a:lstStyle/>
                    <a:p>
                      <a:pPr defTabSz="914400"/>
                      <a:r>
                        <a:rPr sz="4400"/>
                        <a:t>Hypothesis/Candidate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400" i="1"/>
                      </a:pPr>
                      <a:r>
                        <a:t>p</a:t>
                      </a:r>
                      <a:r>
                        <a:rPr baseline="-5999"/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400" i="1"/>
                      </a:pPr>
                      <a:r>
                        <a:t>p</a:t>
                      </a:r>
                      <a:r>
                        <a:rPr baseline="-5999"/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400"/>
                        <a:t>BLEU-2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737">
                <a:tc>
                  <a:txBody>
                    <a:bodyPr/>
                    <a:lstStyle/>
                    <a:p>
                      <a:pPr defTabSz="914400"/>
                      <a:r>
                        <a:rPr sz="4400"/>
                        <a:t>Vinay likes Python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400"/>
                        <a:t>3/3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400"/>
                        <a:t>1/2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400"/>
                        <a:t>0.7071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6737">
                <a:tc>
                  <a:txBody>
                    <a:bodyPr/>
                    <a:lstStyle/>
                    <a:p>
                      <a:pPr defTabSz="914400"/>
                      <a:r>
                        <a:rPr sz="4400"/>
                        <a:t>To Vinay it like Python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400"/>
                        <a:t>2/5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400"/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400">
                          <a:solidFill>
                            <a:schemeClr val="accent5">
                              <a:lumOff val="-29866"/>
                            </a:schemeClr>
                          </a:solidFill>
                        </a:rPr>
                        <a:t>???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47" name="Group"/>
          <p:cNvGrpSpPr/>
          <p:nvPr/>
        </p:nvGrpSpPr>
        <p:grpSpPr>
          <a:xfrm>
            <a:off x="13043492" y="3765111"/>
            <a:ext cx="9434451" cy="1311099"/>
            <a:chOff x="0" y="0"/>
            <a:chExt cx="9434450" cy="1311097"/>
          </a:xfrm>
        </p:grpSpPr>
        <p:sp>
          <p:nvSpPr>
            <p:cNvPr id="945" name="Line"/>
            <p:cNvSpPr/>
            <p:nvPr/>
          </p:nvSpPr>
          <p:spPr>
            <a:xfrm flipH="1" flipV="1">
              <a:off x="-1" y="0"/>
              <a:ext cx="595595" cy="455571"/>
            </a:xfrm>
            <a:prstGeom prst="line">
              <a:avLst/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46" name="geometric mean over several values of n (up to N=4)"/>
            <p:cNvSpPr txBox="1"/>
            <p:nvPr/>
          </p:nvSpPr>
          <p:spPr>
            <a:xfrm>
              <a:off x="466661" y="88824"/>
              <a:ext cx="8967790" cy="12222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geometric mean over several values of n (up to N=4)</a:t>
              </a:r>
            </a:p>
          </p:txBody>
        </p:sp>
      </p:grpSp>
      <p:sp>
        <p:nvSpPr>
          <p:cNvPr id="948" name="https://www.aclweb.org/anthology/P02-1040.pdf"/>
          <p:cNvSpPr txBox="1"/>
          <p:nvPr/>
        </p:nvSpPr>
        <p:spPr>
          <a:xfrm>
            <a:off x="5681174" y="12212141"/>
            <a:ext cx="12360885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https://www.aclweb.org/anthology/P02-1040.pdf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7" grpId="0" animBg="1" advAuto="0"/>
      <p:bldP spid="942" grpId="0" animBg="1" advAuto="0"/>
      <p:bldP spid="943" grpId="0" build="p" animBg="1" advAuto="0"/>
      <p:bldP spid="944" grpId="0" animBg="1" advAuto="0"/>
      <p:bldP spid="947" grpId="0" animBg="1" advAuto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5391" y="8495590"/>
            <a:ext cx="6042859" cy="3200269"/>
          </a:xfrm>
          <a:prstGeom prst="rect">
            <a:avLst/>
          </a:prstGeom>
          <a:ln w="12700">
            <a:miter lim="400000"/>
          </a:ln>
        </p:spPr>
      </p:pic>
      <p:sp>
        <p:nvSpPr>
          <p:cNvPr id="953" name="BLEU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099113"/>
          </a:xfrm>
          <a:prstGeom prst="rect">
            <a:avLst/>
          </a:prstGeom>
        </p:spPr>
        <p:txBody>
          <a:bodyPr/>
          <a:lstStyle/>
          <a:p>
            <a:r>
              <a:t>BLEU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4" name="Two modifications: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949438" y="1972137"/>
                <a:ext cx="17824357" cy="10858150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0" indent="0" algn="ctr">
                  <a:lnSpc>
                    <a:spcPct val="80000"/>
                  </a:lnSpc>
                  <a:spcBef>
                    <a:spcPts val="4000"/>
                  </a:spcBef>
                  <a:buSzTx/>
                  <a:buNone/>
                </a:pPr>
                <a:endParaRPr/>
              </a:p>
              <a:p>
                <a:pPr marL="0" indent="0">
                  <a:lnSpc>
                    <a:spcPct val="100000"/>
                  </a:lnSpc>
                  <a:spcBef>
                    <a:spcPts val="3000"/>
                  </a:spcBef>
                  <a:buSzTx/>
                  <a:buNone/>
                </a:pPr>
                <a:r>
                  <a:t>Two modifications:</a:t>
                </a:r>
              </a:p>
              <a:p>
                <a:pPr lvl="1">
                  <a:spcBef>
                    <a:spcPts val="3000"/>
                  </a:spcBef>
                </a:pPr>
                <a:r>
                  <a:t>To avoid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t>, all precisions are smoothed</a:t>
                </a:r>
              </a:p>
              <a:p>
                <a:pPr lvl="1">
                  <a:spcBef>
                    <a:spcPts val="3000"/>
                  </a:spcBef>
                </a:pPr>
                <a:r>
                  <a:t>Each n-gram in reference can be used at most once</a:t>
                </a:r>
              </a:p>
              <a:p>
                <a:pPr lvl="2">
                  <a:spcBef>
                    <a:spcPts val="3000"/>
                  </a:spcBef>
                </a:pPr>
                <a:r>
                  <a:t>Ex. </a:t>
                </a:r>
                <a:r>
                  <a:rPr b="1"/>
                  <a:t>Hypothesis</a:t>
                </a:r>
                <a:r>
                  <a:t>: </a:t>
                </a:r>
                <a:r>
                  <a:rPr i="1"/>
                  <a:t>to to to to to</a:t>
                </a:r>
                <a:r>
                  <a:t>    vs </a:t>
                </a:r>
                <a:r>
                  <a:rPr b="1"/>
                  <a:t>Reference</a:t>
                </a:r>
                <a:r>
                  <a:t>: </a:t>
                </a:r>
                <a:r>
                  <a:rPr i="1"/>
                  <a:t>to be or not to be   </a:t>
                </a:r>
                <a:r>
                  <a:t>should not get a unigram precision of 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=2/5</m:t>
                    </m:r>
                  </m:oMath>
                </a14:m>
                <a:r>
                  <a:t>)</a:t>
                </a:r>
                <a:endParaRPr i="1"/>
              </a:p>
              <a:p>
                <a:pPr marL="0" indent="0">
                  <a:spcBef>
                    <a:spcPts val="3000"/>
                  </a:spcBef>
                  <a:buSzTx/>
                  <a:buNone/>
                </a:pPr>
                <a:r>
                  <a:t>Precision-based metrics favor short translations</a:t>
                </a:r>
              </a:p>
              <a:p>
                <a:pPr lvl="1">
                  <a:spcBef>
                    <a:spcPts val="3000"/>
                  </a:spcBef>
                </a:pPr>
                <a:r>
                  <a:t>Solution: Multiply score with a </a:t>
                </a:r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brevity penalty</a:t>
                </a:r>
                <a:r>
                  <a:t> for translations shorter than reference,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𝐵𝑃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t> </a:t>
                </a:r>
              </a:p>
            </p:txBody>
          </p:sp>
        </mc:Choice>
        <mc:Fallback>
          <p:sp>
            <p:nvSpPr>
              <p:cNvPr id="954" name="Two modifications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49438" y="1972137"/>
                <a:ext cx="17824357" cy="10858150"/>
              </a:xfrm>
              <a:prstGeom prst="rect">
                <a:avLst/>
              </a:prstGeom>
              <a:blipFill>
                <a:blip r:embed="rId4"/>
                <a:stretch>
                  <a:fillRect l="-1505" r="-2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5" name="BLEU-N ="/>
              <p:cNvSpPr txBox="1"/>
              <p:nvPr/>
            </p:nvSpPr>
            <p:spPr>
              <a:xfrm>
                <a:off x="2949438" y="1972137"/>
                <a:ext cx="5485337" cy="174830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/>
              <a:p>
                <a:pPr>
                  <a:defRPr sz="3200"/>
                </a:pPr>
                <a:r>
                  <a:t>BLEU-N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limUpp>
                      <m:limUpp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lim>
                    </m:limUpp>
                    <m:r>
                      <m:rPr>
                        <m:sty m:val="p"/>
                      </m:rP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/>
              </a:p>
            </p:txBody>
          </p:sp>
        </mc:Choice>
        <mc:Fallback>
          <p:sp>
            <p:nvSpPr>
              <p:cNvPr id="955" name="BLEU-N =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438" y="1972137"/>
                <a:ext cx="5485337" cy="1748309"/>
              </a:xfrm>
              <a:prstGeom prst="rect">
                <a:avLst/>
              </a:prstGeom>
              <a:blipFill>
                <a:blip r:embed="rId5"/>
                <a:stretch>
                  <a:fillRect l="-11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6" name="r = reference length, h = hypothesis length"/>
          <p:cNvSpPr txBox="1"/>
          <p:nvPr/>
        </p:nvSpPr>
        <p:spPr>
          <a:xfrm>
            <a:off x="13904103" y="12001600"/>
            <a:ext cx="9874124" cy="738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40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r = reference length, h = hypothesis length </a:t>
            </a:r>
          </a:p>
        </p:txBody>
      </p:sp>
      <p:sp>
        <p:nvSpPr>
          <p:cNvPr id="9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44</a:t>
            </a:fld>
            <a:endParaRPr/>
          </a:p>
        </p:txBody>
      </p:sp>
      <p:grpSp>
        <p:nvGrpSpPr>
          <p:cNvPr id="960" name="Group"/>
          <p:cNvGrpSpPr/>
          <p:nvPr/>
        </p:nvGrpSpPr>
        <p:grpSpPr>
          <a:xfrm>
            <a:off x="14374096" y="1720793"/>
            <a:ext cx="4882903" cy="1151459"/>
            <a:chOff x="0" y="0"/>
            <a:chExt cx="4882901" cy="1151457"/>
          </a:xfrm>
        </p:grpSpPr>
        <p:sp>
          <p:nvSpPr>
            <p:cNvPr id="958" name="n-gram precision"/>
            <p:cNvSpPr txBox="1"/>
            <p:nvPr/>
          </p:nvSpPr>
          <p:spPr>
            <a:xfrm>
              <a:off x="338511" y="-1"/>
              <a:ext cx="4544392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n-gram precision </a:t>
              </a:r>
            </a:p>
          </p:txBody>
        </p:sp>
        <p:sp>
          <p:nvSpPr>
            <p:cNvPr id="959" name="Line"/>
            <p:cNvSpPr/>
            <p:nvPr/>
          </p:nvSpPr>
          <p:spPr>
            <a:xfrm flipH="1">
              <a:off x="0" y="682767"/>
              <a:ext cx="468691" cy="468691"/>
            </a:xfrm>
            <a:prstGeom prst="line">
              <a:avLst/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963" name="Group"/>
          <p:cNvGrpSpPr/>
          <p:nvPr/>
        </p:nvGrpSpPr>
        <p:grpSpPr>
          <a:xfrm>
            <a:off x="13043492" y="3765111"/>
            <a:ext cx="9434451" cy="1311099"/>
            <a:chOff x="0" y="0"/>
            <a:chExt cx="9434450" cy="1311097"/>
          </a:xfrm>
        </p:grpSpPr>
        <p:sp>
          <p:nvSpPr>
            <p:cNvPr id="961" name="geometric mean over several values of n (up to N=4)"/>
            <p:cNvSpPr txBox="1"/>
            <p:nvPr/>
          </p:nvSpPr>
          <p:spPr>
            <a:xfrm>
              <a:off x="466661" y="88824"/>
              <a:ext cx="8967790" cy="12222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geometric mean over several values of n (up to N=4)</a:t>
              </a:r>
            </a:p>
          </p:txBody>
        </p:sp>
        <p:sp>
          <p:nvSpPr>
            <p:cNvPr id="962" name="Line"/>
            <p:cNvSpPr/>
            <p:nvPr/>
          </p:nvSpPr>
          <p:spPr>
            <a:xfrm flipH="1" flipV="1">
              <a:off x="-1" y="0"/>
              <a:ext cx="595595" cy="455571"/>
            </a:xfrm>
            <a:prstGeom prst="line">
              <a:avLst/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964" name="Various smoothing techniques…"/>
          <p:cNvSpPr txBox="1"/>
          <p:nvPr/>
        </p:nvSpPr>
        <p:spPr>
          <a:xfrm>
            <a:off x="15120015" y="5375936"/>
            <a:ext cx="6948196" cy="1222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600">
                <a:solidFill>
                  <a:srgbClr val="5E5E5E"/>
                </a:solidFill>
              </a:defRPr>
            </a:pPr>
            <a:r>
              <a:t>Various smoothing techniques </a:t>
            </a:r>
          </a:p>
          <a:p>
            <a:pPr>
              <a:defRPr sz="3600">
                <a:solidFill>
                  <a:srgbClr val="5E5E5E"/>
                </a:solidFill>
              </a:defRPr>
            </a:pPr>
            <a:r>
              <a:t>add 1 to numerator/denominator </a:t>
            </a:r>
          </a:p>
        </p:txBody>
      </p:sp>
      <p:grpSp>
        <p:nvGrpSpPr>
          <p:cNvPr id="967" name="Group"/>
          <p:cNvGrpSpPr/>
          <p:nvPr/>
        </p:nvGrpSpPr>
        <p:grpSpPr>
          <a:xfrm>
            <a:off x="14535272" y="9203887"/>
            <a:ext cx="2950440" cy="938011"/>
            <a:chOff x="0" y="0"/>
            <a:chExt cx="2950438" cy="938009"/>
          </a:xfrm>
        </p:grpSpPr>
        <p:sp>
          <p:nvSpPr>
            <p:cNvPr id="965" name="clipped count"/>
            <p:cNvSpPr txBox="1"/>
            <p:nvPr/>
          </p:nvSpPr>
          <p:spPr>
            <a:xfrm>
              <a:off x="-1" y="261835"/>
              <a:ext cx="2950440" cy="6761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clipped count</a:t>
              </a:r>
            </a:p>
          </p:txBody>
        </p:sp>
        <p:sp>
          <p:nvSpPr>
            <p:cNvPr id="966" name="Line"/>
            <p:cNvSpPr/>
            <p:nvPr/>
          </p:nvSpPr>
          <p:spPr>
            <a:xfrm flipV="1">
              <a:off x="1624543" y="-1"/>
              <a:ext cx="1" cy="477672"/>
            </a:xfrm>
            <a:prstGeom prst="line">
              <a:avLst/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9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9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9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9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" grpId="0" animBg="1" advAuto="0"/>
      <p:bldP spid="954" grpId="0" build="p" bldLvl="5" animBg="1" advAuto="0"/>
      <p:bldP spid="956" grpId="0" animBg="1" advAuto="0"/>
      <p:bldP spid="960" grpId="0" animBg="1" advAuto="0"/>
      <p:bldP spid="963" grpId="0" animBg="1" advAuto="0"/>
      <p:bldP spid="964" grpId="0" animBg="1" advAuto="0"/>
      <p:bldP spid="967" grpId="0" animBg="1" advAuto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BLEU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BLEU</a:t>
            </a:r>
          </a:p>
        </p:txBody>
      </p:sp>
      <p:sp>
        <p:nvSpPr>
          <p:cNvPr id="972" name="Correlates somewhat well with human judgements"/>
          <p:cNvSpPr txBox="1">
            <a:spLocks noGrp="1"/>
          </p:cNvSpPr>
          <p:nvPr>
            <p:ph type="body" sz="quarter" idx="1"/>
          </p:nvPr>
        </p:nvSpPr>
        <p:spPr>
          <a:xfrm>
            <a:off x="4387453" y="2756312"/>
            <a:ext cx="15609094" cy="965641"/>
          </a:xfrm>
          <a:prstGeom prst="rect">
            <a:avLst/>
          </a:prstGeom>
        </p:spPr>
        <p:txBody>
          <a:bodyPr anchor="t"/>
          <a:lstStyle/>
          <a:p>
            <a:r>
              <a:t>Correlates somewhat well with human judgements</a:t>
            </a:r>
          </a:p>
        </p:txBody>
      </p:sp>
      <p:pic>
        <p:nvPicPr>
          <p:cNvPr id="9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732" y="3682382"/>
            <a:ext cx="10719219" cy="9722082"/>
          </a:xfrm>
          <a:prstGeom prst="rect">
            <a:avLst/>
          </a:prstGeom>
          <a:ln w="12700">
            <a:miter lim="400000"/>
          </a:ln>
        </p:spPr>
      </p:pic>
      <p:sp>
        <p:nvSpPr>
          <p:cNvPr id="974" name="(G. Doddington, NIST)"/>
          <p:cNvSpPr txBox="1"/>
          <p:nvPr/>
        </p:nvSpPr>
        <p:spPr>
          <a:xfrm>
            <a:off x="16424551" y="12583365"/>
            <a:ext cx="4159836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(G. Doddington, NIST)</a:t>
            </a:r>
          </a:p>
        </p:txBody>
      </p:sp>
      <p:sp>
        <p:nvSpPr>
          <p:cNvPr id="9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45</a:t>
            </a:fld>
            <a:endParaRPr/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BLEU scores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1670150"/>
          </a:xfrm>
          <a:prstGeom prst="rect">
            <a:avLst/>
          </a:prstGeom>
        </p:spPr>
        <p:txBody>
          <a:bodyPr/>
          <a:lstStyle/>
          <a:p>
            <a:r>
              <a:t>BLEU scores</a:t>
            </a:r>
          </a:p>
        </p:txBody>
      </p:sp>
      <p:pic>
        <p:nvPicPr>
          <p:cNvPr id="978" name="Screen Shot 2019-11-06 at 10.59.03 AM.png" descr="Screen Shot 2019-11-06 at 10.59.03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811" y="2829726"/>
            <a:ext cx="16138377" cy="4500637"/>
          </a:xfrm>
          <a:prstGeom prst="rect">
            <a:avLst/>
          </a:prstGeom>
          <a:ln w="12700">
            <a:miter lim="400000"/>
          </a:ln>
        </p:spPr>
      </p:pic>
      <p:sp>
        <p:nvSpPr>
          <p:cNvPr id="979" name="Sample BLEU scores for various system outputs"/>
          <p:cNvSpPr txBox="1"/>
          <p:nvPr/>
        </p:nvSpPr>
        <p:spPr>
          <a:xfrm>
            <a:off x="4587362" y="2322872"/>
            <a:ext cx="12244655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Sample BLEU scores for various system outputs</a:t>
            </a:r>
          </a:p>
        </p:txBody>
      </p:sp>
      <p:sp>
        <p:nvSpPr>
          <p:cNvPr id="980" name="Alternatives have been proposed:…"/>
          <p:cNvSpPr txBox="1">
            <a:spLocks noGrp="1"/>
          </p:cNvSpPr>
          <p:nvPr>
            <p:ph type="body" sz="quarter" idx="1"/>
          </p:nvPr>
        </p:nvSpPr>
        <p:spPr>
          <a:xfrm>
            <a:off x="2102224" y="8705719"/>
            <a:ext cx="15893205" cy="4134525"/>
          </a:xfrm>
          <a:prstGeom prst="rect">
            <a:avLst/>
          </a:prstGeom>
        </p:spPr>
        <p:txBody>
          <a:bodyPr anchor="t">
            <a:normAutofit lnSpcReduction="10000"/>
          </a:bodyPr>
          <a:lstStyle/>
          <a:p>
            <a:pPr marL="598963" indent="-598963" defTabSz="805100">
              <a:spcBef>
                <a:spcPts val="4100"/>
              </a:spcBef>
              <a:defRPr sz="4312"/>
            </a:pPr>
            <a:r>
              <a:t>Alternatives have been proposed:</a:t>
            </a:r>
          </a:p>
          <a:p>
            <a:pPr marL="1034573" lvl="1" indent="-598963" defTabSz="805100">
              <a:spcBef>
                <a:spcPts val="4100"/>
              </a:spcBef>
              <a:defRPr sz="4312"/>
            </a:pPr>
            <a:r>
              <a:rPr>
                <a:solidFill>
                  <a:schemeClr val="accent1">
                    <a:lumOff val="-13575"/>
                  </a:schemeClr>
                </a:solidFill>
              </a:rPr>
              <a:t>METEOR</a:t>
            </a:r>
            <a:r>
              <a:t>: weighted F-measure</a:t>
            </a:r>
          </a:p>
          <a:p>
            <a:pPr marL="1034573" lvl="1" indent="-598963" defTabSz="805100">
              <a:spcBef>
                <a:spcPts val="4100"/>
              </a:spcBef>
              <a:defRPr sz="4312"/>
            </a:pPr>
            <a:r>
              <a:t>Translation Error Rate (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TER</a:t>
            </a:r>
            <a:r>
              <a:t>): Edit distance between hypothesis and reference</a:t>
            </a:r>
          </a:p>
        </p:txBody>
      </p:sp>
      <p:sp>
        <p:nvSpPr>
          <p:cNvPr id="981" name="Issues?"/>
          <p:cNvSpPr txBox="1"/>
          <p:nvPr/>
        </p:nvSpPr>
        <p:spPr>
          <a:xfrm>
            <a:off x="16147581" y="8091301"/>
            <a:ext cx="2183462" cy="812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b="1"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r>
              <a:t>Issues?</a:t>
            </a:r>
          </a:p>
        </p:txBody>
      </p:sp>
      <p:sp>
        <p:nvSpPr>
          <p:cNvPr id="9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46</a:t>
            </a:fld>
            <a:endParaRPr/>
          </a:p>
        </p:txBody>
      </p:sp>
      <p:sp>
        <p:nvSpPr>
          <p:cNvPr id="983" name="Length…"/>
          <p:cNvSpPr txBox="1"/>
          <p:nvPr/>
        </p:nvSpPr>
        <p:spPr>
          <a:xfrm>
            <a:off x="2520225" y="3253568"/>
            <a:ext cx="1727328" cy="365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lnSpc>
                <a:spcPct val="120000"/>
              </a:lnSpc>
              <a:defRPr sz="4000">
                <a:solidFill>
                  <a:srgbClr val="5E5E5E"/>
                </a:solidFill>
              </a:defRPr>
            </a:pPr>
            <a:r>
              <a:t>Length</a:t>
            </a:r>
          </a:p>
          <a:p>
            <a:pPr>
              <a:lnSpc>
                <a:spcPct val="120000"/>
              </a:lnSpc>
              <a:defRPr sz="4000">
                <a:solidFill>
                  <a:srgbClr val="5E5E5E"/>
                </a:solidFill>
              </a:defRPr>
            </a:pPr>
            <a:r>
              <a:t>5</a:t>
            </a:r>
          </a:p>
          <a:p>
            <a:pPr>
              <a:lnSpc>
                <a:spcPct val="120000"/>
              </a:lnSpc>
              <a:defRPr sz="4000">
                <a:solidFill>
                  <a:srgbClr val="5E5E5E"/>
                </a:solidFill>
              </a:defRPr>
            </a:pPr>
            <a:r>
              <a:t>7</a:t>
            </a:r>
          </a:p>
          <a:p>
            <a:pPr>
              <a:lnSpc>
                <a:spcPct val="120000"/>
              </a:lnSpc>
              <a:defRPr sz="4000">
                <a:solidFill>
                  <a:srgbClr val="5E5E5E"/>
                </a:solidFill>
              </a:defRPr>
            </a:pPr>
            <a:r>
              <a:t>3</a:t>
            </a:r>
          </a:p>
          <a:p>
            <a:pPr>
              <a:lnSpc>
                <a:spcPct val="120000"/>
              </a:lnSpc>
              <a:defRPr sz="4000">
                <a:solidFill>
                  <a:srgbClr val="5E5E5E"/>
                </a:solidFill>
              </a:defRPr>
            </a:pPr>
            <a:r>
              <a:t>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4" name="Equation"/>
              <p:cNvSpPr txBox="1"/>
              <p:nvPr/>
            </p:nvSpPr>
            <p:spPr>
              <a:xfrm>
                <a:off x="18213463" y="2474466"/>
                <a:ext cx="2582532" cy="48444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𝐵𝑃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</m:oMath>
                  </m:oMathPara>
                </a14:m>
                <a:endParaRPr sz="4400"/>
              </a:p>
            </p:txBody>
          </p:sp>
        </mc:Choice>
        <mc:Fallback>
          <p:sp>
            <p:nvSpPr>
              <p:cNvPr id="98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3463" y="2474466"/>
                <a:ext cx="2582532" cy="484442"/>
              </a:xfrm>
              <a:prstGeom prst="rect">
                <a:avLst/>
              </a:prstGeom>
              <a:blipFill>
                <a:blip r:embed="rId4"/>
                <a:stretch>
                  <a:fillRect r="-14894" b="-1898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5" name="Rectangle"/>
          <p:cNvSpPr/>
          <p:nvPr/>
        </p:nvSpPr>
        <p:spPr>
          <a:xfrm>
            <a:off x="4576631" y="6197600"/>
            <a:ext cx="15402515" cy="642776"/>
          </a:xfrm>
          <a:prstGeom prst="rect">
            <a:avLst/>
          </a:prstGeom>
          <a:ln w="508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986" name="Number is not that meaningful (BLEU will be higher for some language than others)…"/>
          <p:cNvSpPr txBox="1"/>
          <p:nvPr/>
        </p:nvSpPr>
        <p:spPr>
          <a:xfrm>
            <a:off x="16045851" y="8820006"/>
            <a:ext cx="8142013" cy="4498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500062" indent="-500062" algn="l">
              <a:buSzPct val="145000"/>
              <a:buChar char="•"/>
              <a:defRPr sz="3600">
                <a:solidFill>
                  <a:srgbClr val="5E5E5E"/>
                </a:solidFill>
              </a:defRPr>
            </a:pPr>
            <a:r>
              <a:t>Number is not that meaningful (BLEU will be higher for some language than others)</a:t>
            </a:r>
          </a:p>
          <a:p>
            <a:pPr marL="500062" indent="-500062" algn="l">
              <a:buSzPct val="145000"/>
              <a:buChar char="•"/>
              <a:defRPr sz="3600">
                <a:solidFill>
                  <a:srgbClr val="5E5E5E"/>
                </a:solidFill>
              </a:defRPr>
            </a:pPr>
            <a:r>
              <a:t>Does not account for different word choices (synonyms)</a:t>
            </a:r>
          </a:p>
          <a:p>
            <a:pPr marL="500062" indent="-500062" algn="l">
              <a:buSzPct val="145000"/>
              <a:buChar char="•"/>
              <a:defRPr sz="3600">
                <a:solidFill>
                  <a:srgbClr val="5E5E5E"/>
                </a:solidFill>
              </a:defRPr>
            </a:pPr>
            <a:r>
              <a:t>Does not account for morphology</a:t>
            </a:r>
          </a:p>
          <a:p>
            <a:pPr marL="500062" indent="-500062" algn="l">
              <a:buSzPct val="145000"/>
              <a:buChar char="•"/>
              <a:defRPr sz="3600">
                <a:solidFill>
                  <a:srgbClr val="5E5E5E"/>
                </a:solidFill>
              </a:defRPr>
            </a:pPr>
            <a:r>
              <a:t>Does not penalize omitting important words</a:t>
            </a:r>
          </a:p>
        </p:txBody>
      </p:sp>
      <p:sp>
        <p:nvSpPr>
          <p:cNvPr id="987" name="Example from: https://github.com/jacobeisenstein/gt-nlp-class/tree/master/notes"/>
          <p:cNvSpPr txBox="1"/>
          <p:nvPr/>
        </p:nvSpPr>
        <p:spPr>
          <a:xfrm>
            <a:off x="1801410" y="7171490"/>
            <a:ext cx="20952958" cy="614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200">
                <a:solidFill>
                  <a:srgbClr val="5E5E5E"/>
                </a:solidFill>
              </a:defRPr>
            </a:lvl1pPr>
          </a:lstStyle>
          <a:p>
            <a:r>
              <a:t>Example from: https://github.com/jacobeisenstein/gt-nlp-class/tree/master/notes</a:t>
            </a:r>
          </a:p>
        </p:txBody>
      </p:sp>
      <p:sp>
        <p:nvSpPr>
          <p:cNvPr id="988" name="https://www.nltk.org/_modules/nltk/translate/bleu_score.html"/>
          <p:cNvSpPr txBox="1"/>
          <p:nvPr/>
        </p:nvSpPr>
        <p:spPr>
          <a:xfrm>
            <a:off x="6786087" y="1458212"/>
            <a:ext cx="11245825" cy="614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>
                <a:solidFill>
                  <a:srgbClr val="929292"/>
                </a:solidFill>
              </a:defRPr>
            </a:lvl1pPr>
          </a:lstStyle>
          <a:p>
            <a:r>
              <a:t>https://www.nltk.org/_modules/nltk/translate/bleu_score.html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" grpId="0" animBg="1" advAuto="0"/>
      <p:bldP spid="981" grpId="0" animBg="1" advAuto="0"/>
      <p:bldP spid="986" grpId="0" animBg="1" advAuto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Screen Shot 2020-03-09 at 4.15.21 PM.png" descr="Screen Shot 2020-03-09 at 4.15.21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520" y="839072"/>
            <a:ext cx="17736569" cy="11497576"/>
          </a:xfrm>
          <a:prstGeom prst="rect">
            <a:avLst/>
          </a:prstGeom>
          <a:ln w="12700">
            <a:miter lim="400000"/>
          </a:ln>
        </p:spPr>
      </p:pic>
      <p:sp>
        <p:nvSpPr>
          <p:cNvPr id="993" name="Re-evaluating Automatic Metrics for Image Captioning…"/>
          <p:cNvSpPr txBox="1"/>
          <p:nvPr/>
        </p:nvSpPr>
        <p:spPr>
          <a:xfrm>
            <a:off x="14368056" y="12498123"/>
            <a:ext cx="10016059" cy="10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r" defTabSz="457200">
              <a:lnSpc>
                <a:spcPts val="5200"/>
              </a:lnSpc>
              <a:defRPr sz="3200">
                <a:solidFill>
                  <a:srgbClr val="5E5E5E"/>
                </a:solidFill>
              </a:defRPr>
            </a:pPr>
            <a:r>
              <a:t>Re-evaluating Automatic Metrics for Image Captioning</a:t>
            </a:r>
          </a:p>
          <a:p>
            <a:pPr algn="r" defTabSz="457200">
              <a:lnSpc>
                <a:spcPts val="5200"/>
              </a:lnSpc>
              <a:defRPr sz="3200">
                <a:solidFill>
                  <a:srgbClr val="5E5E5E"/>
                </a:solidFill>
              </a:defRPr>
            </a:pPr>
            <a:r>
              <a:t>[Kilickaya et al, EACL 2017]</a:t>
            </a:r>
          </a:p>
        </p:txBody>
      </p:sp>
      <p:sp>
        <p:nvSpPr>
          <p:cNvPr id="994" name="BLEU useful despite issues…"/>
          <p:cNvSpPr txBox="1"/>
          <p:nvPr/>
        </p:nvSpPr>
        <p:spPr>
          <a:xfrm>
            <a:off x="470290" y="452877"/>
            <a:ext cx="6965671" cy="3429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BLEU useful despite issues</a:t>
            </a:r>
          </a:p>
          <a:p>
            <a:pPr marL="611187" indent="-611187" algn="l">
              <a:buSzPct val="145000"/>
              <a:buChar char="-"/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easy to compute</a:t>
            </a:r>
          </a:p>
          <a:p>
            <a:pPr marL="611187" indent="-611187" algn="l">
              <a:buSzPct val="145000"/>
              <a:buChar char="-"/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automated</a:t>
            </a:r>
          </a:p>
          <a:p>
            <a:pPr marL="611187" indent="-611187" algn="l">
              <a:buSzPct val="145000"/>
              <a:buChar char="-"/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consistent</a:t>
            </a:r>
          </a:p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 </a:t>
            </a:r>
          </a:p>
        </p:txBody>
      </p:sp>
      <p:sp>
        <p:nvSpPr>
          <p:cNvPr id="99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47</a:t>
            </a:fld>
            <a:endParaRPr/>
          </a:p>
        </p:txBody>
      </p:sp>
      <p:sp>
        <p:nvSpPr>
          <p:cNvPr id="996" name="Minor note about &lt;UNK&gt; Make sure you compare against the original reference…"/>
          <p:cNvSpPr txBox="1"/>
          <p:nvPr/>
        </p:nvSpPr>
        <p:spPr>
          <a:xfrm>
            <a:off x="286346" y="11786476"/>
            <a:ext cx="11105516" cy="1768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600">
                <a:solidFill>
                  <a:srgbClr val="5E5E5E"/>
                </a:solidFill>
              </a:defRPr>
            </a:pPr>
            <a:r>
              <a:t>Minor note about &lt;UNK&gt;</a:t>
            </a:r>
            <a:br/>
            <a:r>
              <a:t>Make sure you compare against the original reference</a:t>
            </a:r>
          </a:p>
          <a:p>
            <a:pPr>
              <a:defRPr sz="3600">
                <a:solidFill>
                  <a:srgbClr val="5E5E5E"/>
                </a:solidFill>
              </a:defRPr>
            </a:pPr>
            <a:r>
              <a:t>(Don’t have &lt;UNK&gt;s in your reference)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4" grpId="0" animBg="1" advAuto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Sequence to sequence models with attention"/>
          <p:cNvSpPr txBox="1">
            <a:spLocks noGrp="1"/>
          </p:cNvSpPr>
          <p:nvPr>
            <p:ph type="title"/>
          </p:nvPr>
        </p:nvSpPr>
        <p:spPr>
          <a:xfrm>
            <a:off x="4214243" y="4860625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Sequence to sequence models with attention</a:t>
            </a:r>
          </a:p>
        </p:txBody>
      </p:sp>
      <p:sp>
        <p:nvSpPr>
          <p:cNvPr id="99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48</a:t>
            </a:fld>
            <a:endParaRPr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Issues with vanilla seq2seq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Issues with vanilla seq2seq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4" name="A single encoding vector,  , needs to capture all the information about source sentence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8615759"/>
                <a:ext cx="15609094" cy="4180970"/>
              </a:xfrm>
              <a:prstGeom prst="rect">
                <a:avLst/>
              </a:prstGeom>
            </p:spPr>
            <p:txBody>
              <a:bodyPr anchor="t">
                <a:normAutofit lnSpcReduction="10000"/>
              </a:bodyPr>
              <a:lstStyle/>
              <a:p>
                <a:pPr marL="574516" indent="-574516" defTabSz="772239">
                  <a:spcBef>
                    <a:spcPts val="3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36"/>
                </a:pPr>
                <a:r>
                  <a:t>A single encoding vector,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5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p>
                  </m:oMath>
                </a14:m>
                <a:r>
                  <a:t>, needs to capture </a:t>
                </a:r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all the information</a:t>
                </a:r>
                <a:r>
                  <a:t> about source sentence</a:t>
                </a:r>
              </a:p>
              <a:p>
                <a:pPr marL="574516" indent="-574516" defTabSz="772239">
                  <a:spcBef>
                    <a:spcPts val="3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36"/>
                </a:pPr>
                <a:r>
                  <a:t>Longer sequences can lead to vanishing gradients</a:t>
                </a:r>
              </a:p>
              <a:p>
                <a:pPr marL="574516" indent="-574516" defTabSz="772239">
                  <a:spcBef>
                    <a:spcPts val="3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36"/>
                </a:pPr>
                <a:r>
                  <a:t>Overfitting</a:t>
                </a:r>
              </a:p>
            </p:txBody>
          </p:sp>
        </mc:Choice>
        <mc:Fallback>
          <p:sp>
            <p:nvSpPr>
              <p:cNvPr id="1004" name="A single encoding vector,  , needs to capture all the information about source sentenc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8615759"/>
                <a:ext cx="15609094" cy="4180970"/>
              </a:xfrm>
              <a:prstGeom prst="rect">
                <a:avLst/>
              </a:prstGeom>
              <a:blipFill>
                <a:blip r:embed="rId2"/>
                <a:stretch>
                  <a:fillRect l="-6055" t="-24927" b="-34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0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011" y="2586640"/>
            <a:ext cx="17857979" cy="5058484"/>
          </a:xfrm>
          <a:prstGeom prst="rect">
            <a:avLst/>
          </a:prstGeom>
          <a:ln w="12700">
            <a:miter lim="400000"/>
          </a:ln>
        </p:spPr>
      </p:pic>
      <p:sp>
        <p:nvSpPr>
          <p:cNvPr id="1006" name="Bottleneck"/>
          <p:cNvSpPr txBox="1"/>
          <p:nvPr/>
        </p:nvSpPr>
        <p:spPr>
          <a:xfrm>
            <a:off x="7460381" y="2657293"/>
            <a:ext cx="3547843" cy="7876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r>
              <a:t>Bottleneck</a:t>
            </a:r>
          </a:p>
        </p:txBody>
      </p:sp>
      <p:sp>
        <p:nvSpPr>
          <p:cNvPr id="10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49</a:t>
            </a:fld>
            <a:endParaRPr/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Issues with vanilla seq2seq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Issues with vanilla seq2seq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0" name="A single encoding vector,  , needs to capture all the information about source sentence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8615759"/>
                <a:ext cx="15609094" cy="4180970"/>
              </a:xfrm>
              <a:prstGeom prst="rect">
                <a:avLst/>
              </a:prstGeom>
            </p:spPr>
            <p:txBody>
              <a:bodyPr anchor="t">
                <a:normAutofit lnSpcReduction="10000"/>
              </a:bodyPr>
              <a:lstStyle/>
              <a:p>
                <a:pPr marL="574516" indent="-574516" defTabSz="772239">
                  <a:spcBef>
                    <a:spcPts val="3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36"/>
                </a:pPr>
                <a:r>
                  <a:t>A single encoding vector,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5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p>
                  </m:oMath>
                </a14:m>
                <a:r>
                  <a:t>, needs to capture </a:t>
                </a:r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all the information</a:t>
                </a:r>
                <a:r>
                  <a:t> about source sentence</a:t>
                </a:r>
              </a:p>
              <a:p>
                <a:pPr marL="574516" indent="-574516" defTabSz="772239">
                  <a:spcBef>
                    <a:spcPts val="3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36" b="1">
                    <a:solidFill>
                      <a:schemeClr val="accent1">
                        <a:lumOff val="-13575"/>
                      </a:schemeClr>
                    </a:solidFill>
                  </a:defRPr>
                </a:pPr>
                <a:r>
                  <a:t>Longer sequences can lead to vanishing gradients</a:t>
                </a:r>
              </a:p>
              <a:p>
                <a:pPr marL="574516" indent="-574516" defTabSz="772239">
                  <a:spcBef>
                    <a:spcPts val="3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36"/>
                </a:pPr>
                <a:r>
                  <a:t>Overfitting</a:t>
                </a:r>
              </a:p>
            </p:txBody>
          </p:sp>
        </mc:Choice>
        <mc:Fallback>
          <p:sp>
            <p:nvSpPr>
              <p:cNvPr id="1010" name="A single encoding vector,  , needs to capture all the information about source sentenc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8615759"/>
                <a:ext cx="15609094" cy="4180970"/>
              </a:xfrm>
              <a:prstGeom prst="rect">
                <a:avLst/>
              </a:prstGeom>
              <a:blipFill>
                <a:blip r:embed="rId2"/>
                <a:stretch>
                  <a:fillRect l="-6055" t="-24927" b="-34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1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011" y="2586640"/>
            <a:ext cx="17857979" cy="5058484"/>
          </a:xfrm>
          <a:prstGeom prst="rect">
            <a:avLst/>
          </a:prstGeom>
          <a:ln w="12700">
            <a:miter lim="400000"/>
          </a:ln>
        </p:spPr>
      </p:pic>
      <p:sp>
        <p:nvSpPr>
          <p:cNvPr id="1012" name="Bottleneck"/>
          <p:cNvSpPr txBox="1"/>
          <p:nvPr/>
        </p:nvSpPr>
        <p:spPr>
          <a:xfrm>
            <a:off x="7460381" y="2657293"/>
            <a:ext cx="3547843" cy="7876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r>
              <a:t>Bottleneck</a:t>
            </a:r>
          </a:p>
        </p:txBody>
      </p:sp>
      <p:sp>
        <p:nvSpPr>
          <p:cNvPr id="10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50</a:t>
            </a:fld>
            <a:endParaRPr/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6" name="The neural MT equivalent of alignment models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387453" y="3135994"/>
                <a:ext cx="15609094" cy="8739065"/>
              </a:xfrm>
              <a:prstGeom prst="rect">
                <a:avLst/>
              </a:prstGeom>
            </p:spPr>
            <p:txBody>
              <a:bodyPr anchor="t"/>
              <a:lstStyle/>
              <a:p>
                <a:pPr>
                  <a:buClr>
                    <a:schemeClr val="accent1">
                      <a:lumOff val="-13575"/>
                    </a:schemeClr>
                  </a:buClr>
                  <a:buChar char="‣"/>
                </a:pPr>
                <a:r>
                  <a:t>The neural MT equivalent of alignment models</a:t>
                </a:r>
              </a:p>
              <a:p>
                <a:pPr>
                  <a:buClr>
                    <a:schemeClr val="accent1">
                      <a:lumOff val="-13575"/>
                    </a:schemeClr>
                  </a:buClr>
                  <a:buChar char="‣"/>
                </a:pPr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Key idea:</a:t>
                </a:r>
                <a:r>
                  <a:t> At each time step during decoding, </a:t>
                </a:r>
                <a:r>
                  <a:rPr b="1"/>
                  <a:t>focus on a particular part</a:t>
                </a:r>
                <a:r>
                  <a:t> of source sentence</a:t>
                </a:r>
              </a:p>
              <a:p>
                <a:pPr lvl="1">
                  <a:buClr>
                    <a:schemeClr val="accent1">
                      <a:lumOff val="-13575"/>
                    </a:schemeClr>
                  </a:buClr>
                  <a:buChar char="‣"/>
                </a:pPr>
                <a:r>
                  <a:t>This depends on the </a:t>
                </a:r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decoder’s current hidden state</a:t>
                </a:r>
                <a:r>
                  <a:t> (i.e. notion of what you are trying to decode)</a:t>
                </a:r>
              </a:p>
              <a:p>
                <a:pPr lvl="1">
                  <a:buClr>
                    <a:schemeClr val="accent1">
                      <a:lumOff val="-13575"/>
                    </a:schemeClr>
                  </a:buClr>
                  <a:buChar char="‣"/>
                </a:pPr>
                <a:r>
                  <a:t>Usually implemented as a </a:t>
                </a:r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probability</a:t>
                </a:r>
                <a:r>
                  <a:t> distribution over the </a:t>
                </a:r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hidden states of the encoder</a:t>
                </a:r>
                <a:r>
                  <a:t> (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sz="5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bSup>
                  </m:oMath>
                </a14:m>
                <a:r>
                  <a:t> )</a:t>
                </a:r>
              </a:p>
            </p:txBody>
          </p:sp>
        </mc:Choice>
        <mc:Fallback>
          <p:sp>
            <p:nvSpPr>
              <p:cNvPr id="1016" name="The neural MT equivalent of alignment model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87453" y="3135994"/>
                <a:ext cx="15609094" cy="8739065"/>
              </a:xfrm>
              <a:prstGeom prst="rect">
                <a:avLst/>
              </a:prstGeom>
              <a:blipFill>
                <a:blip r:embed="rId2"/>
                <a:stretch>
                  <a:fillRect l="-6484" t="-13529" r="-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51</a:t>
            </a:fld>
            <a:endParaRPr/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Seq2seq with 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Seq2seq with attention</a:t>
            </a:r>
          </a:p>
        </p:txBody>
      </p:sp>
      <p:pic>
        <p:nvPicPr>
          <p:cNvPr id="1020" name="Screen Shot 2019-11-12 at 7.11.09 AM.jpg" descr="Screen Shot 2019-11-12 at 7.11.09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929" y="2825984"/>
            <a:ext cx="15984142" cy="9572626"/>
          </a:xfrm>
          <a:prstGeom prst="rect">
            <a:avLst/>
          </a:prstGeom>
          <a:ln w="12700">
            <a:miter lim="400000"/>
          </a:ln>
        </p:spPr>
      </p:pic>
      <p:sp>
        <p:nvSpPr>
          <p:cNvPr id="1021" name="Rectangle"/>
          <p:cNvSpPr/>
          <p:nvPr/>
        </p:nvSpPr>
        <p:spPr>
          <a:xfrm>
            <a:off x="4646988" y="11535898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22" name="(slide credit: Abigail See)"/>
          <p:cNvSpPr txBox="1"/>
          <p:nvPr/>
        </p:nvSpPr>
        <p:spPr>
          <a:xfrm>
            <a:off x="16439337" y="12779257"/>
            <a:ext cx="4603624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(slide credit: Abigail See)</a:t>
            </a:r>
          </a:p>
        </p:txBody>
      </p:sp>
      <p:sp>
        <p:nvSpPr>
          <p:cNvPr id="10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52</a:t>
            </a:fld>
            <a:endParaRPr/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Seq2seq with 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Seq2seq with attention</a:t>
            </a:r>
          </a:p>
        </p:txBody>
      </p:sp>
      <p:pic>
        <p:nvPicPr>
          <p:cNvPr id="1026" name="Screen Shot 2019-11-12 at 7.11.54 AM.jpg" descr="Screen Shot 2019-11-12 at 7.11.54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292" y="2396347"/>
            <a:ext cx="16019861" cy="9840516"/>
          </a:xfrm>
          <a:prstGeom prst="rect">
            <a:avLst/>
          </a:prstGeom>
          <a:ln w="12700">
            <a:miter lim="400000"/>
          </a:ln>
        </p:spPr>
      </p:pic>
      <p:sp>
        <p:nvSpPr>
          <p:cNvPr id="1027" name="Rectangle"/>
          <p:cNvSpPr/>
          <p:nvPr/>
        </p:nvSpPr>
        <p:spPr>
          <a:xfrm>
            <a:off x="4646988" y="11535898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28" name="(slide credit: Abigail See)"/>
          <p:cNvSpPr txBox="1"/>
          <p:nvPr/>
        </p:nvSpPr>
        <p:spPr>
          <a:xfrm>
            <a:off x="16439337" y="12761397"/>
            <a:ext cx="4603624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(slide credit: Abigail See)</a:t>
            </a:r>
          </a:p>
        </p:txBody>
      </p:sp>
      <p:sp>
        <p:nvSpPr>
          <p:cNvPr id="10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53</a:t>
            </a:fld>
            <a:endParaRPr/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Seq2seq with 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Seq2seq with attention</a:t>
            </a:r>
          </a:p>
        </p:txBody>
      </p:sp>
      <p:pic>
        <p:nvPicPr>
          <p:cNvPr id="1032" name="Screen Shot 2019-11-12 at 7.12.13 AM.jpg" descr="Screen Shot 2019-11-12 at 7.12.13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574" y="2768203"/>
            <a:ext cx="15948423" cy="10251282"/>
          </a:xfrm>
          <a:prstGeom prst="rect">
            <a:avLst/>
          </a:prstGeom>
          <a:ln w="12700">
            <a:miter lim="400000"/>
          </a:ln>
        </p:spPr>
      </p:pic>
      <p:sp>
        <p:nvSpPr>
          <p:cNvPr id="1033" name="Rectangle"/>
          <p:cNvSpPr/>
          <p:nvPr/>
        </p:nvSpPr>
        <p:spPr>
          <a:xfrm>
            <a:off x="4687061" y="12177059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34" name="(slide credit: Abigail See)"/>
          <p:cNvSpPr txBox="1"/>
          <p:nvPr/>
        </p:nvSpPr>
        <p:spPr>
          <a:xfrm>
            <a:off x="16439337" y="12761397"/>
            <a:ext cx="4603624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(slide credit: Abigail See)</a:t>
            </a:r>
          </a:p>
        </p:txBody>
      </p:sp>
      <p:sp>
        <p:nvSpPr>
          <p:cNvPr id="10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54</a:t>
            </a:fld>
            <a:endParaRPr/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Seq2seq with 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Seq2seq with attention</a:t>
            </a:r>
          </a:p>
        </p:txBody>
      </p:sp>
      <p:pic>
        <p:nvPicPr>
          <p:cNvPr id="1038" name="Screen Shot 2019-11-12 at 7.12.33 AM.jpg" descr="Screen Shot 2019-11-12 at 7.12.33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718" y="2434288"/>
            <a:ext cx="15930564" cy="10269142"/>
          </a:xfrm>
          <a:prstGeom prst="rect">
            <a:avLst/>
          </a:prstGeom>
          <a:ln w="12700">
            <a:miter lim="400000"/>
          </a:ln>
        </p:spPr>
      </p:pic>
      <p:sp>
        <p:nvSpPr>
          <p:cNvPr id="1039" name="Rectangle"/>
          <p:cNvSpPr/>
          <p:nvPr/>
        </p:nvSpPr>
        <p:spPr>
          <a:xfrm>
            <a:off x="4646988" y="11535898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40" name="(slide credit: Abigail See)"/>
          <p:cNvSpPr txBox="1"/>
          <p:nvPr/>
        </p:nvSpPr>
        <p:spPr>
          <a:xfrm>
            <a:off x="16439337" y="12761397"/>
            <a:ext cx="4603624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(slide credit: Abigail See)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1" name="Can also use   as input for next time step"/>
              <p:cNvSpPr txBox="1"/>
              <p:nvPr/>
            </p:nvSpPr>
            <p:spPr>
              <a:xfrm>
                <a:off x="12743953" y="9978598"/>
                <a:ext cx="5245102" cy="1404590"/>
              </a:xfrm>
              <a:prstGeom prst="rect">
                <a:avLst/>
              </a:prstGeom>
              <a:ln w="254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>
                  <a:defRPr sz="3600"/>
                </a:pPr>
                <a:r>
                  <a:t>Can also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4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44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44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lim>
                            <m:r>
                              <a:rPr sz="44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a:rPr sz="4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as input for next time step </a:t>
                </a:r>
                <a:endParaRPr sz="3700"/>
              </a:p>
            </p:txBody>
          </p:sp>
        </mc:Choice>
        <mc:Fallback>
          <p:sp>
            <p:nvSpPr>
              <p:cNvPr id="1041" name="Can also use   as input for next time ste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3953" y="9978598"/>
                <a:ext cx="5245102" cy="1404590"/>
              </a:xfrm>
              <a:prstGeom prst="rect">
                <a:avLst/>
              </a:prstGeom>
              <a:blipFill>
                <a:blip r:embed="rId3"/>
                <a:stretch>
                  <a:fillRect l="-3472" r="-5671" b="-20085"/>
                </a:stretch>
              </a:blipFill>
              <a:ln w="254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55</a:t>
            </a:fld>
            <a:endParaRPr/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Seq2seq with 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Seq2seq with attention</a:t>
            </a:r>
          </a:p>
        </p:txBody>
      </p:sp>
      <p:pic>
        <p:nvPicPr>
          <p:cNvPr id="1045" name="Screen Shot 2019-11-12 at 7.13.22 AM.jpg" descr="Screen Shot 2019-11-12 at 7.13.22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108" y="2560447"/>
            <a:ext cx="15876986" cy="10287001"/>
          </a:xfrm>
          <a:prstGeom prst="rect">
            <a:avLst/>
          </a:prstGeom>
          <a:ln w="12700">
            <a:miter lim="400000"/>
          </a:ln>
        </p:spPr>
      </p:pic>
      <p:sp>
        <p:nvSpPr>
          <p:cNvPr id="1046" name="Rectangle"/>
          <p:cNvSpPr/>
          <p:nvPr/>
        </p:nvSpPr>
        <p:spPr>
          <a:xfrm>
            <a:off x="4326408" y="12036805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47" name="(slide credit: Abigail See)"/>
          <p:cNvSpPr txBox="1"/>
          <p:nvPr/>
        </p:nvSpPr>
        <p:spPr>
          <a:xfrm>
            <a:off x="16439337" y="12761397"/>
            <a:ext cx="4603624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(slide credit: Abigail See)</a:t>
            </a:r>
          </a:p>
        </p:txBody>
      </p:sp>
      <p:sp>
        <p:nvSpPr>
          <p:cNvPr id="10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56</a:t>
            </a:fld>
            <a:endParaRPr/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Computing 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Computing attention</a:t>
            </a:r>
          </a:p>
        </p:txBody>
      </p:sp>
      <p:sp>
        <p:nvSpPr>
          <p:cNvPr id="1051" name="Rectangle"/>
          <p:cNvSpPr/>
          <p:nvPr/>
        </p:nvSpPr>
        <p:spPr>
          <a:xfrm>
            <a:off x="4326408" y="12036805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2" name="Encoder hidden states: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198962" y="2648572"/>
                <a:ext cx="14560117" cy="9744874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421719" indent="-421719" defTabSz="566856">
                  <a:spcBef>
                    <a:spcPts val="2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312"/>
                </a:pPr>
                <a:r>
                  <a:t>Encoder hidden states: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sz="4000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bSup>
                  </m:oMath>
                </a14:m>
                <a:endParaRPr/>
              </a:p>
              <a:p>
                <a:pPr marL="421719" indent="-421719" defTabSz="566856">
                  <a:spcBef>
                    <a:spcPts val="2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312"/>
                </a:pPr>
                <a:r>
                  <a:t>Decoder hidden state at time </a:t>
                </a:r>
                <a14:m>
                  <m:oMath xmlns:m="http://schemas.openxmlformats.org/officeDocument/2006/math"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sz="4000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𝑑𝑒𝑐</m:t>
                        </m:r>
                      </m:sup>
                    </m:sSubSup>
                  </m:oMath>
                </a14:m>
                <a:endParaRPr>
                  <a:solidFill>
                    <a:schemeClr val="accent1">
                      <a:lumOff val="-13575"/>
                    </a:schemeClr>
                  </a:solidFill>
                </a:endParaRPr>
              </a:p>
              <a:p>
                <a:pPr marL="421719" indent="-421719" defTabSz="566856">
                  <a:spcBef>
                    <a:spcPts val="2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312"/>
                </a:pPr>
                <a:r>
                  <a:t>First, get attention scores for this time step (we will see what </a:t>
                </a:r>
                <a14:m>
                  <m:oMath xmlns:m="http://schemas.openxmlformats.org/officeDocument/2006/math"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t> is soon!):</a:t>
                </a:r>
                <a:br/>
                <a:r>
                  <a:t>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000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=[</m:t>
                    </m:r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𝑑𝑒𝑐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),...,</m:t>
                    </m:r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𝑑𝑒𝑐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>
                  <a:solidFill>
                    <a:schemeClr val="accent6">
                      <a:satOff val="-15808"/>
                      <a:lumOff val="-17557"/>
                    </a:schemeClr>
                  </a:solidFill>
                </a:endParaRPr>
              </a:p>
              <a:p>
                <a:pPr marL="421719" indent="-421719" defTabSz="566856">
                  <a:spcBef>
                    <a:spcPts val="2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312"/>
                </a:pPr>
                <a:r>
                  <a:t>Obtain the attention distribution using softmax:</a:t>
                </a:r>
                <a:br/>
                <a:r>
                  <a:t>   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000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softmax</m:t>
                    </m:r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>
                  <a:solidFill>
                    <a:schemeClr val="accent5">
                      <a:lumOff val="-29866"/>
                    </a:schemeClr>
                  </a:solidFill>
                </a:endParaRPr>
              </a:p>
              <a:p>
                <a:pPr marL="421719" indent="-421719" defTabSz="566856">
                  <a:spcBef>
                    <a:spcPts val="2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312"/>
                </a:pPr>
                <a:r>
                  <a:t>Compute weighted sum of encoder hidden states:</a:t>
                </a:r>
                <a:br/>
                <a:r>
                  <a:t>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000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limUp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40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40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40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40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endParaRPr/>
              </a:p>
              <a:p>
                <a:pPr marL="421719" indent="-421719" defTabSz="566856">
                  <a:spcBef>
                    <a:spcPts val="2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312"/>
                </a:pPr>
                <a:r>
                  <a:t>Finally, concatenate with decoder state and pass on to output layer: </a:t>
                </a:r>
                <a14:m>
                  <m:oMath xmlns:m="http://schemas.openxmlformats.org/officeDocument/2006/math"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𝑑𝑒𝑐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endParaRPr sz="4800"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1052" name="Encoder hidden states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198962" y="2648572"/>
                <a:ext cx="14560117" cy="9744874"/>
              </a:xfrm>
              <a:prstGeom prst="rect">
                <a:avLst/>
              </a:prstGeom>
              <a:blipFill>
                <a:blip r:embed="rId2"/>
                <a:stretch>
                  <a:fillRect l="-5067" t="-7942" b="-3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57</a:t>
            </a:fld>
            <a:endParaRPr/>
          </a:p>
        </p:txBody>
      </p:sp>
      <p:pic>
        <p:nvPicPr>
          <p:cNvPr id="105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20" y="2433256"/>
            <a:ext cx="8309997" cy="101755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Types of 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Types of attention</a:t>
            </a:r>
          </a:p>
        </p:txBody>
      </p:sp>
      <p:sp>
        <p:nvSpPr>
          <p:cNvPr id="1057" name="Rectangle"/>
          <p:cNvSpPr/>
          <p:nvPr/>
        </p:nvSpPr>
        <p:spPr>
          <a:xfrm>
            <a:off x="4326408" y="12036805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8" name="Assume encoder hidden states   and decoder hidden state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895840" y="3032767"/>
                <a:ext cx="17740774" cy="8739065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562292" indent="-562292" defTabSz="755808">
                  <a:spcBef>
                    <a:spcPts val="38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048"/>
                </a:pPr>
                <a:r>
                  <a:t>Assume encoder hidden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t> and decoder hidden state </a:t>
                </a:r>
                <a14:m>
                  <m:oMath xmlns:m="http://schemas.openxmlformats.org/officeDocument/2006/math"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/>
              </a:p>
              <a:p>
                <a:pPr marL="803275" indent="-803275" defTabSz="755808">
                  <a:spcBef>
                    <a:spcPts val="3800"/>
                  </a:spcBef>
                  <a:buSzPct val="100000"/>
                  <a:buAutoNum type="arabicPeriod"/>
                  <a:defRPr sz="4048"/>
                </a:pPr>
                <a:r>
                  <a:rPr b="1"/>
                  <a:t>Dot-product attention</a:t>
                </a:r>
                <a:r>
                  <a:t>:</a:t>
                </a:r>
                <a:br/>
                <a:r>
                  <a:t>                   </a:t>
                </a:r>
                <a14:m>
                  <m:oMath xmlns:m="http://schemas.openxmlformats.org/officeDocument/2006/math"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 </a:t>
                </a:r>
              </a:p>
              <a:p>
                <a:pPr marL="803275" indent="-803275" defTabSz="755808">
                  <a:spcBef>
                    <a:spcPts val="3800"/>
                  </a:spcBef>
                  <a:buSzPct val="100000"/>
                  <a:buAutoNum type="arabicPeriod"/>
                  <a:defRPr sz="4048"/>
                </a:pPr>
                <a:r>
                  <a:rPr b="1"/>
                  <a:t>Bilinear / multiplicative attention:</a:t>
                </a:r>
                <a:br/>
                <a:r>
                  <a:t>             </a:t>
                </a:r>
                <a14:m>
                  <m:oMath xmlns:m="http://schemas.openxmlformats.org/officeDocument/2006/math"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t>, where </a:t>
                </a:r>
                <a14:m>
                  <m:oMath xmlns:m="http://schemas.openxmlformats.org/officeDocument/2006/math">
                    <m:r>
                      <a:rPr sz="4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t> is a weight matrix</a:t>
                </a:r>
              </a:p>
              <a:p>
                <a:pPr marL="803275" indent="-803275" defTabSz="755808">
                  <a:spcBef>
                    <a:spcPts val="3800"/>
                  </a:spcBef>
                  <a:buSzPct val="100000"/>
                  <a:buAutoNum type="arabicPeriod"/>
                  <a:defRPr sz="4048"/>
                </a:pPr>
                <a:r>
                  <a:rPr b="1"/>
                  <a:t>Additive attention (essentially MLP):</a:t>
                </a:r>
                <a:br/>
                <a:r>
                  <a:t>                  </a:t>
                </a:r>
                <a14:m>
                  <m:oMath xmlns:m="http://schemas.openxmlformats.org/officeDocument/2006/math"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nor/>
                      </m:rP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sz="4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)∈</m:t>
                    </m:r>
                    <m:r>
                      <a:rPr sz="4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br>
                  <a:rPr>
                    <a:solidFill>
                      <a:schemeClr val="accent5">
                        <a:lumOff val="-29866"/>
                      </a:schemeClr>
                    </a:solidFill>
                  </a:rPr>
                </a:br>
                <a: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8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sz="4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t> are weight matrices and </a:t>
                </a:r>
                <a14:m>
                  <m:oMath xmlns:m="http://schemas.openxmlformats.org/officeDocument/2006/math">
                    <m:r>
                      <a:rPr sz="4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t> is a weight vector</a:t>
                </a:r>
                <a:endParaRPr sz="4400"/>
              </a:p>
            </p:txBody>
          </p:sp>
        </mc:Choice>
        <mc:Fallback>
          <p:sp>
            <p:nvSpPr>
              <p:cNvPr id="1058" name="Assume encoder hidden states   and decoder hidden stat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95840" y="3032767"/>
                <a:ext cx="17740774" cy="8739065"/>
              </a:xfrm>
              <a:prstGeom prst="rect">
                <a:avLst/>
              </a:prstGeom>
              <a:blipFill>
                <a:blip r:embed="rId3"/>
                <a:stretch>
                  <a:fillRect l="-5189" t="-10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9" name="Perform better for…"/>
          <p:cNvSpPr txBox="1"/>
          <p:nvPr/>
        </p:nvSpPr>
        <p:spPr>
          <a:xfrm>
            <a:off x="19012811" y="9951895"/>
            <a:ext cx="4760647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Perform better for 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larger dimensions</a:t>
            </a:r>
          </a:p>
        </p:txBody>
      </p:sp>
      <p:sp>
        <p:nvSpPr>
          <p:cNvPr id="1060" name="more efficient…"/>
          <p:cNvSpPr txBox="1"/>
          <p:nvPr/>
        </p:nvSpPr>
        <p:spPr>
          <a:xfrm>
            <a:off x="45650" y="5803785"/>
            <a:ext cx="4111443" cy="210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more efficient 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(matrix multiplication)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1" name="Simplest (no extra parameters)…"/>
              <p:cNvSpPr txBox="1"/>
              <p:nvPr/>
            </p:nvSpPr>
            <p:spPr>
              <a:xfrm>
                <a:off x="14987921" y="4560872"/>
                <a:ext cx="8503961" cy="162934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>
                  <a:defRPr>
                    <a:solidFill>
                      <a:schemeClr val="accent3">
                        <a:hueOff val="914337"/>
                        <a:satOff val="31515"/>
                        <a:lumOff val="-30790"/>
                      </a:schemeClr>
                    </a:solidFill>
                  </a:defRPr>
                </a:pPr>
                <a:r>
                  <a:t>Simplest (no extra parameters)</a:t>
                </a:r>
              </a:p>
              <a:p>
                <a:pPr>
                  <a:defRPr>
                    <a:solidFill>
                      <a:schemeClr val="accent3">
                        <a:hueOff val="914337"/>
                        <a:satOff val="31515"/>
                        <a:lumOff val="-30790"/>
                      </a:schemeClr>
                    </a:solidFill>
                  </a:defRPr>
                </a:pPr>
                <a:r>
                  <a:t> </a:t>
                </a:r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requires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B417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30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5300" i="1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 to be same size</a:t>
                </a:r>
                <a:endParaRPr>
                  <a:solidFill>
                    <a:srgbClr val="B51700"/>
                  </a:solidFill>
                </a:endParaRPr>
              </a:p>
            </p:txBody>
          </p:sp>
        </mc:Choice>
        <mc:Fallback>
          <p:sp>
            <p:nvSpPr>
              <p:cNvPr id="1061" name="Simplest (no extra parameters)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7921" y="4560872"/>
                <a:ext cx="8503961" cy="1629344"/>
              </a:xfrm>
              <a:prstGeom prst="rect">
                <a:avLst/>
              </a:prstGeom>
              <a:blipFill>
                <a:blip r:embed="rId4"/>
                <a:stretch>
                  <a:fillRect l="-2509" t="-5618" r="-4301" b="-1423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2" name="More flexible…"/>
          <p:cNvSpPr txBox="1"/>
          <p:nvPr/>
        </p:nvSpPr>
        <p:spPr>
          <a:xfrm>
            <a:off x="19193024" y="6675231"/>
            <a:ext cx="4400221" cy="210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More flexible 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than dot-product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(W is trainable)</a:t>
            </a:r>
          </a:p>
        </p:txBody>
      </p:sp>
      <p:sp>
        <p:nvSpPr>
          <p:cNvPr id="10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9" grpId="0" animBg="1" advAuto="0"/>
      <p:bldP spid="1060" grpId="0" animBg="1" advAuto="0"/>
      <p:bldP spid="1061" grpId="0" animBg="1" advAuto="0"/>
      <p:bldP spid="1062" grpId="0" animBg="1" advAuto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Attention can be applied to other modalities"/>
          <p:cNvSpPr txBox="1">
            <a:spLocks noGrp="1"/>
          </p:cNvSpPr>
          <p:nvPr>
            <p:ph type="title"/>
          </p:nvPr>
        </p:nvSpPr>
        <p:spPr>
          <a:xfrm>
            <a:off x="4214243" y="4860625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Attention can be applied to other modalities</a:t>
            </a:r>
          </a:p>
        </p:txBody>
      </p:sp>
      <p:sp>
        <p:nvSpPr>
          <p:cNvPr id="106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59</a:t>
            </a:fld>
            <a:endParaRPr/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Attention on other modalit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Attention on other modalities</a:t>
            </a:r>
          </a:p>
        </p:txBody>
      </p:sp>
      <p:sp>
        <p:nvSpPr>
          <p:cNvPr id="1073" name="Images"/>
          <p:cNvSpPr txBox="1">
            <a:spLocks noGrp="1"/>
          </p:cNvSpPr>
          <p:nvPr>
            <p:ph type="body" sz="quarter" idx="1"/>
          </p:nvPr>
        </p:nvSpPr>
        <p:spPr>
          <a:xfrm>
            <a:off x="4387453" y="2793054"/>
            <a:ext cx="15609094" cy="1210099"/>
          </a:xfrm>
          <a:prstGeom prst="rect">
            <a:avLst/>
          </a:prstGeom>
        </p:spPr>
        <p:txBody>
          <a:bodyPr/>
          <a:lstStyle/>
          <a:p>
            <a:r>
              <a:t>Images</a:t>
            </a:r>
          </a:p>
        </p:txBody>
      </p:sp>
      <p:grpSp>
        <p:nvGrpSpPr>
          <p:cNvPr id="1076" name="Group"/>
          <p:cNvGrpSpPr/>
          <p:nvPr/>
        </p:nvGrpSpPr>
        <p:grpSpPr>
          <a:xfrm>
            <a:off x="4042789" y="2928291"/>
            <a:ext cx="17193430" cy="5624218"/>
            <a:chOff x="0" y="0"/>
            <a:chExt cx="17193429" cy="5624217"/>
          </a:xfrm>
        </p:grpSpPr>
        <p:pic>
          <p:nvPicPr>
            <p:cNvPr id="1074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7193430" cy="53684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75" name="Image Credit: Peter Anderson"/>
            <p:cNvSpPr txBox="1"/>
            <p:nvPr/>
          </p:nvSpPr>
          <p:spPr>
            <a:xfrm>
              <a:off x="13325825" y="4935242"/>
              <a:ext cx="3798888" cy="688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 algn="l" defTabSz="457200">
                <a:defRPr sz="2400">
                  <a:solidFill>
                    <a:srgbClr val="A6A6A6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t>Image Credit: Peter Anderson</a:t>
              </a:r>
              <a:endPara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endParaRPr>
            </a:p>
          </p:txBody>
        </p:sp>
      </p:grpSp>
      <p:pic>
        <p:nvPicPr>
          <p:cNvPr id="107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137" y="9043130"/>
            <a:ext cx="13146110" cy="4382038"/>
          </a:xfrm>
          <a:prstGeom prst="rect">
            <a:avLst/>
          </a:prstGeom>
          <a:ln w="12700">
            <a:miter lim="400000"/>
          </a:ln>
        </p:spPr>
      </p:pic>
      <p:sp>
        <p:nvSpPr>
          <p:cNvPr id="1078" name="Agent experience"/>
          <p:cNvSpPr txBox="1"/>
          <p:nvPr/>
        </p:nvSpPr>
        <p:spPr>
          <a:xfrm>
            <a:off x="4387453" y="8111101"/>
            <a:ext cx="15609094" cy="121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Agent experience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Image captioning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Image captioning example</a:t>
            </a:r>
          </a:p>
        </p:txBody>
      </p:sp>
      <p:sp>
        <p:nvSpPr>
          <p:cNvPr id="1081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61</a:t>
            </a:fld>
            <a:endParaRPr/>
          </a:p>
        </p:txBody>
      </p:sp>
      <p:pic>
        <p:nvPicPr>
          <p:cNvPr id="108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086" y="3753492"/>
            <a:ext cx="15441828" cy="6620591"/>
          </a:xfrm>
          <a:prstGeom prst="rect">
            <a:avLst/>
          </a:prstGeom>
          <a:ln w="12700">
            <a:miter lim="400000"/>
          </a:ln>
        </p:spPr>
      </p:pic>
      <p:sp>
        <p:nvSpPr>
          <p:cNvPr id="1084" name="Xu et al. ICML 2015"/>
          <p:cNvSpPr txBox="1"/>
          <p:nvPr/>
        </p:nvSpPr>
        <p:spPr>
          <a:xfrm>
            <a:off x="17122486" y="10510541"/>
            <a:ext cx="2534891" cy="68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defRPr sz="24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Xu et al. ICML 2015</a:t>
            </a:r>
            <a:endParaRPr sz="1200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Soft vs Hard 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Soft vs Hard Attention</a:t>
            </a:r>
          </a:p>
        </p:txBody>
      </p:sp>
      <p:sp>
        <p:nvSpPr>
          <p:cNvPr id="10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62</a:t>
            </a:fld>
            <a:endParaRPr/>
          </a:p>
        </p:txBody>
      </p:sp>
      <p:pic>
        <p:nvPicPr>
          <p:cNvPr id="108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4068" y="4320360"/>
            <a:ext cx="3952063" cy="5075280"/>
          </a:xfrm>
          <a:prstGeom prst="rect">
            <a:avLst/>
          </a:prstGeom>
          <a:ln w="12700">
            <a:miter lim="400000"/>
          </a:ln>
        </p:spPr>
      </p:pic>
      <p:sp>
        <p:nvSpPr>
          <p:cNvPr id="1089" name="Xu et al. ICML 2015"/>
          <p:cNvSpPr txBox="1"/>
          <p:nvPr/>
        </p:nvSpPr>
        <p:spPr>
          <a:xfrm>
            <a:off x="18487373" y="9713166"/>
            <a:ext cx="2534892" cy="68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defRPr sz="24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Xu et al. ICML 2015</a:t>
            </a:r>
            <a:endParaRPr sz="1200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109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73" y="3280588"/>
            <a:ext cx="14870752" cy="78624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lobal vs Local 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Global vs Local Attention</a:t>
            </a:r>
          </a:p>
        </p:txBody>
      </p:sp>
      <p:sp>
        <p:nvSpPr>
          <p:cNvPr id="1093" name="• Global: attention over the entire input…"/>
          <p:cNvSpPr txBox="1">
            <a:spLocks noGrp="1"/>
          </p:cNvSpPr>
          <p:nvPr>
            <p:ph type="body" sz="quarter" idx="1"/>
          </p:nvPr>
        </p:nvSpPr>
        <p:spPr>
          <a:xfrm>
            <a:off x="4387453" y="2768778"/>
            <a:ext cx="15609094" cy="2897047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ts val="5500"/>
              </a:lnSpc>
              <a:spcBef>
                <a:spcPts val="0"/>
              </a:spcBef>
              <a:buSzTx/>
              <a:buNone/>
              <a:defRPr sz="3733">
                <a:latin typeface="Avenir Book"/>
                <a:ea typeface="Avenir Book"/>
                <a:cs typeface="Avenir Book"/>
                <a:sym typeface="Avenir Book"/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>
                <a:solidFill>
                  <a:srgbClr val="ED7D31"/>
                </a:solidFill>
              </a:rPr>
              <a:t>Global</a:t>
            </a:r>
            <a:r>
              <a:t>: attention over the entire input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0" indent="0" defTabSz="457200">
              <a:lnSpc>
                <a:spcPts val="5500"/>
              </a:lnSpc>
              <a:spcBef>
                <a:spcPts val="0"/>
              </a:spcBef>
              <a:buSzTx/>
              <a:buNone/>
              <a:defRPr sz="3733">
                <a:latin typeface="Avenir Book"/>
                <a:ea typeface="Avenir Book"/>
                <a:cs typeface="Avenir Book"/>
                <a:sym typeface="Avenir Book"/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>
                <a:solidFill>
                  <a:srgbClr val="ED7D31"/>
                </a:solidFill>
              </a:rPr>
              <a:t>Local: </a:t>
            </a:r>
            <a:r>
              <a:t>attention over a window (or subset) of the input</a:t>
            </a:r>
          </a:p>
        </p:txBody>
      </p:sp>
      <p:sp>
        <p:nvSpPr>
          <p:cNvPr id="10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63</a:t>
            </a:fld>
            <a:endParaRPr/>
          </a:p>
        </p:txBody>
      </p:sp>
      <p:pic>
        <p:nvPicPr>
          <p:cNvPr id="109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316" y="5371778"/>
            <a:ext cx="15832103" cy="6876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133" y="12114650"/>
            <a:ext cx="2830910" cy="6571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Self-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Self-Attention</a:t>
            </a:r>
          </a:p>
        </p:txBody>
      </p:sp>
      <p:sp>
        <p:nvSpPr>
          <p:cNvPr id="1099" name="Attention (correlation) with different parts of itself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03021" indent="-503021" defTabSz="443484">
              <a:lnSpc>
                <a:spcPts val="5300"/>
              </a:lnSpc>
              <a:spcBef>
                <a:spcPts val="0"/>
              </a:spcBef>
              <a:buSzPct val="100000"/>
              <a:defRPr sz="3621">
                <a:latin typeface="Avenir Book"/>
                <a:ea typeface="Avenir Book"/>
                <a:cs typeface="Avenir Book"/>
                <a:sym typeface="Avenir Book"/>
              </a:defRPr>
            </a:pPr>
            <a:r>
              <a:t>Attention (correlation) with different parts of itself</a:t>
            </a:r>
            <a:endParaRPr sz="1164">
              <a:latin typeface="Times Roman"/>
              <a:ea typeface="Times Roman"/>
              <a:cs typeface="Times Roman"/>
              <a:sym typeface="Times Roman"/>
            </a:endParaRPr>
          </a:p>
          <a:p>
            <a:pPr marL="0" indent="0" defTabSz="443484">
              <a:lnSpc>
                <a:spcPts val="5300"/>
              </a:lnSpc>
              <a:spcBef>
                <a:spcPts val="0"/>
              </a:spcBef>
              <a:buSzTx/>
              <a:buNone/>
              <a:defRPr sz="3621">
                <a:latin typeface="Avenir Book"/>
                <a:ea typeface="Avenir Book"/>
                <a:cs typeface="Avenir Book"/>
                <a:sym typeface="Avenir Book"/>
              </a:defRPr>
            </a:pPr>
            <a:endParaRPr sz="1164">
              <a:latin typeface="Times Roman"/>
              <a:ea typeface="Times Roman"/>
              <a:cs typeface="Times Roman"/>
              <a:sym typeface="Times Roman"/>
            </a:endParaRPr>
          </a:p>
          <a:p>
            <a:pPr marL="503021" indent="-503021" defTabSz="443484">
              <a:lnSpc>
                <a:spcPts val="5300"/>
              </a:lnSpc>
              <a:spcBef>
                <a:spcPts val="0"/>
              </a:spcBef>
              <a:buSzPct val="100000"/>
              <a:defRPr sz="3621">
                <a:latin typeface="Avenir Book"/>
                <a:ea typeface="Avenir Book"/>
                <a:cs typeface="Avenir Book"/>
                <a:sym typeface="Avenir Book"/>
              </a:defRPr>
            </a:pPr>
            <a:endParaRPr sz="1164">
              <a:latin typeface="Times Roman"/>
              <a:ea typeface="Times Roman"/>
              <a:cs typeface="Times Roman"/>
              <a:sym typeface="Times Roman"/>
            </a:endParaRPr>
          </a:p>
          <a:p>
            <a:pPr marL="503021" indent="-503021" defTabSz="443484">
              <a:lnSpc>
                <a:spcPts val="5300"/>
              </a:lnSpc>
              <a:spcBef>
                <a:spcPts val="0"/>
              </a:spcBef>
              <a:buSzPct val="100000"/>
              <a:defRPr sz="3621">
                <a:latin typeface="Avenir Book"/>
                <a:ea typeface="Avenir Book"/>
                <a:cs typeface="Avenir Book"/>
                <a:sym typeface="Avenir Book"/>
              </a:defRPr>
            </a:pPr>
            <a:r>
              <a:t>Transformers: modules with scaled dot-product self-attention</a:t>
            </a:r>
            <a:endParaRPr sz="1164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110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453" y="3643312"/>
            <a:ext cx="11921421" cy="6475834"/>
          </a:xfrm>
          <a:prstGeom prst="rect">
            <a:avLst/>
          </a:prstGeom>
          <a:ln w="12700">
            <a:miter lim="400000"/>
          </a:ln>
        </p:spPr>
      </p:pic>
      <p:sp>
        <p:nvSpPr>
          <p:cNvPr id="1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64</a:t>
            </a:fld>
            <a:endParaRPr/>
          </a:p>
        </p:txBody>
      </p:sp>
      <p:sp>
        <p:nvSpPr>
          <p:cNvPr id="1102" name="https://ai.googleblog.com/2017/08/transformer-novel-neural-network.html"/>
          <p:cNvSpPr txBox="1"/>
          <p:nvPr/>
        </p:nvSpPr>
        <p:spPr>
          <a:xfrm>
            <a:off x="5640807" y="10723717"/>
            <a:ext cx="10238360" cy="50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r>
              <a:t>https://ai.googleblog.com/2017/08/transformer-novel-neural-network.html</a:t>
            </a: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Transformers: self-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Transformers: self-attention</a:t>
            </a:r>
          </a:p>
        </p:txBody>
      </p:sp>
      <p:sp>
        <p:nvSpPr>
          <p:cNvPr id="1105" name="More recent models (e.g. Transformer, Vaswani et al., 2017) have replaced RNNs entirely with attention mechanisms…"/>
          <p:cNvSpPr txBox="1">
            <a:spLocks noGrp="1"/>
          </p:cNvSpPr>
          <p:nvPr>
            <p:ph type="body" sz="half" idx="1"/>
          </p:nvPr>
        </p:nvSpPr>
        <p:spPr>
          <a:xfrm>
            <a:off x="10446618" y="3407804"/>
            <a:ext cx="8606318" cy="8885245"/>
          </a:xfrm>
          <a:prstGeom prst="rect">
            <a:avLst/>
          </a:prstGeom>
        </p:spPr>
        <p:txBody>
          <a:bodyPr/>
          <a:lstStyle/>
          <a:p>
            <a:pPr marL="500062" indent="-500062" defTabSz="457200">
              <a:lnSpc>
                <a:spcPct val="100000"/>
              </a:lnSpc>
              <a:spcBef>
                <a:spcPts val="0"/>
              </a:spcBef>
              <a:defRPr sz="3600">
                <a:latin typeface="Georgia"/>
                <a:ea typeface="Georgia"/>
                <a:cs typeface="Georgia"/>
                <a:sym typeface="Georgia"/>
              </a:defRPr>
            </a:pPr>
            <a:r>
              <a:t>More recent models (e.g. Transformer, Vaswani et al., 2017) have replaced RNNs entirely with attention mechanisms </a:t>
            </a:r>
          </a:p>
          <a:p>
            <a:pPr marL="500062" indent="-500062" defTabSz="457200">
              <a:lnSpc>
                <a:spcPct val="100000"/>
              </a:lnSpc>
              <a:spcBef>
                <a:spcPts val="0"/>
              </a:spcBef>
              <a:defRPr sz="3600">
                <a:latin typeface="Georgia"/>
                <a:ea typeface="Georgia"/>
                <a:cs typeface="Georgia"/>
                <a:sym typeface="Georgia"/>
              </a:defRPr>
            </a:pPr>
            <a:r>
              <a:t>Theoretically limiting (since recurrence can help handle arbitrarily long sequences) </a:t>
            </a:r>
          </a:p>
          <a:p>
            <a:pPr marL="500062" indent="-500062" defTabSz="457200">
              <a:lnSpc>
                <a:spcPct val="100000"/>
              </a:lnSpc>
              <a:spcBef>
                <a:spcPts val="0"/>
              </a:spcBef>
              <a:defRPr sz="3600">
                <a:latin typeface="Georgia"/>
                <a:ea typeface="Georgia"/>
                <a:cs typeface="Georgia"/>
                <a:sym typeface="Georgia"/>
              </a:defRPr>
            </a:pPr>
            <a:r>
              <a:t>Huge gains in practical performance</a:t>
            </a:r>
          </a:p>
        </p:txBody>
      </p:sp>
      <p:sp>
        <p:nvSpPr>
          <p:cNvPr id="1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65</a:t>
            </a:fld>
            <a:endParaRPr/>
          </a:p>
        </p:txBody>
      </p:sp>
      <p:pic>
        <p:nvPicPr>
          <p:cNvPr id="1107" name="Image" descr="Imag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33840" y="2956561"/>
            <a:ext cx="6639222" cy="9787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Issues with vanilla seq2seq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Issues with vanilla seq2seq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0" name="A single encoding vector,  , needs to capture all the information about source sentence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8615759"/>
                <a:ext cx="15609094" cy="4180970"/>
              </a:xfrm>
              <a:prstGeom prst="rect">
                <a:avLst/>
              </a:prstGeom>
            </p:spPr>
            <p:txBody>
              <a:bodyPr anchor="t">
                <a:normAutofit lnSpcReduction="10000"/>
              </a:bodyPr>
              <a:lstStyle/>
              <a:p>
                <a:pPr marL="574516" indent="-574516" defTabSz="772239">
                  <a:spcBef>
                    <a:spcPts val="3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36"/>
                </a:pPr>
                <a:r>
                  <a:t>A single encoding vector,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5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p>
                  </m:oMath>
                </a14:m>
                <a:r>
                  <a:t>, needs to capture </a:t>
                </a:r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all the information</a:t>
                </a:r>
                <a:r>
                  <a:t> about source sentence</a:t>
                </a:r>
              </a:p>
              <a:p>
                <a:pPr marL="574516" indent="-574516" defTabSz="772239">
                  <a:spcBef>
                    <a:spcPts val="3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36"/>
                </a:pPr>
                <a:r>
                  <a:t>Longer sequences can lead to vanishing gradients</a:t>
                </a:r>
              </a:p>
              <a:p>
                <a:pPr marL="574516" indent="-574516" defTabSz="772239">
                  <a:spcBef>
                    <a:spcPts val="3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36" b="1">
                    <a:solidFill>
                      <a:schemeClr val="accent1">
                        <a:lumOff val="-13575"/>
                      </a:schemeClr>
                    </a:solidFill>
                  </a:defRPr>
                </a:pPr>
                <a:r>
                  <a:t>Overfitting</a:t>
                </a:r>
              </a:p>
            </p:txBody>
          </p:sp>
        </mc:Choice>
        <mc:Fallback>
          <p:sp>
            <p:nvSpPr>
              <p:cNvPr id="1110" name="A single encoding vector,  , needs to capture all the information about source sentenc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8615759"/>
                <a:ext cx="15609094" cy="4180970"/>
              </a:xfrm>
              <a:prstGeom prst="rect">
                <a:avLst/>
              </a:prstGeom>
              <a:blipFill>
                <a:blip r:embed="rId2"/>
                <a:stretch>
                  <a:fillRect l="-6055" t="-24927" b="-34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1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011" y="2586640"/>
            <a:ext cx="17857979" cy="5058484"/>
          </a:xfrm>
          <a:prstGeom prst="rect">
            <a:avLst/>
          </a:prstGeom>
          <a:ln w="12700">
            <a:miter lim="400000"/>
          </a:ln>
        </p:spPr>
      </p:pic>
      <p:sp>
        <p:nvSpPr>
          <p:cNvPr id="1112" name="Bottleneck"/>
          <p:cNvSpPr txBox="1"/>
          <p:nvPr/>
        </p:nvSpPr>
        <p:spPr>
          <a:xfrm>
            <a:off x="7460381" y="2657293"/>
            <a:ext cx="3547843" cy="7876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r>
              <a:t>Bottleneck</a:t>
            </a:r>
          </a:p>
        </p:txBody>
      </p:sp>
      <p:sp>
        <p:nvSpPr>
          <p:cNvPr id="1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66</a:t>
            </a:fld>
            <a:endParaRPr/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Exposure bia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Exposure bias</a:t>
            </a:r>
          </a:p>
        </p:txBody>
      </p:sp>
      <p:sp>
        <p:nvSpPr>
          <p:cNvPr id="1116" name="Discrepancy in model input between training and generation time…"/>
          <p:cNvSpPr txBox="1">
            <a:spLocks noGrp="1"/>
          </p:cNvSpPr>
          <p:nvPr>
            <p:ph type="body" sz="half" idx="1"/>
          </p:nvPr>
        </p:nvSpPr>
        <p:spPr>
          <a:xfrm>
            <a:off x="2556915" y="2771666"/>
            <a:ext cx="9982468" cy="7129799"/>
          </a:xfrm>
          <a:prstGeom prst="rect">
            <a:avLst/>
          </a:prstGeom>
        </p:spPr>
        <p:txBody>
          <a:bodyPr/>
          <a:lstStyle/>
          <a:p>
            <a:r>
              <a:t>Discrepancy in model input between training and generation time</a:t>
            </a:r>
          </a:p>
          <a:p>
            <a:r>
              <a:t>During training, model inputs are gold context tokens</a:t>
            </a:r>
          </a:p>
          <a:p>
            <a:endParaRPr/>
          </a:p>
          <a:p>
            <a:endParaRPr/>
          </a:p>
          <a:p>
            <a:r>
              <a:t>At generation time, inputs are previously-decoded tokens</a:t>
            </a:r>
          </a:p>
        </p:txBody>
      </p:sp>
      <p:pic>
        <p:nvPicPr>
          <p:cNvPr id="111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111" y="6148081"/>
            <a:ext cx="6428076" cy="14198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995" y="8850448"/>
            <a:ext cx="6322307" cy="15104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2661" y="3248642"/>
            <a:ext cx="10176121" cy="7599415"/>
          </a:xfrm>
          <a:prstGeom prst="rect">
            <a:avLst/>
          </a:prstGeom>
          <a:ln w="12700">
            <a:miter lim="400000"/>
          </a:ln>
        </p:spPr>
      </p:pic>
      <p:sp>
        <p:nvSpPr>
          <p:cNvPr id="1120" name="Student forcing: use predicted tokens during training"/>
          <p:cNvSpPr txBox="1"/>
          <p:nvPr/>
        </p:nvSpPr>
        <p:spPr>
          <a:xfrm>
            <a:off x="1530182" y="11258034"/>
            <a:ext cx="13570129" cy="812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 b="1"/>
              <a:t>Student forcing</a:t>
            </a:r>
            <a:r>
              <a:t>: use predicted tokens during training</a:t>
            </a:r>
          </a:p>
        </p:txBody>
      </p:sp>
      <p:sp>
        <p:nvSpPr>
          <p:cNvPr id="1121" name="Scheduled sampling: use decoded token with some probability p, increase p over time"/>
          <p:cNvSpPr txBox="1"/>
          <p:nvPr/>
        </p:nvSpPr>
        <p:spPr>
          <a:xfrm>
            <a:off x="1520239" y="11997154"/>
            <a:ext cx="22023655" cy="812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 b="1"/>
              <a:t>Scheduled sampling</a:t>
            </a:r>
            <a:r>
              <a:t>: use decoded token with some probability p, increase p over time</a:t>
            </a: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Scheduled Sampling"/>
          <p:cNvSpPr txBox="1">
            <a:spLocks noGrp="1"/>
          </p:cNvSpPr>
          <p:nvPr>
            <p:ph type="title"/>
          </p:nvPr>
        </p:nvSpPr>
        <p:spPr>
          <a:xfrm>
            <a:off x="4308795" y="357187"/>
            <a:ext cx="16459201" cy="3036095"/>
          </a:xfrm>
          <a:prstGeom prst="rect">
            <a:avLst/>
          </a:prstGeom>
        </p:spPr>
        <p:txBody>
          <a:bodyPr/>
          <a:lstStyle/>
          <a:p>
            <a:r>
              <a:t>Scheduled Sampling</a:t>
            </a:r>
          </a:p>
        </p:txBody>
      </p:sp>
      <p:sp>
        <p:nvSpPr>
          <p:cNvPr id="1124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12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453" y="2802074"/>
            <a:ext cx="15609094" cy="9900212"/>
          </a:xfrm>
          <a:prstGeom prst="rect">
            <a:avLst/>
          </a:prstGeom>
          <a:ln w="12700">
            <a:miter lim="400000"/>
          </a:ln>
        </p:spPr>
      </p:pic>
      <p:sp>
        <p:nvSpPr>
          <p:cNvPr id="1126" name="(figure credit: Bengio et al, 2015)"/>
          <p:cNvSpPr txBox="1"/>
          <p:nvPr/>
        </p:nvSpPr>
        <p:spPr>
          <a:xfrm>
            <a:off x="15727324" y="12761397"/>
            <a:ext cx="6027650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(figure credit: Bengio et al, 2015)</a:t>
            </a:r>
          </a:p>
        </p:txBody>
      </p:sp>
      <p:grpSp>
        <p:nvGrpSpPr>
          <p:cNvPr id="1129" name="Group"/>
          <p:cNvGrpSpPr/>
          <p:nvPr/>
        </p:nvGrpSpPr>
        <p:grpSpPr>
          <a:xfrm>
            <a:off x="26782" y="602635"/>
            <a:ext cx="9043840" cy="5796899"/>
            <a:chOff x="0" y="0"/>
            <a:chExt cx="9043838" cy="5796898"/>
          </a:xfrm>
        </p:grpSpPr>
        <p:pic>
          <p:nvPicPr>
            <p:cNvPr id="1127" name="Screen Shot 2020-03-12 at 2.37.20 PM.png" descr="Screen Shot 2020-03-12 at 2.37.20 PM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7569200" cy="4470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28" name="Possible decay schedules…"/>
            <p:cNvSpPr txBox="1"/>
            <p:nvPr/>
          </p:nvSpPr>
          <p:spPr>
            <a:xfrm>
              <a:off x="386172" y="4478631"/>
              <a:ext cx="8657667" cy="131826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 algn="l" defTabSz="457200">
                <a:lnSpc>
                  <a:spcPct val="117999"/>
                </a:lnSpc>
                <a:defRPr sz="36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pPr>
              <a:r>
                <a:t>Possible decay schedules</a:t>
              </a:r>
            </a:p>
            <a:p>
              <a:pPr algn="l" defTabSz="457200">
                <a:lnSpc>
                  <a:spcPct val="117999"/>
                </a:lnSpc>
                <a:defRPr sz="36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pPr>
              <a:r>
                <a:t>(probability using true y decays over time)</a:t>
              </a:r>
            </a:p>
          </p:txBody>
        </p:sp>
      </p:grpSp>
      <p:sp>
        <p:nvSpPr>
          <p:cNvPr id="1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" grpId="0" animBg="1" advAuto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Regularization</a:t>
            </a:r>
          </a:p>
        </p:txBody>
      </p:sp>
      <p:sp>
        <p:nvSpPr>
          <p:cNvPr id="1135" name="Weight deca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Weight decay</a:t>
            </a:r>
          </a:p>
          <a:p>
            <a:r>
              <a:t>Label smoothing</a:t>
            </a:r>
          </a:p>
          <a:p>
            <a:r>
              <a:t>Dropout</a:t>
            </a:r>
          </a:p>
          <a:p>
            <a:r>
              <a:t>Ensembling</a:t>
            </a:r>
          </a:p>
        </p:txBody>
      </p:sp>
      <p:sp>
        <p:nvSpPr>
          <p:cNvPr id="11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69</a:t>
            </a:fld>
            <a:endParaRPr/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Weight decay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Weight decay</a:t>
            </a:r>
          </a:p>
        </p:txBody>
      </p:sp>
      <p:sp>
        <p:nvSpPr>
          <p:cNvPr id="1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70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0" name="Weight decay…"/>
              <p:cNvSpPr txBox="1"/>
              <p:nvPr/>
            </p:nvSpPr>
            <p:spPr>
              <a:xfrm>
                <a:off x="1393351" y="3550729"/>
                <a:ext cx="10411198" cy="706204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marL="611187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:r>
                  <a:t>Weight decay</a:t>
                </a:r>
              </a:p>
              <a:p>
                <a:pPr marL="1055687" lvl="1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:r>
                  <a:t>Decays weights </a:t>
                </a:r>
                <a14:m>
                  <m:oMath xmlns:m="http://schemas.openxmlformats.org/officeDocument/2006/math"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t> exponentially</a:t>
                </a:r>
              </a:p>
              <a:p>
                <a:pPr marL="1055687" lvl="1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sz="57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=(1−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611187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:r>
                  <a:t>For SGD, weight decay and L2 regularization are equivalent</a:t>
                </a:r>
              </a:p>
            </p:txBody>
          </p:sp>
        </mc:Choice>
        <mc:Fallback>
          <p:sp>
            <p:nvSpPr>
              <p:cNvPr id="1140" name="Weight decay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351" y="3550729"/>
                <a:ext cx="10411198" cy="7062047"/>
              </a:xfrm>
              <a:prstGeom prst="rect">
                <a:avLst/>
              </a:prstGeom>
              <a:blipFill>
                <a:blip r:embed="rId2"/>
                <a:stretch>
                  <a:fillRect l="-10603" t="-16652" b="-1242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Weight decay and SGD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Weight decay and SGD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3" name="SGD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1683325" y="2642869"/>
                <a:ext cx="9828584" cy="9660109"/>
              </a:xfrm>
              <a:prstGeom prst="rect">
                <a:avLst/>
              </a:prstGeom>
            </p:spPr>
            <p:txBody>
              <a:bodyPr anchor="t"/>
              <a:lstStyle/>
              <a:p>
                <a:pPr>
                  <a:buClr>
                    <a:schemeClr val="accent1">
                      <a:lumOff val="-13575"/>
                    </a:schemeClr>
                  </a:buClr>
                  <a:buChar char="‣"/>
                  <a:defRPr sz="4800"/>
                </a:pPr>
                <a:r>
                  <a:t>SGD</a:t>
                </a:r>
              </a:p>
              <a:p>
                <a:pPr lvl="1">
                  <a:buClr>
                    <a:schemeClr val="accent1">
                      <a:lumOff val="-13575"/>
                    </a:schemeClr>
                  </a:buClr>
                  <a:buChar char="‣"/>
                  <a:defRPr sz="48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57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>
                  <a:buClr>
                    <a:schemeClr val="accent1">
                      <a:lumOff val="-13575"/>
                    </a:schemeClr>
                  </a:buClr>
                  <a:buChar char="‣"/>
                  <a:defRPr sz="4800"/>
                </a:pPr>
                <a:r>
                  <a:t>L2 regularization</a:t>
                </a:r>
              </a:p>
              <a:p>
                <a:pPr lvl="1">
                  <a:buClr>
                    <a:schemeClr val="accent1">
                      <a:lumOff val="-13575"/>
                    </a:schemeClr>
                  </a:buClr>
                  <a:buChar char="‣"/>
                  <a:defRPr sz="48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57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nor/>
                          </m:r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sSubSup>
                      <m:sSub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/>
              </a:p>
              <a:p>
                <a:pPr lvl="1">
                  <a:buClr>
                    <a:schemeClr val="accent1">
                      <a:lumOff val="-13575"/>
                    </a:schemeClr>
                  </a:buClr>
                  <a:buChar char="‣"/>
                  <a:defRPr sz="4800"/>
                </a:pPr>
                <a14:m>
                  <m:oMath xmlns:m="http://schemas.openxmlformats.org/officeDocument/2006/math">
                    <m:f>
                      <m:f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m:rPr>
                                <m:nor/>
                              </m:rP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𝑑𝐿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𝛼𝜃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1143" name="SGD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683325" y="2642869"/>
                <a:ext cx="9828584" cy="9660109"/>
              </a:xfrm>
              <a:prstGeom prst="rect">
                <a:avLst/>
              </a:prstGeom>
              <a:blipFill>
                <a:blip r:embed="rId3"/>
                <a:stretch>
                  <a:fillRect l="-11228" t="-13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71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5" name="SGD with L2 regularization…"/>
              <p:cNvSpPr txBox="1"/>
              <p:nvPr/>
            </p:nvSpPr>
            <p:spPr>
              <a:xfrm>
                <a:off x="12125294" y="2486243"/>
                <a:ext cx="11931853" cy="966010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>
                <a:normAutofit/>
              </a:bodyPr>
              <a:lstStyle/>
              <a:p>
                <a:pPr marL="611187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:r>
                  <a:t>SGD with L2 regularization</a:t>
                </a:r>
              </a:p>
              <a:p>
                <a:pPr marL="1055687" lvl="1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57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nor/>
                          </m:r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1055687" lvl="1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57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𝜂𝛼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611187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:r>
                  <a:t>L2 regularization with </a:t>
                </a:r>
                <a14:m>
                  <m:oMath xmlns:m="http://schemas.openxmlformats.org/officeDocument/2006/math"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den>
                    </m:f>
                  </m:oMath>
                </a14:m>
                <a:r>
                  <a:t> gives</a:t>
                </a:r>
              </a:p>
            </p:txBody>
          </p:sp>
        </mc:Choice>
        <mc:Fallback>
          <p:sp>
            <p:nvSpPr>
              <p:cNvPr id="1145" name="SGD with L2 regularization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5294" y="2486243"/>
                <a:ext cx="11931853" cy="9660108"/>
              </a:xfrm>
              <a:prstGeom prst="rect">
                <a:avLst/>
              </a:prstGeom>
              <a:blipFill>
                <a:blip r:embed="rId4"/>
                <a:stretch>
                  <a:fillRect l="-9249" t="-1337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6" name="Text"/>
              <p:cNvSpPr txBox="1"/>
              <p:nvPr/>
            </p:nvSpPr>
            <p:spPr>
              <a:xfrm>
                <a:off x="12578081" y="10538523"/>
                <a:ext cx="10411198" cy="17474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marL="1055687" lvl="1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57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114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8081" y="10538523"/>
                <a:ext cx="10411198" cy="17474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3" grpId="0" build="p" animBg="1" advAuto="0"/>
      <p:bldP spid="1145" grpId="0" build="p" animBg="1" advAuto="0"/>
      <p:bldP spid="1146" grpId="0" animBg="1" advAuto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Weight decay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Weight decay</a:t>
            </a:r>
          </a:p>
        </p:txBody>
      </p:sp>
      <p:sp>
        <p:nvSpPr>
          <p:cNvPr id="11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72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2" name="Weight decay…"/>
              <p:cNvSpPr txBox="1"/>
              <p:nvPr/>
            </p:nvSpPr>
            <p:spPr>
              <a:xfrm>
                <a:off x="1393351" y="3550729"/>
                <a:ext cx="10411198" cy="706204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marL="611187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:r>
                  <a:t>Weight decay</a:t>
                </a:r>
              </a:p>
              <a:p>
                <a:pPr marL="1055687" lvl="1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:r>
                  <a:t>Decays weights </a:t>
                </a:r>
                <a14:m>
                  <m:oMath xmlns:m="http://schemas.openxmlformats.org/officeDocument/2006/math"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t> exponentially</a:t>
                </a:r>
              </a:p>
              <a:p>
                <a:pPr marL="1055687" lvl="1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sz="57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=(1−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611187" indent="-611187" algn="l">
                  <a:lnSpc>
                    <a:spcPct val="120000"/>
                  </a:lnSpc>
                  <a:spcBef>
                    <a:spcPts val="4200"/>
                  </a:spcBef>
                  <a:buClr>
                    <a:schemeClr val="accent1">
                      <a:lumOff val="-13575"/>
                    </a:schemeClr>
                  </a:buClr>
                  <a:buSzPct val="145000"/>
                  <a:buChar char="‣"/>
                  <a:defRPr sz="4800"/>
                </a:pPr>
                <a:r>
                  <a:t>For SGD, weight decay and L2 regularization are equivalent</a:t>
                </a:r>
              </a:p>
            </p:txBody>
          </p:sp>
        </mc:Choice>
        <mc:Fallback>
          <p:sp>
            <p:nvSpPr>
              <p:cNvPr id="1152" name="Weight decay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351" y="3550729"/>
                <a:ext cx="10411198" cy="7062047"/>
              </a:xfrm>
              <a:prstGeom prst="rect">
                <a:avLst/>
              </a:prstGeom>
              <a:blipFill>
                <a:blip r:embed="rId3"/>
                <a:stretch>
                  <a:fillRect l="-10603" t="-16652" b="-1242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3" name="But for this to hold, the weight decay and learning rate are coupled for a desired L2 regularization"/>
          <p:cNvSpPr txBox="1"/>
          <p:nvPr/>
        </p:nvSpPr>
        <p:spPr>
          <a:xfrm>
            <a:off x="2661487" y="10848428"/>
            <a:ext cx="11910336" cy="258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marL="611187" indent="-611187" algn="l">
              <a:lnSpc>
                <a:spcPct val="120000"/>
              </a:lnSpc>
              <a:spcBef>
                <a:spcPts val="4200"/>
              </a:spcBef>
              <a:buClr>
                <a:schemeClr val="accent1">
                  <a:lumOff val="-13575"/>
                </a:schemeClr>
              </a:buClr>
              <a:buSzPct val="145000"/>
              <a:buChar char="‣"/>
              <a:defRPr sz="4800"/>
            </a:lvl1pPr>
          </a:lstStyle>
          <a:p>
            <a:r>
              <a:t>But for this to hold, the weight decay and learning rate are coupled for a desired L2 regularization</a:t>
            </a:r>
          </a:p>
        </p:txBody>
      </p:sp>
      <p:sp>
        <p:nvSpPr>
          <p:cNvPr id="1154" name="Weight decay and L2 regularization are not necessarily equivalent for adaptive optimizers…"/>
          <p:cNvSpPr txBox="1"/>
          <p:nvPr/>
        </p:nvSpPr>
        <p:spPr>
          <a:xfrm>
            <a:off x="13468711" y="3465697"/>
            <a:ext cx="10411198" cy="624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611187" indent="-611187" algn="l">
              <a:lnSpc>
                <a:spcPct val="120000"/>
              </a:lnSpc>
              <a:spcBef>
                <a:spcPts val="4200"/>
              </a:spcBef>
              <a:buClr>
                <a:schemeClr val="accent1">
                  <a:lumOff val="-13575"/>
                </a:schemeClr>
              </a:buClr>
              <a:buSzPct val="145000"/>
              <a:buChar char="‣"/>
              <a:defRPr sz="4800"/>
            </a:pPr>
            <a:r>
              <a:t>Weight decay and L2 regularization are not necessarily equivalent for adaptive optimizers</a:t>
            </a:r>
          </a:p>
          <a:p>
            <a:pPr marL="611187" indent="-611187" algn="l">
              <a:lnSpc>
                <a:spcPct val="120000"/>
              </a:lnSpc>
              <a:spcBef>
                <a:spcPts val="4200"/>
              </a:spcBef>
              <a:buClr>
                <a:schemeClr val="accent1">
                  <a:lumOff val="-13575"/>
                </a:schemeClr>
              </a:buClr>
              <a:buSzPct val="145000"/>
              <a:buChar char="‣"/>
              <a:defRPr sz="4800"/>
            </a:pPr>
            <a:r>
              <a:t>Can decouple weight decay and learning rate parameters</a:t>
            </a:r>
          </a:p>
          <a:p>
            <a:pPr marL="1055687" lvl="1" indent="-611187" algn="l">
              <a:lnSpc>
                <a:spcPct val="120000"/>
              </a:lnSpc>
              <a:spcBef>
                <a:spcPts val="4200"/>
              </a:spcBef>
              <a:buClr>
                <a:schemeClr val="accent1">
                  <a:lumOff val="-13575"/>
                </a:schemeClr>
              </a:buClr>
              <a:buSzPct val="145000"/>
              <a:buChar char="‣"/>
              <a:defRPr sz="4800"/>
            </a:pPr>
            <a:r>
              <a:t>AdamW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3" grpId="0" animBg="1" advAuto="0"/>
      <p:bldP spid="1154" grpId="0" animBg="1" advAuto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Label smooth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Label smoothing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9" name="Cross entropy loss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35821" y="3175949"/>
                <a:ext cx="14281249" cy="9660109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452278" indent="-452278" defTabSz="607933">
                  <a:spcBef>
                    <a:spcPts val="31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552"/>
                </a:pPr>
                <a:r>
                  <a:t>Cross entropy loss</a:t>
                </a:r>
              </a:p>
              <a:p>
                <a:pPr marL="781208" lvl="1" indent="-452278" defTabSz="607933">
                  <a:spcBef>
                    <a:spcPts val="31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552"/>
                </a:pPr>
                <a14:m>
                  <m:oMath xmlns:m="http://schemas.openxmlformats.org/officeDocument/2006/math"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limUpp>
                      <m:limUp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lim>
                    </m:limUp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781208" lvl="1" indent="-452278" defTabSz="607933">
                  <a:spcBef>
                    <a:spcPts val="31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552"/>
                </a:pPr>
                <a:r>
                  <a:t>Ground-truth </a:t>
                </a:r>
                <a14:m>
                  <m:oMath xmlns:m="http://schemas.openxmlformats.org/officeDocument/2006/math"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)=1[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/>
              </a:p>
              <a:p>
                <a:pPr marL="452278" indent="-452278" defTabSz="607933">
                  <a:spcBef>
                    <a:spcPts val="31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552"/>
                </a:pPr>
                <a:r>
                  <a:t>Label smoothing</a:t>
                </a:r>
              </a:p>
              <a:p>
                <a:pPr marL="781208" lvl="1" indent="-452278" defTabSz="607933">
                  <a:spcBef>
                    <a:spcPts val="31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552"/>
                </a:pPr>
                <a:r>
                  <a:t>Smoothed distribution for training</a:t>
                </a:r>
              </a:p>
              <a:p>
                <a:pPr marL="781208" lvl="1" indent="-452278" defTabSz="607933">
                  <a:spcBef>
                    <a:spcPts val="31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552"/>
                </a:pPr>
                <a14:m>
                  <m:oMath xmlns:m="http://schemas.openxmlformats.org/officeDocument/2006/math"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𝜖𝛿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)+(1−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781208" lvl="1" indent="-452278" defTabSz="607933">
                  <a:spcBef>
                    <a:spcPts val="31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552"/>
                </a:pPr>
                <a14:m>
                  <m:oMath xmlns:m="http://schemas.openxmlformats.org/officeDocument/2006/math"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is prior - simplest prior is the uniform distribution: </a:t>
                </a:r>
                <a14:m>
                  <m:oMath xmlns:m="http://schemas.openxmlformats.org/officeDocument/2006/math"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t> </a:t>
                </a:r>
                <a:endParaRPr sz="4800"/>
              </a:p>
            </p:txBody>
          </p:sp>
        </mc:Choice>
        <mc:Fallback>
          <p:sp>
            <p:nvSpPr>
              <p:cNvPr id="1159" name="Cross entropy los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35821" y="3175949"/>
                <a:ext cx="14281249" cy="9660109"/>
              </a:xfrm>
              <a:prstGeom prst="rect">
                <a:avLst/>
              </a:prstGeom>
              <a:blipFill>
                <a:blip r:embed="rId2"/>
                <a:stretch>
                  <a:fillRect l="-5594" t="-9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73</a:t>
            </a:fld>
            <a:endParaRPr/>
          </a:p>
        </p:txBody>
      </p:sp>
      <p:grpSp>
        <p:nvGrpSpPr>
          <p:cNvPr id="1163" name="Group"/>
          <p:cNvGrpSpPr/>
          <p:nvPr/>
        </p:nvGrpSpPr>
        <p:grpSpPr>
          <a:xfrm>
            <a:off x="11227131" y="3088140"/>
            <a:ext cx="11945303" cy="6127508"/>
            <a:chOff x="0" y="0"/>
            <a:chExt cx="11945301" cy="6127506"/>
          </a:xfrm>
        </p:grpSpPr>
        <p:pic>
          <p:nvPicPr>
            <p:cNvPr id="1161" name="pasted-movie.png" descr="pasted-movi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1663737" cy="53045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62" name="Figure from https://blog.dailydoseofds.com/p/label-smoothing-the-overlooked-and"/>
            <p:cNvSpPr txBox="1"/>
            <p:nvPr/>
          </p:nvSpPr>
          <p:spPr>
            <a:xfrm>
              <a:off x="388904" y="5624865"/>
              <a:ext cx="11556398" cy="502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 sz="2400" i="1">
                  <a:solidFill>
                    <a:srgbClr val="5E5E5E"/>
                  </a:solidFill>
                </a:defRPr>
              </a:lvl1pPr>
            </a:lstStyle>
            <a:p>
              <a:r>
                <a:t>Figure from https://blog.dailydoseofds.com/p/label-smoothing-the-overlooked-and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9" grpId="0" build="p" animBg="1" advAuto="0"/>
      <p:bldP spid="1163" grpId="0" animBg="1" advAuto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Regularization: Dropout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Regularization: Dropout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6" name="Form of regularization for RNNs (and any NN in general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35821" y="3175949"/>
                <a:ext cx="14281249" cy="9660109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543956" indent="-543956" defTabSz="731162">
                  <a:spcBef>
                    <a:spcPts val="37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272"/>
                </a:pPr>
                <a:r>
                  <a:t>Form of regularization for RNNs (and any NN in general)</a:t>
                </a:r>
              </a:p>
              <a:p>
                <a:pPr marL="543956" indent="-543956" defTabSz="731162">
                  <a:spcBef>
                    <a:spcPts val="37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272"/>
                </a:pPr>
                <a:r>
                  <a:rPr b="1"/>
                  <a:t>Idea:</a:t>
                </a:r>
                <a:r>
                  <a:t> “Handicap” NN  by </a:t>
                </a:r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removing hidden units</a:t>
                </a:r>
                <a:r>
                  <a:t> </a:t>
                </a:r>
                <a:r>
                  <a:rPr b="1"/>
                  <a:t>stochastically</a:t>
                </a:r>
              </a:p>
              <a:p>
                <a:pPr marL="939561" lvl="1" indent="-543956" defTabSz="731162">
                  <a:spcBef>
                    <a:spcPts val="37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272"/>
                </a:pPr>
                <a:r>
                  <a:t>set each hidden unit in a layer to 0 with probability </a:t>
                </a:r>
                <a14:m>
                  <m:oMath xmlns:m="http://schemas.openxmlformats.org/officeDocument/2006/math">
                    <m:r>
                      <a:rPr sz="5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t> during training ( </a:t>
                </a:r>
                <a14:m>
                  <m:oMath xmlns:m="http://schemas.openxmlformats.org/officeDocument/2006/math">
                    <m:r>
                      <a:rPr sz="5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sz="5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t> usually works well)</a:t>
                </a:r>
              </a:p>
              <a:p>
                <a:pPr marL="939561" lvl="1" indent="-543956" defTabSz="731162">
                  <a:spcBef>
                    <a:spcPts val="37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272">
                    <a:solidFill>
                      <a:schemeClr val="accent1">
                        <a:lumOff val="-13575"/>
                      </a:schemeClr>
                    </a:solidFill>
                  </a:defRPr>
                </a:pPr>
                <a:r>
                  <a:t>scale outputs by </a:t>
                </a:r>
                <a14:m>
                  <m:oMath xmlns:m="http://schemas.openxmlformats.org/officeDocument/2006/math">
                    <m:r>
                      <a:rPr sz="51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1/(1−</m:t>
                    </m:r>
                    <m:r>
                      <a:rPr sz="51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sz="51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939561" lvl="1" indent="-543956" defTabSz="731162">
                  <a:spcBef>
                    <a:spcPts val="37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272"/>
                </a:pPr>
                <a:r>
                  <a:t>hidden units forced to learn more general patterns</a:t>
                </a:r>
              </a:p>
              <a:p>
                <a:pPr marL="543956" indent="-543956" defTabSz="731162">
                  <a:spcBef>
                    <a:spcPts val="37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272"/>
                </a:pPr>
                <a:r>
                  <a:rPr b="1"/>
                  <a:t>Test time:</a:t>
                </a:r>
                <a:r>
                  <a:t> Use all activations (no need to rescale)</a:t>
                </a:r>
              </a:p>
            </p:txBody>
          </p:sp>
        </mc:Choice>
        <mc:Fallback>
          <p:sp>
            <p:nvSpPr>
              <p:cNvPr id="1166" name="Form of regularization for RNNs (and any NN in general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35821" y="3175949"/>
                <a:ext cx="14281249" cy="9660109"/>
              </a:xfrm>
              <a:prstGeom prst="rect">
                <a:avLst/>
              </a:prstGeom>
              <a:blipFill>
                <a:blip r:embed="rId3"/>
                <a:stretch>
                  <a:fillRect l="-6832" t="-11798" r="-1580" b="-11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67" name="Image" descr="Image"/>
          <p:cNvPicPr>
            <a:picLocks noChangeAspect="1"/>
          </p:cNvPicPr>
          <p:nvPr/>
        </p:nvPicPr>
        <p:blipFill>
          <a:blip r:embed="rId4"/>
          <a:srcRect l="9762" t="5921" r="52362"/>
          <a:stretch>
            <a:fillRect/>
          </a:stretch>
        </p:blipFill>
        <p:spPr>
          <a:xfrm>
            <a:off x="15700575" y="2359649"/>
            <a:ext cx="4113297" cy="4916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8" name="Image" descr="Image"/>
          <p:cNvPicPr>
            <a:picLocks noChangeAspect="1"/>
          </p:cNvPicPr>
          <p:nvPr/>
        </p:nvPicPr>
        <p:blipFill>
          <a:blip r:embed="rId4"/>
          <a:srcRect l="52038" t="5921" r="8816"/>
          <a:stretch>
            <a:fillRect/>
          </a:stretch>
        </p:blipFill>
        <p:spPr>
          <a:xfrm>
            <a:off x="15631519" y="7658417"/>
            <a:ext cx="4251180" cy="4916051"/>
          </a:xfrm>
          <a:prstGeom prst="rect">
            <a:avLst/>
          </a:prstGeom>
          <a:ln w="12700">
            <a:miter lim="400000"/>
          </a:ln>
        </p:spPr>
      </p:pic>
      <p:sp>
        <p:nvSpPr>
          <p:cNvPr id="1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74</a:t>
            </a:fld>
            <a:endParaRPr/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Dropout and attention improves translation"/>
          <p:cNvSpPr txBox="1">
            <a:spLocks noGrp="1"/>
          </p:cNvSpPr>
          <p:nvPr>
            <p:ph type="title"/>
          </p:nvPr>
        </p:nvSpPr>
        <p:spPr>
          <a:xfrm>
            <a:off x="4240117" y="17859"/>
            <a:ext cx="17274962" cy="1778876"/>
          </a:xfrm>
          <a:prstGeom prst="rect">
            <a:avLst/>
          </a:prstGeom>
        </p:spPr>
        <p:txBody>
          <a:bodyPr/>
          <a:lstStyle/>
          <a:p>
            <a:r>
              <a:t>Dropout and attention improves translation</a:t>
            </a:r>
          </a:p>
        </p:txBody>
      </p:sp>
      <p:sp>
        <p:nvSpPr>
          <p:cNvPr id="1174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75</a:t>
            </a:fld>
            <a:endParaRPr/>
          </a:p>
        </p:txBody>
      </p:sp>
      <p:pic>
        <p:nvPicPr>
          <p:cNvPr id="117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281" y="2700222"/>
            <a:ext cx="19405601" cy="9029701"/>
          </a:xfrm>
          <a:prstGeom prst="rect">
            <a:avLst/>
          </a:prstGeom>
          <a:ln w="12700">
            <a:miter lim="400000"/>
          </a:ln>
        </p:spPr>
      </p:pic>
      <p:sp>
        <p:nvSpPr>
          <p:cNvPr id="1177" name="WMT’14 English to German Results"/>
          <p:cNvSpPr txBox="1"/>
          <p:nvPr/>
        </p:nvSpPr>
        <p:spPr>
          <a:xfrm>
            <a:off x="6605527" y="11860343"/>
            <a:ext cx="9036584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WMT’14 English to German Results</a:t>
            </a:r>
          </a:p>
        </p:txBody>
      </p:sp>
      <p:sp>
        <p:nvSpPr>
          <p:cNvPr id="1178" name="(Luong et al, 2015)"/>
          <p:cNvSpPr txBox="1"/>
          <p:nvPr/>
        </p:nvSpPr>
        <p:spPr>
          <a:xfrm>
            <a:off x="19140989" y="12633410"/>
            <a:ext cx="4772941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>
                <a:solidFill>
                  <a:srgbClr val="5E5E5E"/>
                </a:solidFill>
              </a:defRPr>
            </a:lvl1pPr>
          </a:lstStyle>
          <a:p>
            <a:r>
              <a:t>(Luong et al, 2015)</a:t>
            </a:r>
          </a:p>
        </p:txBody>
      </p:sp>
      <p:sp>
        <p:nvSpPr>
          <p:cNvPr id="1179" name="Rectangle"/>
          <p:cNvSpPr/>
          <p:nvPr/>
        </p:nvSpPr>
        <p:spPr>
          <a:xfrm>
            <a:off x="17376745" y="7972607"/>
            <a:ext cx="3914011" cy="602381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180" name="Rectangle"/>
          <p:cNvSpPr/>
          <p:nvPr/>
        </p:nvSpPr>
        <p:spPr>
          <a:xfrm>
            <a:off x="17376745" y="8688948"/>
            <a:ext cx="3914011" cy="2260652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9" grpId="0" animBg="1" advAuto="0"/>
      <p:bldP spid="1180" grpId="0" animBg="1" advAuto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Other challenges with NM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Other challenges with NMT</a:t>
            </a:r>
          </a:p>
        </p:txBody>
      </p:sp>
      <p:sp>
        <p:nvSpPr>
          <p:cNvPr id="1183" name="Out of vocabulary (OOV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Out of vocabulary (OOV)</a:t>
            </a:r>
          </a:p>
          <a:p>
            <a:r>
              <a:t>Low-resource languages</a:t>
            </a:r>
          </a:p>
          <a:p>
            <a:r>
              <a:t>Long-term context</a:t>
            </a:r>
          </a:p>
          <a:p>
            <a:r>
              <a:t>Common sense knowledge (e.g. hot dog, paper jam)</a:t>
            </a:r>
          </a:p>
          <a:p>
            <a:r>
              <a:t>Fairness and bias</a:t>
            </a:r>
          </a:p>
          <a:p>
            <a:r>
              <a:t>Interpretability</a:t>
            </a:r>
          </a:p>
        </p:txBody>
      </p:sp>
      <p:sp>
        <p:nvSpPr>
          <p:cNvPr id="11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76</a:t>
            </a:fld>
            <a:endParaRPr/>
          </a:p>
        </p:txBody>
      </p:sp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Out of vocabulary (OOV)"/>
          <p:cNvSpPr txBox="1">
            <a:spLocks noGrp="1"/>
          </p:cNvSpPr>
          <p:nvPr>
            <p:ph type="title"/>
          </p:nvPr>
        </p:nvSpPr>
        <p:spPr>
          <a:xfrm>
            <a:off x="4387453" y="-184547"/>
            <a:ext cx="15609094" cy="2417034"/>
          </a:xfrm>
          <a:prstGeom prst="rect">
            <a:avLst/>
          </a:prstGeom>
        </p:spPr>
        <p:txBody>
          <a:bodyPr/>
          <a:lstStyle/>
          <a:p>
            <a:r>
              <a:t>Out of vocabulary (OOV)</a:t>
            </a:r>
          </a:p>
        </p:txBody>
      </p:sp>
      <p:sp>
        <p:nvSpPr>
          <p:cNvPr id="1187" name="Subword-modeling"/>
          <p:cNvSpPr txBox="1">
            <a:spLocks noGrp="1"/>
          </p:cNvSpPr>
          <p:nvPr>
            <p:ph type="body" sz="quarter" idx="1"/>
          </p:nvPr>
        </p:nvSpPr>
        <p:spPr>
          <a:xfrm>
            <a:off x="1146075" y="2613334"/>
            <a:ext cx="6382785" cy="1256340"/>
          </a:xfrm>
          <a:prstGeom prst="rect">
            <a:avLst/>
          </a:prstGeom>
        </p:spPr>
        <p:txBody>
          <a:bodyPr/>
          <a:lstStyle/>
          <a:p>
            <a:r>
              <a:t>Subword-modeling</a:t>
            </a:r>
          </a:p>
        </p:txBody>
      </p:sp>
      <p:sp>
        <p:nvSpPr>
          <p:cNvPr id="11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77</a:t>
            </a:fld>
            <a:endParaRPr/>
          </a:p>
        </p:txBody>
      </p:sp>
      <p:pic>
        <p:nvPicPr>
          <p:cNvPr id="118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7862" y="3637528"/>
            <a:ext cx="10393943" cy="5732561"/>
          </a:xfrm>
          <a:prstGeom prst="rect">
            <a:avLst/>
          </a:prstGeom>
          <a:ln w="12700">
            <a:miter lim="400000"/>
          </a:ln>
        </p:spPr>
      </p:pic>
      <p:sp>
        <p:nvSpPr>
          <p:cNvPr id="1190" name="Copy mechanism"/>
          <p:cNvSpPr txBox="1"/>
          <p:nvPr/>
        </p:nvSpPr>
        <p:spPr>
          <a:xfrm>
            <a:off x="12208056" y="2380035"/>
            <a:ext cx="6054599" cy="1428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611187" indent="-611187" algn="l">
              <a:spcBef>
                <a:spcPts val="7000"/>
              </a:spcBef>
              <a:buSzPct val="145000"/>
              <a:buChar char="•"/>
            </a:lvl1pPr>
          </a:lstStyle>
          <a:p>
            <a:r>
              <a:t>Copy mechanism</a:t>
            </a:r>
          </a:p>
        </p:txBody>
      </p:sp>
      <p:sp>
        <p:nvSpPr>
          <p:cNvPr id="1191" name="(See et al, 2017)"/>
          <p:cNvSpPr txBox="1"/>
          <p:nvPr/>
        </p:nvSpPr>
        <p:spPr>
          <a:xfrm>
            <a:off x="19446653" y="12918083"/>
            <a:ext cx="4161613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>
                <a:solidFill>
                  <a:srgbClr val="5E5E5E"/>
                </a:solidFill>
              </a:defRPr>
            </a:lvl1pPr>
          </a:lstStyle>
          <a:p>
            <a:r>
              <a:t>(See et al, 2017)</a:t>
            </a:r>
          </a:p>
        </p:txBody>
      </p:sp>
      <p:sp>
        <p:nvSpPr>
          <p:cNvPr id="1192" name="Probability of generating from vocabulary or copying from input…"/>
          <p:cNvSpPr txBox="1"/>
          <p:nvPr/>
        </p:nvSpPr>
        <p:spPr>
          <a:xfrm>
            <a:off x="12820483" y="9152708"/>
            <a:ext cx="10960493" cy="386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611187" indent="-611187" algn="l">
              <a:spcBef>
                <a:spcPts val="7000"/>
              </a:spcBef>
              <a:buSzPct val="145000"/>
              <a:buChar char="•"/>
            </a:pPr>
            <a:r>
              <a:t>Probability of generating from vocabulary or copying from input</a:t>
            </a:r>
          </a:p>
          <a:p>
            <a:pPr marL="611187" indent="-611187" algn="l">
              <a:spcBef>
                <a:spcPts val="2000"/>
              </a:spcBef>
              <a:buSzPct val="145000"/>
              <a:buChar char="•"/>
            </a:pPr>
            <a:r>
              <a:t>Probability of copying specific word (similar to attention)</a:t>
            </a:r>
          </a:p>
        </p:txBody>
      </p:sp>
      <p:pic>
        <p:nvPicPr>
          <p:cNvPr id="1193" name="Screen Shot 2020-03-12 at 2.56.07 PM.png" descr="Screen Shot 2020-03-12 at 2.56.07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271" y="5716858"/>
            <a:ext cx="9881824" cy="6528887"/>
          </a:xfrm>
          <a:prstGeom prst="rect">
            <a:avLst/>
          </a:prstGeom>
          <a:ln w="12700">
            <a:miter lim="400000"/>
          </a:ln>
        </p:spPr>
      </p:pic>
      <p:sp>
        <p:nvSpPr>
          <p:cNvPr id="1194" name="Character level GRU…"/>
          <p:cNvSpPr txBox="1"/>
          <p:nvPr/>
        </p:nvSpPr>
        <p:spPr>
          <a:xfrm>
            <a:off x="1845918" y="3698013"/>
            <a:ext cx="7882982" cy="180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611187" indent="-611187" algn="l">
              <a:spcBef>
                <a:spcPts val="7000"/>
              </a:spcBef>
              <a:buSzPct val="145000"/>
              <a:buChar char="•"/>
            </a:pPr>
            <a:r>
              <a:t>Character level GRU </a:t>
            </a:r>
          </a:p>
          <a:p>
            <a:pPr marL="611187" indent="-611187" algn="l">
              <a:spcBef>
                <a:spcPts val="2000"/>
              </a:spcBef>
              <a:buSzPct val="145000"/>
              <a:buChar char="•"/>
            </a:pPr>
            <a:r>
              <a:t>Byte-pair encoding </a:t>
            </a:r>
          </a:p>
        </p:txBody>
      </p:sp>
      <p:sp>
        <p:nvSpPr>
          <p:cNvPr id="1195" name="(Lee et al, 2017)"/>
          <p:cNvSpPr txBox="1"/>
          <p:nvPr/>
        </p:nvSpPr>
        <p:spPr>
          <a:xfrm>
            <a:off x="1845448" y="12455741"/>
            <a:ext cx="411020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>
                <a:solidFill>
                  <a:srgbClr val="5E5E5E"/>
                </a:solidFill>
              </a:defRPr>
            </a:lvl1pPr>
          </a:lstStyle>
          <a:p>
            <a:r>
              <a:t>(Lee et al, 2017)</a:t>
            </a:r>
          </a:p>
        </p:txBody>
      </p:sp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8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78</a:t>
            </a:fld>
            <a:endParaRPr/>
          </a:p>
        </p:txBody>
      </p:sp>
      <p:pic>
        <p:nvPicPr>
          <p:cNvPr id="120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447" y="3688357"/>
            <a:ext cx="17627601" cy="8750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01" name="(Araabi and Monz, 2020)"/>
          <p:cNvSpPr txBox="1"/>
          <p:nvPr/>
        </p:nvSpPr>
        <p:spPr>
          <a:xfrm>
            <a:off x="20350694" y="12880399"/>
            <a:ext cx="3865411" cy="552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lnSpc>
                <a:spcPct val="117999"/>
              </a:lnSpc>
              <a:defRPr sz="2700" i="1">
                <a:solidFill>
                  <a:srgbClr val="5E5E5E"/>
                </a:solidFill>
              </a:defRPr>
            </a:lvl1pPr>
          </a:lstStyle>
          <a:p>
            <a:r>
              <a:t>(Araabi and Monz, 2020)</a:t>
            </a:r>
          </a:p>
        </p:txBody>
      </p:sp>
    </p:spTree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3281</Words>
  <Application>Microsoft Office PowerPoint</Application>
  <PresentationFormat>Custom</PresentationFormat>
  <Paragraphs>729</Paragraphs>
  <Slides>79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90" baseType="lpstr">
      <vt:lpstr>Helvetica Light</vt:lpstr>
      <vt:lpstr>Helvetica Neue</vt:lpstr>
      <vt:lpstr>Helvetica Neue Light</vt:lpstr>
      <vt:lpstr>Helvetica Neue Thin</vt:lpstr>
      <vt:lpstr>Times Roman</vt:lpstr>
      <vt:lpstr>Arial</vt:lpstr>
      <vt:lpstr>Calibri</vt:lpstr>
      <vt:lpstr>Cambria Math</vt:lpstr>
      <vt:lpstr>Georgia</vt:lpstr>
      <vt:lpstr>Gill Sans MT</vt:lpstr>
      <vt:lpstr>White</vt:lpstr>
      <vt:lpstr>CMPT 413/713: Natural Language Processing</vt:lpstr>
      <vt:lpstr>Overview</vt:lpstr>
      <vt:lpstr>Want computer friendly representation for applications </vt:lpstr>
      <vt:lpstr>Encoder-Decoder Model</vt:lpstr>
      <vt:lpstr>Seq2Seq Tasks and Applications</vt:lpstr>
      <vt:lpstr>Cross-Modal Seq2Seq</vt:lpstr>
      <vt:lpstr>Cross-modal sequence generation</vt:lpstr>
      <vt:lpstr>Seq2Seq Tasks and Applications</vt:lpstr>
      <vt:lpstr>Neural Machine Translation</vt:lpstr>
      <vt:lpstr>Sequence to Sequence learning (Seq2seq)</vt:lpstr>
      <vt:lpstr>Encoder</vt:lpstr>
      <vt:lpstr>Encoder</vt:lpstr>
      <vt:lpstr>Encoder</vt:lpstr>
      <vt:lpstr>Encoder</vt:lpstr>
      <vt:lpstr>Decoder</vt:lpstr>
      <vt:lpstr>Decoder</vt:lpstr>
      <vt:lpstr>Decoder</vt:lpstr>
      <vt:lpstr>Decoder</vt:lpstr>
      <vt:lpstr>Seq2seq training</vt:lpstr>
      <vt:lpstr>Seq2seq training</vt:lpstr>
      <vt:lpstr>Efficient Training: Batching</vt:lpstr>
      <vt:lpstr>Batching</vt:lpstr>
      <vt:lpstr>Decoding strategies</vt:lpstr>
      <vt:lpstr>Generation</vt:lpstr>
      <vt:lpstr>Decoding Strategies</vt:lpstr>
      <vt:lpstr>Pure (ancestral) Sampling</vt:lpstr>
      <vt:lpstr>Greedy decoding</vt:lpstr>
      <vt:lpstr>Exhaustive search?</vt:lpstr>
      <vt:lpstr>Recall: Beam search (a middle ground)</vt:lpstr>
      <vt:lpstr>Beam decoding</vt:lpstr>
      <vt:lpstr>Beam decoding</vt:lpstr>
      <vt:lpstr>Beam decoding</vt:lpstr>
      <vt:lpstr>Backtrack</vt:lpstr>
      <vt:lpstr>Beam decoding</vt:lpstr>
      <vt:lpstr>Beam Search Pitfalls</vt:lpstr>
      <vt:lpstr>Sampling</vt:lpstr>
      <vt:lpstr>Top-k Sampling</vt:lpstr>
      <vt:lpstr>Top-p Nucleus Sampling</vt:lpstr>
      <vt:lpstr>Summary of sampling for text generation</vt:lpstr>
      <vt:lpstr>Evaluating text generation</vt:lpstr>
      <vt:lpstr>Evaluating translation quality</vt:lpstr>
      <vt:lpstr>Evaluation metrics</vt:lpstr>
      <vt:lpstr>BLEU</vt:lpstr>
      <vt:lpstr>BLEU</vt:lpstr>
      <vt:lpstr>BLEU</vt:lpstr>
      <vt:lpstr>BLEU scores</vt:lpstr>
      <vt:lpstr>PowerPoint Presentation</vt:lpstr>
      <vt:lpstr>Sequence to sequence models with attention</vt:lpstr>
      <vt:lpstr>Issues with vanilla seq2seq</vt:lpstr>
      <vt:lpstr>Issues with vanilla seq2seq</vt:lpstr>
      <vt:lpstr>Attention</vt:lpstr>
      <vt:lpstr>Seq2seq with attention</vt:lpstr>
      <vt:lpstr>Seq2seq with attention</vt:lpstr>
      <vt:lpstr>Seq2seq with attention</vt:lpstr>
      <vt:lpstr>Seq2seq with attention</vt:lpstr>
      <vt:lpstr>Seq2seq with attention</vt:lpstr>
      <vt:lpstr>Computing attention</vt:lpstr>
      <vt:lpstr>Types of attention</vt:lpstr>
      <vt:lpstr>Attention can be applied to other modalities</vt:lpstr>
      <vt:lpstr>Attention on other modalities</vt:lpstr>
      <vt:lpstr>Image captioning example</vt:lpstr>
      <vt:lpstr>Soft vs Hard Attention</vt:lpstr>
      <vt:lpstr>Global vs Local Attention</vt:lpstr>
      <vt:lpstr>Self-Attention</vt:lpstr>
      <vt:lpstr>Transformers: self-attention</vt:lpstr>
      <vt:lpstr>Issues with vanilla seq2seq</vt:lpstr>
      <vt:lpstr>Exposure bias</vt:lpstr>
      <vt:lpstr>Scheduled Sampling</vt:lpstr>
      <vt:lpstr>Regularization</vt:lpstr>
      <vt:lpstr>Weight decay</vt:lpstr>
      <vt:lpstr>Weight decay and SGD</vt:lpstr>
      <vt:lpstr>Weight decay</vt:lpstr>
      <vt:lpstr>Label smoothing</vt:lpstr>
      <vt:lpstr>Regularization: Dropout</vt:lpstr>
      <vt:lpstr>Dropout and attention improves translation</vt:lpstr>
      <vt:lpstr>Other challenges with NMT</vt:lpstr>
      <vt:lpstr>Out of vocabulary (OOV)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Richard Peng</cp:lastModifiedBy>
  <cp:revision>1</cp:revision>
  <dcterms:modified xsi:type="dcterms:W3CDTF">2026-10-23T09:01:27Z</dcterms:modified>
</cp:coreProperties>
</file>