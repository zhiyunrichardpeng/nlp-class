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" ContentType="image/ti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ink/ink32.xml" ContentType="application/inkml+xml"/>
  <Override PartName="/ppt/ink/ink33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76"/>
  </p:notesMasterIdLst>
  <p:sldIdLst>
    <p:sldId id="256" r:id="rId2"/>
    <p:sldId id="336" r:id="rId3"/>
    <p:sldId id="263" r:id="rId4"/>
    <p:sldId id="265" r:id="rId5"/>
    <p:sldId id="266" r:id="rId6"/>
    <p:sldId id="267" r:id="rId7"/>
    <p:sldId id="268" r:id="rId8"/>
    <p:sldId id="269" r:id="rId9"/>
    <p:sldId id="270" r:id="rId10"/>
    <p:sldId id="271" r:id="rId11"/>
    <p:sldId id="272" r:id="rId12"/>
    <p:sldId id="273" r:id="rId13"/>
    <p:sldId id="274" r:id="rId14"/>
    <p:sldId id="275" r:id="rId15"/>
    <p:sldId id="276" r:id="rId16"/>
    <p:sldId id="277" r:id="rId17"/>
    <p:sldId id="278" r:id="rId18"/>
    <p:sldId id="279" r:id="rId19"/>
    <p:sldId id="280" r:id="rId20"/>
    <p:sldId id="281" r:id="rId21"/>
    <p:sldId id="282" r:id="rId22"/>
    <p:sldId id="283" r:id="rId23"/>
    <p:sldId id="284" r:id="rId24"/>
    <p:sldId id="285" r:id="rId25"/>
    <p:sldId id="286" r:id="rId26"/>
    <p:sldId id="287" r:id="rId27"/>
    <p:sldId id="288" r:id="rId28"/>
    <p:sldId id="289" r:id="rId29"/>
    <p:sldId id="290" r:id="rId30"/>
    <p:sldId id="291" r:id="rId31"/>
    <p:sldId id="292" r:id="rId32"/>
    <p:sldId id="293" r:id="rId33"/>
    <p:sldId id="294" r:id="rId34"/>
    <p:sldId id="295" r:id="rId35"/>
    <p:sldId id="296" r:id="rId36"/>
    <p:sldId id="297" r:id="rId37"/>
    <p:sldId id="298" r:id="rId38"/>
    <p:sldId id="299" r:id="rId39"/>
    <p:sldId id="300" r:id="rId40"/>
    <p:sldId id="301" r:id="rId41"/>
    <p:sldId id="302" r:id="rId42"/>
    <p:sldId id="303" r:id="rId43"/>
    <p:sldId id="304" r:id="rId44"/>
    <p:sldId id="305" r:id="rId45"/>
    <p:sldId id="306" r:id="rId46"/>
    <p:sldId id="307" r:id="rId47"/>
    <p:sldId id="308" r:id="rId48"/>
    <p:sldId id="309" r:id="rId49"/>
    <p:sldId id="310" r:id="rId50"/>
    <p:sldId id="311" r:id="rId51"/>
    <p:sldId id="312" r:id="rId52"/>
    <p:sldId id="313" r:id="rId53"/>
    <p:sldId id="314" r:id="rId54"/>
    <p:sldId id="315" r:id="rId55"/>
    <p:sldId id="316" r:id="rId56"/>
    <p:sldId id="317" r:id="rId57"/>
    <p:sldId id="318" r:id="rId58"/>
    <p:sldId id="319" r:id="rId59"/>
    <p:sldId id="320" r:id="rId60"/>
    <p:sldId id="321" r:id="rId61"/>
    <p:sldId id="322" r:id="rId62"/>
    <p:sldId id="323" r:id="rId63"/>
    <p:sldId id="324" r:id="rId64"/>
    <p:sldId id="325" r:id="rId65"/>
    <p:sldId id="326" r:id="rId66"/>
    <p:sldId id="327" r:id="rId67"/>
    <p:sldId id="328" r:id="rId68"/>
    <p:sldId id="329" r:id="rId69"/>
    <p:sldId id="330" r:id="rId70"/>
    <p:sldId id="331" r:id="rId71"/>
    <p:sldId id="332" r:id="rId72"/>
    <p:sldId id="333" r:id="rId73"/>
    <p:sldId id="334" r:id="rId74"/>
    <p:sldId id="335" r:id="rId75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1pPr>
    <a:lvl2pPr marL="0" marR="0" indent="228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2pPr>
    <a:lvl3pPr marL="0" marR="0" indent="457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3pPr>
    <a:lvl4pPr marL="0" marR="0" indent="685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4pPr>
    <a:lvl5pPr marL="0" marR="0" indent="9144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5pPr>
    <a:lvl6pPr marL="0" marR="0" indent="11430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6pPr>
    <a:lvl7pPr marL="0" marR="0" indent="13716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7pPr>
    <a:lvl8pPr marL="0" marR="0" indent="16002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8pPr>
    <a:lvl9pPr marL="0" marR="0" indent="1828800" algn="ctr" defTabSz="821531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44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Helvetica Neue"/>
        <a:ea typeface="Helvetica Neue"/>
        <a:cs typeface="Helvetica Neue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E3E5E8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lumOff val="-13575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solidFill>
                <a:srgbClr val="3797C6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>
              <a:hueOff val="114395"/>
              <a:lumOff val="-24975"/>
            </a:schemeClr>
          </a:solidFill>
        </a:fill>
      </a:tcStyle>
    </a:firstRow>
  </a:tblStyle>
  <a:tblStyle styleId="{C7B018BB-80A7-4F77-B60F-C8B233D01FF8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B8B8B8"/>
              </a:solidFill>
              <a:prstDash val="solid"/>
              <a:miter lim="400000"/>
            </a:ln>
          </a:left>
          <a:right>
            <a:ln w="12700" cap="flat">
              <a:solidFill>
                <a:srgbClr val="B8B8B8"/>
              </a:solidFill>
              <a:prstDash val="solid"/>
              <a:miter lim="400000"/>
            </a:ln>
          </a:right>
          <a:top>
            <a:ln w="12700" cap="flat">
              <a:solidFill>
                <a:srgbClr val="B8B8B8"/>
              </a:solidFill>
              <a:prstDash val="solid"/>
              <a:miter lim="400000"/>
            </a:ln>
          </a:top>
          <a:bottom>
            <a:ln w="12700" cap="flat">
              <a:solidFill>
                <a:srgbClr val="B8B8B8"/>
              </a:solidFill>
              <a:prstDash val="solid"/>
              <a:miter lim="400000"/>
            </a:ln>
          </a:bottom>
          <a:insideH>
            <a:ln w="12700" cap="flat">
              <a:solidFill>
                <a:srgbClr val="B8B8B8"/>
              </a:solidFill>
              <a:prstDash val="solid"/>
              <a:miter lim="400000"/>
            </a:ln>
          </a:insideH>
          <a:insideV>
            <a:ln w="12700" cap="flat">
              <a:solidFill>
                <a:srgbClr val="B8B8B8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E1E0DA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chemeClr val="accent3">
              <a:hueOff val="362282"/>
              <a:satOff val="31803"/>
              <a:lumOff val="-18242"/>
            </a:schemeClr>
          </a:solidFill>
        </a:fill>
      </a:tcStyle>
    </a:firstCol>
    <a:lastRow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606060"/>
              </a:solidFill>
              <a:prstDash val="solid"/>
              <a:miter lim="400000"/>
            </a:ln>
          </a:left>
          <a:right>
            <a:ln w="12700" cap="flat">
              <a:solidFill>
                <a:srgbClr val="606060"/>
              </a:solidFill>
              <a:prstDash val="solid"/>
              <a:miter lim="400000"/>
            </a:ln>
          </a:right>
          <a:top>
            <a:ln w="254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606060"/>
              </a:solidFill>
              <a:prstDash val="solid"/>
              <a:miter lim="400000"/>
            </a:ln>
          </a:insideH>
          <a:insideV>
            <a:ln w="12700" cap="flat">
              <a:solidFill>
                <a:srgbClr val="606060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929292"/>
              </a:solidFill>
              <a:prstDash val="solid"/>
              <a:miter lim="400000"/>
            </a:ln>
          </a:left>
          <a:right>
            <a:ln w="12700" cap="flat">
              <a:solidFill>
                <a:srgbClr val="929292"/>
              </a:solidFill>
              <a:prstDash val="solid"/>
              <a:miter lim="400000"/>
            </a:ln>
          </a:right>
          <a:top>
            <a:ln w="12700" cap="flat">
              <a:solidFill>
                <a:srgbClr val="606060"/>
              </a:solidFill>
              <a:prstDash val="solid"/>
              <a:miter lim="400000"/>
            </a:ln>
          </a:top>
          <a:bottom>
            <a:ln w="12700" cap="flat">
              <a:solidFill>
                <a:srgbClr val="606060"/>
              </a:solidFill>
              <a:prstDash val="solid"/>
              <a:miter lim="400000"/>
            </a:ln>
          </a:bottom>
          <a:insideH>
            <a:ln w="12700" cap="flat">
              <a:solidFill>
                <a:srgbClr val="929292"/>
              </a:solidFill>
              <a:prstDash val="solid"/>
              <a:miter lim="400000"/>
            </a:ln>
          </a:insideH>
          <a:insideV>
            <a:ln w="12700" cap="flat">
              <a:solidFill>
                <a:srgbClr val="929292"/>
              </a:solidFill>
              <a:prstDash val="solid"/>
              <a:miter lim="400000"/>
            </a:ln>
          </a:insideV>
        </a:tcBdr>
        <a:fill>
          <a:solidFill>
            <a:srgbClr val="017101"/>
          </a:solidFill>
        </a:fill>
      </a:tcStyle>
    </a:firstRow>
  </a:tblStyle>
  <a:tblStyle styleId="{EEE7283C-3CF3-47DC-8721-378D4A62B228}" styleName="">
    <a:tblBg/>
    <a:wholeTbl>
      <a:tcTxStyle b="off" i="off">
        <a:font>
          <a:latin typeface="Helvetica Neue Light"/>
          <a:ea typeface="Helvetica Neue Light"/>
          <a:cs typeface="Helvetica Neue Light"/>
        </a:font>
        <a:srgbClr val="000000"/>
      </a:tcTxStyle>
      <a:tcStyle>
        <a:tcBdr>
          <a:lef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5D5D5D"/>
              </a:solidFill>
              <a:custDash>
                <a:ds d="200000" sp="200000"/>
              </a:custDash>
              <a:miter lim="400000"/>
            </a:ln>
          </a:insideV>
        </a:tcBdr>
        <a:fill>
          <a:solidFill>
            <a:srgbClr val="FAF7E9"/>
          </a:solidFill>
        </a:fill>
      </a:tcStyle>
    </a:wholeTbl>
    <a:band2H>
      <a:tcTxStyle/>
      <a:tcStyle>
        <a:tcBdr/>
        <a:fill>
          <a:solidFill>
            <a:srgbClr val="EDEADD"/>
          </a:solidFill>
        </a:fill>
      </a:tcStyle>
    </a:band2H>
    <a:firstCol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9BA00"/>
          </a:solidFill>
        </a:fill>
      </a:tcStyle>
    </a:firstCol>
    <a:la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lastRow>
    <a:firstRow>
      <a:tcTxStyle b="off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5D5D5D"/>
              </a:solidFill>
              <a:prstDash val="solid"/>
              <a:miter lim="400000"/>
            </a:ln>
          </a:left>
          <a:right>
            <a:ln w="12700" cap="flat">
              <a:solidFill>
                <a:srgbClr val="5D5D5D"/>
              </a:solidFill>
              <a:prstDash val="solid"/>
              <a:miter lim="400000"/>
            </a:ln>
          </a:right>
          <a:top>
            <a:ln w="12700" cap="flat">
              <a:solidFill>
                <a:srgbClr val="5D5D5D"/>
              </a:solidFill>
              <a:prstDash val="solid"/>
              <a:miter lim="400000"/>
            </a:ln>
          </a:top>
          <a:bottom>
            <a:ln w="12700" cap="flat">
              <a:solidFill>
                <a:srgbClr val="5D5D5D"/>
              </a:solidFill>
              <a:prstDash val="solid"/>
              <a:miter lim="400000"/>
            </a:ln>
          </a:bottom>
          <a:insideH>
            <a:ln w="12700" cap="flat">
              <a:solidFill>
                <a:srgbClr val="5D5D5D"/>
              </a:solidFill>
              <a:prstDash val="solid"/>
              <a:miter lim="400000"/>
            </a:ln>
          </a:insideH>
          <a:insideV>
            <a:ln w="12700" cap="flat">
              <a:solidFill>
                <a:srgbClr val="5D5D5D"/>
              </a:solidFill>
              <a:prstDash val="solid"/>
              <a:miter lim="400000"/>
            </a:ln>
          </a:insideV>
        </a:tcBdr>
        <a:fill>
          <a:solidFill>
            <a:srgbClr val="FF9400"/>
          </a:solidFill>
        </a:fill>
      </a:tcStyle>
    </a:firstRow>
  </a:tblStyle>
  <a:tblStyle styleId="{CF821DB8-F4EB-4A41-A1BA-3FCAFE7338EE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EBEBEB"/>
          </a:solidFill>
        </a:fill>
      </a:tcStyle>
    </a:wholeTbl>
    <a:band2H>
      <a:tcTxStyle/>
      <a:tcStyle>
        <a:tcBdr/>
        <a:fill>
          <a:solidFill>
            <a:srgbClr val="DADBDA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chemeClr val="accent6">
              <a:hueOff val="-146070"/>
              <a:satOff val="-10048"/>
              <a:lumOff val="-30626"/>
            </a:schemeClr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A6AAA9"/>
              </a:solidFill>
              <a:prstDash val="solid"/>
              <a:miter lim="400000"/>
            </a:ln>
          </a:left>
          <a:right>
            <a:ln w="12700" cap="flat">
              <a:solidFill>
                <a:srgbClr val="A6AAA9"/>
              </a:solidFill>
              <a:prstDash val="solid"/>
              <a:miter lim="400000"/>
            </a:ln>
          </a:right>
          <a:top>
            <a:ln w="12700" cap="flat">
              <a:solidFill>
                <a:srgbClr val="A6AAA9"/>
              </a:solidFill>
              <a:prstDash val="solid"/>
              <a:miter lim="400000"/>
            </a:ln>
          </a:top>
          <a:bottom>
            <a:ln w="12700" cap="flat">
              <a:solidFill>
                <a:srgbClr val="A6AAA9"/>
              </a:solidFill>
              <a:prstDash val="solid"/>
              <a:miter lim="400000"/>
            </a:ln>
          </a:bottom>
          <a:insideH>
            <a:ln w="12700" cap="flat">
              <a:solidFill>
                <a:srgbClr val="A6AAA9"/>
              </a:solidFill>
              <a:prstDash val="solid"/>
              <a:miter lim="400000"/>
            </a:ln>
          </a:insideH>
          <a:insideV>
            <a:ln w="12700" cap="flat">
              <a:solidFill>
                <a:srgbClr val="A6AAA9"/>
              </a:solidFill>
              <a:prstDash val="solid"/>
              <a:miter lim="400000"/>
            </a:ln>
          </a:insideV>
        </a:tcBdr>
        <a:fill>
          <a:solidFill>
            <a:srgbClr val="C24785"/>
          </a:solidFill>
        </a:fill>
      </a:tcStyle>
    </a:firstRow>
  </a:tblStyle>
  <a:tblStyle styleId="{33BA23B1-9221-436E-865A-0063620EA4FD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B5B5C1"/>
          </a:solidFill>
        </a:fill>
      </a:tcStyle>
    </a:wholeTbl>
    <a:band2H>
      <a:tcTxStyle/>
      <a:tcStyle>
        <a:tcBdr/>
        <a:fill>
          <a:solidFill>
            <a:srgbClr val="9A9AA5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53585F"/>
          </a:solidFill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miter lim="400000"/>
            </a:ln>
          </a:left>
          <a:right>
            <a:ln w="12700" cap="flat">
              <a:solidFill>
                <a:srgbClr val="FFFFFF"/>
              </a:solidFill>
              <a:prstDash val="solid"/>
              <a:miter lim="400000"/>
            </a:ln>
          </a:right>
          <a:top>
            <a:ln w="12700" cap="flat">
              <a:solidFill>
                <a:srgbClr val="FFFFFF"/>
              </a:solidFill>
              <a:prstDash val="solid"/>
              <a:miter lim="400000"/>
            </a:ln>
          </a:top>
          <a:bottom>
            <a:ln w="12700" cap="flat">
              <a:solidFill>
                <a:srgbClr val="FFFFFF"/>
              </a:solidFill>
              <a:prstDash val="solid"/>
              <a:miter lim="400000"/>
            </a:ln>
          </a:bottom>
          <a:insideH>
            <a:ln w="12700" cap="flat">
              <a:solidFill>
                <a:srgbClr val="FFFFFF"/>
              </a:solidFill>
              <a:prstDash val="solid"/>
              <a:miter lim="400000"/>
            </a:ln>
          </a:insideH>
          <a:insideV>
            <a:ln w="12700" cap="flat">
              <a:solidFill>
                <a:srgbClr val="FFFFFF"/>
              </a:solidFill>
              <a:prstDash val="solid"/>
              <a:miter lim="400000"/>
            </a:ln>
          </a:insideV>
        </a:tcBdr>
        <a:fill>
          <a:solidFill>
            <a:srgbClr val="798089"/>
          </a:solidFill>
        </a:fill>
      </a:tcStyle>
    </a:firstRow>
  </a:tblStyle>
  <a:tblStyle styleId="{2708684C-4D16-4618-839F-0558EEFCDFE6}" styleName="">
    <a:tblBg/>
    <a:wholeTbl>
      <a:tcTxStyle b="off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wholeTbl>
    <a:band2H>
      <a:tcTxStyle/>
      <a:tcStyle>
        <a:tcBdr/>
        <a:fill>
          <a:solidFill>
            <a:srgbClr val="EDEEEE"/>
          </a:solidFill>
        </a:fill>
      </a:tcStyle>
    </a:band2H>
    <a:firstCol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solidFill>
                <a:srgbClr val="000000"/>
              </a:solidFill>
              <a:prstDash val="solid"/>
              <a:miter lim="400000"/>
            </a:ln>
          </a:right>
          <a:top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top>
          <a:bottom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Col>
    <a:la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solidFill>
                <a:srgbClr val="000000"/>
              </a:solidFill>
              <a:prstDash val="solid"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lastRow>
    <a:firstRow>
      <a:tcTxStyle b="on" i="off">
        <a:font>
          <a:latin typeface="Helvetica Neue"/>
          <a:ea typeface="Helvetica Neue"/>
          <a:cs typeface="Helvetica Neue"/>
        </a:font>
        <a:srgbClr val="000000"/>
      </a:tcTxStyle>
      <a:tcStyle>
        <a:tcBdr>
          <a:lef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left>
          <a:right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solidFill>
                <a:srgbClr val="000000"/>
              </a:solidFill>
              <a:prstDash val="solid"/>
              <a:miter lim="400000"/>
            </a:ln>
          </a:bottom>
          <a:insideH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H>
          <a:insideV>
            <a:ln w="12700" cap="flat">
              <a:solidFill>
                <a:srgbClr val="000000"/>
              </a:solidFill>
              <a:custDash>
                <a:ds d="200000" sp="200000"/>
              </a:custDash>
              <a:miter lim="400000"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0" d="100"/>
          <a:sy n="50" d="100"/>
        </p:scale>
        <p:origin x="60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viewProps" Target="viewProps.xml"/><Relationship Id="rId81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chard Peng" userId="9a3a89ac-6dd8-4a6b-97d3-85a7a6a6f053" providerId="ADAL" clId="{C7B034D3-0E97-4276-9925-8D1360AAF14C}"/>
    <pc:docChg chg="undo custSel addSld delSld modSld">
      <pc:chgData name="Richard Peng" userId="9a3a89ac-6dd8-4a6b-97d3-85a7a6a6f053" providerId="ADAL" clId="{C7B034D3-0E97-4276-9925-8D1360AAF14C}" dt="2026-09-24T05:20:32.094" v="116"/>
      <pc:docMkLst>
        <pc:docMk/>
      </pc:docMkLst>
      <pc:sldChg chg="del">
        <pc:chgData name="Richard Peng" userId="9a3a89ac-6dd8-4a6b-97d3-85a7a6a6f053" providerId="ADAL" clId="{C7B034D3-0E97-4276-9925-8D1360AAF14C}" dt="2026-09-24T05:00:44.151" v="35" actId="47"/>
        <pc:sldMkLst>
          <pc:docMk/>
          <pc:sldMk cId="0" sldId="257"/>
        </pc:sldMkLst>
      </pc:sldChg>
      <pc:sldChg chg="modSp del mod modNotes">
        <pc:chgData name="Richard Peng" userId="9a3a89ac-6dd8-4a6b-97d3-85a7a6a6f053" providerId="ADAL" clId="{C7B034D3-0E97-4276-9925-8D1360AAF14C}" dt="2026-09-24T05:00:41.305" v="34" actId="47"/>
        <pc:sldMkLst>
          <pc:docMk/>
          <pc:sldMk cId="0" sldId="258"/>
        </pc:sldMkLst>
        <pc:spChg chg="mod">
          <ac:chgData name="Richard Peng" userId="9a3a89ac-6dd8-4a6b-97d3-85a7a6a6f053" providerId="ADAL" clId="{C7B034D3-0E97-4276-9925-8D1360AAF14C}" dt="2026-09-24T04:59:38.180" v="1" actId="27636"/>
          <ac:spMkLst>
            <pc:docMk/>
            <pc:sldMk cId="0" sldId="258"/>
            <ac:spMk id="161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181" v="3" actId="27636"/>
          <ac:spMkLst>
            <pc:docMk/>
            <pc:sldMk cId="0" sldId="258"/>
            <ac:spMk id="164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181" v="2" actId="27636"/>
          <ac:spMkLst>
            <pc:docMk/>
            <pc:sldMk cId="0" sldId="258"/>
            <ac:spMk id="165" creationId="{00000000-0000-0000-0000-000000000000}"/>
          </ac:spMkLst>
        </pc:spChg>
      </pc:sldChg>
      <pc:sldChg chg="modSp del mod">
        <pc:chgData name="Richard Peng" userId="9a3a89ac-6dd8-4a6b-97d3-85a7a6a6f053" providerId="ADAL" clId="{C7B034D3-0E97-4276-9925-8D1360AAF14C}" dt="2026-09-24T05:00:41.305" v="34" actId="47"/>
        <pc:sldMkLst>
          <pc:docMk/>
          <pc:sldMk cId="0" sldId="259"/>
        </pc:sldMkLst>
        <pc:spChg chg="mod">
          <ac:chgData name="Richard Peng" userId="9a3a89ac-6dd8-4a6b-97d3-85a7a6a6f053" providerId="ADAL" clId="{C7B034D3-0E97-4276-9925-8D1360AAF14C}" dt="2026-09-24T04:59:38.183" v="4" actId="27636"/>
          <ac:spMkLst>
            <pc:docMk/>
            <pc:sldMk cId="0" sldId="259"/>
            <ac:spMk id="173" creationId="{00000000-0000-0000-0000-000000000000}"/>
          </ac:spMkLst>
        </pc:spChg>
      </pc:sldChg>
      <pc:sldChg chg="del">
        <pc:chgData name="Richard Peng" userId="9a3a89ac-6dd8-4a6b-97d3-85a7a6a6f053" providerId="ADAL" clId="{C7B034D3-0E97-4276-9925-8D1360AAF14C}" dt="2026-09-24T05:00:41.305" v="34" actId="47"/>
        <pc:sldMkLst>
          <pc:docMk/>
          <pc:sldMk cId="0" sldId="260"/>
        </pc:sldMkLst>
      </pc:sldChg>
      <pc:sldChg chg="del">
        <pc:chgData name="Richard Peng" userId="9a3a89ac-6dd8-4a6b-97d3-85a7a6a6f053" providerId="ADAL" clId="{C7B034D3-0E97-4276-9925-8D1360AAF14C}" dt="2026-09-24T05:00:41.305" v="34" actId="47"/>
        <pc:sldMkLst>
          <pc:docMk/>
          <pc:sldMk cId="0" sldId="261"/>
        </pc:sldMkLst>
      </pc:sldChg>
      <pc:sldChg chg="modSp del mod">
        <pc:chgData name="Richard Peng" userId="9a3a89ac-6dd8-4a6b-97d3-85a7a6a6f053" providerId="ADAL" clId="{C7B034D3-0E97-4276-9925-8D1360AAF14C}" dt="2026-09-24T05:00:41.305" v="34" actId="47"/>
        <pc:sldMkLst>
          <pc:docMk/>
          <pc:sldMk cId="0" sldId="262"/>
        </pc:sldMkLst>
        <pc:spChg chg="mod">
          <ac:chgData name="Richard Peng" userId="9a3a89ac-6dd8-4a6b-97d3-85a7a6a6f053" providerId="ADAL" clId="{C7B034D3-0E97-4276-9925-8D1360AAF14C}" dt="2026-09-24T04:59:38.190" v="5" actId="27636"/>
          <ac:spMkLst>
            <pc:docMk/>
            <pc:sldMk cId="0" sldId="262"/>
            <ac:spMk id="205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194" v="7" actId="27636"/>
        <pc:sldMkLst>
          <pc:docMk/>
          <pc:sldMk cId="0" sldId="263"/>
        </pc:sldMkLst>
        <pc:spChg chg="mod">
          <ac:chgData name="Richard Peng" userId="9a3a89ac-6dd8-4a6b-97d3-85a7a6a6f053" providerId="ADAL" clId="{C7B034D3-0E97-4276-9925-8D1360AAF14C}" dt="2026-09-24T04:59:38.194" v="7" actId="27636"/>
          <ac:spMkLst>
            <pc:docMk/>
            <pc:sldMk cId="0" sldId="263"/>
            <ac:spMk id="213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193" v="6" actId="27636"/>
          <ac:spMkLst>
            <pc:docMk/>
            <pc:sldMk cId="0" sldId="263"/>
            <ac:spMk id="215" creationId="{00000000-0000-0000-0000-000000000000}"/>
          </ac:spMkLst>
        </pc:spChg>
      </pc:sldChg>
      <pc:sldChg chg="del">
        <pc:chgData name="Richard Peng" userId="9a3a89ac-6dd8-4a6b-97d3-85a7a6a6f053" providerId="ADAL" clId="{C7B034D3-0E97-4276-9925-8D1360AAF14C}" dt="2026-09-24T05:02:13.878" v="37" actId="47"/>
        <pc:sldMkLst>
          <pc:docMk/>
          <pc:sldMk cId="0" sldId="264"/>
        </pc:sldMkLst>
      </pc:sldChg>
      <pc:sldChg chg="delSp mod">
        <pc:chgData name="Richard Peng" userId="9a3a89ac-6dd8-4a6b-97d3-85a7a6a6f053" providerId="ADAL" clId="{C7B034D3-0E97-4276-9925-8D1360AAF14C}" dt="2026-09-24T05:01:48.588" v="36" actId="478"/>
        <pc:sldMkLst>
          <pc:docMk/>
          <pc:sldMk cId="0" sldId="265"/>
        </pc:sldMkLst>
        <pc:spChg chg="del">
          <ac:chgData name="Richard Peng" userId="9a3a89ac-6dd8-4a6b-97d3-85a7a6a6f053" providerId="ADAL" clId="{C7B034D3-0E97-4276-9925-8D1360AAF14C}" dt="2026-09-24T05:01:48.588" v="36" actId="478"/>
          <ac:spMkLst>
            <pc:docMk/>
            <pc:sldMk cId="0" sldId="265"/>
            <ac:spMk id="227" creationId="{00000000-0000-0000-0000-000000000000}"/>
          </ac:spMkLst>
        </pc:spChg>
      </pc:sldChg>
      <pc:sldChg chg="addSp delSp modSp mod">
        <pc:chgData name="Richard Peng" userId="9a3a89ac-6dd8-4a6b-97d3-85a7a6a6f053" providerId="ADAL" clId="{C7B034D3-0E97-4276-9925-8D1360AAF14C}" dt="2026-09-24T05:09:47.204" v="93" actId="9405"/>
        <pc:sldMkLst>
          <pc:docMk/>
          <pc:sldMk cId="0" sldId="267"/>
        </pc:sldMkLst>
        <pc:spChg chg="add mod">
          <ac:chgData name="Richard Peng" userId="9a3a89ac-6dd8-4a6b-97d3-85a7a6a6f053" providerId="ADAL" clId="{C7B034D3-0E97-4276-9925-8D1360AAF14C}" dt="2026-09-24T05:08:05.565" v="44" actId="1076"/>
          <ac:spMkLst>
            <pc:docMk/>
            <pc:sldMk cId="0" sldId="267"/>
            <ac:spMk id="3" creationId="{C7BDBE56-75C0-DBD1-D37B-BA8EA195A9F3}"/>
          </ac:spMkLst>
        </pc:spChg>
        <pc:spChg chg="add mod">
          <ac:chgData name="Richard Peng" userId="9a3a89ac-6dd8-4a6b-97d3-85a7a6a6f053" providerId="ADAL" clId="{C7B034D3-0E97-4276-9925-8D1360AAF14C}" dt="2026-09-24T05:08:21.206" v="49" actId="1076"/>
          <ac:spMkLst>
            <pc:docMk/>
            <pc:sldMk cId="0" sldId="267"/>
            <ac:spMk id="5" creationId="{C7CEBBAC-8597-66B7-6976-C23FFE6E6C5D}"/>
          </ac:spMkLst>
        </pc:spChg>
        <pc:spChg chg="add mod">
          <ac:chgData name="Richard Peng" userId="9a3a89ac-6dd8-4a6b-97d3-85a7a6a6f053" providerId="ADAL" clId="{C7B034D3-0E97-4276-9925-8D1360AAF14C}" dt="2026-09-24T05:08:34.815" v="51" actId="1076"/>
          <ac:spMkLst>
            <pc:docMk/>
            <pc:sldMk cId="0" sldId="267"/>
            <ac:spMk id="7" creationId="{C4CFC3A6-B082-6875-3FE5-FBC60FA88564}"/>
          </ac:spMkLst>
        </pc:spChg>
        <pc:spChg chg="add mod">
          <ac:chgData name="Richard Peng" userId="9a3a89ac-6dd8-4a6b-97d3-85a7a6a6f053" providerId="ADAL" clId="{C7B034D3-0E97-4276-9925-8D1360AAF14C}" dt="2026-09-24T05:08:54.905" v="53" actId="1076"/>
          <ac:spMkLst>
            <pc:docMk/>
            <pc:sldMk cId="0" sldId="267"/>
            <ac:spMk id="9" creationId="{CD5A11DB-0409-B038-630D-ECFC1A4EF968}"/>
          </ac:spMkLst>
        </pc:spChg>
        <pc:spChg chg="del">
          <ac:chgData name="Richard Peng" userId="9a3a89ac-6dd8-4a6b-97d3-85a7a6a6f053" providerId="ADAL" clId="{C7B034D3-0E97-4276-9925-8D1360AAF14C}" dt="2026-09-24T05:03:01.329" v="38" actId="478"/>
          <ac:spMkLst>
            <pc:docMk/>
            <pc:sldMk cId="0" sldId="267"/>
            <ac:spMk id="251" creationId="{00000000-0000-0000-0000-000000000000}"/>
          </ac:spMkLst>
        </pc:spChg>
        <pc:grpChg chg="mod">
          <ac:chgData name="Richard Peng" userId="9a3a89ac-6dd8-4a6b-97d3-85a7a6a6f053" providerId="ADAL" clId="{C7B034D3-0E97-4276-9925-8D1360AAF14C}" dt="2026-09-24T05:09:17.167" v="65"/>
          <ac:grpSpMkLst>
            <pc:docMk/>
            <pc:sldMk cId="0" sldId="267"/>
            <ac:grpSpMk id="19" creationId="{6ED04396-4C90-6561-F7D8-7B1ECF8C3865}"/>
          </ac:grpSpMkLst>
        </pc:grpChg>
        <pc:grpChg chg="mod">
          <ac:chgData name="Richard Peng" userId="9a3a89ac-6dd8-4a6b-97d3-85a7a6a6f053" providerId="ADAL" clId="{C7B034D3-0E97-4276-9925-8D1360AAF14C}" dt="2026-09-24T05:09:17.167" v="65"/>
          <ac:grpSpMkLst>
            <pc:docMk/>
            <pc:sldMk cId="0" sldId="267"/>
            <ac:grpSpMk id="20" creationId="{2E8DF160-ACCF-C8A0-6A05-36E22AC97CD5}"/>
          </ac:grpSpMkLst>
        </pc:grpChg>
        <pc:grpChg chg="del mod">
          <ac:chgData name="Richard Peng" userId="9a3a89ac-6dd8-4a6b-97d3-85a7a6a6f053" providerId="ADAL" clId="{C7B034D3-0E97-4276-9925-8D1360AAF14C}" dt="2026-09-24T05:09:22.624" v="73"/>
          <ac:grpSpMkLst>
            <pc:docMk/>
            <pc:sldMk cId="0" sldId="267"/>
            <ac:grpSpMk id="25" creationId="{251EB5C5-B1DD-F4AB-C20E-FFA2F9C2A762}"/>
          </ac:grpSpMkLst>
        </pc:grpChg>
        <pc:grpChg chg="del mod">
          <ac:chgData name="Richard Peng" userId="9a3a89ac-6dd8-4a6b-97d3-85a7a6a6f053" providerId="ADAL" clId="{C7B034D3-0E97-4276-9925-8D1360AAF14C}" dt="2026-09-24T05:09:29.389" v="80"/>
          <ac:grpSpMkLst>
            <pc:docMk/>
            <pc:sldMk cId="0" sldId="267"/>
            <ac:grpSpMk id="28" creationId="{3257D2BD-785F-CC73-7210-E467241B4242}"/>
          </ac:grpSpMkLst>
        </pc:grpChg>
        <pc:grpChg chg="mod">
          <ac:chgData name="Richard Peng" userId="9a3a89ac-6dd8-4a6b-97d3-85a7a6a6f053" providerId="ADAL" clId="{C7B034D3-0E97-4276-9925-8D1360AAF14C}" dt="2026-09-24T05:09:29.389" v="80"/>
          <ac:grpSpMkLst>
            <pc:docMk/>
            <pc:sldMk cId="0" sldId="267"/>
            <ac:grpSpMk id="35" creationId="{2DAE403D-1751-30F2-9570-4B5484641950}"/>
          </ac:grpSpMkLst>
        </pc:grpChg>
        <pc:grpChg chg="del mod">
          <ac:chgData name="Richard Peng" userId="9a3a89ac-6dd8-4a6b-97d3-85a7a6a6f053" providerId="ADAL" clId="{C7B034D3-0E97-4276-9925-8D1360AAF14C}" dt="2026-09-24T05:09:44.406" v="92"/>
          <ac:grpSpMkLst>
            <pc:docMk/>
            <pc:sldMk cId="0" sldId="267"/>
            <ac:grpSpMk id="38" creationId="{862F2FC8-057E-5B7C-8D0F-7D945C68B19D}"/>
          </ac:grpSpMkLst>
        </pc:grpChg>
        <pc:grpChg chg="mod">
          <ac:chgData name="Richard Peng" userId="9a3a89ac-6dd8-4a6b-97d3-85a7a6a6f053" providerId="ADAL" clId="{C7B034D3-0E97-4276-9925-8D1360AAF14C}" dt="2026-09-24T05:09:44.406" v="92"/>
          <ac:grpSpMkLst>
            <pc:docMk/>
            <pc:sldMk cId="0" sldId="267"/>
            <ac:grpSpMk id="47" creationId="{B5C1E228-4183-74AB-1C10-6362961A12C9}"/>
          </ac:grpSpMkLst>
        </pc:grpChg>
        <pc:inkChg chg="add">
          <ac:chgData name="Richard Peng" userId="9a3a89ac-6dd8-4a6b-97d3-85a7a6a6f053" providerId="ADAL" clId="{C7B034D3-0E97-4276-9925-8D1360AAF14C}" dt="2026-09-24T05:09:00.764" v="54" actId="9405"/>
          <ac:inkMkLst>
            <pc:docMk/>
            <pc:sldMk cId="0" sldId="267"/>
            <ac:inkMk id="10" creationId="{42FA2F00-49DA-D369-B7F6-1B6C424A3551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1" creationId="{871C3F1E-8086-16F7-6F4E-DE99ACE2844C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2" creationId="{15B1754F-9412-BAFF-3419-1445C900D30E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3" creationId="{BC2EF7A0-9E79-4C0A-90A0-7CC1FA6CA31F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4" creationId="{16A7167E-8FA9-1F17-0D12-01F9759F0875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5" creationId="{DA1A37E2-4B6E-6C95-3177-CE90BFB3C1D3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6" creationId="{79E5C478-2023-390E-663B-B53100840A24}"/>
          </ac:inkMkLst>
        </pc:inkChg>
        <pc:inkChg chg="add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7" creationId="{CC84BE3A-6B68-2FA1-462B-F50641FA5C2F}"/>
          </ac:inkMkLst>
        </pc:inkChg>
        <pc:inkChg chg="add del mod">
          <ac:chgData name="Richard Peng" userId="9a3a89ac-6dd8-4a6b-97d3-85a7a6a6f053" providerId="ADAL" clId="{C7B034D3-0E97-4276-9925-8D1360AAF14C}" dt="2026-09-24T05:09:17.167" v="65"/>
          <ac:inkMkLst>
            <pc:docMk/>
            <pc:sldMk cId="0" sldId="267"/>
            <ac:inkMk id="18" creationId="{6C2F45E8-78AF-5B92-CC88-FE80EC32CA15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1" creationId="{E30A1626-E645-BF42-1292-9CCD23305799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2" creationId="{B7CDFEFD-2075-3B09-6BF3-42B574F90535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3" creationId="{46F0CD09-333F-EC88-8E5C-5591ADC1BA28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4" creationId="{818FA97A-E770-650A-8352-34F9DBB9FAC5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6" creationId="{83345C8F-2244-9957-46D9-07DA709CB4CC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7" creationId="{E20CE724-C75A-42A4-55C4-5E8C2869E19D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29" creationId="{3770F101-A290-FD2B-6EAF-68E44A9BAC33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30" creationId="{DBDD6197-5CD3-41AC-8F39-DC3BD0B70964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31" creationId="{F29A2CAC-EB14-1237-E7DD-20A923E7D705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32" creationId="{E6F6D026-B97B-A09F-2B2C-BC65386CE380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33" creationId="{A4C51E7F-043B-36BC-0D29-63129431EFF6}"/>
          </ac:inkMkLst>
        </pc:inkChg>
        <pc:inkChg chg="add mod">
          <ac:chgData name="Richard Peng" userId="9a3a89ac-6dd8-4a6b-97d3-85a7a6a6f053" providerId="ADAL" clId="{C7B034D3-0E97-4276-9925-8D1360AAF14C}" dt="2026-09-24T05:09:29.389" v="80"/>
          <ac:inkMkLst>
            <pc:docMk/>
            <pc:sldMk cId="0" sldId="267"/>
            <ac:inkMk id="34" creationId="{78FC104E-4329-0874-37A0-77EDD5666203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36" creationId="{91BE052D-1900-0599-B7C2-6295BD36B68A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37" creationId="{CF275DB5-B125-99F2-36E2-72FF759C009E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39" creationId="{C0D513F2-F732-F599-5CC8-67A79C2CAD35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0" creationId="{E297E648-3F31-9858-7812-8309C330CBB0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1" creationId="{C140DBB7-AB3A-EF4A-2D01-0772E5A3ABB9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2" creationId="{9913B5B2-C544-D2C8-57DC-521E5F9076DC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3" creationId="{D3C9EA87-56E5-3F5D-A1D8-F71A4616270F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4" creationId="{2E5F6F38-1D22-75BC-B0CC-07A526F21D20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5" creationId="{3C3450C1-E380-D899-EE84-9375151D49BB}"/>
          </ac:inkMkLst>
        </pc:inkChg>
        <pc:inkChg chg="add mod">
          <ac:chgData name="Richard Peng" userId="9a3a89ac-6dd8-4a6b-97d3-85a7a6a6f053" providerId="ADAL" clId="{C7B034D3-0E97-4276-9925-8D1360AAF14C}" dt="2026-09-24T05:09:44.406" v="92"/>
          <ac:inkMkLst>
            <pc:docMk/>
            <pc:sldMk cId="0" sldId="267"/>
            <ac:inkMk id="46" creationId="{FA7379EC-A2B6-DC8B-8DBF-89E1E735BDFE}"/>
          </ac:inkMkLst>
        </pc:inkChg>
        <pc:inkChg chg="add">
          <ac:chgData name="Richard Peng" userId="9a3a89ac-6dd8-4a6b-97d3-85a7a6a6f053" providerId="ADAL" clId="{C7B034D3-0E97-4276-9925-8D1360AAF14C}" dt="2026-09-24T05:09:47.204" v="93" actId="9405"/>
          <ac:inkMkLst>
            <pc:docMk/>
            <pc:sldMk cId="0" sldId="267"/>
            <ac:inkMk id="48" creationId="{1BA43977-07C1-C4DB-6EDB-858370D0B441}"/>
          </ac:inkMkLst>
        </pc:inkChg>
      </pc:sldChg>
      <pc:sldChg chg="delSp modSp mod">
        <pc:chgData name="Richard Peng" userId="9a3a89ac-6dd8-4a6b-97d3-85a7a6a6f053" providerId="ADAL" clId="{C7B034D3-0E97-4276-9925-8D1360AAF14C}" dt="2026-09-24T05:03:15.973" v="40" actId="478"/>
        <pc:sldMkLst>
          <pc:docMk/>
          <pc:sldMk cId="0" sldId="268"/>
        </pc:sldMkLst>
        <pc:spChg chg="del mod">
          <ac:chgData name="Richard Peng" userId="9a3a89ac-6dd8-4a6b-97d3-85a7a6a6f053" providerId="ADAL" clId="{C7B034D3-0E97-4276-9925-8D1360AAF14C}" dt="2026-09-24T05:03:15.973" v="40" actId="478"/>
          <ac:spMkLst>
            <pc:docMk/>
            <pc:sldMk cId="0" sldId="268"/>
            <ac:spMk id="259" creationId="{00000000-0000-0000-0000-000000000000}"/>
          </ac:spMkLst>
        </pc:spChg>
      </pc:sldChg>
      <pc:sldChg chg="delSp mod">
        <pc:chgData name="Richard Peng" userId="9a3a89ac-6dd8-4a6b-97d3-85a7a6a6f053" providerId="ADAL" clId="{C7B034D3-0E97-4276-9925-8D1360AAF14C}" dt="2026-09-24T05:10:13.718" v="94" actId="478"/>
        <pc:sldMkLst>
          <pc:docMk/>
          <pc:sldMk cId="0" sldId="269"/>
        </pc:sldMkLst>
        <pc:spChg chg="del">
          <ac:chgData name="Richard Peng" userId="9a3a89ac-6dd8-4a6b-97d3-85a7a6a6f053" providerId="ADAL" clId="{C7B034D3-0E97-4276-9925-8D1360AAF14C}" dt="2026-09-24T05:10:13.718" v="94" actId="478"/>
          <ac:spMkLst>
            <pc:docMk/>
            <pc:sldMk cId="0" sldId="269"/>
            <ac:spMk id="268" creationId="{00000000-0000-0000-0000-000000000000}"/>
          </ac:spMkLst>
        </pc:spChg>
      </pc:sldChg>
      <pc:sldChg chg="modSp mod modNotes">
        <pc:chgData name="Richard Peng" userId="9a3a89ac-6dd8-4a6b-97d3-85a7a6a6f053" providerId="ADAL" clId="{C7B034D3-0E97-4276-9925-8D1360AAF14C}" dt="2026-09-24T05:13:44.506" v="100" actId="1076"/>
        <pc:sldMkLst>
          <pc:docMk/>
          <pc:sldMk cId="0" sldId="275"/>
        </pc:sldMkLst>
        <pc:spChg chg="mod">
          <ac:chgData name="Richard Peng" userId="9a3a89ac-6dd8-4a6b-97d3-85a7a6a6f053" providerId="ADAL" clId="{C7B034D3-0E97-4276-9925-8D1360AAF14C}" dt="2026-09-24T05:13:26.231" v="97" actId="6549"/>
          <ac:spMkLst>
            <pc:docMk/>
            <pc:sldMk cId="0" sldId="275"/>
            <ac:spMk id="300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5:13:29.969" v="98" actId="14100"/>
          <ac:spMkLst>
            <pc:docMk/>
            <pc:sldMk cId="0" sldId="275"/>
            <ac:spMk id="306" creationId="{00000000-0000-0000-0000-000000000000}"/>
          </ac:spMkLst>
        </pc:spChg>
        <pc:picChg chg="mod">
          <ac:chgData name="Richard Peng" userId="9a3a89ac-6dd8-4a6b-97d3-85a7a6a6f053" providerId="ADAL" clId="{C7B034D3-0E97-4276-9925-8D1360AAF14C}" dt="2026-09-24T05:13:44.506" v="100" actId="1076"/>
          <ac:picMkLst>
            <pc:docMk/>
            <pc:sldMk cId="0" sldId="275"/>
            <ac:picMk id="301" creationId="{00000000-0000-0000-0000-000000000000}"/>
          </ac:picMkLst>
        </pc:picChg>
        <pc:picChg chg="mod">
          <ac:chgData name="Richard Peng" userId="9a3a89ac-6dd8-4a6b-97d3-85a7a6a6f053" providerId="ADAL" clId="{C7B034D3-0E97-4276-9925-8D1360AAF14C}" dt="2026-09-24T05:13:40.891" v="99" actId="1076"/>
          <ac:picMkLst>
            <pc:docMk/>
            <pc:sldMk cId="0" sldId="275"/>
            <ac:picMk id="302" creationId="{00000000-0000-0000-0000-000000000000}"/>
          </ac:picMkLst>
        </pc:picChg>
      </pc:sldChg>
      <pc:sldChg chg="addSp modSp mod">
        <pc:chgData name="Richard Peng" userId="9a3a89ac-6dd8-4a6b-97d3-85a7a6a6f053" providerId="ADAL" clId="{C7B034D3-0E97-4276-9925-8D1360AAF14C}" dt="2026-09-24T05:20:32.094" v="116"/>
        <pc:sldMkLst>
          <pc:docMk/>
          <pc:sldMk cId="0" sldId="276"/>
        </pc:sldMkLst>
        <pc:spChg chg="mod">
          <ac:chgData name="Richard Peng" userId="9a3a89ac-6dd8-4a6b-97d3-85a7a6a6f053" providerId="ADAL" clId="{C7B034D3-0E97-4276-9925-8D1360AAF14C}" dt="2026-09-24T04:59:38.200" v="8" actId="27636"/>
          <ac:spMkLst>
            <pc:docMk/>
            <pc:sldMk cId="0" sldId="276"/>
            <ac:spMk id="314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5:18:12.231" v="105" actId="20577"/>
          <ac:spMkLst>
            <pc:docMk/>
            <pc:sldMk cId="0" sldId="276"/>
            <ac:spMk id="320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5:18:12.231" v="105" actId="20577"/>
          <ac:spMkLst>
            <pc:docMk/>
            <pc:sldMk cId="0" sldId="276"/>
            <ac:spMk id="321" creationId="{00000000-0000-0000-0000-000000000000}"/>
          </ac:spMkLst>
        </pc:spChg>
        <pc:grpChg chg="mod">
          <ac:chgData name="Richard Peng" userId="9a3a89ac-6dd8-4a6b-97d3-85a7a6a6f053" providerId="ADAL" clId="{C7B034D3-0E97-4276-9925-8D1360AAF14C}" dt="2026-09-24T05:20:32.094" v="116"/>
          <ac:grpSpMkLst>
            <pc:docMk/>
            <pc:sldMk cId="0" sldId="276"/>
            <ac:grpSpMk id="8" creationId="{645B9B2B-616C-8651-CA1A-F660F6CADBA7}"/>
          </ac:grpSpMkLst>
        </pc:grpChg>
        <pc:grpChg chg="mod">
          <ac:chgData name="Richard Peng" userId="9a3a89ac-6dd8-4a6b-97d3-85a7a6a6f053" providerId="ADAL" clId="{C7B034D3-0E97-4276-9925-8D1360AAF14C}" dt="2026-09-24T05:18:12.231" v="105" actId="20577"/>
          <ac:grpSpMkLst>
            <pc:docMk/>
            <pc:sldMk cId="0" sldId="276"/>
            <ac:grpSpMk id="322" creationId="{00000000-0000-0000-0000-000000000000}"/>
          </ac:grpSpMkLst>
        </pc:grpChg>
        <pc:picChg chg="add mod">
          <ac:chgData name="Richard Peng" userId="9a3a89ac-6dd8-4a6b-97d3-85a7a6a6f053" providerId="ADAL" clId="{C7B034D3-0E97-4276-9925-8D1360AAF14C}" dt="2026-09-24T05:17:33.621" v="104" actId="1076"/>
          <ac:picMkLst>
            <pc:docMk/>
            <pc:sldMk cId="0" sldId="276"/>
            <ac:picMk id="3" creationId="{8BC94D7A-3A05-265C-AD43-BF27ED83BD3F}"/>
          </ac:picMkLst>
        </pc:picChg>
        <pc:picChg chg="add mod">
          <ac:chgData name="Richard Peng" userId="9a3a89ac-6dd8-4a6b-97d3-85a7a6a6f053" providerId="ADAL" clId="{C7B034D3-0E97-4276-9925-8D1360AAF14C}" dt="2026-09-24T05:20:15.950" v="113" actId="1076"/>
          <ac:picMkLst>
            <pc:docMk/>
            <pc:sldMk cId="0" sldId="276"/>
            <ac:picMk id="5" creationId="{9CB25987-E3F0-39E7-96A5-47DE75FBDEC2}"/>
          </ac:picMkLst>
        </pc:picChg>
        <pc:inkChg chg="add mod">
          <ac:chgData name="Richard Peng" userId="9a3a89ac-6dd8-4a6b-97d3-85a7a6a6f053" providerId="ADAL" clId="{C7B034D3-0E97-4276-9925-8D1360AAF14C}" dt="2026-09-24T05:20:32.094" v="116"/>
          <ac:inkMkLst>
            <pc:docMk/>
            <pc:sldMk cId="0" sldId="276"/>
            <ac:inkMk id="6" creationId="{671552A3-20D5-B3D0-9BC5-2A75C7A73591}"/>
          </ac:inkMkLst>
        </pc:inkChg>
        <pc:inkChg chg="add mod">
          <ac:chgData name="Richard Peng" userId="9a3a89ac-6dd8-4a6b-97d3-85a7a6a6f053" providerId="ADAL" clId="{C7B034D3-0E97-4276-9925-8D1360AAF14C}" dt="2026-09-24T05:20:32.094" v="116"/>
          <ac:inkMkLst>
            <pc:docMk/>
            <pc:sldMk cId="0" sldId="276"/>
            <ac:inkMk id="7" creationId="{755E2ECB-6115-579A-6A03-4ACD42512F48}"/>
          </ac:inkMkLst>
        </pc:inkChg>
      </pc:sldChg>
      <pc:sldChg chg="modSp mod">
        <pc:chgData name="Richard Peng" userId="9a3a89ac-6dd8-4a6b-97d3-85a7a6a6f053" providerId="ADAL" clId="{C7B034D3-0E97-4276-9925-8D1360AAF14C}" dt="2026-09-24T04:59:38.205" v="9" actId="27636"/>
        <pc:sldMkLst>
          <pc:docMk/>
          <pc:sldMk cId="0" sldId="279"/>
        </pc:sldMkLst>
        <pc:spChg chg="mod">
          <ac:chgData name="Richard Peng" userId="9a3a89ac-6dd8-4a6b-97d3-85a7a6a6f053" providerId="ADAL" clId="{C7B034D3-0E97-4276-9925-8D1360AAF14C}" dt="2026-09-24T04:59:38.205" v="9" actId="27636"/>
          <ac:spMkLst>
            <pc:docMk/>
            <pc:sldMk cId="0" sldId="279"/>
            <ac:spMk id="352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08" v="10" actId="27636"/>
        <pc:sldMkLst>
          <pc:docMk/>
          <pc:sldMk cId="0" sldId="280"/>
        </pc:sldMkLst>
        <pc:spChg chg="mod">
          <ac:chgData name="Richard Peng" userId="9a3a89ac-6dd8-4a6b-97d3-85a7a6a6f053" providerId="ADAL" clId="{C7B034D3-0E97-4276-9925-8D1360AAF14C}" dt="2026-09-24T04:59:38.208" v="10" actId="27636"/>
          <ac:spMkLst>
            <pc:docMk/>
            <pc:sldMk cId="0" sldId="280"/>
            <ac:spMk id="364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13" v="14" actId="27636"/>
        <pc:sldMkLst>
          <pc:docMk/>
          <pc:sldMk cId="0" sldId="285"/>
        </pc:sldMkLst>
        <pc:spChg chg="mod">
          <ac:chgData name="Richard Peng" userId="9a3a89ac-6dd8-4a6b-97d3-85a7a6a6f053" providerId="ADAL" clId="{C7B034D3-0E97-4276-9925-8D1360AAF14C}" dt="2026-09-24T04:59:38.211" v="11" actId="27636"/>
          <ac:spMkLst>
            <pc:docMk/>
            <pc:sldMk cId="0" sldId="285"/>
            <ac:spMk id="564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211" v="12" actId="27636"/>
          <ac:spMkLst>
            <pc:docMk/>
            <pc:sldMk cId="0" sldId="285"/>
            <ac:spMk id="565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212" v="13" actId="27636"/>
          <ac:spMkLst>
            <pc:docMk/>
            <pc:sldMk cId="0" sldId="285"/>
            <ac:spMk id="569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213" v="14" actId="27636"/>
          <ac:spMkLst>
            <pc:docMk/>
            <pc:sldMk cId="0" sldId="285"/>
            <ac:spMk id="570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15" v="16" actId="27636"/>
        <pc:sldMkLst>
          <pc:docMk/>
          <pc:sldMk cId="0" sldId="289"/>
        </pc:sldMkLst>
        <pc:spChg chg="mod">
          <ac:chgData name="Richard Peng" userId="9a3a89ac-6dd8-4a6b-97d3-85a7a6a6f053" providerId="ADAL" clId="{C7B034D3-0E97-4276-9925-8D1360AAF14C}" dt="2026-09-24T04:59:38.215" v="15" actId="27636"/>
          <ac:spMkLst>
            <pc:docMk/>
            <pc:sldMk cId="0" sldId="289"/>
            <ac:spMk id="669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215" v="16" actId="27636"/>
          <ac:spMkLst>
            <pc:docMk/>
            <pc:sldMk cId="0" sldId="289"/>
            <ac:spMk id="671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17" v="17" actId="27636"/>
        <pc:sldMkLst>
          <pc:docMk/>
          <pc:sldMk cId="0" sldId="290"/>
        </pc:sldMkLst>
        <pc:spChg chg="mod">
          <ac:chgData name="Richard Peng" userId="9a3a89ac-6dd8-4a6b-97d3-85a7a6a6f053" providerId="ADAL" clId="{C7B034D3-0E97-4276-9925-8D1360AAF14C}" dt="2026-09-24T04:59:38.217" v="17" actId="27636"/>
          <ac:spMkLst>
            <pc:docMk/>
            <pc:sldMk cId="0" sldId="290"/>
            <ac:spMk id="678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19" v="18" actId="27636"/>
        <pc:sldMkLst>
          <pc:docMk/>
          <pc:sldMk cId="0" sldId="291"/>
        </pc:sldMkLst>
        <pc:spChg chg="mod">
          <ac:chgData name="Richard Peng" userId="9a3a89ac-6dd8-4a6b-97d3-85a7a6a6f053" providerId="ADAL" clId="{C7B034D3-0E97-4276-9925-8D1360AAF14C}" dt="2026-09-24T04:59:38.219" v="18" actId="27636"/>
          <ac:spMkLst>
            <pc:docMk/>
            <pc:sldMk cId="0" sldId="291"/>
            <ac:spMk id="691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22" v="19" actId="27636"/>
        <pc:sldMkLst>
          <pc:docMk/>
          <pc:sldMk cId="0" sldId="292"/>
        </pc:sldMkLst>
        <pc:spChg chg="mod">
          <ac:chgData name="Richard Peng" userId="9a3a89ac-6dd8-4a6b-97d3-85a7a6a6f053" providerId="ADAL" clId="{C7B034D3-0E97-4276-9925-8D1360AAF14C}" dt="2026-09-24T04:59:38.222" v="19" actId="27636"/>
          <ac:spMkLst>
            <pc:docMk/>
            <pc:sldMk cId="0" sldId="292"/>
            <ac:spMk id="705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39" v="20" actId="27636"/>
        <pc:sldMkLst>
          <pc:docMk/>
          <pc:sldMk cId="0" sldId="296"/>
        </pc:sldMkLst>
        <pc:spChg chg="mod">
          <ac:chgData name="Richard Peng" userId="9a3a89ac-6dd8-4a6b-97d3-85a7a6a6f053" providerId="ADAL" clId="{C7B034D3-0E97-4276-9925-8D1360AAF14C}" dt="2026-09-24T04:59:38.239" v="20" actId="27636"/>
          <ac:spMkLst>
            <pc:docMk/>
            <pc:sldMk cId="0" sldId="296"/>
            <ac:spMk id="741" creationId="{00000000-0000-0000-0000-000000000000}"/>
          </ac:spMkLst>
        </pc:spChg>
      </pc:sldChg>
      <pc:sldChg chg="modNotes">
        <pc:chgData name="Richard Peng" userId="9a3a89ac-6dd8-4a6b-97d3-85a7a6a6f053" providerId="ADAL" clId="{C7B034D3-0E97-4276-9925-8D1360AAF14C}" dt="2026-09-24T04:59:38.142" v="0"/>
        <pc:sldMkLst>
          <pc:docMk/>
          <pc:sldMk cId="0" sldId="298"/>
        </pc:sldMkLst>
      </pc:sldChg>
      <pc:sldChg chg="modSp mod">
        <pc:chgData name="Richard Peng" userId="9a3a89ac-6dd8-4a6b-97d3-85a7a6a6f053" providerId="ADAL" clId="{C7B034D3-0E97-4276-9925-8D1360AAF14C}" dt="2026-09-24T04:59:38.251" v="21" actId="27636"/>
        <pc:sldMkLst>
          <pc:docMk/>
          <pc:sldMk cId="0" sldId="301"/>
        </pc:sldMkLst>
        <pc:spChg chg="mod">
          <ac:chgData name="Richard Peng" userId="9a3a89ac-6dd8-4a6b-97d3-85a7a6a6f053" providerId="ADAL" clId="{C7B034D3-0E97-4276-9925-8D1360AAF14C}" dt="2026-09-24T04:59:38.251" v="21" actId="27636"/>
          <ac:spMkLst>
            <pc:docMk/>
            <pc:sldMk cId="0" sldId="301"/>
            <ac:spMk id="849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52" v="22" actId="27636"/>
        <pc:sldMkLst>
          <pc:docMk/>
          <pc:sldMk cId="0" sldId="302"/>
        </pc:sldMkLst>
        <pc:spChg chg="mod">
          <ac:chgData name="Richard Peng" userId="9a3a89ac-6dd8-4a6b-97d3-85a7a6a6f053" providerId="ADAL" clId="{C7B034D3-0E97-4276-9925-8D1360AAF14C}" dt="2026-09-24T04:59:38.252" v="22" actId="27636"/>
          <ac:spMkLst>
            <pc:docMk/>
            <pc:sldMk cId="0" sldId="302"/>
            <ac:spMk id="864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56" v="23" actId="27636"/>
        <pc:sldMkLst>
          <pc:docMk/>
          <pc:sldMk cId="0" sldId="304"/>
        </pc:sldMkLst>
        <pc:spChg chg="mod">
          <ac:chgData name="Richard Peng" userId="9a3a89ac-6dd8-4a6b-97d3-85a7a6a6f053" providerId="ADAL" clId="{C7B034D3-0E97-4276-9925-8D1360AAF14C}" dt="2026-09-24T04:59:38.256" v="23" actId="27636"/>
          <ac:spMkLst>
            <pc:docMk/>
            <pc:sldMk cId="0" sldId="304"/>
            <ac:spMk id="872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56" v="24" actId="27636"/>
        <pc:sldMkLst>
          <pc:docMk/>
          <pc:sldMk cId="0" sldId="308"/>
        </pc:sldMkLst>
        <pc:spChg chg="mod">
          <ac:chgData name="Richard Peng" userId="9a3a89ac-6dd8-4a6b-97d3-85a7a6a6f053" providerId="ADAL" clId="{C7B034D3-0E97-4276-9925-8D1360AAF14C}" dt="2026-09-24T04:59:38.256" v="24" actId="27636"/>
          <ac:spMkLst>
            <pc:docMk/>
            <pc:sldMk cId="0" sldId="308"/>
            <ac:spMk id="890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269" v="25" actId="27636"/>
        <pc:sldMkLst>
          <pc:docMk/>
          <pc:sldMk cId="0" sldId="315"/>
        </pc:sldMkLst>
        <pc:spChg chg="mod">
          <ac:chgData name="Richard Peng" userId="9a3a89ac-6dd8-4a6b-97d3-85a7a6a6f053" providerId="ADAL" clId="{C7B034D3-0E97-4276-9925-8D1360AAF14C}" dt="2026-09-24T04:59:38.269" v="25" actId="27636"/>
          <ac:spMkLst>
            <pc:docMk/>
            <pc:sldMk cId="0" sldId="315"/>
            <ac:spMk id="956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315" v="27" actId="27636"/>
        <pc:sldMkLst>
          <pc:docMk/>
          <pc:sldMk cId="0" sldId="323"/>
        </pc:sldMkLst>
        <pc:spChg chg="mod">
          <ac:chgData name="Richard Peng" userId="9a3a89ac-6dd8-4a6b-97d3-85a7a6a6f053" providerId="ADAL" clId="{C7B034D3-0E97-4276-9925-8D1360AAF14C}" dt="2026-09-24T04:59:38.283" v="26" actId="27636"/>
          <ac:spMkLst>
            <pc:docMk/>
            <pc:sldMk cId="0" sldId="323"/>
            <ac:spMk id="1051" creationId="{00000000-0000-0000-0000-000000000000}"/>
          </ac:spMkLst>
        </pc:spChg>
        <pc:spChg chg="mod">
          <ac:chgData name="Richard Peng" userId="9a3a89ac-6dd8-4a6b-97d3-85a7a6a6f053" providerId="ADAL" clId="{C7B034D3-0E97-4276-9925-8D1360AAF14C}" dt="2026-09-24T04:59:38.315" v="27" actId="27636"/>
          <ac:spMkLst>
            <pc:docMk/>
            <pc:sldMk cId="0" sldId="323"/>
            <ac:spMk id="1054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330" v="28" actId="27636"/>
        <pc:sldMkLst>
          <pc:docMk/>
          <pc:sldMk cId="0" sldId="327"/>
        </pc:sldMkLst>
        <pc:spChg chg="mod">
          <ac:chgData name="Richard Peng" userId="9a3a89ac-6dd8-4a6b-97d3-85a7a6a6f053" providerId="ADAL" clId="{C7B034D3-0E97-4276-9925-8D1360AAF14C}" dt="2026-09-24T04:59:38.330" v="28" actId="27636"/>
          <ac:spMkLst>
            <pc:docMk/>
            <pc:sldMk cId="0" sldId="327"/>
            <ac:spMk id="1079" creationId="{00000000-0000-0000-0000-000000000000}"/>
          </ac:spMkLst>
        </pc:spChg>
      </pc:sldChg>
      <pc:sldChg chg="modNotes">
        <pc:chgData name="Richard Peng" userId="9a3a89ac-6dd8-4a6b-97d3-85a7a6a6f053" providerId="ADAL" clId="{C7B034D3-0E97-4276-9925-8D1360AAF14C}" dt="2026-09-24T04:59:38.142" v="0"/>
        <pc:sldMkLst>
          <pc:docMk/>
          <pc:sldMk cId="0" sldId="329"/>
        </pc:sldMkLst>
      </pc:sldChg>
      <pc:sldChg chg="modSp mod">
        <pc:chgData name="Richard Peng" userId="9a3a89ac-6dd8-4a6b-97d3-85a7a6a6f053" providerId="ADAL" clId="{C7B034D3-0E97-4276-9925-8D1360AAF14C}" dt="2026-09-24T04:59:38.342" v="29" actId="27636"/>
        <pc:sldMkLst>
          <pc:docMk/>
          <pc:sldMk cId="0" sldId="332"/>
        </pc:sldMkLst>
        <pc:spChg chg="mod">
          <ac:chgData name="Richard Peng" userId="9a3a89ac-6dd8-4a6b-97d3-85a7a6a6f053" providerId="ADAL" clId="{C7B034D3-0E97-4276-9925-8D1360AAF14C}" dt="2026-09-24T04:59:38.342" v="29" actId="27636"/>
          <ac:spMkLst>
            <pc:docMk/>
            <pc:sldMk cId="0" sldId="332"/>
            <ac:spMk id="1187" creationId="{00000000-0000-0000-0000-000000000000}"/>
          </ac:spMkLst>
        </pc:spChg>
      </pc:sldChg>
      <pc:sldChg chg="modSp mod">
        <pc:chgData name="Richard Peng" userId="9a3a89ac-6dd8-4a6b-97d3-85a7a6a6f053" providerId="ADAL" clId="{C7B034D3-0E97-4276-9925-8D1360AAF14C}" dt="2026-09-24T04:59:38.344" v="30" actId="27636"/>
        <pc:sldMkLst>
          <pc:docMk/>
          <pc:sldMk cId="0" sldId="333"/>
        </pc:sldMkLst>
        <pc:spChg chg="mod">
          <ac:chgData name="Richard Peng" userId="9a3a89ac-6dd8-4a6b-97d3-85a7a6a6f053" providerId="ADAL" clId="{C7B034D3-0E97-4276-9925-8D1360AAF14C}" dt="2026-09-24T04:59:38.344" v="30" actId="27636"/>
          <ac:spMkLst>
            <pc:docMk/>
            <pc:sldMk cId="0" sldId="333"/>
            <ac:spMk id="1202" creationId="{00000000-0000-0000-0000-000000000000}"/>
          </ac:spMkLst>
        </pc:spChg>
      </pc:sldChg>
      <pc:sldChg chg="modSp add mod">
        <pc:chgData name="Richard Peng" userId="9a3a89ac-6dd8-4a6b-97d3-85a7a6a6f053" providerId="ADAL" clId="{C7B034D3-0E97-4276-9925-8D1360AAF14C}" dt="2026-09-24T04:59:47.289" v="33" actId="6549"/>
        <pc:sldMkLst>
          <pc:docMk/>
          <pc:sldMk cId="2502978326" sldId="336"/>
        </pc:sldMkLst>
        <pc:spChg chg="mod">
          <ac:chgData name="Richard Peng" userId="9a3a89ac-6dd8-4a6b-97d3-85a7a6a6f053" providerId="ADAL" clId="{C7B034D3-0E97-4276-9925-8D1360AAF14C}" dt="2026-09-24T04:59:47.289" v="33" actId="6549"/>
          <ac:spMkLst>
            <pc:docMk/>
            <pc:sldMk cId="2502978326" sldId="336"/>
            <ac:spMk id="3" creationId="{CE8C61DC-DA36-9F0A-3C95-26CF319819D0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00.76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1837 24575,'7'-156'0,"38"-216"0,-26 245 0,-15 96 0,60-389 0,35 11 0,-92 382 0,2 0 0,1 0 0,1 2 0,2-1 0,22-35 0,-28 52 0,2 0 0,-1 0 0,1 0 0,0 1 0,1 0 0,0 1 0,0 0 0,1 1 0,0 0 0,0 1 0,0 0 0,0 0 0,1 1 0,0 1 0,21-4 0,35-2 0,127-3 0,209 19 0,126 27 0,2268 240-961,-2676-261 956,274 33 5,-199-21 0,705 51 0,-778-80 240,-46 1 123,100 9 0,-169-5-363,-1 0 0,1 0 0,0 1 0,-1 1 0,1-1 0,-1 1 0,0 0 0,0 1 0,0 0 0,0 1 0,-1-1 0,1 1 0,-1 1 0,10 9 0,-9-6 0,-1 1 0,-1 0 0,1 0 0,-2 0 0,1 1 0,-1 0 0,-1 0 0,0 0 0,-1 0 0,4 22 0,11 89 61,3 246 0,-19-236-805,34 226 1,-21-286-6083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05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795 0 24575,'-7'1'0,"-1"1"0,1 0 0,0 0 0,0 1 0,0 0 0,1 0 0,-1 0 0,1 1 0,-11 8 0,-3 0 0,-12 6 0,1 1 0,1 2 0,1 0 0,-26 27 0,44-38 0,1 1 0,1 1 0,0 0 0,0 0 0,1 0 0,1 1 0,0 1 0,1-1 0,0 1 0,1 0 0,0 0 0,-4 26 0,1 69 0,8-84 0,-1 1 0,-1 0 0,-1-1 0,-2 0 0,-8 29 0,11-48 0,-1 1 0,0 0 0,-1-1 0,1 0 0,-1 0 0,0 0 0,-1 0 0,1 0 0,-1-1 0,0 0 0,-1 0 0,1 0 0,-1-1 0,0 0 0,0 0 0,0 0 0,-1-1 0,1 0 0,-1 0 0,0-1 0,0 0 0,-13 3 0,7-3-91,1-1 0,-1-1 0,0 0 0,1 0 0,-1-1 0,1-1 0,-1 0 0,1-1 0,0 0 0,0-1 0,0-1 0,0 1 0,1-2 0,-20-11 0,-21-19-6735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05.87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308 187 24575,'-1'-11'0,"-2"1"0,1-1 0,-1 1 0,0 0 0,-1 0 0,0 0 0,-1 0 0,0 1 0,-1 0 0,0 0 0,0 0 0,-1 1 0,0 0 0,0 0 0,-1 1 0,0 0 0,-17-12 0,23 17 0,-1 1 0,1 0 0,-1-1 0,1 1 0,-1 0 0,0 0 0,1 1 0,-1-1 0,0 0 0,0 1 0,0 0 0,1 0 0,-1 0 0,0 0 0,0 0 0,0 0 0,0 1 0,1-1 0,-4 2 0,1 0 0,1 0 0,0 0 0,0 0 0,0 1 0,0 0 0,0 0 0,0 0 0,1 0 0,-1 1 0,-3 5 0,-3 5 0,0 0 0,1 1 0,1 0 0,1 0 0,-8 22 0,8-19 0,1 1 0,0 0 0,1 0 0,1 0 0,1 0 0,1 1 0,1 0 0,0-1 0,4 33 0,-3-50 0,0 0 0,1 0 0,-1 1 0,1-1 0,0 0 0,-1 0 0,1 0 0,0 0 0,0 0 0,0 0 0,1 0 0,-1 0 0,0 0 0,1-1 0,-1 1 0,1 0 0,0-1 0,-1 0 0,1 1 0,0-1 0,0 0 0,0 0 0,0 0 0,0 0 0,0 0 0,0 0 0,0 0 0,0-1 0,1 1 0,-1-1 0,0 0 0,0 1 0,1-1 0,-1 0 0,0-1 0,0 1 0,1 0 0,-1 0 0,0-1 0,0 0 0,0 1 0,0-1 0,4-2 0,11-3 0,0-2 0,-1 0 0,0-1 0,19-14 0,-28 19 0,23-18 0,37-24 0,-63 44 0,-1 0 0,1 0 0,1 0 0,-1 0 0,0 1 0,0 0 0,1 0 0,-1 0 0,0 0 0,1 1 0,-1 0 0,1-1 0,-1 2 0,6 0 0,-7 0-57,-1 0 0,1 0 1,-1 0-1,0 1 0,1-1 0,-1 1 0,0 0 0,0 0 0,0 0 0,0 0 0,0 0 1,0 0-1,-1 0 0,1 1 0,-1-1 0,1 0 0,-1 1 0,0 0 0,0-1 1,0 1-1,-1-1 0,1 1 0,0 4 0,6 32-6769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06.67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1 163 24575,'0'258'0,"3"-235"0,10-44 0,17-47 0,-21 43 0,2 1 0,0 0 0,1 1 0,2 0 0,0 1 0,34-39 0,-47 59 0,0 1 0,0-1 0,1 1 0,-1-1 0,0 1 0,1-1 0,0 1 0,-1 0 0,1 0 0,0 0 0,-1 0 0,1 0 0,0 0 0,0 0 0,0 1 0,0-1 0,0 1 0,0-1 0,0 1 0,0 0 0,0 0 0,0 0 0,0 0 0,0 0 0,0 0 0,0 1 0,0-1 0,0 1 0,0-1 0,0 1 0,0 0 0,0-1 0,-1 1 0,1 0 0,0 0 0,0 1 0,1 0 0,2 4 0,0 0 0,-1 0 0,0 0 0,0 0 0,0 1 0,-1 0 0,1 0 0,-2 0 0,3 9 0,6 25 0,-3 0 0,5 51 0,4 21 0,-8-93 0,-8-20 0,-1 0 0,0 0 0,1 1 0,-1-1 0,1 0 0,-1 0 0,0 0 0,1 0 0,-1 0 0,0 0 0,1 0 0,-1 0 0,1 0 0,-1 0 0,0 0 0,1 0 0,-1 0 0,1 0 0,-1 0 0,0-1 0,1 1 0,-1 0 0,0 0 0,1 0 0,-1 0 0,0-1 0,1 1 0,-1 0 0,0 0 0,1-1 0,23-35 0,-22 32 0,47-91 0,-14 25 0,3 2 0,2 1 0,56-68 0,-94 131 0,0 1 0,1-1 0,0 1 0,0 0 0,0 0 0,0 0 0,0 0 0,1 1 0,-1-1 0,1 1 0,-1 0 0,1 0 0,0 0 0,0 1 0,0-1 0,0 1 0,0 0 0,0 0 0,1 0 0,7 0 0,-9 2 0,1 1 0,0 0 0,-1 0 0,1 0 0,-1 0 0,1 0 0,-1 1 0,0-1 0,0 1 0,0 0 0,0 0 0,-1 0 0,1 0 0,-1 0 0,0 1 0,0-1 0,0 1 0,0 0 0,0-1 0,-1 1 0,2 7 0,8 22 30,-1 1 0,-1 1 0,7 60 0,-3 110-1515,-12-131-5341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07.31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1 480 24575,'11'-9'0,"1"0"0,0 0 0,1 1 0,0 1 0,0 0 0,0 1 0,15-5 0,48-24 0,-60 23 0,-1 0 0,0 0 0,-1-1 0,0-1 0,-1-1 0,0 0 0,-2 0 0,1-1 0,-2-1 0,0 0 0,-1 0 0,-1-1 0,-1 0 0,0 0 0,4-21 0,-10 33 0,0-1 0,0 1 0,0-1 0,-1 0 0,0 0 0,0 1 0,-1-1 0,0 0 0,-2-8 0,2 13 0,1 0 0,-1 0 0,1 1 0,-1-1 0,0 0 0,1 1 0,-1-1 0,0 0 0,0 1 0,0-1 0,0 1 0,-1-1 0,1 1 0,0 0 0,-1-1 0,1 1 0,0 0 0,-1 0 0,0 0 0,1 0 0,-1 0 0,0 1 0,1-1 0,-1 0 0,0 1 0,0-1 0,1 1 0,-1-1 0,0 1 0,0 0 0,0 0 0,0 0 0,0 0 0,1 0 0,-1 1 0,0-1 0,0 0 0,-2 1 0,0 1 0,-1 0 0,0 0 0,1 1 0,-1-1 0,1 1 0,0 0 0,0 0 0,0 1 0,0-1 0,1 1 0,-5 4 0,-34 54 0,27-33 0,1 1 0,1 0 0,2 1 0,1 0 0,1 1 0,2 0 0,1 0 0,1 0 0,2 1 0,2 0 0,0 0 0,3 0 0,0-1 0,14 61 0,-14-83 0,1 0 0,1 0 0,0 0 0,0 0 0,1-1 0,0 0 0,1 0 0,0 0 0,13 14 0,-15-18 0,1-1 0,0 0 0,1 0 0,-1 0 0,1-1 0,-1 0 0,1 0 0,0 0 0,0-1 0,0 1 0,1-2 0,-1 1 0,1-1 0,-1 0 0,0 0 0,14 0 0,24-4-1365,-1-1-5461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13.08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1646 24575,'2'-1'0,"0"0"0,-1 0 0,0 0 0,1-1 0,-1 1 0,0-1 0,1 1 0,-1-1 0,0 1 0,0-1 0,0 0 0,-1 1 0,1-1 0,0 0 0,0 0 0,-1 0 0,0 1 0,1-1 0,-1 0 0,0 0 0,0 0 0,0-3 0,3-8 0,134-760 0,-85 441 0,-46 294 0,-3 11 0,2 1 0,0 0 0,18-50 0,-20 70 0,-1 0 0,1 1 0,0-1 0,0 1 0,1-1 0,0 1 0,0 0 0,0 0 0,0 1 0,1-1 0,0 1 0,0 0 0,0 0 0,0 1 0,1-1 0,-1 1 0,1 0 0,0 1 0,0-1 0,0 1 0,10-2 0,12 1 0,-1 2 0,1 0 0,-1 2 0,0 1 0,52 10 0,-26-4 0,1081 142 0,22-82 0,-1043-67 0,710-32 0,-672 5 0,242-76 0,-149 34 0,-64 20 0,223-52 0,-284 77 0,177-13 0,339 33 0,-599 4 0,-1 2 0,0 1 0,59 15 0,-84-16 0,1 1 0,-1 0 0,0 0 0,0 1 0,0 0 0,0 1 0,-1 0 0,0 1 0,0 0 0,-1 0 0,0 0 0,0 1 0,-1 1 0,0-1 0,10 16 0,-8-5 0,0 1 0,-1-1 0,-1 2 0,-1-1 0,-1 0 0,-1 1 0,-1 0 0,2 26 0,-7 177 0,-1-166 0,-4 74 0,0 167 0,13-237 0,22 95 0,-22-131 0,-5-21 10,0 0 1,0 0-1,0 0 0,1 0 0,0-1 0,0 1 1,0-1-1,0 1 0,1-1 0,5 8 0,-6-11-69,0 1 0,0-1 0,0 0 0,0 0 0,0 0 0,0 0 0,0 0 0,0 0 0,1 0-1,-1-1 1,0 1 0,0-1 0,1 0 0,-1 1 0,0-1 0,1 0 0,-1 0 0,0-1 0,1 1-1,-1 0 1,0-1 0,1 1 0,-1-1 0,4-2 0,39-16-6767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13.99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302 327 24575,'1'0'0,"0"0"0,0 0 0,0-1 0,0 1 0,1 0 0,-1-1 0,0 1 0,0 0 0,0-1 0,0 1 0,0-1 0,-1 0 0,1 1 0,0-1 0,0 0 0,0 1 0,0-1 0,-1 0 0,1 0 0,0 0 0,-1 0 0,1 0 0,-1 0 0,1 0 0,-1 0 0,1 0 0,0-2 0,5-33 0,-5 32 0,1-22 0,-1 0 0,-2 0 0,-3-29 0,3 46 0,0 0 0,-1-1 0,0 1 0,0 0 0,-1 1 0,0-1 0,-1 0 0,0 1 0,0 0 0,-1 0 0,0 0 0,-7-8 0,11 15 0,0 0 0,0 0 0,0 0 0,0 0 0,-1 0 0,1 0 0,0 0 0,0 0 0,-1 0 0,1 1 0,-1-1 0,1 0 0,-1 1 0,1-1 0,-1 1 0,1 0 0,-1 0 0,1-1 0,-1 1 0,1 0 0,-1 0 0,0 0 0,1 1 0,-1-1 0,1 0 0,-1 1 0,1-1 0,-3 2 0,-1 0 0,0 1 0,1 1 0,-1-1 0,1 1 0,0 0 0,0 0 0,-6 8 0,-11 16 0,2 0 0,1 1 0,1 1 0,1 1 0,-15 45 0,12-22 0,2 2 0,-13 81 0,30-136 0,-4 21 0,1 0 0,1 0 0,1 0 0,2 26 0,-1-44 0,0-1 0,0 1 0,1 0 0,-1 0 0,1-1 0,0 1 0,0 0 0,0-1 0,1 1 0,0-1 0,-1 1 0,1-1 0,0 0 0,0 1 0,1-1 0,-1 0 0,1-1 0,0 1 0,-1 0 0,1-1 0,0 0 0,0 1 0,1-1 0,-1 0 0,0-1 0,1 1 0,-1 0 0,1-1 0,0 0 0,-1 0 0,6 1 0,1-2 0,0 0 0,0 0 0,-1-1 0,1 0 0,-1-1 0,1 0 0,-1 0 0,0-1 0,1-1 0,-1 1 0,-1-1 0,1-1 0,8-5 0,5-5 0,0 0 0,-2-1 0,31-31 0,-29 24 17,-2-1 0,-1-1 1,-1 0-1,-1-2 0,-1 0 0,14-35 0,-8 8-512,-2-1 0,17-76 0,-17 37-6331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14.40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24575,'0'9'0,"0"57"0,0 72 0,0 56 0,0 32 0,0 4 0,9-18 0,2-46-8191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18.3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7 24575,'195'-6'0,"-191"6"0,0 1 0,0-1 0,0 1 0,-1 1 0,1-1 0,0 0 0,0 1 0,-1 0 0,1 0 0,-1 0 0,0 0 0,1 0 0,-1 1 0,0 0 0,0-1 0,-1 1 0,1 0 0,-1 0 0,1 1 0,-1-1 0,0 0 0,0 1 0,0 0 0,-1-1 0,1 1 0,-1 0 0,0 0 0,1 6 0,3 12 0,-2 1 0,0 0 0,-1 40 0,-1-41 0,-4 57 0,2 35 0,2-104 0,0 1 0,0 0 0,1-1 0,1 1 0,0-1 0,0 0 0,10 19 0,-12-26-27,-1-1 0,2 0-1,-1 0 1,0 0 0,0 0-1,1 0 1,-1 0 0,1 0-1,-1 0 1,1 0 0,0 0 0,0-1-1,0 1 1,0-1 0,0 0-1,0 1 1,0-1 0,0 0-1,0 0 1,1 0 0,-1-1 0,1 1-1,-1-1 1,0 1 0,1-1-1,-1 0 1,1 1 0,-1-1-1,1-1 1,-1 1 0,0 0-1,1 0 1,-1-1 0,1 0 0,-1 1-1,0-1 1,1 0 0,-1 0-1,0 0 1,0 0 0,0-1-1,0 1 1,0-1 0,0 1-1,0-1 1,0 0 0,-1 1 0,1-1-1,1-3 1,19-25-6799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18.77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28 24575,'0'-6'0,"6"-2"0,8 0 0,1 2-8191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19.68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418 7 24575,'-1'0'0,"1"-1"0,0 1 0,0 0 0,0 0 0,0-1 0,0 1 0,0 0 0,0 0 0,0-1 0,0 1 0,-1 0 0,1 0 0,0-1 0,0 1 0,0 0 0,-1 0 0,1-1 0,0 1 0,0 0 0,-1 0 0,1 0 0,0 0 0,0 0 0,-1-1 0,1 1 0,0 0 0,0 0 0,-1 0 0,1 0 0,0 0 0,-1 0 0,1 0 0,0 0 0,0 0 0,-1 0 0,1 0 0,0 0 0,-1 0 0,1 0 0,0 0 0,0 0 0,-1 0 0,1 0 0,0 1 0,0-1 0,-1 0 0,1 0 0,0 0 0,0 0 0,-1 1 0,1-1 0,0 0 0,0 0 0,0 0 0,-1 1 0,1-1 0,0 0 0,-21 15 0,20-13 0,-15 12 0,2 1 0,0 0 0,1 1 0,0 1 0,2 0 0,0 1 0,0 0 0,2 1 0,0 0 0,2 0 0,0 1 0,-5 23 0,2-2 0,2 1 0,1 0 0,3 1 0,1 0 0,4 45 0,11 83 0,-2-58 0,-5 120 0,-7-197 0,-1 0 0,-2-1 0,-2 0 0,-1 0 0,-1 0 0,-2-1 0,-24 52 0,30-75 17,-1-1 0,0-1 1,0 1-1,-1-1 0,0 0 0,-15 14 0,21-21-50,-1-1 0,1 0 0,-1 1 0,1-1 0,-1 0 0,0 0 0,0 0 0,1 0 0,-1-1 0,0 1 0,0 0 0,0-1 0,0 1 0,0-1 0,0 0 0,0 1 0,0-1 0,0 0 0,0 0 0,0-1 0,0 1 0,0 0 0,0-1 0,0 1 0,0-1 0,0 1 0,1-1 0,-1 0 0,0 0 0,0 0 0,0 0 0,1 0 0,-1 0 0,1 0 0,-1-1 0,1 1 0,-1-1 0,1 1 0,0-1 0,0 1 0,0-1 0,0 0 0,0 0 0,-2-3 0,-12-25-6793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0.124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22 24575,'6'0'0,"20"0"0,23 0 0,34 0 0,20 0 0,6-6 0,-11-2 0,-22 0-8191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1.55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710 1 24575,'-32'17'0,"1"3"0,1 0 0,1 2 0,1 1 0,1 1 0,1 1 0,-42 54 0,32-31 0,2 1 0,2 2 0,-48 108 0,57-100 0,2 1 0,3 2 0,2 0 0,4 0 0,-6 70 0,9 17 0,9 154 0,1-296 0,-1 5 0,1 0 0,-2 0 0,0 0 0,-3 19 0,4-30 0,-1 0 0,1 1 0,0-1 0,-1 1 0,1-1 0,-1 0 0,1 1 0,-1-1 0,1 0 0,-1 0 0,0 1 0,0-1 0,0 0 0,0 0 0,0 0 0,0 0 0,0 0 0,0 0 0,0 0 0,0-1 0,0 1 0,-1 0 0,1-1 0,0 1 0,-1-1 0,1 1 0,0-1 0,-1 1 0,1-1 0,0 0 0,-1 0 0,1 0 0,-1 0 0,1 0 0,-1 0 0,1 0 0,0 0 0,-1 0 0,1-1 0,-1 1 0,1 0 0,0-1 0,0 0 0,-1 1 0,1-1 0,0 0 0,0 1 0,-2-2 0,-38-30-1365,1-12-5461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2.09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73 24575,'6'0'0,"14"-12"0,21-4 0,16 1 0,5 3 0,-3 3 0,-5 4 0,0 2 0,3 8 0,-3 3 0,-9 0-8191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5.93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0 106 24575,'7'4'0,"-1"-1"0,0 0 0,1 0 0,0 0 0,0 0 0,0-1 0,0 0 0,0-1 0,0 0 0,0 0 0,0 0 0,1-1 0,12-1 0,4 2 0,409 6 0,-416-8 0,0 0 0,0-2 0,22-6 0,-35 9 0,-1-1 0,0 0 0,0 0 0,0 0 0,0-1 0,0 1 0,0-1 0,0 1 0,0-1 0,0 0 0,-1 0 0,1 0 0,-1 0 0,0-1 0,1 1 0,-1-1 0,0 1 0,-1-1 0,1 0 0,0 0 0,-1 0 0,1 0 0,-1 0 0,1-4 0,-2 6 0,0-1 0,0 1 0,0-1 0,0 0 0,0 1 0,0-1 0,0 0 0,-1 1 0,1-1 0,-1 1 0,1-1 0,-1 1 0,0-1 0,1 1 0,-1-1 0,0 1 0,0 0 0,0-1 0,0 1 0,0 0 0,-2-1 0,-1-1 0,0 0 0,0 0 0,0 0 0,0 1 0,0 0 0,-1 0 0,-5-2 0,-5 0 0,0 0 0,0 1 0,-24-1 0,32 4 0,0 0 0,0 0 0,1 1 0,-1 1 0,0-1 0,0 1 0,1 0 0,-1 0 0,1 1 0,0 0 0,0 0 0,0 0 0,0 1 0,-9 7 0,13-9 0,0 0 0,-1 0 0,1 0 0,0 0 0,0 0 0,1 1 0,-1-1 0,0 1 0,1-1 0,0 1 0,-1 0 0,1 0 0,0-1 0,0 1 0,1 0 0,-1 0 0,1 0 0,-1 0 0,1 0 0,0 0 0,0 0 0,0 0 0,0 0 0,1 0 0,-1 0 0,1 0 0,0 0 0,0-1 0,0 1 0,0 0 0,0 0 0,1-1 0,-1 1 0,1-1 0,0 1 0,3 3 0,-1-2 1,0 0 1,0 1-1,1-1 0,0-1 0,0 1 0,0-1 0,0 0 0,1 0 1,-1 0-1,1-1 0,7 3 0,70 14-1236,-79-19 1091,110 16-6682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6.532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1 263 24575,'0'18'0,"0"17"0,0 16 0,0 11 0,0 6 0,0-1 0,0-1 0,0-36 0,0-70 0,24-65 0,26-32 0,10 0 0,1 25 0,-3 30 0,-1 42 0,-3 34 0,-11 17-8191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7.24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103 368 24575,'10'0'0,"-1"1"0,-1-1 0,1-1 0,0 1 0,-1-1 0,1-1 0,16-4 0,-22 5 0,-1-1 0,1 1 0,0-1 0,-1 0 0,1 0 0,-1 0 0,0-1 0,1 1 0,-1 0 0,0-1 0,0 1 0,-1-1 0,1 0 0,-1 0 0,1 0 0,-1 0 0,0 0 0,0 0 0,0 0 0,0 0 0,-1 0 0,1-6 0,2-8 0,-2 1 0,0-1 0,-1 0 0,-1 1 0,0-1 0,-2 1 0,1-1 0,-2 1 0,0 0 0,-1 0 0,-1 0 0,0 1 0,-1 0 0,-11-18 0,16 31 0,0-1 0,0 0 0,0 1 0,0-1 0,0 1 0,0 0 0,0 0 0,-1 0 0,0 0 0,1 0 0,-1 0 0,0 1 0,0-1 0,1 1 0,-1 0 0,0 0 0,-1 0 0,-2-1 0,3 2 0,1 1 0,-1-1 0,0 0 0,1 1 0,-1 0 0,0 0 0,1-1 0,-1 1 0,1 1 0,0-1 0,-1 0 0,1 1 0,0-1 0,0 1 0,-1 0 0,1-1 0,1 1 0,-1 0 0,0 0 0,0 0 0,1 1 0,-3 3 0,-5 9 0,0 1 0,1 0 0,1 1 0,0 0 0,2 0 0,0 0 0,-5 31 0,4-6 0,2 1 0,1 49 0,3-90 0,0 15 0,0 0 0,2 0 0,0 0 0,5 21 0,-6-34 0,0-1 0,0 1 0,0 0 0,1-1 0,0 1 0,-1-1 0,1 0 0,1 1 0,-1-1 0,0 0 0,1 0 0,-1 0 0,1-1 0,0 1 0,0-1 0,0 1 0,0-1 0,1 0 0,-1 0 0,0 0 0,1-1 0,0 1 0,-1-1 0,8 2 0,2-2 0,0 1 0,0-2 0,0 0 0,1 0 0,-1-1 0,0-1 0,0 0 0,0-1 0,21-7 0,10-6 0,60-33 0,-67 29 0,69-24 0,-103 43 0,0 0 0,0 0 0,1 0 0,-1 0 0,1 0 0,-1 0 0,0 1 0,1 0 0,-1 0 0,1 0 0,-1 0 0,1 0 0,-1 1 0,1 0 0,-1-1 0,1 1 0,-1 0 0,0 1 0,0-1 0,1 1 0,-1-1 0,5 5 0,-5-2 0,0 0 0,0 0 0,0 0 0,-1 1 0,1-1 0,-1 1 0,0 0 0,0 0 0,-1 0 0,1 0 0,-1 0 0,0 0 0,-1 0 0,1 8 0,1 2 0,-2 1 0,0-1 0,0 1 0,-1 0 0,-6 23 0,2-28-10,0-14 16,-2-17-1367,-1-19-5465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7.827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1 167 24575,'1'1'0,"0"0"0,1-1 0,-1 1 0,0 0 0,1 0 0,-1 0 0,0 0 0,0 0 0,0 0 0,0 1 0,0-1 0,0 0 0,0 0 0,0 1 0,0-1 0,-1 0 0,1 1 0,0-1 0,-1 1 0,1-1 0,-1 4 0,13 40 0,-12-40 0,12 69 0,6 145 0,-16-164 0,-3-53 0,2 21 0,-1-32 0,1-19 0,8-51 0,3 2 0,3 0 0,46-128 0,-56 188 0,0 0 0,1 1 0,1 0 0,1 1 0,11-17 0,-19 30 0,1 0 0,0 0 0,-1-1 0,1 1 0,0 0 0,0 1 0,0-1 0,0 0 0,1 0 0,-1 1 0,0 0 0,1-1 0,-1 1 0,1 0 0,-1 0 0,1 0 0,0 0 0,-1 1 0,1-1 0,0 1 0,0 0 0,-1-1 0,1 1 0,0 0 0,0 1 0,-1-1 0,1 0 0,0 1 0,-1 0 0,1-1 0,0 1 0,-1 0 0,1 1 0,-1-1 0,1 0 0,-1 1 0,0-1 0,1 1 0,2 3 0,4 3 0,0 1 0,-1 0 0,0 0 0,0 1 0,-1 0 0,0 1 0,-1-1 0,6 16 0,36 101 0,-29-70 0,-14-43-91,6 15-546,22 45 0,-13-43-6189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8.34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143 0 24575,'-6'6'0,"-8"14"0,-14 52 0,-2 49 0,5 46 0,5 31 0,8 0 0,4-22 0,11-35 0,10-42 0,9-37 0,13-29 0,6-20 0,-3-19 0,-9-20 0,-9-6-8191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28.74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24575,'12'0'0,"16"6"0,27 8 0,16 8 0,3-1 0,0-3 0,-7 2 0,-8-4 0,-14-4-8191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39.015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0 564 24575,'115'2'0,"-28"0"0,92-9 0,-166 6 0,1-1 0,-1-1 0,1 0 0,-1-1 0,0 0 0,0-1 0,-1 0 0,1-1 0,-1-1 0,0 0 0,-1 0 0,0-1 0,0-1 0,0 0 0,-1 0 0,-1-1 0,0 0 0,0-1 0,-1 0 0,0 0 0,12-24 0,-11 13 0,0 0 0,-1-1 0,-2 0 0,0-1 0,3-32 0,-7 47 0,-1-1 0,-1 1 0,0-1 0,0 1 0,0-1 0,-2 1 0,1-1 0,-1 1 0,0 0 0,-1-1 0,0 1 0,-1 1 0,0-1 0,0 0 0,-1 1 0,-9-14 0,10 18 0,-1 0 0,1 0 0,0 0 0,-1 1 0,0-1 0,0 1 0,0 0 0,0 1 0,-1-1 0,1 1 0,-1 0 0,1 1 0,-1-1 0,0 1 0,1 0 0,-1 0 0,0 1 0,0 0 0,0 0 0,1 0 0,-1 1 0,0 0 0,-8 2 0,-3 1 0,1 1 0,0 1 0,1 1 0,-1 0 0,1 1 0,1 1 0,-19 13 0,-2 6 0,2 2 0,1 1 0,1 2 0,2 1 0,1 2 0,1 0 0,3 2 0,1 0 0,1 2 0,-21 56 0,36-75 0,0 0 0,1 1 0,2 0 0,0 0 0,1 0 0,1 0 0,1 1 0,1-1 0,1 0 0,1 1 0,1-1 0,1 0 0,1 0 0,1-1 0,1 1 0,0-1 0,2-1 0,0 1 0,2-2 0,0 1 0,1-1 0,1-1 0,1 0 0,0-1 0,1-1 0,1 0 0,1-1 0,0 0 0,1-2 0,21 13 0,-17-13 0,0-1 0,1-2 0,0 0 0,1-1 0,0-1 0,31 5 0,-46-11 0,0 0 0,0-1 0,0 0 0,0-1 0,0 0 0,0 0 0,0-1 0,0 0 0,0-1 0,0 0 0,0 0 0,-1-1 0,1 0 0,-1 0 0,0-1 0,0 0 0,0-1 0,0 1 0,-1-2 0,13-9 0,1-12-341,0 0 0,-2-2-1,28-53 1,-2-4-6485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39.79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0 24575,'2'0'0,"0"0"0,-1 1 0,1-1 0,0 0 0,-1 1 0,1-1 0,0 1 0,-1-1 0,1 1 0,-1 0 0,1 0 0,-1-1 0,1 1 0,-1 0 0,0 1 0,1-1 0,-1 0 0,0 0 0,0 0 0,0 1 0,0-1 0,0 0 0,0 1 0,1 1 0,14 46 0,-15-45 0,16 79 0,-4 0 0,-4 1 0,-3 0 0,-7 123 0,-1-150 0,8-74 0,15-55 0,63-143 0,-63 170 0,2 1 0,47-70 0,-62 104 0,0 0 0,0 0 0,0 1 0,18-15 0,-24 23 0,0-1 0,0 0 0,0 1 0,1 0 0,-1 0 0,0-1 0,1 1 0,-1 0 0,0 1 0,1-1 0,-1 0 0,1 1 0,-1-1 0,1 1 0,-1 0 0,1 0 0,-1 0 0,1 0 0,-1 0 0,1 1 0,-1-1 0,1 1 0,-1 0 0,1-1 0,-1 1 0,1 0 0,-1 1 0,3 1 0,0 1 0,0 0 0,-1 1 0,0-1 0,0 1 0,0 0 0,-1 0 0,1 1 0,-1-1 0,0 1 0,-1-1 0,4 12 0,16 70 0,-20-77 0,15 78 0,-17-86 0,1 0 0,-1 1 0,1-1 0,0 0 0,-1 0 0,1 1 0,0-1 0,1 0 0,-1 0 0,0 0 0,1 0 0,1 2 0,-2-4 0,-1 1 0,1-1 0,0 1 0,-1-1 0,1 0 0,0 1 0,0-1 0,-1 0 0,1 0 0,0 1 0,0-1 0,0 0 0,-1 0 0,1 0 0,0 0 0,0 0 0,0 0 0,-1 0 0,1 0 0,0 0 0,0-1 0,0 1 0,1-1 0,4-2 0,-1-1 0,1 0 0,-1 0 0,1 0 0,-1-1 0,8-9 0,5-4 0,-9 9 0,1 1 0,-1 0 0,2 1 0,-1 0 0,1 0 0,0 1 0,20-7 0,-26 11 0,1 1 0,0-1 0,0 1 0,0 1 0,0-1 0,0 1 0,0 0 0,0 0 0,0 1 0,0 0 0,0 0 0,0 0 0,0 1 0,-1 0 0,1 0 0,0 0 0,-1 1 0,7 4 0,1 2 0,-1 0 0,0 1 0,-1 0 0,0 1 0,0 0 0,-2 1 0,1 0 0,-1 0 0,-1 1 0,10 19 0,4 16 0,26 78 0,-44-116 0,14 44-31,-11-29-413,2 1-1,15 30 0,-11-39-6381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0.46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24575,'1'17'0,"0"0"0,2 0 0,0 0 0,5 16 0,6 28 0,43 507 0,-37-295 0,-19-264 0,-1 0 0,2 1 0,-1-1 0,1 0 0,1 0 0,4 12 0,-6-20 0,0 1 0,0 0 0,0-1 0,0 1 0,1-1 0,-1 1 0,0-1 0,1 1 0,0-1 0,-1 0 0,1 0 0,0 0 0,-1 0 0,1 0 0,0 0 0,0-1 0,0 1 0,0 0 0,0-1 0,0 0 0,0 1 0,0-1 0,0 0 0,0 0 0,0 0 0,0 0 0,0 0 0,0-1 0,0 1 0,0-1 0,0 1 0,3-2 0,18-5 0,-9 3 0,1 0 0,0 1 0,0 0 0,20 0 0,-29 3 0,-1 0 0,0 0 0,1 1 0,-1 0 0,0 0 0,1 1 0,-1 0 0,0-1 0,0 2 0,0-1 0,0 0 0,-1 1 0,1 0 0,-1 0 0,1 1 0,5 5 0,-3 0 0,1 0 0,-1 1 0,0 0 0,-1 0 0,0 0 0,-1 1 0,0 0 0,-1 0 0,0 0 0,-1 1 0,0 0 0,-1-1 0,0 1 0,0 14 0,0-4 0,-2 0 0,0 1 0,-2-1 0,0 0 0,-2 0 0,-10 36 0,10-44 0,-2 1 0,0-1 0,0 0 0,-1-1 0,-1 1 0,-1-2 0,1 1 0,-20 19 0,26-28 0,-2-1 0,1 0 0,0 0 0,0-1 0,-1 1 0,0-1 0,1 0 0,-1 0 0,0 0 0,0 0 0,0 0 0,0-1 0,-1 0 0,1 0 0,0 0 0,0 0 0,-1-1 0,1 0 0,0 0 0,-1 0 0,1 0 0,-1-1 0,1 1 0,0-1 0,0 0 0,-1-1 0,1 1 0,0-1 0,0 0 0,0 1 0,1-2 0,-1 1 0,-6-5 0,2 0-273,0 0 0,0-1 0,1 1 0,-13-18 0,-18-38-6553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1.04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1 446 24575,'21'0'0,"-4"1"0,1-1 0,0-1 0,0-1 0,21-4 0,-34 4 0,1 0 0,-1 0 0,0 0 0,1 0 0,-1-1 0,0 0 0,0 0 0,0-1 0,-1 1 0,1-1 0,-1 0 0,0 0 0,0-1 0,0 1 0,-1-1 0,0 1 0,3-7 0,1-1 0,-1-1 0,-1 0 0,-1 0 0,1 0 0,-2-1 0,0 1 0,-1-1 0,0 0 0,-1 0 0,0 0 0,-1 0 0,-1 0 0,0 1 0,-1-1 0,-1 0 0,0 0 0,-1 1 0,0 0 0,-1 0 0,0 0 0,-11-18 0,13 25 0,-1 0 0,0 1 0,0-1 0,-1 1 0,1 0 0,-11-9 0,13 12 0,1 1 0,-1 0 0,1 0 0,-1 0 0,0 1 0,1-1 0,-1 0 0,0 1 0,0-1 0,0 1 0,0-1 0,1 1 0,-1 0 0,0 0 0,0 0 0,0 0 0,0 0 0,0 0 0,0 1 0,1-1 0,-1 0 0,0 1 0,0 0 0,1-1 0,-1 1 0,0 0 0,0 0 0,1 0 0,-4 2 0,0 2 0,1-1 0,-1 1 0,1 0 0,0 1 0,0-1 0,0 1 0,1-1 0,0 1 0,0 0 0,0 0 0,-2 9 0,-1 4 0,1 0 0,-4 37 0,6-26 0,2 0 0,1 0 0,1 0 0,2 0 0,11 54 0,-10-66 0,1-1 0,0 0 0,1 0 0,1 0 0,1-1 0,0 0 0,1 0 0,1-1 0,0-1 0,1 1 0,18 17 0,-21-26 6,0 0 0,0-1 0,1 1-1,0-2 1,-1 1 0,2-1 0,-1 0 0,0-1 0,1 0-1,-1-1 1,1 0 0,16 1 0,10-1-192,0-1 1,38-5-1,-32 2-698,37-2-5942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1.49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392 1 24575,'-18'0'0,"-15"0"0,-11 0 0,-6 0 0,-14 27 0,-4 54 0,9 49 0,15 20 0,32-15 0,28-30 0,20-43 0,13-67 0,7-69 0,-6-49 0,-12-4-8191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1.890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0 1 24575,'0'45'0,"0"68"0,0 79 0,0 60 0,0 42 0,0 6 0,0-20 0,0-59-8191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2.26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24575,'0'18'0,"0"24"0,9 23 0,3 36 0,-1 1-8191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2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24575,'0'18'0,"0"24"0,0 14 0,0 6 0,0 20 0,0 14 0,9 17 0,12-10 0,20-50 0,4-34-8191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3.056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0 24575,'0'9'0,"0"30"0,0 27 0,0 19 0,0-13 0,9-28 0,12-49 0,11-41 0,10-13 0,-3 22 0,-8 53 0,-9 51 0,-8 31 0,11 9 0,10-32 0,36-47 0,15-28 0,-8-14-8191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3.65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156 0 24575,'-3'0'0,"-1"1"0,0-1 0,1 1 0,-1 0 0,1 0 0,-1 0 0,1 1 0,-1-1 0,1 1 0,0-1 0,0 1 0,0 0 0,0 1 0,0-1 0,0 0 0,1 1 0,-1-1 0,1 1 0,-1 0 0,-2 5 0,-2 4 0,0 0 0,0 1 0,2 0 0,-6 14 0,5-11 0,1 0 0,0 0 0,2 0 0,0 1 0,0 0 0,2-1 0,0 1 0,1 23 0,1-39 0,-1 0 0,0 1 0,0-1 0,1 0 0,-1 0 0,0 0 0,1 0 0,-1 0 0,1 0 0,0 1 0,-1-1 0,1 0 0,0-1 0,-1 1 0,1 0 0,0 0 0,0 0 0,0 0 0,0-1 0,0 1 0,0 0 0,0-1 0,0 1 0,0-1 0,0 1 0,0-1 0,1 1 0,-1-1 0,0 0 0,0 0 0,0 1 0,0-1 0,1 0 0,-1 0 0,0 0 0,0 0 0,0-1 0,1 1 0,-1 0 0,0 0 0,2-1 0,3-2 0,0 0 0,0 0 0,0 0 0,0 0 0,9-9 0,9-9 0,-18 16 0,0-1 0,1 1 0,-1-1 0,1 2 0,0-1 0,0 1 0,0 0 0,11-4 0,-16 8 0,-1 0 0,1-1 0,-1 1 0,0 0 0,1 0 0,-1 0 0,1 1 0,-1-1 0,0 0 0,1 0 0,-1 1 0,0-1 0,1 1 0,-1-1 0,0 1 0,0 0 0,1-1 0,-1 1 0,0 0 0,0 0 0,0 0 0,0 0 0,0 0 0,0 0 0,0 0 0,0 0 0,0 0 0,-1 1 0,1-1 0,1 3 0,12 46 0,-3 34 0,-4 0 0,-7 157 0,-2-141 0,-39 501 0,39-577 0,-2 0 0,0 0 0,-1 0 0,-2 0 0,0-1 0,-12 23 0,18-43-40,-1 1 0,0-1 0,1 0 0,-1 0-1,-1 0 1,1-1 0,0 1 0,-1 0 0,1-1 0,-1 0 0,0 1-1,0-1 1,0 0 0,0 0 0,0-1 0,-1 1 0,1-1-1,0 0 1,-1 1 0,1-1 0,-1-1 0,1 1 0,-1 0 0,1-1-1,-1 0 1,0 0 0,1 0 0,-1 0 0,1-1 0,-1 1-1,1-1 1,-1 0 0,-4-2 0,-67-21-6786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09:47.203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126 1 24575,'-10'6'0,"1"0"0,0 1 0,0 1 0,1-1 0,0 1 0,0 1 0,1-1 0,0 1 0,0 1 0,1-1 0,0 1 0,1 0 0,0 1 0,1-1 0,0 1 0,0 0 0,1 0 0,1 0 0,-3 21 0,6-27 0,-1 1 0,1-1 0,-1 1 0,2-1 0,-1 1 0,1-1 0,-1 1 0,1-1 0,1 0 0,-1 0 0,1 0 0,0 0 0,0-1 0,0 1 0,1-1 0,0 0 0,0 0 0,8 7 0,10 7 0,0-1 0,41 22 0,-15-9 0,-23-13 0,-2 2 0,0 0 0,-1 1 0,-1 1 0,-1 1 0,-1 1 0,28 43 0,-40-55 0,-1 1 0,0-1 0,-1 1 0,0-1 0,-1 2 0,0-1 0,-1 0 0,-1 1 0,0-1 0,0 1 0,-1 0 0,-1-1 0,0 1 0,-1 0 0,0 0 0,-1-1 0,0 1 0,-1-1 0,-1 1 0,-8 18 0,7-20 9,0 0-1,-1-1 1,-1 0-1,0 0 1,0 0 0,-1-1-1,0 0 1,-1 0-1,0-1 1,0 0-1,-1-1 1,0 0-1,-11 6 1,6-5-174,-1-1 0,0-1 0,0-1 0,0 0 0,-1-1 0,0 0 0,1-2 0,-30 2 0,-3-4-6661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20:30.658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6990 0 24575,'0'2'0,"-1"0"0,1 0 0,-1 0 0,1 0 0,-1 0 0,0 0 0,0 0 0,0 0 0,0-1 0,0 1 0,-1 0 0,1-1 0,0 1 0,-1-1 0,1 1 0,-1-1 0,1 0 0,-1 0 0,-3 2 0,-3 4 0,-10 7 0,-2-1 0,0 0 0,0-1 0,-1-1 0,-1-1 0,-34 11 0,-31 3 0,-1-3 0,0-4 0,-97 6 0,-176 3 0,-102-10 0,-1451-40-595,819-4 606,307 27 657,511 2-752,225-1 84,1 2 0,-1 3 0,-57 11 0,87-11 0,0 2 0,0 0 0,1 1 0,0 1 0,0 1 0,1 1 0,1 1 0,0 1 0,-29 24 0,-205 225 0,151-148 0,48-52 10,2 2-1,-74 123 0,-58 151-123,67-115-1165,71-141-5547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9-24T05:20:31.549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1 1 24575,'0'26'0,"0"37"0,0 43 0,0 22 0,0 7 0,0-11 0,0-17 0,0-17 0,9-25 0,12-23 0,56-19 0,78-31 0,139-14 0,154-4 0,91 3 0,-10 5-630,-86 6 630,-118 5-7561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Shape 14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45" name="Shape 14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1pPr>
    <a:lvl2pPr indent="228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2pPr>
    <a:lvl3pPr indent="457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3pPr>
    <a:lvl4pPr indent="685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4pPr>
    <a:lvl5pPr indent="9144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5pPr>
    <a:lvl6pPr indent="11430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6pPr>
    <a:lvl7pPr indent="13716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7pPr>
    <a:lvl8pPr indent="16002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8pPr>
    <a:lvl9pPr indent="1828800" defTabSz="457200" latinLnBrk="0">
      <a:lnSpc>
        <a:spcPct val="117999"/>
      </a:lnSpc>
      <a:defRPr sz="2200">
        <a:latin typeface="Helvetica Neue"/>
        <a:ea typeface="Helvetica Neue"/>
        <a:cs typeface="Helvetica Neue"/>
        <a:sym typeface="Helvetica Neue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http://</a:t>
            </a:r>
            <a:r>
              <a:rPr lang="en-US" dirty="0" err="1"/>
              <a:t>demo.clab.cs.cmu.edu</a:t>
            </a:r>
            <a:r>
              <a:rPr lang="en-US"/>
              <a:t>/NLP/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8889F41-3A46-5C48-8B12-8A663AA0B3C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71879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17" name="Shape 21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word embeddings?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Shape 31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12" name="Shape 31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10:15?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Shape 32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25" name="Shape 32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Keep to 5 minutes for FFNs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Shape 36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62" name="Shape 36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Keep to 5 minutes for FFNs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Shape 37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71" name="Shape 37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\mathbf{h} = f(\mathbf{W} \mathbf{e} + \mathbf{b}_1)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Shape 556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57" name="Shape 55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Keep to 5 minutes for RNNs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4" name="Shape 64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45" name="Shape 64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10:30-10:40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4" name="Shape 664"/>
          <p:cNvSpPr>
            <a:spLocks noGrp="1" noRot="1" noChangeAspect="1"/>
          </p:cNvSpPr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65" name="Shape 66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John Rupert Firth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" name="Shape 686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87" name="Shape 687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that this idea can be extended to other modalities as well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0" name="Shape 70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01" name="Shape 70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that this idea can be extended to other modalities as well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4" name="Shape 714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15" name="Shape 715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that this idea can be extended to other modalities as well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5" name="Shape 835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36" name="Shape 836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idea originates from Latent Semantic Analysis (Deerwester et al., 1990) (applied on word-document matrix)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" name="Shape 860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61" name="Shape 861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that this idea can be extended to other modalities as well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3" name="Shape 1173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74" name="Shape 1174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This idea originates from Latent Semantic Analysis (Deerwester et al., 1990) (applied on word-document matrix)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8" name="Shape 1198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1199" name="Shape 1199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Note that this idea can be extended to other modalities as well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&amp;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>
            <a:spLocks noGrp="1"/>
          </p:cNvSpPr>
          <p:nvPr>
            <p:ph type="title"/>
          </p:nvPr>
        </p:nvSpPr>
        <p:spPr>
          <a:xfrm>
            <a:off x="4833937" y="2303859"/>
            <a:ext cx="14716126" cy="4643438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7090171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Image"/>
          <p:cNvSpPr>
            <a:spLocks noGrp="1"/>
          </p:cNvSpPr>
          <p:nvPr>
            <p:ph type="pic" sz="half" idx="21"/>
          </p:nvPr>
        </p:nvSpPr>
        <p:spPr>
          <a:xfrm>
            <a:off x="5329062" y="406546"/>
            <a:ext cx="13716003" cy="914876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21" name="Title Text"/>
          <p:cNvSpPr txBox="1">
            <a:spLocks noGrp="1"/>
          </p:cNvSpPr>
          <p:nvPr>
            <p:ph type="title"/>
          </p:nvPr>
        </p:nvSpPr>
        <p:spPr>
          <a:xfrm>
            <a:off x="4833937" y="9447609"/>
            <a:ext cx="14716126" cy="2000251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22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833937" y="11465718"/>
            <a:ext cx="14716126" cy="1589486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Cen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Text"/>
          <p:cNvSpPr txBox="1">
            <a:spLocks noGrp="1"/>
          </p:cNvSpPr>
          <p:nvPr>
            <p:ph type="title"/>
          </p:nvPr>
        </p:nvSpPr>
        <p:spPr>
          <a:xfrm>
            <a:off x="4833937" y="4536281"/>
            <a:ext cx="14716126" cy="4643438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3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Image"/>
          <p:cNvSpPr>
            <a:spLocks noGrp="1"/>
          </p:cNvSpPr>
          <p:nvPr>
            <p:ph type="pic" idx="21"/>
          </p:nvPr>
        </p:nvSpPr>
        <p:spPr>
          <a:xfrm>
            <a:off x="6231433" y="863203"/>
            <a:ext cx="17439681" cy="1162645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39" name="Title Text"/>
          <p:cNvSpPr txBox="1">
            <a:spLocks noGrp="1"/>
          </p:cNvSpPr>
          <p:nvPr>
            <p:ph type="title"/>
          </p:nvPr>
        </p:nvSpPr>
        <p:spPr>
          <a:xfrm>
            <a:off x="4387453" y="892968"/>
            <a:ext cx="7500938" cy="5607845"/>
          </a:xfrm>
          <a:prstGeom prst="rect">
            <a:avLst/>
          </a:prstGeom>
        </p:spPr>
        <p:txBody>
          <a:bodyPr lIns="71437" tIns="71437" rIns="71437" bIns="71437" anchor="b"/>
          <a:lstStyle>
            <a:lvl1pPr algn="ctr" defTabSz="821531">
              <a:lnSpc>
                <a:spcPct val="100000"/>
              </a:lnSpc>
              <a:defRPr sz="8400" b="0" spc="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Title Text</a:t>
            </a:r>
          </a:p>
        </p:txBody>
      </p:sp>
      <p:sp>
        <p:nvSpPr>
          <p:cNvPr id="40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6643687"/>
            <a:ext cx="7500938" cy="5786438"/>
          </a:xfrm>
          <a:prstGeom prst="rect">
            <a:avLst/>
          </a:prstGeom>
        </p:spPr>
        <p:txBody>
          <a:bodyPr lIns="71437" tIns="71437" rIns="71437" bIns="71437"/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1pPr>
            <a:lvl2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2pPr>
            <a:lvl3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3pPr>
            <a:lvl4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4pPr>
            <a:lvl5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5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- T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57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4387453" y="3643312"/>
            <a:ext cx="15609094" cy="7129798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032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1pPr>
            <a:lvl2pPr marL="10477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2pPr>
            <a:lvl3pPr marL="14922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3pPr>
            <a:lvl4pPr marL="19367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4pPr>
            <a:lvl5pPr marL="2381250" indent="-603250" defTabSz="821531">
              <a:lnSpc>
                <a:spcPct val="100000"/>
              </a:lnSpc>
              <a:spcBef>
                <a:spcPts val="1400"/>
              </a:spcBef>
              <a:buSzPct val="145000"/>
              <a:defRPr sz="3800">
                <a:latin typeface="Georgia"/>
                <a:ea typeface="Georgia"/>
                <a:cs typeface="Georgia"/>
                <a:sym typeface="Georgia"/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5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, Bullets &amp; 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Image"/>
          <p:cNvSpPr>
            <a:spLocks noGrp="1"/>
          </p:cNvSpPr>
          <p:nvPr>
            <p:ph type="pic" sz="half" idx="21"/>
          </p:nvPr>
        </p:nvSpPr>
        <p:spPr>
          <a:xfrm>
            <a:off x="8794253" y="3637358"/>
            <a:ext cx="13260587" cy="884039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6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6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4387453" y="3643312"/>
            <a:ext cx="7500938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465364" indent="-465364" defTabSz="821531">
              <a:lnSpc>
                <a:spcPct val="100000"/>
              </a:lnSpc>
              <a:buSzPct val="145000"/>
              <a:defRPr sz="3800"/>
            </a:lvl1pPr>
            <a:lvl2pPr marL="808264" indent="-465364" defTabSz="821531">
              <a:lnSpc>
                <a:spcPct val="100000"/>
              </a:lnSpc>
              <a:buSzPct val="145000"/>
              <a:defRPr sz="3800"/>
            </a:lvl2pPr>
            <a:lvl3pPr marL="1151164" indent="-465364" defTabSz="821531">
              <a:lnSpc>
                <a:spcPct val="100000"/>
              </a:lnSpc>
              <a:buSzPct val="145000"/>
              <a:defRPr sz="3800"/>
            </a:lvl3pPr>
            <a:lvl4pPr marL="1494064" indent="-465364" defTabSz="821531">
              <a:lnSpc>
                <a:spcPct val="100000"/>
              </a:lnSpc>
              <a:buSzPct val="145000"/>
              <a:defRPr sz="3800"/>
            </a:lvl4pPr>
            <a:lvl5pPr marL="1836964" indent="-465364" defTabSz="821531">
              <a:lnSpc>
                <a:spcPct val="100000"/>
              </a:lnSpc>
              <a:buSzPct val="145000"/>
              <a:defRPr sz="38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3076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Light"/>
                <a:ea typeface="Helvetica Light"/>
                <a:cs typeface="Helvetica Light"/>
                <a:sym typeface="Helvetica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1785937"/>
            <a:ext cx="15609094" cy="10144126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1pPr>
            <a:lvl2pPr marL="1055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2pPr>
            <a:lvl3pPr marL="1500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3pPr>
            <a:lvl4pPr marL="1944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4pPr>
            <a:lvl5pPr marL="2389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 - 3 U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Image"/>
          <p:cNvSpPr>
            <a:spLocks noGrp="1"/>
          </p:cNvSpPr>
          <p:nvPr>
            <p:ph type="pic" sz="quarter" idx="21"/>
          </p:nvPr>
        </p:nvSpPr>
        <p:spPr>
          <a:xfrm>
            <a:off x="12442031" y="7072312"/>
            <a:ext cx="8514489" cy="5679282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4" name="Image"/>
          <p:cNvSpPr>
            <a:spLocks noGrp="1"/>
          </p:cNvSpPr>
          <p:nvPr>
            <p:ph type="pic" sz="quarter" idx="22"/>
          </p:nvPr>
        </p:nvSpPr>
        <p:spPr>
          <a:xfrm>
            <a:off x="12192000" y="1250156"/>
            <a:ext cx="8251032" cy="550068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5" name="Image"/>
          <p:cNvSpPr>
            <a:spLocks noGrp="1"/>
          </p:cNvSpPr>
          <p:nvPr>
            <p:ph type="pic" idx="23"/>
          </p:nvPr>
        </p:nvSpPr>
        <p:spPr>
          <a:xfrm>
            <a:off x="-291704" y="1250156"/>
            <a:ext cx="16850320" cy="11233548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86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–Johnny Appleseed"/>
          <p:cNvSpPr txBox="1">
            <a:spLocks noGrp="1"/>
          </p:cNvSpPr>
          <p:nvPr>
            <p:ph type="body" sz="quarter" idx="21"/>
          </p:nvPr>
        </p:nvSpPr>
        <p:spPr>
          <a:xfrm>
            <a:off x="4833937" y="8947546"/>
            <a:ext cx="14716126" cy="647701"/>
          </a:xfrm>
          <a:prstGeom prst="rect">
            <a:avLst/>
          </a:prstGeom>
        </p:spPr>
        <p:txBody>
          <a:bodyPr lIns="71437" tIns="71437" rIns="71437" bIns="71437">
            <a:spAutoFit/>
          </a:bodyPr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3200" i="1"/>
            </a:lvl1pPr>
          </a:lstStyle>
          <a:p>
            <a:r>
              <a:t>–Johnny Appleseed</a:t>
            </a:r>
          </a:p>
        </p:txBody>
      </p:sp>
      <p:sp>
        <p:nvSpPr>
          <p:cNvPr id="94" name="“Type a quote here.”"/>
          <p:cNvSpPr txBox="1">
            <a:spLocks noGrp="1"/>
          </p:cNvSpPr>
          <p:nvPr>
            <p:ph type="body" sz="quarter" idx="22"/>
          </p:nvPr>
        </p:nvSpPr>
        <p:spPr>
          <a:xfrm>
            <a:off x="4833937" y="5997575"/>
            <a:ext cx="14716126" cy="863601"/>
          </a:xfrm>
          <a:prstGeom prst="rect">
            <a:avLst/>
          </a:prstGeom>
        </p:spPr>
        <p:txBody>
          <a:bodyPr lIns="71437" tIns="71437" rIns="71437" bIns="71437" anchor="ctr">
            <a:spAutoFit/>
          </a:bodyPr>
          <a:lstStyle>
            <a:lvl1pPr marL="0" indent="0" algn="ctr" defTabSz="821531">
              <a:lnSpc>
                <a:spcPct val="100000"/>
              </a:lnSpc>
              <a:spcBef>
                <a:spcPts val="0"/>
              </a:spcBef>
              <a:buSzTx/>
              <a:buNone/>
              <a:defRPr sz="46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“Type a quote here.” </a:t>
            </a:r>
          </a:p>
        </p:txBody>
      </p:sp>
      <p:sp>
        <p:nvSpPr>
          <p:cNvPr id="9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h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Image"/>
          <p:cNvSpPr>
            <a:spLocks noGrp="1"/>
          </p:cNvSpPr>
          <p:nvPr>
            <p:ph type="pic" idx="21"/>
          </p:nvPr>
        </p:nvSpPr>
        <p:spPr>
          <a:xfrm>
            <a:off x="1712269" y="0"/>
            <a:ext cx="20959463" cy="13983891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>
            <a:endParaRPr/>
          </a:p>
        </p:txBody>
      </p:sp>
      <p:sp>
        <p:nvSpPr>
          <p:cNvPr id="103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4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18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1pPr>
            <a:lvl2pPr marL="1055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2pPr>
            <a:lvl3pPr marL="1500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3pPr>
            <a:lvl4pPr marL="19446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4pPr>
            <a:lvl5pPr marL="2389187" indent="-611187" defTabSz="821531">
              <a:lnSpc>
                <a:spcPct val="120000"/>
              </a:lnSpc>
              <a:spcBef>
                <a:spcPts val="70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Slide Title"/>
          <p:cNvSpPr txBox="1">
            <a:spLocks noGrp="1"/>
          </p:cNvSpPr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Title</a:t>
            </a:r>
          </a:p>
        </p:txBody>
      </p:sp>
      <p:sp>
        <p:nvSpPr>
          <p:cNvPr id="127" name="Slide Subtitle"/>
          <p:cNvSpPr txBox="1">
            <a:spLocks noGrp="1"/>
          </p:cNvSpPr>
          <p:nvPr>
            <p:ph type="body" sz="quarter" idx="21" hasCustomPrompt="1"/>
          </p:nvPr>
        </p:nvSpPr>
        <p:spPr>
          <a:xfrm>
            <a:off x="1206500" y="2372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</a:lstStyle>
          <a:p>
            <a:r>
              <a:t>Slide Subtitle</a:t>
            </a:r>
          </a:p>
        </p:txBody>
      </p:sp>
      <p:sp>
        <p:nvSpPr>
          <p:cNvPr id="128" name="Body Level One…"/>
          <p:cNvSpPr txBox="1">
            <a:spLocks noGrp="1"/>
          </p:cNvSpPr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12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Title Text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</p:spPr>
        <p:txBody>
          <a:bodyPr lIns="71437" tIns="71437" rIns="71437" bIns="71437" anchor="ctr"/>
          <a:lstStyle>
            <a:lvl1pPr algn="ctr" defTabSz="821531">
              <a:lnSpc>
                <a:spcPct val="100000"/>
              </a:lnSpc>
              <a:defRPr sz="7800" b="0" spc="0"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Title Text</a:t>
            </a:r>
          </a:p>
        </p:txBody>
      </p:sp>
      <p:sp>
        <p:nvSpPr>
          <p:cNvPr id="137" name="Body Level One…"/>
          <p:cNvSpPr txBox="1">
            <a:spLocks noGrp="1"/>
          </p:cNvSpPr>
          <p:nvPr>
            <p:ph type="body" idx="1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</p:spPr>
        <p:txBody>
          <a:bodyPr lIns="71437" tIns="71437" rIns="71437" bIns="71437" anchor="ctr"/>
          <a:lstStyle>
            <a:lvl1pPr marL="6111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1pPr>
            <a:lvl2pPr marL="10556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2pPr>
            <a:lvl3pPr marL="15001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3pPr>
            <a:lvl4pPr marL="19446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4pPr>
            <a:lvl5pPr marL="2389187" indent="-611187" defTabSz="821531">
              <a:lnSpc>
                <a:spcPct val="100000"/>
              </a:lnSpc>
              <a:spcBef>
                <a:spcPts val="7000"/>
              </a:spcBef>
              <a:buSzPct val="145000"/>
              <a:defRPr sz="4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8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Title"/>
          <p:cNvSpPr txBox="1">
            <a:spLocks noGrp="1"/>
          </p:cNvSpPr>
          <p:nvPr>
            <p:ph type="title" hasCustomPrompt="1"/>
          </p:nvPr>
        </p:nvSpPr>
        <p:spPr>
          <a:xfrm>
            <a:off x="1206500" y="1079500"/>
            <a:ext cx="21971000" cy="143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Title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>
            <a:normAutofit/>
          </a:bodyPr>
          <a:lstStyle/>
          <a:p>
            <a:r>
              <a:t>Slide bullet text</a:t>
            </a:r>
          </a:p>
          <a:p>
            <a:pPr lvl="1"/>
            <a:endParaRPr/>
          </a:p>
          <a:p>
            <a:pPr lvl="2"/>
            <a:endParaRPr/>
          </a:p>
          <a:p>
            <a:pPr lvl="3"/>
            <a:endParaRPr/>
          </a:p>
          <a:p>
            <a:pPr lvl="4"/>
            <a:endParaRPr/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0" marR="0" indent="457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0" marR="0" indent="914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0" marR="0" indent="1371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0" marR="0" indent="18288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0" marR="0" indent="22860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0" marR="0" indent="27432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0" marR="0" indent="32004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0" marR="0" indent="3657600" algn="l" defTabSz="2438338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8500" b="1" i="0" u="none" strike="noStrike" cap="none" spc="-17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titleStyle>
    <p:bodyStyle>
      <a:lvl1pPr marL="609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1pPr>
      <a:lvl2pPr marL="1219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2pPr>
      <a:lvl3pPr marL="1828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3pPr>
      <a:lvl4pPr marL="2438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4pPr>
      <a:lvl5pPr marL="30480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5pPr>
      <a:lvl6pPr marL="36576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6pPr>
      <a:lvl7pPr marL="42672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7pPr>
      <a:lvl8pPr marL="48768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8pPr>
      <a:lvl9pPr marL="5486400" marR="0" indent="-609600" algn="l" defTabSz="2438338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tabLst/>
        <a:defRPr sz="4800" b="0" i="0" u="none" strike="noStrike" cap="none" spc="0" baseline="0">
          <a:solidFill>
            <a:srgbClr val="000000"/>
          </a:solidFill>
          <a:uFillTx/>
          <a:latin typeface="Helvetica Neue"/>
          <a:ea typeface="Helvetica Neue"/>
          <a:cs typeface="Helvetica Neue"/>
          <a:sym typeface="Helvetica Neue"/>
        </a:defRPr>
      </a:lvl9pPr>
    </p:bodyStyle>
    <p:otherStyle>
      <a:lvl1pPr marL="0" marR="0" indent="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26" Type="http://schemas.openxmlformats.org/officeDocument/2006/relationships/customXml" Target="../ink/ink12.xml"/><Relationship Id="rId21" Type="http://schemas.openxmlformats.org/officeDocument/2006/relationships/image" Target="../media/image17.png"/><Relationship Id="rId34" Type="http://schemas.openxmlformats.org/officeDocument/2006/relationships/customXml" Target="../ink/ink16.xml"/><Relationship Id="rId42" Type="http://schemas.openxmlformats.org/officeDocument/2006/relationships/customXml" Target="../ink/ink20.xml"/><Relationship Id="rId47" Type="http://schemas.openxmlformats.org/officeDocument/2006/relationships/image" Target="../media/image30.png"/><Relationship Id="rId50" Type="http://schemas.openxmlformats.org/officeDocument/2006/relationships/customXml" Target="../ink/ink24.xml"/><Relationship Id="rId55" Type="http://schemas.openxmlformats.org/officeDocument/2006/relationships/image" Target="../media/image34.png"/><Relationship Id="rId63" Type="http://schemas.openxmlformats.org/officeDocument/2006/relationships/image" Target="../media/image38.png"/><Relationship Id="rId7" Type="http://schemas.openxmlformats.org/officeDocument/2006/relationships/image" Target="../media/image10.png"/><Relationship Id="rId2" Type="http://schemas.openxmlformats.org/officeDocument/2006/relationships/image" Target="../media/image7.png"/><Relationship Id="rId16" Type="http://schemas.openxmlformats.org/officeDocument/2006/relationships/customXml" Target="../ink/ink7.xml"/><Relationship Id="rId29" Type="http://schemas.openxmlformats.org/officeDocument/2006/relationships/image" Target="../media/image21.png"/><Relationship Id="rId11" Type="http://schemas.openxmlformats.org/officeDocument/2006/relationships/image" Target="../media/image12.png"/><Relationship Id="rId24" Type="http://schemas.openxmlformats.org/officeDocument/2006/relationships/customXml" Target="../ink/ink11.xml"/><Relationship Id="rId32" Type="http://schemas.openxmlformats.org/officeDocument/2006/relationships/customXml" Target="../ink/ink15.xml"/><Relationship Id="rId37" Type="http://schemas.openxmlformats.org/officeDocument/2006/relationships/image" Target="../media/image25.png"/><Relationship Id="rId40" Type="http://schemas.openxmlformats.org/officeDocument/2006/relationships/customXml" Target="../ink/ink19.xml"/><Relationship Id="rId45" Type="http://schemas.openxmlformats.org/officeDocument/2006/relationships/image" Target="../media/image29.png"/><Relationship Id="rId53" Type="http://schemas.openxmlformats.org/officeDocument/2006/relationships/image" Target="../media/image33.png"/><Relationship Id="rId58" Type="http://schemas.openxmlformats.org/officeDocument/2006/relationships/customXml" Target="../ink/ink28.xml"/><Relationship Id="rId5" Type="http://schemas.openxmlformats.org/officeDocument/2006/relationships/image" Target="../media/image9.png"/><Relationship Id="rId61" Type="http://schemas.openxmlformats.org/officeDocument/2006/relationships/image" Target="../media/image37.png"/><Relationship Id="rId19" Type="http://schemas.openxmlformats.org/officeDocument/2006/relationships/image" Target="../media/image16.png"/><Relationship Id="rId14" Type="http://schemas.openxmlformats.org/officeDocument/2006/relationships/customXml" Target="../ink/ink6.xml"/><Relationship Id="rId22" Type="http://schemas.openxmlformats.org/officeDocument/2006/relationships/customXml" Target="../ink/ink10.xml"/><Relationship Id="rId27" Type="http://schemas.openxmlformats.org/officeDocument/2006/relationships/image" Target="../media/image20.png"/><Relationship Id="rId30" Type="http://schemas.openxmlformats.org/officeDocument/2006/relationships/customXml" Target="../ink/ink14.xml"/><Relationship Id="rId35" Type="http://schemas.openxmlformats.org/officeDocument/2006/relationships/image" Target="../media/image24.png"/><Relationship Id="rId43" Type="http://schemas.openxmlformats.org/officeDocument/2006/relationships/image" Target="../media/image28.png"/><Relationship Id="rId48" Type="http://schemas.openxmlformats.org/officeDocument/2006/relationships/customXml" Target="../ink/ink23.xml"/><Relationship Id="rId56" Type="http://schemas.openxmlformats.org/officeDocument/2006/relationships/customXml" Target="../ink/ink27.xml"/><Relationship Id="rId64" Type="http://schemas.openxmlformats.org/officeDocument/2006/relationships/customXml" Target="../ink/ink31.xml"/><Relationship Id="rId8" Type="http://schemas.openxmlformats.org/officeDocument/2006/relationships/customXml" Target="../ink/ink3.xml"/><Relationship Id="rId51" Type="http://schemas.openxmlformats.org/officeDocument/2006/relationships/image" Target="../media/image32.png"/><Relationship Id="rId3" Type="http://schemas.openxmlformats.org/officeDocument/2006/relationships/image" Target="../media/image8.png"/><Relationship Id="rId12" Type="http://schemas.openxmlformats.org/officeDocument/2006/relationships/customXml" Target="../ink/ink5.xml"/><Relationship Id="rId17" Type="http://schemas.openxmlformats.org/officeDocument/2006/relationships/image" Target="../media/image15.png"/><Relationship Id="rId25" Type="http://schemas.openxmlformats.org/officeDocument/2006/relationships/image" Target="../media/image19.png"/><Relationship Id="rId33" Type="http://schemas.openxmlformats.org/officeDocument/2006/relationships/image" Target="../media/image23.png"/><Relationship Id="rId38" Type="http://schemas.openxmlformats.org/officeDocument/2006/relationships/customXml" Target="../ink/ink18.xml"/><Relationship Id="rId46" Type="http://schemas.openxmlformats.org/officeDocument/2006/relationships/customXml" Target="../ink/ink22.xml"/><Relationship Id="rId59" Type="http://schemas.openxmlformats.org/officeDocument/2006/relationships/image" Target="../media/image36.png"/><Relationship Id="rId20" Type="http://schemas.openxmlformats.org/officeDocument/2006/relationships/customXml" Target="../ink/ink9.xml"/><Relationship Id="rId41" Type="http://schemas.openxmlformats.org/officeDocument/2006/relationships/image" Target="../media/image27.png"/><Relationship Id="rId54" Type="http://schemas.openxmlformats.org/officeDocument/2006/relationships/customXml" Target="../ink/ink26.xml"/><Relationship Id="rId62" Type="http://schemas.openxmlformats.org/officeDocument/2006/relationships/customXml" Target="../ink/ink30.xml"/><Relationship Id="rId1" Type="http://schemas.openxmlformats.org/officeDocument/2006/relationships/slideLayout" Target="../slideLayouts/slideLayout14.xml"/><Relationship Id="rId6" Type="http://schemas.openxmlformats.org/officeDocument/2006/relationships/customXml" Target="../ink/ink2.xml"/><Relationship Id="rId15" Type="http://schemas.openxmlformats.org/officeDocument/2006/relationships/image" Target="../media/image14.png"/><Relationship Id="rId23" Type="http://schemas.openxmlformats.org/officeDocument/2006/relationships/image" Target="../media/image18.png"/><Relationship Id="rId28" Type="http://schemas.openxmlformats.org/officeDocument/2006/relationships/customXml" Target="../ink/ink13.xml"/><Relationship Id="rId36" Type="http://schemas.openxmlformats.org/officeDocument/2006/relationships/customXml" Target="../ink/ink17.xml"/><Relationship Id="rId49" Type="http://schemas.openxmlformats.org/officeDocument/2006/relationships/image" Target="../media/image31.png"/><Relationship Id="rId57" Type="http://schemas.openxmlformats.org/officeDocument/2006/relationships/image" Target="../media/image35.png"/><Relationship Id="rId10" Type="http://schemas.openxmlformats.org/officeDocument/2006/relationships/customXml" Target="../ink/ink4.xml"/><Relationship Id="rId31" Type="http://schemas.openxmlformats.org/officeDocument/2006/relationships/image" Target="../media/image22.png"/><Relationship Id="rId44" Type="http://schemas.openxmlformats.org/officeDocument/2006/relationships/customXml" Target="../ink/ink21.xml"/><Relationship Id="rId52" Type="http://schemas.openxmlformats.org/officeDocument/2006/relationships/customXml" Target="../ink/ink25.xml"/><Relationship Id="rId60" Type="http://schemas.openxmlformats.org/officeDocument/2006/relationships/customXml" Target="../ink/ink29.xml"/><Relationship Id="rId65" Type="http://schemas.openxmlformats.org/officeDocument/2006/relationships/image" Target="../media/image39.png"/><Relationship Id="rId4" Type="http://schemas.openxmlformats.org/officeDocument/2006/relationships/customXml" Target="../ink/ink1.xml"/><Relationship Id="rId9" Type="http://schemas.openxmlformats.org/officeDocument/2006/relationships/image" Target="../media/image11.png"/><Relationship Id="rId13" Type="http://schemas.openxmlformats.org/officeDocument/2006/relationships/image" Target="../media/image13.png"/><Relationship Id="rId18" Type="http://schemas.openxmlformats.org/officeDocument/2006/relationships/customXml" Target="../ink/ink8.xml"/><Relationship Id="rId3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4.xml"/><Relationship Id="rId4" Type="http://schemas.openxmlformats.org/officeDocument/2006/relationships/image" Target="../media/image4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tif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8.jpeg"/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6" Type="http://schemas.openxmlformats.org/officeDocument/2006/relationships/image" Target="../media/image52.png"/><Relationship Id="rId5" Type="http://schemas.openxmlformats.org/officeDocument/2006/relationships/image" Target="../media/image51.png"/><Relationship Id="rId4" Type="http://schemas.openxmlformats.org/officeDocument/2006/relationships/image" Target="../media/image5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8.png"/><Relationship Id="rId3" Type="http://schemas.openxmlformats.org/officeDocument/2006/relationships/image" Target="../media/image53.png"/><Relationship Id="rId7" Type="http://schemas.openxmlformats.org/officeDocument/2006/relationships/image" Target="../media/image57.png"/><Relationship Id="rId12" Type="http://schemas.openxmlformats.org/officeDocument/2006/relationships/image" Target="../media/image6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56.png"/><Relationship Id="rId11" Type="http://schemas.openxmlformats.org/officeDocument/2006/relationships/customXml" Target="../ink/ink33.xml"/><Relationship Id="rId5" Type="http://schemas.openxmlformats.org/officeDocument/2006/relationships/image" Target="../media/image55.png"/><Relationship Id="rId10" Type="http://schemas.openxmlformats.org/officeDocument/2006/relationships/image" Target="../media/image59.png"/><Relationship Id="rId4" Type="http://schemas.openxmlformats.org/officeDocument/2006/relationships/image" Target="../media/image54.png"/><Relationship Id="rId9" Type="http://schemas.openxmlformats.org/officeDocument/2006/relationships/customXml" Target="../ink/ink3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7" Type="http://schemas.openxmlformats.org/officeDocument/2006/relationships/image" Target="../media/image65.tif"/><Relationship Id="rId2" Type="http://schemas.openxmlformats.org/officeDocument/2006/relationships/image" Target="../media/image5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4.png"/><Relationship Id="rId5" Type="http://schemas.openxmlformats.org/officeDocument/2006/relationships/image" Target="../media/image63.png"/><Relationship Id="rId4" Type="http://schemas.openxmlformats.org/officeDocument/2006/relationships/image" Target="../media/image6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7.png"/><Relationship Id="rId5" Type="http://schemas.openxmlformats.org/officeDocument/2006/relationships/image" Target="../media/image66.png"/><Relationship Id="rId4" Type="http://schemas.openxmlformats.org/officeDocument/2006/relationships/image" Target="../media/image54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0.png"/><Relationship Id="rId4" Type="http://schemas.openxmlformats.org/officeDocument/2006/relationships/image" Target="../media/image69.pn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1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83.png"/><Relationship Id="rId18" Type="http://schemas.openxmlformats.org/officeDocument/2006/relationships/image" Target="../media/image88.png"/><Relationship Id="rId26" Type="http://schemas.openxmlformats.org/officeDocument/2006/relationships/image" Target="../media/image96.png"/><Relationship Id="rId3" Type="http://schemas.openxmlformats.org/officeDocument/2006/relationships/image" Target="../media/image73.png"/><Relationship Id="rId21" Type="http://schemas.openxmlformats.org/officeDocument/2006/relationships/image" Target="../media/image91.png"/><Relationship Id="rId7" Type="http://schemas.openxmlformats.org/officeDocument/2006/relationships/image" Target="../media/image77.png"/><Relationship Id="rId12" Type="http://schemas.openxmlformats.org/officeDocument/2006/relationships/image" Target="../media/image82.png"/><Relationship Id="rId17" Type="http://schemas.openxmlformats.org/officeDocument/2006/relationships/image" Target="../media/image87.png"/><Relationship Id="rId25" Type="http://schemas.openxmlformats.org/officeDocument/2006/relationships/image" Target="../media/image95.png"/><Relationship Id="rId33" Type="http://schemas.openxmlformats.org/officeDocument/2006/relationships/image" Target="../media/image103.png"/><Relationship Id="rId2" Type="http://schemas.openxmlformats.org/officeDocument/2006/relationships/image" Target="../media/image72.png"/><Relationship Id="rId16" Type="http://schemas.openxmlformats.org/officeDocument/2006/relationships/image" Target="../media/image86.png"/><Relationship Id="rId20" Type="http://schemas.openxmlformats.org/officeDocument/2006/relationships/image" Target="../media/image90.png"/><Relationship Id="rId29" Type="http://schemas.openxmlformats.org/officeDocument/2006/relationships/image" Target="../media/image9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6.png"/><Relationship Id="rId11" Type="http://schemas.openxmlformats.org/officeDocument/2006/relationships/image" Target="../media/image81.png"/><Relationship Id="rId24" Type="http://schemas.openxmlformats.org/officeDocument/2006/relationships/image" Target="../media/image94.png"/><Relationship Id="rId32" Type="http://schemas.openxmlformats.org/officeDocument/2006/relationships/image" Target="../media/image102.png"/><Relationship Id="rId5" Type="http://schemas.openxmlformats.org/officeDocument/2006/relationships/image" Target="../media/image75.png"/><Relationship Id="rId15" Type="http://schemas.openxmlformats.org/officeDocument/2006/relationships/image" Target="../media/image85.png"/><Relationship Id="rId23" Type="http://schemas.openxmlformats.org/officeDocument/2006/relationships/image" Target="../media/image93.png"/><Relationship Id="rId28" Type="http://schemas.openxmlformats.org/officeDocument/2006/relationships/image" Target="../media/image98.png"/><Relationship Id="rId10" Type="http://schemas.openxmlformats.org/officeDocument/2006/relationships/image" Target="../media/image80.png"/><Relationship Id="rId19" Type="http://schemas.openxmlformats.org/officeDocument/2006/relationships/image" Target="../media/image89.png"/><Relationship Id="rId31" Type="http://schemas.openxmlformats.org/officeDocument/2006/relationships/image" Target="../media/image101.png"/><Relationship Id="rId4" Type="http://schemas.openxmlformats.org/officeDocument/2006/relationships/image" Target="../media/image74.png"/><Relationship Id="rId9" Type="http://schemas.openxmlformats.org/officeDocument/2006/relationships/image" Target="../media/image79.png"/><Relationship Id="rId14" Type="http://schemas.openxmlformats.org/officeDocument/2006/relationships/image" Target="../media/image84.png"/><Relationship Id="rId22" Type="http://schemas.openxmlformats.org/officeDocument/2006/relationships/image" Target="../media/image92.png"/><Relationship Id="rId27" Type="http://schemas.openxmlformats.org/officeDocument/2006/relationships/image" Target="../media/image97.png"/><Relationship Id="rId30" Type="http://schemas.openxmlformats.org/officeDocument/2006/relationships/image" Target="../media/image100.png"/><Relationship Id="rId8" Type="http://schemas.openxmlformats.org/officeDocument/2006/relationships/image" Target="../media/image78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0.png"/><Relationship Id="rId13" Type="http://schemas.openxmlformats.org/officeDocument/2006/relationships/image" Target="../media/image115.png"/><Relationship Id="rId18" Type="http://schemas.openxmlformats.org/officeDocument/2006/relationships/image" Target="../media/image120.png"/><Relationship Id="rId26" Type="http://schemas.openxmlformats.org/officeDocument/2006/relationships/image" Target="../media/image128.png"/><Relationship Id="rId3" Type="http://schemas.openxmlformats.org/officeDocument/2006/relationships/image" Target="../media/image105.png"/><Relationship Id="rId21" Type="http://schemas.openxmlformats.org/officeDocument/2006/relationships/image" Target="../media/image123.png"/><Relationship Id="rId7" Type="http://schemas.openxmlformats.org/officeDocument/2006/relationships/image" Target="../media/image109.png"/><Relationship Id="rId12" Type="http://schemas.openxmlformats.org/officeDocument/2006/relationships/image" Target="../media/image114.png"/><Relationship Id="rId17" Type="http://schemas.openxmlformats.org/officeDocument/2006/relationships/image" Target="../media/image119.png"/><Relationship Id="rId25" Type="http://schemas.openxmlformats.org/officeDocument/2006/relationships/image" Target="../media/image127.png"/><Relationship Id="rId2" Type="http://schemas.openxmlformats.org/officeDocument/2006/relationships/image" Target="../media/image104.png"/><Relationship Id="rId16" Type="http://schemas.openxmlformats.org/officeDocument/2006/relationships/image" Target="../media/image118.png"/><Relationship Id="rId20" Type="http://schemas.openxmlformats.org/officeDocument/2006/relationships/image" Target="../media/image12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08.png"/><Relationship Id="rId11" Type="http://schemas.openxmlformats.org/officeDocument/2006/relationships/image" Target="../media/image113.png"/><Relationship Id="rId24" Type="http://schemas.openxmlformats.org/officeDocument/2006/relationships/image" Target="../media/image126.png"/><Relationship Id="rId5" Type="http://schemas.openxmlformats.org/officeDocument/2006/relationships/image" Target="../media/image107.png"/><Relationship Id="rId15" Type="http://schemas.openxmlformats.org/officeDocument/2006/relationships/image" Target="../media/image117.png"/><Relationship Id="rId23" Type="http://schemas.openxmlformats.org/officeDocument/2006/relationships/image" Target="../media/image125.png"/><Relationship Id="rId10" Type="http://schemas.openxmlformats.org/officeDocument/2006/relationships/image" Target="../media/image112.png"/><Relationship Id="rId19" Type="http://schemas.openxmlformats.org/officeDocument/2006/relationships/image" Target="../media/image121.png"/><Relationship Id="rId4" Type="http://schemas.openxmlformats.org/officeDocument/2006/relationships/image" Target="../media/image106.png"/><Relationship Id="rId9" Type="http://schemas.openxmlformats.org/officeDocument/2006/relationships/image" Target="../media/image111.png"/><Relationship Id="rId14" Type="http://schemas.openxmlformats.org/officeDocument/2006/relationships/image" Target="../media/image116.png"/><Relationship Id="rId22" Type="http://schemas.openxmlformats.org/officeDocument/2006/relationships/image" Target="../media/image124.png"/><Relationship Id="rId27" Type="http://schemas.openxmlformats.org/officeDocument/2006/relationships/image" Target="../media/image129.ti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0.png"/><Relationship Id="rId7" Type="http://schemas.openxmlformats.org/officeDocument/2006/relationships/image" Target="../media/image6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33.png"/><Relationship Id="rId5" Type="http://schemas.openxmlformats.org/officeDocument/2006/relationships/image" Target="../media/image132.png"/><Relationship Id="rId4" Type="http://schemas.openxmlformats.org/officeDocument/2006/relationships/image" Target="../media/image13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://jalammar.github.io/illustrated-bert/" TargetMode="External"/><Relationship Id="rId2" Type="http://schemas.openxmlformats.org/officeDocument/2006/relationships/hyperlink" Target="http://jalammar.github.io/" TargetMode="Externa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35.tif"/><Relationship Id="rId4" Type="http://schemas.openxmlformats.org/officeDocument/2006/relationships/image" Target="../media/image134.tif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7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jpeg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8.ti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39.pn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0.tif"/><Relationship Id="rId1" Type="http://schemas.openxmlformats.org/officeDocument/2006/relationships/slideLayout" Target="../slideLayouts/slideLayout6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tif"/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159.png"/><Relationship Id="rId18" Type="http://schemas.openxmlformats.org/officeDocument/2006/relationships/image" Target="../media/image164.png"/><Relationship Id="rId3" Type="http://schemas.openxmlformats.org/officeDocument/2006/relationships/image" Target="../media/image149.png"/><Relationship Id="rId21" Type="http://schemas.openxmlformats.org/officeDocument/2006/relationships/image" Target="../media/image167.png"/><Relationship Id="rId7" Type="http://schemas.openxmlformats.org/officeDocument/2006/relationships/image" Target="../media/image153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" Type="http://schemas.openxmlformats.org/officeDocument/2006/relationships/notesSlide" Target="../notesSlides/notesSlide13.xml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24" Type="http://schemas.openxmlformats.org/officeDocument/2006/relationships/image" Target="../media/image170.png"/><Relationship Id="rId5" Type="http://schemas.openxmlformats.org/officeDocument/2006/relationships/image" Target="../media/image151.png"/><Relationship Id="rId15" Type="http://schemas.openxmlformats.org/officeDocument/2006/relationships/image" Target="../media/image161.png"/><Relationship Id="rId23" Type="http://schemas.openxmlformats.org/officeDocument/2006/relationships/image" Target="../media/image169.png"/><Relationship Id="rId10" Type="http://schemas.openxmlformats.org/officeDocument/2006/relationships/image" Target="../media/image156.png"/><Relationship Id="rId19" Type="http://schemas.openxmlformats.org/officeDocument/2006/relationships/image" Target="../media/image165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Relationship Id="rId22" Type="http://schemas.openxmlformats.org/officeDocument/2006/relationships/image" Target="../media/image168.pn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2.png"/><Relationship Id="rId2" Type="http://schemas.openxmlformats.org/officeDocument/2006/relationships/image" Target="../media/image141.png"/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3.png"/><Relationship Id="rId2" Type="http://schemas.openxmlformats.org/officeDocument/2006/relationships/image" Target="../media/image17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76.png"/><Relationship Id="rId5" Type="http://schemas.openxmlformats.org/officeDocument/2006/relationships/image" Target="../media/image175.png"/><Relationship Id="rId4" Type="http://schemas.openxmlformats.org/officeDocument/2006/relationships/image" Target="../media/image174.png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8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9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1.png"/><Relationship Id="rId2" Type="http://schemas.openxmlformats.org/officeDocument/2006/relationships/image" Target="../media/image180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2.pn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3.png"/><Relationship Id="rId2" Type="http://schemas.openxmlformats.org/officeDocument/2006/relationships/image" Target="../media/image17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84.png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4.png"/><Relationship Id="rId2" Type="http://schemas.openxmlformats.org/officeDocument/2006/relationships/image" Target="../media/image143.png"/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1.png"/><Relationship Id="rId3" Type="http://schemas.openxmlformats.org/officeDocument/2006/relationships/image" Target="../media/image186.png"/><Relationship Id="rId7" Type="http://schemas.openxmlformats.org/officeDocument/2006/relationships/image" Target="../media/image190.png"/><Relationship Id="rId2" Type="http://schemas.openxmlformats.org/officeDocument/2006/relationships/image" Target="../media/image185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89.png"/><Relationship Id="rId5" Type="http://schemas.openxmlformats.org/officeDocument/2006/relationships/image" Target="../media/image188.png"/><Relationship Id="rId4" Type="http://schemas.openxmlformats.org/officeDocument/2006/relationships/image" Target="../media/image187.png"/></Relationships>
</file>

<file path=ppt/slides/_rels/slide5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/Relationships>
</file>

<file path=ppt/slides/_rels/slide5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8.png"/><Relationship Id="rId3" Type="http://schemas.openxmlformats.org/officeDocument/2006/relationships/image" Target="../media/image193.png"/><Relationship Id="rId7" Type="http://schemas.openxmlformats.org/officeDocument/2006/relationships/image" Target="../media/image197.png"/><Relationship Id="rId12" Type="http://schemas.openxmlformats.org/officeDocument/2006/relationships/image" Target="../media/image202.png"/><Relationship Id="rId2" Type="http://schemas.openxmlformats.org/officeDocument/2006/relationships/image" Target="../media/image192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96.png"/><Relationship Id="rId11" Type="http://schemas.openxmlformats.org/officeDocument/2006/relationships/image" Target="../media/image201.png"/><Relationship Id="rId5" Type="http://schemas.openxmlformats.org/officeDocument/2006/relationships/image" Target="../media/image195.png"/><Relationship Id="rId10" Type="http://schemas.openxmlformats.org/officeDocument/2006/relationships/image" Target="../media/image200.png"/><Relationship Id="rId4" Type="http://schemas.openxmlformats.org/officeDocument/2006/relationships/image" Target="../media/image194.png"/><Relationship Id="rId9" Type="http://schemas.openxmlformats.org/officeDocument/2006/relationships/image" Target="../media/image199.pn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3.png"/><Relationship Id="rId7" Type="http://schemas.openxmlformats.org/officeDocument/2006/relationships/image" Target="../media/image206.png"/><Relationship Id="rId2" Type="http://schemas.openxmlformats.org/officeDocument/2006/relationships/image" Target="../media/image203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05.png"/><Relationship Id="rId5" Type="http://schemas.openxmlformats.org/officeDocument/2006/relationships/image" Target="../media/image190.png"/><Relationship Id="rId4" Type="http://schemas.openxmlformats.org/officeDocument/2006/relationships/image" Target="../media/image204.png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8.png"/><Relationship Id="rId2" Type="http://schemas.openxmlformats.org/officeDocument/2006/relationships/image" Target="../media/image207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11.png"/><Relationship Id="rId5" Type="http://schemas.openxmlformats.org/officeDocument/2006/relationships/image" Target="../media/image210.png"/><Relationship Id="rId4" Type="http://schemas.openxmlformats.org/officeDocument/2006/relationships/image" Target="../media/image209.png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3.png"/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5.png"/><Relationship Id="rId2" Type="http://schemas.openxmlformats.org/officeDocument/2006/relationships/image" Target="../media/image214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43.pn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6.png"/><Relationship Id="rId2" Type="http://schemas.openxmlformats.org/officeDocument/2006/relationships/image" Target="../media/image145.tif"/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8.png"/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6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4.png"/><Relationship Id="rId13" Type="http://schemas.openxmlformats.org/officeDocument/2006/relationships/image" Target="../media/image219.png"/><Relationship Id="rId18" Type="http://schemas.openxmlformats.org/officeDocument/2006/relationships/image" Target="../media/image164.png"/><Relationship Id="rId3" Type="http://schemas.openxmlformats.org/officeDocument/2006/relationships/image" Target="../media/image149.png"/><Relationship Id="rId21" Type="http://schemas.openxmlformats.org/officeDocument/2006/relationships/image" Target="../media/image167.png"/><Relationship Id="rId7" Type="http://schemas.openxmlformats.org/officeDocument/2006/relationships/image" Target="../media/image217.png"/><Relationship Id="rId12" Type="http://schemas.openxmlformats.org/officeDocument/2006/relationships/image" Target="../media/image158.png"/><Relationship Id="rId17" Type="http://schemas.openxmlformats.org/officeDocument/2006/relationships/image" Target="../media/image163.png"/><Relationship Id="rId2" Type="http://schemas.openxmlformats.org/officeDocument/2006/relationships/notesSlide" Target="../notesSlides/notesSlide15.xml"/><Relationship Id="rId16" Type="http://schemas.openxmlformats.org/officeDocument/2006/relationships/image" Target="../media/image162.png"/><Relationship Id="rId20" Type="http://schemas.openxmlformats.org/officeDocument/2006/relationships/image" Target="../media/image166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2.png"/><Relationship Id="rId11" Type="http://schemas.openxmlformats.org/officeDocument/2006/relationships/image" Target="../media/image157.png"/><Relationship Id="rId24" Type="http://schemas.openxmlformats.org/officeDocument/2006/relationships/image" Target="../media/image170.png"/><Relationship Id="rId5" Type="http://schemas.openxmlformats.org/officeDocument/2006/relationships/image" Target="../media/image216.png"/><Relationship Id="rId15" Type="http://schemas.openxmlformats.org/officeDocument/2006/relationships/image" Target="../media/image220.png"/><Relationship Id="rId23" Type="http://schemas.openxmlformats.org/officeDocument/2006/relationships/image" Target="../media/image169.png"/><Relationship Id="rId10" Type="http://schemas.openxmlformats.org/officeDocument/2006/relationships/image" Target="../media/image218.png"/><Relationship Id="rId19" Type="http://schemas.openxmlformats.org/officeDocument/2006/relationships/image" Target="../media/image221.png"/><Relationship Id="rId4" Type="http://schemas.openxmlformats.org/officeDocument/2006/relationships/image" Target="../media/image150.png"/><Relationship Id="rId9" Type="http://schemas.openxmlformats.org/officeDocument/2006/relationships/image" Target="../media/image155.png"/><Relationship Id="rId14" Type="http://schemas.openxmlformats.org/officeDocument/2006/relationships/image" Target="../media/image160.png"/><Relationship Id="rId22" Type="http://schemas.openxmlformats.org/officeDocument/2006/relationships/image" Target="../media/image222.png"/></Relationships>
</file>

<file path=ppt/slides/_rels/slide6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1.png"/><Relationship Id="rId1" Type="http://schemas.openxmlformats.org/officeDocument/2006/relationships/slideLayout" Target="../slideLayouts/slideLayout6.xml"/></Relationships>
</file>

<file path=ppt/slides/_rels/slide7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7.png"/><Relationship Id="rId1" Type="http://schemas.openxmlformats.org/officeDocument/2006/relationships/slideLayout" Target="../slideLayouts/slideLayout6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Adapted from slides from Dan Jurafsky, Chris Manning, Danqi Chen and Karthik Narasimhan"/>
          <p:cNvSpPr txBox="1"/>
          <p:nvPr/>
        </p:nvSpPr>
        <p:spPr>
          <a:xfrm>
            <a:off x="520509" y="11952316"/>
            <a:ext cx="23342982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solidFill>
                  <a:srgbClr val="5E5E5E"/>
                </a:solidFill>
              </a:defRPr>
            </a:lvl1pPr>
          </a:lstStyle>
          <a:p>
            <a:r>
              <a:t>Adapted from slides from Dan Jurafsky, Chris Manning, Danqi Chen and Karthik Narasimhan </a:t>
            </a:r>
          </a:p>
        </p:txBody>
      </p:sp>
      <p:sp>
        <p:nvSpPr>
          <p:cNvPr id="148" name="Word Embeddings"/>
          <p:cNvSpPr txBox="1">
            <a:spLocks noGrp="1"/>
          </p:cNvSpPr>
          <p:nvPr>
            <p:ph type="ctrTitle"/>
          </p:nvPr>
        </p:nvSpPr>
        <p:spPr>
          <a:xfrm>
            <a:off x="4833937" y="3196828"/>
            <a:ext cx="14716126" cy="4643438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rPr dirty="0"/>
              <a:t>Word Embeddings</a:t>
            </a:r>
          </a:p>
        </p:txBody>
      </p:sp>
      <p:sp>
        <p:nvSpPr>
          <p:cNvPr id="149" name="Spring 2026…"/>
          <p:cNvSpPr txBox="1"/>
          <p:nvPr/>
        </p:nvSpPr>
        <p:spPr>
          <a:xfrm>
            <a:off x="10597629" y="9207943"/>
            <a:ext cx="3188742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Spring 2026</a:t>
            </a:r>
          </a:p>
          <a:p>
            <a:r>
              <a:t>2026-01–21</a:t>
            </a:r>
          </a:p>
        </p:txBody>
      </p:sp>
      <p:sp>
        <p:nvSpPr>
          <p:cNvPr id="150" name="CMPT 413/713: Natural Language Processing"/>
          <p:cNvSpPr txBox="1"/>
          <p:nvPr/>
        </p:nvSpPr>
        <p:spPr>
          <a:xfrm>
            <a:off x="7046540" y="5129609"/>
            <a:ext cx="10290920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>
                <a:latin typeface="+mj-lt"/>
                <a:ea typeface="+mj-ea"/>
                <a:cs typeface="+mj-cs"/>
                <a:sym typeface="Gill Sans"/>
              </a:defRPr>
            </a:lvl1pPr>
          </a:lstStyle>
          <a:p>
            <a:r>
              <a:t>CMPT 413/713: Natural Language Processing</a:t>
            </a:r>
          </a:p>
        </p:txBody>
      </p:sp>
      <p:pic>
        <p:nvPicPr>
          <p:cNvPr id="151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76880" y="676419"/>
            <a:ext cx="5230241" cy="390460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ctrTitle"/>
          </p:nvPr>
        </p:nvSpPr>
        <p:spPr>
          <a:xfrm>
            <a:off x="1752091" y="4688482"/>
            <a:ext cx="21336000" cy="1569660"/>
          </a:xfrm>
        </p:spPr>
        <p:txBody>
          <a:bodyPr>
            <a:normAutofit/>
          </a:bodyPr>
          <a:lstStyle/>
          <a:p>
            <a:r>
              <a:rPr lang="en-US" sz="8000" dirty="0"/>
              <a:t>CMPT 413/713: Natural Language Processing</a:t>
            </a:r>
          </a:p>
        </p:txBody>
      </p:sp>
      <p:sp>
        <p:nvSpPr>
          <p:cNvPr id="5" name="Subtitle 4"/>
          <p:cNvSpPr>
            <a:spLocks noGrp="1"/>
          </p:cNvSpPr>
          <p:nvPr>
            <p:ph type="subTitle" idx="1"/>
          </p:nvPr>
        </p:nvSpPr>
        <p:spPr>
          <a:xfrm>
            <a:off x="2659119" y="9708974"/>
            <a:ext cx="18288000" cy="1978772"/>
          </a:xfrm>
        </p:spPr>
        <p:txBody>
          <a:bodyPr>
            <a:normAutofit/>
          </a:bodyPr>
          <a:lstStyle/>
          <a:p>
            <a:r>
              <a:rPr lang="en-US" sz="7200" dirty="0"/>
              <a:t>Zhiyun (Richard) Peng</a:t>
            </a:r>
          </a:p>
        </p:txBody>
      </p:sp>
      <p:sp>
        <p:nvSpPr>
          <p:cNvPr id="7" name="Subtitle 4"/>
          <p:cNvSpPr txBox="1">
            <a:spLocks/>
          </p:cNvSpPr>
          <p:nvPr/>
        </p:nvSpPr>
        <p:spPr>
          <a:xfrm>
            <a:off x="3048000" y="11116390"/>
            <a:ext cx="18288000" cy="812872"/>
          </a:xfrm>
          <a:prstGeom prst="rect">
            <a:avLst/>
          </a:prstGeom>
        </p:spPr>
        <p:txBody>
          <a:bodyPr vert="horz" lIns="182880" tIns="91440" rIns="182880" bIns="91440" rtlCol="0">
            <a:normAutofit lnSpcReduction="10000"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defTabSz="1828800">
              <a:spcBef>
                <a:spcPts val="2000"/>
              </a:spcBef>
              <a:defRPr/>
            </a:pPr>
            <a:r>
              <a:rPr lang="en-US" sz="4800" dirty="0">
                <a:solidFill>
                  <a:prstClr val="black"/>
                </a:solidFill>
                <a:latin typeface="Calibri" panose="020F0502020204030204"/>
              </a:rPr>
              <a:t>2026-09-25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defTabSz="1828800" hangingPunct="1">
              <a:defRPr/>
            </a:pPr>
            <a:fld id="{0678F3BA-CF26-A443-A03B-DCCCF0EAA5A1}" type="slidenum">
              <a:rPr lang="en-US" smtClean="0"/>
              <a:pPr algn="r" defTabSz="1828800" hangingPunct="1">
                <a:defRPr/>
              </a:pPr>
              <a:t>2</a:t>
            </a:fld>
            <a:endParaRPr lang="en-US" sz="2400" kern="1200">
              <a:solidFill>
                <a:prstClr val="black">
                  <a:tint val="75000"/>
                </a:prstClr>
              </a:solidFill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C7477C1-3C00-EE48-8A0E-7E8D7D717AAF}"/>
              </a:ext>
            </a:extLst>
          </p:cNvPr>
          <p:cNvSpPr/>
          <p:nvPr/>
        </p:nvSpPr>
        <p:spPr>
          <a:xfrm>
            <a:off x="2659119" y="12730269"/>
            <a:ext cx="197594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1828800" hangingPunct="1">
              <a:defRPr/>
            </a:pP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Adapted from slides from Angel Chang, Anoop Sarkar, </a:t>
            </a:r>
            <a:r>
              <a:rPr lang="en-US" sz="3600" kern="1200" dirty="0" err="1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Danqi</a:t>
            </a:r>
            <a:r>
              <a:rPr lang="en-US" sz="3600" kern="1200" dirty="0">
                <a:solidFill>
                  <a:srgbClr val="E7E6E6">
                    <a:lumMod val="75000"/>
                  </a:srgbClr>
                </a:solidFill>
                <a:latin typeface="Calibri" panose="020F0502020204030204"/>
                <a:ea typeface="+mn-ea"/>
                <a:cs typeface="+mn-cs"/>
              </a:rPr>
              <a:t> Chen and Karthik Narasimhan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E5D0A0-CDDF-E5D1-9AAB-16996183B0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57890" y="840368"/>
            <a:ext cx="7440708" cy="3225528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E8C61DC-DA36-9F0A-3C95-26CF319819D0}"/>
              </a:ext>
            </a:extLst>
          </p:cNvPr>
          <p:cNvSpPr txBox="1"/>
          <p:nvPr/>
        </p:nvSpPr>
        <p:spPr>
          <a:xfrm>
            <a:off x="144483" y="7053395"/>
            <a:ext cx="2366752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600" dirty="0"/>
              <a:t>Word Embeddings </a:t>
            </a:r>
            <a:endParaRPr lang="en-US" sz="8800" dirty="0"/>
          </a:p>
        </p:txBody>
      </p:sp>
    </p:spTree>
    <p:extLst>
      <p:ext uri="{BB962C8B-B14F-4D97-AF65-F5344CB8AC3E}">
        <p14:creationId xmlns:p14="http://schemas.microsoft.com/office/powerpoint/2010/main" val="25029783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How to represent word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How to represent words?</a:t>
            </a:r>
          </a:p>
        </p:txBody>
      </p:sp>
      <p:sp>
        <p:nvSpPr>
          <p:cNvPr id="208" name="In traditional NLP, we regard words as discrete symbols:…"/>
          <p:cNvSpPr txBox="1">
            <a:spLocks noGrp="1"/>
          </p:cNvSpPr>
          <p:nvPr>
            <p:ph type="body" sz="quarter" idx="1"/>
          </p:nvPr>
        </p:nvSpPr>
        <p:spPr>
          <a:xfrm>
            <a:off x="4344150" y="3227155"/>
            <a:ext cx="15609095" cy="3958434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</a:pPr>
            <a:r>
              <a:t>In traditional NLP, we regard words as discrete symbols:</a:t>
            </a:r>
          </a:p>
          <a:p>
            <a:pPr marL="0" indent="0">
              <a:buSzTx/>
              <a:buNone/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hotel, conference, motel</a:t>
            </a:r>
            <a:r>
              <a:t> — a localist representation</a:t>
            </a:r>
          </a:p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endParaRPr/>
          </a:p>
          <a:p>
            <a:pPr marL="0" indent="0">
              <a:buSzTx/>
              <a:buNone/>
            </a:pPr>
            <a:r>
              <a:t>Words can be represented by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one-hot</a:t>
            </a:r>
            <a:r>
              <a:rPr>
                <a:solidFill>
                  <a:srgbClr val="FF2600"/>
                </a:solidFill>
              </a:rPr>
              <a:t> </a:t>
            </a:r>
            <a:r>
              <a:t>vectors:</a:t>
            </a:r>
          </a:p>
        </p:txBody>
      </p:sp>
      <p:grpSp>
        <p:nvGrpSpPr>
          <p:cNvPr id="211" name="Group"/>
          <p:cNvGrpSpPr/>
          <p:nvPr/>
        </p:nvGrpSpPr>
        <p:grpSpPr>
          <a:xfrm>
            <a:off x="10003052" y="5296010"/>
            <a:ext cx="3576917" cy="1163874"/>
            <a:chOff x="0" y="0"/>
            <a:chExt cx="3576916" cy="1163873"/>
          </a:xfrm>
        </p:grpSpPr>
        <p:sp>
          <p:nvSpPr>
            <p:cNvPr id="209" name="one 1, the rest 0’s"/>
            <p:cNvSpPr txBox="1"/>
            <p:nvPr/>
          </p:nvSpPr>
          <p:spPr>
            <a:xfrm>
              <a:off x="0" y="0"/>
              <a:ext cx="3576917" cy="719321"/>
            </a:xfrm>
            <a:prstGeom prst="rect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lnSpc>
                  <a:spcPct val="120000"/>
                </a:lnSpc>
                <a:spcBef>
                  <a:spcPts val="7000"/>
                </a:spcBef>
                <a:defRPr sz="34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one 1, the rest 0’s</a:t>
              </a:r>
            </a:p>
          </p:txBody>
        </p:sp>
        <p:sp>
          <p:nvSpPr>
            <p:cNvPr id="210" name="Line"/>
            <p:cNvSpPr/>
            <p:nvPr/>
          </p:nvSpPr>
          <p:spPr>
            <a:xfrm>
              <a:off x="1788458" y="730906"/>
              <a:ext cx="1" cy="432968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212" name="Vector dimension = number of words in vocabulary (e.g., 500,000)"/>
          <p:cNvSpPr txBox="1"/>
          <p:nvPr/>
        </p:nvSpPr>
        <p:spPr>
          <a:xfrm>
            <a:off x="4344150" y="9021197"/>
            <a:ext cx="15609095" cy="1399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rPr dirty="0"/>
              <a:t>Vector dimension = number of words in vocabulary (e.g., 500,000)</a:t>
            </a:r>
          </a:p>
        </p:txBody>
      </p:sp>
      <p:sp>
        <p:nvSpPr>
          <p:cNvPr id="213" name="hotel  = [0 0 0 0 0 0 0 0 0 0 0 1 0 0 0 0]…"/>
          <p:cNvSpPr txBox="1"/>
          <p:nvPr/>
        </p:nvSpPr>
        <p:spPr>
          <a:xfrm>
            <a:off x="7708934" y="7471338"/>
            <a:ext cx="8879528" cy="1399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algn="l" defTabSz="813315">
              <a:spcBef>
                <a:spcPts val="1300"/>
              </a:spcBef>
              <a:defRPr sz="3762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hotel  = [0 0 0 0 0 0 0 0 0 0 0 </a:t>
            </a:r>
            <a:r>
              <a:rPr b="1">
                <a:solidFill>
                  <a:srgbClr val="000000"/>
                </a:solidFill>
              </a:rPr>
              <a:t>1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 </a:t>
            </a:r>
            <a:r>
              <a:t>0 0 0 0]</a:t>
            </a:r>
          </a:p>
          <a:p>
            <a:pPr algn="l" defTabSz="813315">
              <a:spcBef>
                <a:spcPts val="1300"/>
              </a:spcBef>
              <a:defRPr sz="3762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motel = [0 0 0 </a:t>
            </a:r>
            <a:r>
              <a:rPr b="1">
                <a:solidFill>
                  <a:srgbClr val="000000"/>
                </a:solidFill>
              </a:rPr>
              <a:t>1</a:t>
            </a:r>
            <a:r>
              <a:t> 0 0 0 0 0 0 0 0 0 0 0 0]</a:t>
            </a:r>
          </a:p>
        </p:txBody>
      </p:sp>
      <p:sp>
        <p:nvSpPr>
          <p:cNvPr id="214" name="There is no way to encode similarity of words in these vectors!"/>
          <p:cNvSpPr txBox="1"/>
          <p:nvPr/>
        </p:nvSpPr>
        <p:spPr>
          <a:xfrm>
            <a:off x="7057854" y="11215906"/>
            <a:ext cx="16339396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There is no way to encode similarity of words in these vectors!</a:t>
            </a:r>
          </a:p>
        </p:txBody>
      </p:sp>
      <p:sp>
        <p:nvSpPr>
          <p:cNvPr id="215" name="Each word is one dimension!"/>
          <p:cNvSpPr txBox="1"/>
          <p:nvPr/>
        </p:nvSpPr>
        <p:spPr>
          <a:xfrm>
            <a:off x="16403187" y="5921479"/>
            <a:ext cx="5806768" cy="13990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Each word is one dimension!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4" grpId="0" animBg="1" advAuto="0"/>
      <p:bldP spid="215" grpId="0" animBg="1" advAuto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Representing wor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Representing words</a:t>
            </a:r>
          </a:p>
        </p:txBody>
      </p:sp>
      <p:sp>
        <p:nvSpPr>
          <p:cNvPr id="228" name="One-hot vectors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0236200" cy="8256012"/>
          </a:xfrm>
          <a:prstGeom prst="rect">
            <a:avLst/>
          </a:prstGeom>
        </p:spPr>
        <p:txBody>
          <a:bodyPr/>
          <a:lstStyle/>
          <a:p>
            <a:r>
              <a:t>One-hot vectors</a:t>
            </a:r>
          </a:p>
          <a:p>
            <a:endParaRPr/>
          </a:p>
          <a:p>
            <a:r>
              <a:t>Continuous embeddings</a:t>
            </a:r>
          </a:p>
        </p:txBody>
      </p:sp>
      <p:sp>
        <p:nvSpPr>
          <p:cNvPr id="229" name="cat  = [0 0 0 1 0 0 0]…"/>
          <p:cNvSpPr txBox="1"/>
          <p:nvPr/>
        </p:nvSpPr>
        <p:spPr>
          <a:xfrm>
            <a:off x="1519334" y="5126595"/>
            <a:ext cx="6697999" cy="1464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1828800">
              <a:lnSpc>
                <a:spcPct val="90000"/>
              </a:lnSpc>
              <a:defRPr sz="4600">
                <a:solidFill>
                  <a:srgbClr val="740000"/>
                </a:solidFill>
                <a:latin typeface="Neutra Text Alt"/>
                <a:ea typeface="Neutra Text Alt"/>
                <a:cs typeface="Neutra Text Alt"/>
                <a:sym typeface="Neutra Text Alt"/>
              </a:defRPr>
            </a:pPr>
            <a:r>
              <a:t>	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cat  = [0 0 0 1 0 0 0] </a:t>
            </a:r>
            <a:endParaRPr sz="7000"/>
          </a:p>
          <a:p>
            <a:pPr algn="l" defTabSz="1828800">
              <a:lnSpc>
                <a:spcPct val="90000"/>
              </a:lnSpc>
              <a:defRPr sz="4600">
                <a:solidFill>
                  <a:srgbClr val="74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	dog = [0 0 0 0 0 1 0]</a:t>
            </a:r>
          </a:p>
        </p:txBody>
      </p:sp>
      <p:sp>
        <p:nvSpPr>
          <p:cNvPr id="230" name="cat = [0.04 1.79 -1.79 1.07 0.48]…"/>
          <p:cNvSpPr txBox="1"/>
          <p:nvPr/>
        </p:nvSpPr>
        <p:spPr>
          <a:xfrm>
            <a:off x="1462726" y="7456818"/>
            <a:ext cx="9520548" cy="156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1828800">
              <a:lnSpc>
                <a:spcPct val="90000"/>
              </a:lnSpc>
              <a:defRPr sz="5400">
                <a:latin typeface="Neutra Text Alt"/>
                <a:ea typeface="Neutra Text Alt"/>
                <a:cs typeface="Neutra Text Alt"/>
                <a:sym typeface="Neutra Text Alt"/>
              </a:defRPr>
            </a:pPr>
            <a:r>
              <a:t>	</a:t>
            </a:r>
            <a:r>
              <a:rPr sz="4600">
                <a:solidFill>
                  <a:srgbClr val="740000"/>
                </a:solidFill>
                <a:latin typeface="Calibri"/>
                <a:ea typeface="Calibri"/>
                <a:cs typeface="Calibri"/>
                <a:sym typeface="Calibri"/>
              </a:rPr>
              <a:t>cat = [0.04 1.79 -1.79 1.07 0.48]</a:t>
            </a:r>
            <a:endParaRPr sz="7000">
              <a:solidFill>
                <a:srgbClr val="740000"/>
              </a:solidFill>
            </a:endParaRPr>
          </a:p>
          <a:p>
            <a:pPr algn="l" defTabSz="1828800">
              <a:lnSpc>
                <a:spcPct val="90000"/>
              </a:lnSpc>
              <a:defRPr sz="4600">
                <a:solidFill>
                  <a:srgbClr val="74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        dog = [0.61 1.84 -1.12 0.52 0.53]</a:t>
            </a:r>
          </a:p>
        </p:txBody>
      </p:sp>
      <p:grpSp>
        <p:nvGrpSpPr>
          <p:cNvPr id="241" name="Group 6"/>
          <p:cNvGrpSpPr/>
          <p:nvPr/>
        </p:nvGrpSpPr>
        <p:grpSpPr>
          <a:xfrm>
            <a:off x="11791582" y="1347930"/>
            <a:ext cx="11528631" cy="11020140"/>
            <a:chOff x="0" y="0"/>
            <a:chExt cx="11528629" cy="11020138"/>
          </a:xfrm>
        </p:grpSpPr>
        <p:sp>
          <p:nvSpPr>
            <p:cNvPr id="231" name="TextBox 1"/>
            <p:cNvSpPr txBox="1"/>
            <p:nvPr/>
          </p:nvSpPr>
          <p:spPr>
            <a:xfrm>
              <a:off x="7189" y="0"/>
              <a:ext cx="11521441" cy="4095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91439" tIns="91439" rIns="91439" bIns="91439" numCol="1" anchor="t">
              <a:spAutoFit/>
            </a:bodyPr>
            <a:lstStyle/>
            <a:p>
              <a:pPr algn="l" defTabSz="1828800">
                <a:defRPr sz="5600">
                  <a:latin typeface="Calibri"/>
                  <a:ea typeface="Calibri"/>
                  <a:cs typeface="Calibri"/>
                  <a:sym typeface="Calibri"/>
                </a:defRPr>
              </a:pPr>
              <a:r>
                <a:t>Representing meaning as </a:t>
              </a:r>
              <a:r>
                <a:rPr>
                  <a:solidFill>
                    <a:srgbClr val="C00000"/>
                  </a:solidFill>
                </a:rPr>
                <a:t>vectors</a:t>
              </a:r>
              <a:r>
                <a:t> </a:t>
              </a:r>
            </a:p>
            <a:p>
              <a:pPr marL="571500" indent="-571500" algn="l" defTabSz="1828800">
                <a:buSzPct val="100000"/>
                <a:buFont typeface="Arial"/>
                <a:buChar char="•"/>
                <a:defRPr sz="5600">
                  <a:latin typeface="Calibri"/>
                  <a:ea typeface="Calibri"/>
                  <a:cs typeface="Calibri"/>
                  <a:sym typeface="Calibri"/>
                </a:defRPr>
              </a:pPr>
              <a:r>
                <a:t>common representation space</a:t>
              </a:r>
            </a:p>
            <a:p>
              <a:pPr marL="571500" indent="-571500" algn="l" defTabSz="1828800">
                <a:buSzPct val="100000"/>
                <a:buFont typeface="Arial"/>
                <a:buChar char="•"/>
                <a:defRPr sz="5600">
                  <a:latin typeface="Calibri"/>
                  <a:ea typeface="Calibri"/>
                  <a:cs typeface="Calibri"/>
                  <a:sym typeface="Calibri"/>
                </a:defRPr>
              </a:pPr>
              <a:r>
                <a:t>enables information </a:t>
              </a:r>
              <a:r>
                <a:rPr>
                  <a:solidFill>
                    <a:srgbClr val="C00000"/>
                  </a:solidFill>
                </a:rPr>
                <a:t>sharing</a:t>
              </a:r>
            </a:p>
            <a:p>
              <a:pPr marL="571500" indent="-571500" algn="l" defTabSz="1828800">
                <a:buSzPct val="100000"/>
                <a:buFont typeface="Arial"/>
                <a:buChar char="•"/>
                <a:defRPr sz="5600">
                  <a:latin typeface="Calibri"/>
                  <a:ea typeface="Calibri"/>
                  <a:cs typeface="Calibri"/>
                  <a:sym typeface="Calibri"/>
                </a:defRPr>
              </a:pPr>
              <a:r>
                <a:t>can be </a:t>
              </a:r>
              <a:r>
                <a:rPr>
                  <a:solidFill>
                    <a:srgbClr val="C00000"/>
                  </a:solidFill>
                </a:rPr>
                <a:t>learned</a:t>
              </a:r>
              <a:r>
                <a:t> from data</a:t>
              </a:r>
            </a:p>
          </p:txBody>
        </p:sp>
        <p:grpSp>
          <p:nvGrpSpPr>
            <p:cNvPr id="240" name="Group 5"/>
            <p:cNvGrpSpPr/>
            <p:nvPr/>
          </p:nvGrpSpPr>
          <p:grpSpPr>
            <a:xfrm>
              <a:off x="0" y="3937083"/>
              <a:ext cx="11098246" cy="7083056"/>
              <a:chOff x="0" y="0"/>
              <a:chExt cx="11098246" cy="7083054"/>
            </a:xfrm>
          </p:grpSpPr>
          <p:pic>
            <p:nvPicPr>
              <p:cNvPr id="232" name="Image" descr="Image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970985" y="0"/>
                <a:ext cx="10127262" cy="7083055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233" name="Arrow"/>
              <p:cNvSpPr/>
              <p:nvPr/>
            </p:nvSpPr>
            <p:spPr>
              <a:xfrm>
                <a:off x="-1" y="2681256"/>
                <a:ext cx="2089895" cy="813261"/>
              </a:xfrm>
              <a:prstGeom prst="rightArrow">
                <a:avLst>
                  <a:gd name="adj1" fmla="val 45456"/>
                  <a:gd name="adj2" fmla="val 101017"/>
                </a:avLst>
              </a:prstGeom>
              <a:solidFill>
                <a:srgbClr val="929292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algn="l" defTabSz="1828800">
                  <a:defRPr sz="30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34" name="Oval 12"/>
              <p:cNvSpPr/>
              <p:nvPr/>
            </p:nvSpPr>
            <p:spPr>
              <a:xfrm>
                <a:off x="2795217" y="4407960"/>
                <a:ext cx="146305" cy="146305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defRPr sz="3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35" name="Oval 13"/>
              <p:cNvSpPr/>
              <p:nvPr/>
            </p:nvSpPr>
            <p:spPr>
              <a:xfrm>
                <a:off x="3100017" y="4712760"/>
                <a:ext cx="146305" cy="146305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defRPr sz="3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36" name="Oval 14"/>
              <p:cNvSpPr/>
              <p:nvPr/>
            </p:nvSpPr>
            <p:spPr>
              <a:xfrm>
                <a:off x="2609687" y="5123584"/>
                <a:ext cx="146305" cy="146305"/>
              </a:xfrm>
              <a:prstGeom prst="ellipse">
                <a:avLst/>
              </a:prstGeom>
              <a:solidFill>
                <a:srgbClr val="FF0000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91439" tIns="91439" rIns="91439" bIns="91439" numCol="1" anchor="ctr">
                <a:noAutofit/>
              </a:bodyPr>
              <a:lstStyle/>
              <a:p>
                <a:pPr defTabSz="1828800">
                  <a:defRPr sz="3600">
                    <a:solidFill>
                      <a:srgbClr val="FFFFFF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endParaRPr/>
              </a:p>
            </p:txBody>
          </p:sp>
          <p:sp>
            <p:nvSpPr>
              <p:cNvPr id="237" name="TextBox 15"/>
              <p:cNvSpPr txBox="1"/>
              <p:nvPr/>
            </p:nvSpPr>
            <p:spPr>
              <a:xfrm>
                <a:off x="2847431" y="4043352"/>
                <a:ext cx="1760711" cy="7976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>
                <a:lvl1pPr defTabSz="1828800">
                  <a:defRPr sz="48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t>cat</a:t>
                </a:r>
              </a:p>
            </p:txBody>
          </p:sp>
          <p:sp>
            <p:nvSpPr>
              <p:cNvPr id="238" name="TextBox 16"/>
              <p:cNvSpPr txBox="1"/>
              <p:nvPr/>
            </p:nvSpPr>
            <p:spPr>
              <a:xfrm>
                <a:off x="1875635" y="5196736"/>
                <a:ext cx="1760711" cy="7976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>
                <a:lvl1pPr defTabSz="1828800">
                  <a:defRPr sz="48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t>dog</a:t>
                </a:r>
              </a:p>
            </p:txBody>
          </p:sp>
          <p:sp>
            <p:nvSpPr>
              <p:cNvPr id="239" name="TextBox 17"/>
              <p:cNvSpPr txBox="1"/>
              <p:nvPr/>
            </p:nvSpPr>
            <p:spPr>
              <a:xfrm>
                <a:off x="2181333" y="3513402"/>
                <a:ext cx="1760711" cy="79764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91439" tIns="91439" rIns="91439" bIns="91439" numCol="1" anchor="t">
                <a:spAutoFit/>
              </a:bodyPr>
              <a:lstStyle>
                <a:lvl1pPr defTabSz="1828800">
                  <a:defRPr sz="4800">
                    <a:latin typeface="Calibri"/>
                    <a:ea typeface="Calibri"/>
                    <a:cs typeface="Calibri"/>
                    <a:sym typeface="Calibri"/>
                  </a:defRPr>
                </a:lvl1pPr>
              </a:lstStyle>
              <a:p>
                <a:r>
                  <a:t>kitten</a:t>
                </a:r>
              </a:p>
            </p:txBody>
          </p:sp>
        </p:grpSp>
      </p:grpSp>
      <p:sp>
        <p:nvSpPr>
          <p:cNvPr id="242" name="Distributed representation…"/>
          <p:cNvSpPr txBox="1"/>
          <p:nvPr/>
        </p:nvSpPr>
        <p:spPr>
          <a:xfrm>
            <a:off x="2360922" y="9205204"/>
            <a:ext cx="7724156" cy="14135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defTabSz="457200">
              <a:lnSpc>
                <a:spcPts val="7200"/>
              </a:lnSpc>
              <a:spcBef>
                <a:spcPts val="1000"/>
              </a:spcBef>
              <a:defRPr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Distributed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representation</a:t>
            </a:r>
          </a:p>
          <a:p>
            <a:pPr defTabSz="457200">
              <a:lnSpc>
                <a:spcPts val="6300"/>
              </a:lnSpc>
              <a:spcBef>
                <a:spcPts val="1000"/>
              </a:spcBef>
              <a:defRPr sz="3600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(Meaning not isolated to one dimension)</a:t>
            </a:r>
          </a:p>
        </p:txBody>
      </p:sp>
      <p:sp>
        <p:nvSpPr>
          <p:cNvPr id="243" name="Continuous space for words:…"/>
          <p:cNvSpPr txBox="1"/>
          <p:nvPr/>
        </p:nvSpPr>
        <p:spPr>
          <a:xfrm>
            <a:off x="13091017" y="12006555"/>
            <a:ext cx="6472884" cy="115957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 defTabSz="457200">
              <a:defRPr sz="3600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Continuous space for words:</a:t>
            </a:r>
          </a:p>
          <a:p>
            <a:pPr algn="l" defTabSz="457200">
              <a:defRPr sz="3600">
                <a:solidFill>
                  <a:srgbClr val="5E5E5E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Similar words closer to each other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1" grpId="0" animBg="1" advAuto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Can measure similarity of wor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Can measure similarity of words</a:t>
            </a:r>
          </a:p>
        </p:txBody>
      </p:sp>
      <p:pic>
        <p:nvPicPr>
          <p:cNvPr id="246" name="Screen Shot 2019-09-26 at 9.02.49 AM.png" descr="Screen Shot 2019-09-26 at 9.02.49 AM.png"/>
          <p:cNvPicPr>
            <a:picLocks noChangeAspect="1"/>
          </p:cNvPicPr>
          <p:nvPr/>
        </p:nvPicPr>
        <p:blipFill>
          <a:blip r:embed="rId2"/>
          <a:srcRect t="6709" r="11154"/>
          <a:stretch>
            <a:fillRect/>
          </a:stretch>
        </p:blipFill>
        <p:spPr>
          <a:xfrm>
            <a:off x="1902708" y="3026212"/>
            <a:ext cx="11497508" cy="8076030"/>
          </a:xfrm>
          <a:prstGeom prst="rect">
            <a:avLst/>
          </a:prstGeom>
          <a:ln w="12700">
            <a:miter lim="400000"/>
          </a:ln>
        </p:spPr>
      </p:pic>
      <p:pic>
        <p:nvPicPr>
          <p:cNvPr id="247" name="cos(_mathbf_u_,_.pdf" descr="cos(_mathbf_u_,_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861911" y="4757483"/>
            <a:ext cx="6504166" cy="158896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8" name="cos(_mathbf_u_,_.pdf" descr="cos(_mathbf_u_,_.pd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610376" y="7710650"/>
            <a:ext cx="9007233" cy="2138784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Representing word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Representing words</a:t>
            </a:r>
          </a:p>
        </p:txBody>
      </p:sp>
      <p:sp>
        <p:nvSpPr>
          <p:cNvPr id="252" name="One-hot vectors…"/>
          <p:cNvSpPr txBox="1">
            <a:spLocks noGrp="1"/>
          </p:cNvSpPr>
          <p:nvPr>
            <p:ph type="body" sz="half" idx="1"/>
          </p:nvPr>
        </p:nvSpPr>
        <p:spPr>
          <a:xfrm>
            <a:off x="1206500" y="4248504"/>
            <a:ext cx="11049000" cy="8256012"/>
          </a:xfrm>
          <a:prstGeom prst="rect">
            <a:avLst/>
          </a:prstGeom>
        </p:spPr>
        <p:txBody>
          <a:bodyPr/>
          <a:lstStyle/>
          <a:p>
            <a:r>
              <a:t>One-hot vectors</a:t>
            </a:r>
          </a:p>
          <a:p>
            <a:endParaRPr/>
          </a:p>
          <a:p>
            <a:r>
              <a:t>Static embeddings</a:t>
            </a:r>
          </a:p>
          <a:p>
            <a:endParaRPr/>
          </a:p>
          <a:p>
            <a:r>
              <a:t>Contextual embeddings</a:t>
            </a:r>
          </a:p>
          <a:p>
            <a:pPr lvl="1"/>
            <a:r>
              <a:t>Token embedding depend on other tokens </a:t>
            </a:r>
          </a:p>
        </p:txBody>
      </p:sp>
      <p:sp>
        <p:nvSpPr>
          <p:cNvPr id="253" name="cat  = [0 0 0 1 0 0 0]…"/>
          <p:cNvSpPr txBox="1"/>
          <p:nvPr/>
        </p:nvSpPr>
        <p:spPr>
          <a:xfrm>
            <a:off x="1519334" y="5126595"/>
            <a:ext cx="6697999" cy="146467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1828800">
              <a:lnSpc>
                <a:spcPct val="90000"/>
              </a:lnSpc>
              <a:defRPr sz="4600">
                <a:solidFill>
                  <a:srgbClr val="740000"/>
                </a:solidFill>
                <a:latin typeface="Neutra Text Alt"/>
                <a:ea typeface="Neutra Text Alt"/>
                <a:cs typeface="Neutra Text Alt"/>
                <a:sym typeface="Neutra Text Alt"/>
              </a:defRPr>
            </a:pPr>
            <a:r>
              <a:t>	</a:t>
            </a:r>
            <a:r>
              <a:rPr>
                <a:latin typeface="Calibri"/>
                <a:ea typeface="Calibri"/>
                <a:cs typeface="Calibri"/>
                <a:sym typeface="Calibri"/>
              </a:rPr>
              <a:t>cat  = [0 0 0 1 0 0 0] </a:t>
            </a:r>
            <a:endParaRPr sz="7000"/>
          </a:p>
          <a:p>
            <a:pPr algn="l" defTabSz="1828800">
              <a:lnSpc>
                <a:spcPct val="90000"/>
              </a:lnSpc>
              <a:defRPr sz="4600">
                <a:solidFill>
                  <a:srgbClr val="74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	dog = [0 0 0 0 0 1 0]</a:t>
            </a:r>
          </a:p>
        </p:txBody>
      </p:sp>
      <p:sp>
        <p:nvSpPr>
          <p:cNvPr id="254" name="cat = [0.04 1.79 -1.79 1.07 0.48]…"/>
          <p:cNvSpPr txBox="1"/>
          <p:nvPr/>
        </p:nvSpPr>
        <p:spPr>
          <a:xfrm>
            <a:off x="1462726" y="7456818"/>
            <a:ext cx="9520548" cy="15684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/>
          <a:p>
            <a:pPr algn="l" defTabSz="1828800">
              <a:lnSpc>
                <a:spcPct val="90000"/>
              </a:lnSpc>
              <a:defRPr sz="5400">
                <a:latin typeface="Neutra Text Alt"/>
                <a:ea typeface="Neutra Text Alt"/>
                <a:cs typeface="Neutra Text Alt"/>
                <a:sym typeface="Neutra Text Alt"/>
              </a:defRPr>
            </a:pPr>
            <a:r>
              <a:t>	</a:t>
            </a:r>
            <a:r>
              <a:rPr sz="4600">
                <a:solidFill>
                  <a:srgbClr val="740000"/>
                </a:solidFill>
                <a:latin typeface="Calibri"/>
                <a:ea typeface="Calibri"/>
                <a:cs typeface="Calibri"/>
                <a:sym typeface="Calibri"/>
              </a:rPr>
              <a:t>cat = [0.04 1.79 -1.79 1.07 0.48]</a:t>
            </a:r>
            <a:endParaRPr sz="7000">
              <a:solidFill>
                <a:srgbClr val="740000"/>
              </a:solidFill>
            </a:endParaRPr>
          </a:p>
          <a:p>
            <a:pPr algn="l" defTabSz="1828800">
              <a:lnSpc>
                <a:spcPct val="90000"/>
              </a:lnSpc>
              <a:defRPr sz="4600">
                <a:solidFill>
                  <a:srgbClr val="74000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        dog = [0.61 1.84 -1.12 0.52 0.53]</a:t>
            </a:r>
          </a:p>
        </p:txBody>
      </p:sp>
      <p:pic>
        <p:nvPicPr>
          <p:cNvPr id="25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2738" y="11183763"/>
            <a:ext cx="6587706" cy="1134857"/>
          </a:xfrm>
          <a:prstGeom prst="rect">
            <a:avLst/>
          </a:prstGeom>
          <a:ln w="12700">
            <a:miter lim="400000"/>
          </a:ln>
        </p:spPr>
      </p:pic>
      <p:pic>
        <p:nvPicPr>
          <p:cNvPr id="25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506116" y="7718790"/>
            <a:ext cx="4458255" cy="1044507"/>
          </a:xfrm>
          <a:prstGeom prst="rect">
            <a:avLst/>
          </a:prstGeom>
          <a:ln w="12700">
            <a:miter lim="400000"/>
          </a:ln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7BDBE56-75C0-DBD1-D37B-BA8EA195A9F3}"/>
              </a:ext>
            </a:extLst>
          </p:cNvPr>
          <p:cNvSpPr txBox="1"/>
          <p:nvPr/>
        </p:nvSpPr>
        <p:spPr>
          <a:xfrm>
            <a:off x="11239500" y="6835410"/>
            <a:ext cx="13001807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dirty="0"/>
              <a:t>Context-independent (fixed per vocabulary entry)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CEBBAC-8597-66B7-6976-C23FFE6E6C5D}"/>
              </a:ext>
            </a:extLst>
          </p:cNvPr>
          <p:cNvSpPr txBox="1"/>
          <p:nvPr/>
        </p:nvSpPr>
        <p:spPr>
          <a:xfrm>
            <a:off x="10163791" y="9729697"/>
            <a:ext cx="1432560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b="1" dirty="0"/>
              <a:t>Context-dependent</a:t>
            </a:r>
            <a:r>
              <a:rPr lang="en-US" dirty="0"/>
              <a:t> (varies with surrounding sentence)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4CFC3A6-B082-6875-3FE5-FBC60FA88564}"/>
              </a:ext>
            </a:extLst>
          </p:cNvPr>
          <p:cNvSpPr txBox="1"/>
          <p:nvPr/>
        </p:nvSpPr>
        <p:spPr>
          <a:xfrm>
            <a:off x="9172575" y="6055118"/>
            <a:ext cx="1228725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/>
              <a:t>"river bank"</a:t>
            </a:r>
            <a:r>
              <a:rPr lang="en-US" dirty="0"/>
              <a:t> vs. </a:t>
            </a:r>
            <a:r>
              <a:rPr lang="en-US" i="1" dirty="0"/>
              <a:t>"bank account"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D5A11DB-0409-B038-630D-ECFC1A4EF968}"/>
              </a:ext>
            </a:extLst>
          </p:cNvPr>
          <p:cNvSpPr txBox="1"/>
          <p:nvPr/>
        </p:nvSpPr>
        <p:spPr>
          <a:xfrm>
            <a:off x="9477375" y="12626654"/>
            <a:ext cx="12287250" cy="769441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wrap="square">
            <a:spAutoFit/>
          </a:bodyPr>
          <a:lstStyle/>
          <a:p>
            <a:r>
              <a:rPr lang="en-US" i="1" dirty="0"/>
              <a:t>"river bank"</a:t>
            </a:r>
            <a:r>
              <a:rPr lang="en-US" dirty="0"/>
              <a:t> vs. </a:t>
            </a:r>
            <a:r>
              <a:rPr lang="en-US" i="1" dirty="0"/>
              <a:t>"bank account"</a:t>
            </a:r>
            <a:endParaRPr lang="en-US" dirty="0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10" name="Ink 9">
                <a:extLst>
                  <a:ext uri="{FF2B5EF4-FFF2-40B4-BE49-F238E27FC236}">
                    <a16:creationId xmlns:a16="http://schemas.microsoft.com/office/drawing/2014/main" id="{42FA2F00-49DA-D369-B7F6-1B6C424A3551}"/>
                  </a:ext>
                </a:extLst>
              </p14:cNvPr>
              <p14:cNvContentPartPr/>
              <p14:nvPr/>
            </p14:nvContentPartPr>
            <p14:xfrm>
              <a:off x="13832017" y="5579743"/>
              <a:ext cx="2442240" cy="661680"/>
            </p14:xfrm>
          </p:contentPart>
        </mc:Choice>
        <mc:Fallback>
          <p:pic>
            <p:nvPicPr>
              <p:cNvPr id="10" name="Ink 9">
                <a:extLst>
                  <a:ext uri="{FF2B5EF4-FFF2-40B4-BE49-F238E27FC236}">
                    <a16:creationId xmlns:a16="http://schemas.microsoft.com/office/drawing/2014/main" id="{42FA2F00-49DA-D369-B7F6-1B6C424A35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3825897" y="5573623"/>
                <a:ext cx="2454480" cy="673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id="{871C3F1E-8086-16F7-6F4E-DE99ACE2844C}"/>
                  </a:ext>
                </a:extLst>
              </p14:cNvPr>
              <p14:cNvContentPartPr/>
              <p14:nvPr/>
            </p14:nvContentPartPr>
            <p14:xfrm>
              <a:off x="13696500" y="4943445"/>
              <a:ext cx="286560" cy="276840"/>
            </p14:xfrm>
          </p:contentPart>
        </mc:Choice>
        <mc:Fallback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C3F1E-8086-16F7-6F4E-DE99ACE2844C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3690380" y="4937325"/>
                <a:ext cx="29880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2" name="Ink 11">
                <a:extLst>
                  <a:ext uri="{FF2B5EF4-FFF2-40B4-BE49-F238E27FC236}">
                    <a16:creationId xmlns:a16="http://schemas.microsoft.com/office/drawing/2014/main" id="{15B1754F-9412-BAFF-3419-1445C900D30E}"/>
                  </a:ext>
                </a:extLst>
              </p14:cNvPr>
              <p14:cNvContentPartPr/>
              <p14:nvPr/>
            </p14:nvContentPartPr>
            <p14:xfrm>
              <a:off x="14081340" y="5057205"/>
              <a:ext cx="144720" cy="151920"/>
            </p14:xfrm>
          </p:contentPart>
        </mc:Choice>
        <mc:Fallback>
          <p:pic>
            <p:nvPicPr>
              <p:cNvPr id="12" name="Ink 11">
                <a:extLst>
                  <a:ext uri="{FF2B5EF4-FFF2-40B4-BE49-F238E27FC236}">
                    <a16:creationId xmlns:a16="http://schemas.microsoft.com/office/drawing/2014/main" id="{15B1754F-9412-BAFF-3419-1445C900D30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4075220" y="5051085"/>
                <a:ext cx="156960" cy="16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3" name="Ink 12">
                <a:extLst>
                  <a:ext uri="{FF2B5EF4-FFF2-40B4-BE49-F238E27FC236}">
                    <a16:creationId xmlns:a16="http://schemas.microsoft.com/office/drawing/2014/main" id="{BC2EF7A0-9E79-4C0A-90A0-7CC1FA6CA31F}"/>
                  </a:ext>
                </a:extLst>
              </p14:cNvPr>
              <p14:cNvContentPartPr/>
              <p14:nvPr/>
            </p14:nvContentPartPr>
            <p14:xfrm>
              <a:off x="14334780" y="4999245"/>
              <a:ext cx="299160" cy="196560"/>
            </p14:xfrm>
          </p:contentPart>
        </mc:Choice>
        <mc:Fallback>
          <p:pic>
            <p:nvPicPr>
              <p:cNvPr id="13" name="Ink 12">
                <a:extLst>
                  <a:ext uri="{FF2B5EF4-FFF2-40B4-BE49-F238E27FC236}">
                    <a16:creationId xmlns:a16="http://schemas.microsoft.com/office/drawing/2014/main" id="{BC2EF7A0-9E79-4C0A-90A0-7CC1FA6CA31F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14328660" y="4993125"/>
                <a:ext cx="311400" cy="208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16A7167E-8FA9-1F17-0D12-01F9759F0875}"/>
                  </a:ext>
                </a:extLst>
              </p14:cNvPr>
              <p14:cNvContentPartPr/>
              <p14:nvPr/>
            </p14:nvContentPartPr>
            <p14:xfrm>
              <a:off x="14687220" y="4999245"/>
              <a:ext cx="145800" cy="28584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16A7167E-8FA9-1F17-0D12-01F9759F0875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14681100" y="4993125"/>
                <a:ext cx="158040" cy="298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5" name="Ink 14">
                <a:extLst>
                  <a:ext uri="{FF2B5EF4-FFF2-40B4-BE49-F238E27FC236}">
                    <a16:creationId xmlns:a16="http://schemas.microsoft.com/office/drawing/2014/main" id="{DA1A37E2-4B6E-6C95-3177-CE90BFB3C1D3}"/>
                  </a:ext>
                </a:extLst>
              </p14:cNvPr>
              <p14:cNvContentPartPr/>
              <p14:nvPr/>
            </p14:nvContentPartPr>
            <p14:xfrm>
              <a:off x="14096850" y="12285090"/>
              <a:ext cx="2462040" cy="592920"/>
            </p14:xfrm>
          </p:contentPart>
        </mc:Choice>
        <mc:Fallback>
          <p:pic>
            <p:nvPicPr>
              <p:cNvPr id="15" name="Ink 14">
                <a:extLst>
                  <a:ext uri="{FF2B5EF4-FFF2-40B4-BE49-F238E27FC236}">
                    <a16:creationId xmlns:a16="http://schemas.microsoft.com/office/drawing/2014/main" id="{DA1A37E2-4B6E-6C95-3177-CE90BFB3C1D3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4090730" y="12278970"/>
                <a:ext cx="2474280" cy="605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6" name="Ink 15">
                <a:extLst>
                  <a:ext uri="{FF2B5EF4-FFF2-40B4-BE49-F238E27FC236}">
                    <a16:creationId xmlns:a16="http://schemas.microsoft.com/office/drawing/2014/main" id="{79E5C478-2023-390E-663B-B53100840A24}"/>
                  </a:ext>
                </a:extLst>
              </p14:cNvPr>
              <p14:cNvContentPartPr/>
              <p14:nvPr/>
            </p14:nvContentPartPr>
            <p14:xfrm>
              <a:off x="17055330" y="12398130"/>
              <a:ext cx="205920" cy="264960"/>
            </p14:xfrm>
          </p:contentPart>
        </mc:Choice>
        <mc:Fallback>
          <p:pic>
            <p:nvPicPr>
              <p:cNvPr id="16" name="Ink 15">
                <a:extLst>
                  <a:ext uri="{FF2B5EF4-FFF2-40B4-BE49-F238E27FC236}">
                    <a16:creationId xmlns:a16="http://schemas.microsoft.com/office/drawing/2014/main" id="{79E5C478-2023-390E-663B-B53100840A24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17049210" y="12392010"/>
                <a:ext cx="218160" cy="277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CC84BE3A-6B68-2FA1-462B-F50641FA5C2F}"/>
                  </a:ext>
                </a:extLst>
              </p14:cNvPr>
              <p14:cNvContentPartPr/>
              <p14:nvPr/>
            </p14:nvContentPartPr>
            <p14:xfrm>
              <a:off x="17278170" y="12191850"/>
              <a:ext cx="7920" cy="446760"/>
            </p14:xfrm>
          </p:contentPart>
        </mc:Choice>
        <mc:Fallback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CC84BE3A-6B68-2FA1-462B-F50641FA5C2F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17272050" y="12185730"/>
                <a:ext cx="20160" cy="459000"/>
              </a:xfrm>
              <a:prstGeom prst="rect">
                <a:avLst/>
              </a:prstGeom>
            </p:spPr>
          </p:pic>
        </mc:Fallback>
      </mc:AlternateContent>
      <p:grpSp>
        <p:nvGrpSpPr>
          <p:cNvPr id="35" name="Group 34">
            <a:extLst>
              <a:ext uri="{FF2B5EF4-FFF2-40B4-BE49-F238E27FC236}">
                <a16:creationId xmlns:a16="http://schemas.microsoft.com/office/drawing/2014/main" id="{2DAE403D-1751-30F2-9570-4B5484641950}"/>
              </a:ext>
            </a:extLst>
          </p:cNvPr>
          <p:cNvGrpSpPr/>
          <p:nvPr/>
        </p:nvGrpSpPr>
        <p:grpSpPr>
          <a:xfrm>
            <a:off x="17475060" y="12164060"/>
            <a:ext cx="2257560" cy="633960"/>
            <a:chOff x="17475060" y="12164060"/>
            <a:chExt cx="2257560" cy="63396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20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E30A1626-E645-BF42-1292-9CCD23305799}"/>
                    </a:ext>
                  </a:extLst>
                </p14:cNvPr>
                <p14:cNvContentPartPr/>
                <p14:nvPr/>
              </p14:nvContentPartPr>
              <p14:xfrm>
                <a:off x="17475060" y="12443420"/>
                <a:ext cx="157320" cy="203760"/>
              </p14:xfrm>
            </p:contentPart>
          </mc:Choice>
          <mc:Fallback>
            <p:pic>
              <p:nvPicPr>
                <p:cNvPr id="21" name="Ink 20">
                  <a:extLst>
                    <a:ext uri="{FF2B5EF4-FFF2-40B4-BE49-F238E27FC236}">
                      <a16:creationId xmlns:a16="http://schemas.microsoft.com/office/drawing/2014/main" id="{E30A1626-E645-BF42-1292-9CCD23305799}"/>
                    </a:ext>
                  </a:extLst>
                </p:cNvPr>
                <p:cNvPicPr/>
                <p:nvPr/>
              </p:nvPicPr>
              <p:blipFill>
                <a:blip r:embed="rId21"/>
                <a:stretch>
                  <a:fillRect/>
                </a:stretch>
              </p:blipFill>
              <p:spPr>
                <a:xfrm>
                  <a:off x="17468940" y="12437300"/>
                  <a:ext cx="169560" cy="2160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B7CDFEFD-2075-3B09-6BF3-42B574F90535}"/>
                    </a:ext>
                  </a:extLst>
                </p14:cNvPr>
                <p14:cNvContentPartPr/>
                <p14:nvPr/>
              </p14:nvContentPartPr>
              <p14:xfrm>
                <a:off x="17627340" y="12283580"/>
                <a:ext cx="13320" cy="10440"/>
              </p14:xfrm>
            </p:contentPart>
          </mc:Choice>
          <mc:Fallback>
            <p:pic>
              <p:nvPicPr>
                <p:cNvPr id="22" name="Ink 21">
                  <a:extLst>
                    <a:ext uri="{FF2B5EF4-FFF2-40B4-BE49-F238E27FC236}">
                      <a16:creationId xmlns:a16="http://schemas.microsoft.com/office/drawing/2014/main" id="{B7CDFEFD-2075-3B09-6BF3-42B574F90535}"/>
                    </a:ext>
                  </a:extLst>
                </p:cNvPr>
                <p:cNvPicPr/>
                <p:nvPr/>
              </p:nvPicPr>
              <p:blipFill>
                <a:blip r:embed="rId23"/>
                <a:stretch>
                  <a:fillRect/>
                </a:stretch>
              </p:blipFill>
              <p:spPr>
                <a:xfrm>
                  <a:off x="17621220" y="12277460"/>
                  <a:ext cx="25560" cy="22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4">
              <p14:nvContentPartPr>
                <p14:cNvPr id="23" name="Ink 22">
                  <a:extLst>
                    <a:ext uri="{FF2B5EF4-FFF2-40B4-BE49-F238E27FC236}">
                      <a16:creationId xmlns:a16="http://schemas.microsoft.com/office/drawing/2014/main" id="{46F0CD09-333F-EC88-8E5C-5591ADC1BA28}"/>
                    </a:ext>
                  </a:extLst>
                </p14:cNvPr>
                <p14:cNvContentPartPr/>
                <p14:nvPr/>
              </p14:nvContentPartPr>
              <p14:xfrm>
                <a:off x="17832900" y="12164060"/>
                <a:ext cx="150480" cy="545400"/>
              </p14:xfrm>
            </p:contentPart>
          </mc:Choice>
          <mc:Fallback>
            <p:pic>
              <p:nvPicPr>
                <p:cNvPr id="23" name="Ink 22">
                  <a:extLst>
                    <a:ext uri="{FF2B5EF4-FFF2-40B4-BE49-F238E27FC236}">
                      <a16:creationId xmlns:a16="http://schemas.microsoft.com/office/drawing/2014/main" id="{46F0CD09-333F-EC88-8E5C-5591ADC1BA28}"/>
                    </a:ext>
                  </a:extLst>
                </p:cNvPr>
                <p:cNvPicPr/>
                <p:nvPr/>
              </p:nvPicPr>
              <p:blipFill>
                <a:blip r:embed="rId25"/>
                <a:stretch>
                  <a:fillRect/>
                </a:stretch>
              </p:blipFill>
              <p:spPr>
                <a:xfrm>
                  <a:off x="17826780" y="12157940"/>
                  <a:ext cx="162720" cy="5576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6">
              <p14:nvContentPartPr>
                <p14:cNvPr id="24" name="Ink 23">
                  <a:extLst>
                    <a:ext uri="{FF2B5EF4-FFF2-40B4-BE49-F238E27FC236}">
                      <a16:creationId xmlns:a16="http://schemas.microsoft.com/office/drawing/2014/main" id="{818FA97A-E770-650A-8352-34F9DBB9FAC5}"/>
                    </a:ext>
                  </a:extLst>
                </p14:cNvPr>
                <p14:cNvContentPartPr/>
                <p14:nvPr/>
              </p14:nvContentPartPr>
              <p14:xfrm>
                <a:off x="17805180" y="12425420"/>
                <a:ext cx="198360" cy="8280"/>
              </p14:xfrm>
            </p:contentPart>
          </mc:Choice>
          <mc:Fallback>
            <p:pic>
              <p:nvPicPr>
                <p:cNvPr id="24" name="Ink 23">
                  <a:extLst>
                    <a:ext uri="{FF2B5EF4-FFF2-40B4-BE49-F238E27FC236}">
                      <a16:creationId xmlns:a16="http://schemas.microsoft.com/office/drawing/2014/main" id="{818FA97A-E770-650A-8352-34F9DBB9FAC5}"/>
                    </a:ext>
                  </a:extLst>
                </p:cNvPr>
                <p:cNvPicPr/>
                <p:nvPr/>
              </p:nvPicPr>
              <p:blipFill>
                <a:blip r:embed="rId27"/>
                <a:stretch>
                  <a:fillRect/>
                </a:stretch>
              </p:blipFill>
              <p:spPr>
                <a:xfrm>
                  <a:off x="17799060" y="12419300"/>
                  <a:ext cx="210600" cy="20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28">
              <p14:nvContentPartPr>
                <p14:cNvPr id="26" name="Ink 25">
                  <a:extLst>
                    <a:ext uri="{FF2B5EF4-FFF2-40B4-BE49-F238E27FC236}">
                      <a16:creationId xmlns:a16="http://schemas.microsoft.com/office/drawing/2014/main" id="{83345C8F-2244-9957-46D9-07DA709CB4CC}"/>
                    </a:ext>
                  </a:extLst>
                </p14:cNvPr>
                <p14:cNvContentPartPr/>
                <p14:nvPr/>
              </p14:nvContentPartPr>
              <p14:xfrm>
                <a:off x="18146820" y="12242540"/>
                <a:ext cx="255600" cy="555480"/>
              </p14:xfrm>
            </p:contentPart>
          </mc:Choice>
          <mc:Fallback>
            <p:pic>
              <p:nvPicPr>
                <p:cNvPr id="26" name="Ink 25">
                  <a:extLst>
                    <a:ext uri="{FF2B5EF4-FFF2-40B4-BE49-F238E27FC236}">
                      <a16:creationId xmlns:a16="http://schemas.microsoft.com/office/drawing/2014/main" id="{83345C8F-2244-9957-46D9-07DA709CB4CC}"/>
                    </a:ext>
                  </a:extLst>
                </p:cNvPr>
                <p:cNvPicPr/>
                <p:nvPr/>
              </p:nvPicPr>
              <p:blipFill>
                <a:blip r:embed="rId29"/>
                <a:stretch>
                  <a:fillRect/>
                </a:stretch>
              </p:blipFill>
              <p:spPr>
                <a:xfrm>
                  <a:off x="18140700" y="12236420"/>
                  <a:ext cx="267840" cy="567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0">
              <p14:nvContentPartPr>
                <p14:cNvPr id="27" name="Ink 26">
                  <a:extLst>
                    <a:ext uri="{FF2B5EF4-FFF2-40B4-BE49-F238E27FC236}">
                      <a16:creationId xmlns:a16="http://schemas.microsoft.com/office/drawing/2014/main" id="{E20CE724-C75A-42A4-55C4-5E8C2869E19D}"/>
                    </a:ext>
                  </a:extLst>
                </p14:cNvPr>
                <p14:cNvContentPartPr/>
                <p14:nvPr/>
              </p14:nvContentPartPr>
              <p14:xfrm>
                <a:off x="18122700" y="12521180"/>
                <a:ext cx="183600" cy="26280"/>
              </p14:xfrm>
            </p:contentPart>
          </mc:Choice>
          <mc:Fallback>
            <p:pic>
              <p:nvPicPr>
                <p:cNvPr id="27" name="Ink 26">
                  <a:extLst>
                    <a:ext uri="{FF2B5EF4-FFF2-40B4-BE49-F238E27FC236}">
                      <a16:creationId xmlns:a16="http://schemas.microsoft.com/office/drawing/2014/main" id="{E20CE724-C75A-42A4-55C4-5E8C2869E19D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18116580" y="12515060"/>
                  <a:ext cx="195840" cy="38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2">
              <p14:nvContentPartPr>
                <p14:cNvPr id="29" name="Ink 28">
                  <a:extLst>
                    <a:ext uri="{FF2B5EF4-FFF2-40B4-BE49-F238E27FC236}">
                      <a16:creationId xmlns:a16="http://schemas.microsoft.com/office/drawing/2014/main" id="{3770F101-A290-FD2B-6EAF-68E44A9BAC33}"/>
                    </a:ext>
                  </a:extLst>
                </p14:cNvPr>
                <p14:cNvContentPartPr/>
                <p14:nvPr/>
              </p14:nvContentPartPr>
              <p14:xfrm>
                <a:off x="18478380" y="12522260"/>
                <a:ext cx="265320" cy="78480"/>
              </p14:xfrm>
            </p:contentPart>
          </mc:Choice>
          <mc:Fallback>
            <p:pic>
              <p:nvPicPr>
                <p:cNvPr id="29" name="Ink 28">
                  <a:extLst>
                    <a:ext uri="{FF2B5EF4-FFF2-40B4-BE49-F238E27FC236}">
                      <a16:creationId xmlns:a16="http://schemas.microsoft.com/office/drawing/2014/main" id="{3770F101-A290-FD2B-6EAF-68E44A9BAC33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18472260" y="12516140"/>
                  <a:ext cx="277560" cy="907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4">
              <p14:nvContentPartPr>
                <p14:cNvPr id="30" name="Ink 29">
                  <a:extLst>
                    <a:ext uri="{FF2B5EF4-FFF2-40B4-BE49-F238E27FC236}">
                      <a16:creationId xmlns:a16="http://schemas.microsoft.com/office/drawing/2014/main" id="{DBDD6197-5CD3-41AC-8F39-DC3BD0B70964}"/>
                    </a:ext>
                  </a:extLst>
                </p14:cNvPr>
                <p14:cNvContentPartPr/>
                <p14:nvPr/>
              </p14:nvContentPartPr>
              <p14:xfrm>
                <a:off x="18910020" y="12414980"/>
                <a:ext cx="147240" cy="237600"/>
              </p14:xfrm>
            </p:contentPart>
          </mc:Choice>
          <mc:Fallback>
            <p:pic>
              <p:nvPicPr>
                <p:cNvPr id="30" name="Ink 29">
                  <a:extLst>
                    <a:ext uri="{FF2B5EF4-FFF2-40B4-BE49-F238E27FC236}">
                      <a16:creationId xmlns:a16="http://schemas.microsoft.com/office/drawing/2014/main" id="{DBDD6197-5CD3-41AC-8F39-DC3BD0B70964}"/>
                    </a:ext>
                  </a:extLst>
                </p:cNvPr>
                <p:cNvPicPr/>
                <p:nvPr/>
              </p:nvPicPr>
              <p:blipFill>
                <a:blip r:embed="rId35"/>
                <a:stretch>
                  <a:fillRect/>
                </a:stretch>
              </p:blipFill>
              <p:spPr>
                <a:xfrm>
                  <a:off x="18903900" y="12408860"/>
                  <a:ext cx="159480" cy="249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6">
              <p14:nvContentPartPr>
                <p14:cNvPr id="31" name="Ink 30">
                  <a:extLst>
                    <a:ext uri="{FF2B5EF4-FFF2-40B4-BE49-F238E27FC236}">
                      <a16:creationId xmlns:a16="http://schemas.microsoft.com/office/drawing/2014/main" id="{F29A2CAC-EB14-1237-E7DD-20A923E7D705}"/>
                    </a:ext>
                  </a:extLst>
                </p14:cNvPr>
                <p14:cNvContentPartPr/>
                <p14:nvPr/>
              </p14:nvContentPartPr>
              <p14:xfrm>
                <a:off x="19089300" y="12351620"/>
                <a:ext cx="230040" cy="224280"/>
              </p14:xfrm>
            </p:contentPart>
          </mc:Choice>
          <mc:Fallback>
            <p:pic>
              <p:nvPicPr>
                <p:cNvPr id="31" name="Ink 30">
                  <a:extLst>
                    <a:ext uri="{FF2B5EF4-FFF2-40B4-BE49-F238E27FC236}">
                      <a16:creationId xmlns:a16="http://schemas.microsoft.com/office/drawing/2014/main" id="{F29A2CAC-EB14-1237-E7DD-20A923E7D705}"/>
                    </a:ext>
                  </a:extLst>
                </p:cNvPr>
                <p:cNvPicPr/>
                <p:nvPr/>
              </p:nvPicPr>
              <p:blipFill>
                <a:blip r:embed="rId37"/>
                <a:stretch>
                  <a:fillRect/>
                </a:stretch>
              </p:blipFill>
              <p:spPr>
                <a:xfrm>
                  <a:off x="19083180" y="12345500"/>
                  <a:ext cx="242280" cy="236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38">
              <p14:nvContentPartPr>
                <p14:cNvPr id="32" name="Ink 31">
                  <a:extLst>
                    <a:ext uri="{FF2B5EF4-FFF2-40B4-BE49-F238E27FC236}">
                      <a16:creationId xmlns:a16="http://schemas.microsoft.com/office/drawing/2014/main" id="{E6F6D026-B97B-A09F-2B2C-BC65386CE380}"/>
                    </a:ext>
                  </a:extLst>
                </p14:cNvPr>
                <p14:cNvContentPartPr/>
                <p14:nvPr/>
              </p14:nvContentPartPr>
              <p14:xfrm>
                <a:off x="19354620" y="12347660"/>
                <a:ext cx="195120" cy="223200"/>
              </p14:xfrm>
            </p:contentPart>
          </mc:Choice>
          <mc:Fallback>
            <p:pic>
              <p:nvPicPr>
                <p:cNvPr id="32" name="Ink 31">
                  <a:extLst>
                    <a:ext uri="{FF2B5EF4-FFF2-40B4-BE49-F238E27FC236}">
                      <a16:creationId xmlns:a16="http://schemas.microsoft.com/office/drawing/2014/main" id="{E6F6D026-B97B-A09F-2B2C-BC65386CE380}"/>
                    </a:ext>
                  </a:extLst>
                </p:cNvPr>
                <p:cNvPicPr/>
                <p:nvPr/>
              </p:nvPicPr>
              <p:blipFill>
                <a:blip r:embed="rId39"/>
                <a:stretch>
                  <a:fillRect/>
                </a:stretch>
              </p:blipFill>
              <p:spPr>
                <a:xfrm>
                  <a:off x="19348500" y="12341540"/>
                  <a:ext cx="207360" cy="235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0">
              <p14:nvContentPartPr>
                <p14:cNvPr id="33" name="Ink 32">
                  <a:extLst>
                    <a:ext uri="{FF2B5EF4-FFF2-40B4-BE49-F238E27FC236}">
                      <a16:creationId xmlns:a16="http://schemas.microsoft.com/office/drawing/2014/main" id="{A4C51E7F-043B-36BC-0D29-63129431EFF6}"/>
                    </a:ext>
                  </a:extLst>
                </p14:cNvPr>
                <p14:cNvContentPartPr/>
                <p14:nvPr/>
              </p14:nvContentPartPr>
              <p14:xfrm>
                <a:off x="19633620" y="12217340"/>
                <a:ext cx="72720" cy="470160"/>
              </p14:xfrm>
            </p:contentPart>
          </mc:Choice>
          <mc:Fallback>
            <p:pic>
              <p:nvPicPr>
                <p:cNvPr id="33" name="Ink 32">
                  <a:extLst>
                    <a:ext uri="{FF2B5EF4-FFF2-40B4-BE49-F238E27FC236}">
                      <a16:creationId xmlns:a16="http://schemas.microsoft.com/office/drawing/2014/main" id="{A4C51E7F-043B-36BC-0D29-63129431EFF6}"/>
                    </a:ext>
                  </a:extLst>
                </p:cNvPr>
                <p:cNvPicPr/>
                <p:nvPr/>
              </p:nvPicPr>
              <p:blipFill>
                <a:blip r:embed="rId41"/>
                <a:stretch>
                  <a:fillRect/>
                </a:stretch>
              </p:blipFill>
              <p:spPr>
                <a:xfrm>
                  <a:off x="19627500" y="12211220"/>
                  <a:ext cx="84960" cy="4824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2">
              <p14:nvContentPartPr>
                <p14:cNvPr id="34" name="Ink 33">
                  <a:extLst>
                    <a:ext uri="{FF2B5EF4-FFF2-40B4-BE49-F238E27FC236}">
                      <a16:creationId xmlns:a16="http://schemas.microsoft.com/office/drawing/2014/main" id="{78FC104E-4329-0874-37A0-77EDD5666203}"/>
                    </a:ext>
                  </a:extLst>
                </p14:cNvPr>
                <p14:cNvContentPartPr/>
                <p14:nvPr/>
              </p14:nvContentPartPr>
              <p14:xfrm>
                <a:off x="19557660" y="12344060"/>
                <a:ext cx="174960" cy="46800"/>
              </p14:xfrm>
            </p:contentPart>
          </mc:Choice>
          <mc:Fallback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78FC104E-4329-0874-37A0-77EDD5666203}"/>
                    </a:ext>
                  </a:extLst>
                </p:cNvPr>
                <p:cNvPicPr/>
                <p:nvPr/>
              </p:nvPicPr>
              <p:blipFill>
                <a:blip r:embed="rId43"/>
                <a:stretch>
                  <a:fillRect/>
                </a:stretch>
              </p:blipFill>
              <p:spPr>
                <a:xfrm>
                  <a:off x="19551540" y="12337940"/>
                  <a:ext cx="187200" cy="59040"/>
                </a:xfrm>
                <a:prstGeom prst="rect">
                  <a:avLst/>
                </a:prstGeom>
              </p:spPr>
            </p:pic>
          </mc:Fallback>
        </mc:AlternateContent>
      </p:grpSp>
      <p:grpSp>
        <p:nvGrpSpPr>
          <p:cNvPr id="47" name="Group 46">
            <a:extLst>
              <a:ext uri="{FF2B5EF4-FFF2-40B4-BE49-F238E27FC236}">
                <a16:creationId xmlns:a16="http://schemas.microsoft.com/office/drawing/2014/main" id="{B5C1E228-4183-74AB-1C10-6362961A12C9}"/>
              </a:ext>
            </a:extLst>
          </p:cNvPr>
          <p:cNvGrpSpPr/>
          <p:nvPr/>
        </p:nvGrpSpPr>
        <p:grpSpPr>
          <a:xfrm>
            <a:off x="20116770" y="12134610"/>
            <a:ext cx="2290320" cy="1142640"/>
            <a:chOff x="20116770" y="12134610"/>
            <a:chExt cx="2290320" cy="114264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44">
              <p14:nvContentPartPr>
                <p14:cNvPr id="36" name="Ink 35">
                  <a:extLst>
                    <a:ext uri="{FF2B5EF4-FFF2-40B4-BE49-F238E27FC236}">
                      <a16:creationId xmlns:a16="http://schemas.microsoft.com/office/drawing/2014/main" id="{91BE052D-1900-0599-B7C2-6295BD36B68A}"/>
                    </a:ext>
                  </a:extLst>
                </p14:cNvPr>
                <p14:cNvContentPartPr/>
                <p14:nvPr/>
              </p14:nvContentPartPr>
              <p14:xfrm>
                <a:off x="20116770" y="12331890"/>
                <a:ext cx="286560" cy="439200"/>
              </p14:xfrm>
            </p:contentPart>
          </mc:Choice>
          <mc:Fallback>
            <p:pic>
              <p:nvPicPr>
                <p:cNvPr id="36" name="Ink 35">
                  <a:extLst>
                    <a:ext uri="{FF2B5EF4-FFF2-40B4-BE49-F238E27FC236}">
                      <a16:creationId xmlns:a16="http://schemas.microsoft.com/office/drawing/2014/main" id="{91BE052D-1900-0599-B7C2-6295BD36B68A}"/>
                    </a:ext>
                  </a:extLst>
                </p:cNvPr>
                <p:cNvPicPr/>
                <p:nvPr/>
              </p:nvPicPr>
              <p:blipFill>
                <a:blip r:embed="rId45"/>
                <a:stretch>
                  <a:fillRect/>
                </a:stretch>
              </p:blipFill>
              <p:spPr>
                <a:xfrm>
                  <a:off x="20110650" y="12325770"/>
                  <a:ext cx="298800" cy="451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6">
              <p14:nvContentPartPr>
                <p14:cNvPr id="37" name="Ink 36">
                  <a:extLst>
                    <a:ext uri="{FF2B5EF4-FFF2-40B4-BE49-F238E27FC236}">
                      <a16:creationId xmlns:a16="http://schemas.microsoft.com/office/drawing/2014/main" id="{CF275DB5-B125-99F2-36E2-72FF759C009E}"/>
                    </a:ext>
                  </a:extLst>
                </p14:cNvPr>
                <p14:cNvContentPartPr/>
                <p14:nvPr/>
              </p14:nvContentPartPr>
              <p14:xfrm>
                <a:off x="20516730" y="12477690"/>
                <a:ext cx="404640" cy="282240"/>
              </p14:xfrm>
            </p:contentPart>
          </mc:Choice>
          <mc:Fallback>
            <p:pic>
              <p:nvPicPr>
                <p:cNvPr id="37" name="Ink 36">
                  <a:extLst>
                    <a:ext uri="{FF2B5EF4-FFF2-40B4-BE49-F238E27FC236}">
                      <a16:creationId xmlns:a16="http://schemas.microsoft.com/office/drawing/2014/main" id="{CF275DB5-B125-99F2-36E2-72FF759C009E}"/>
                    </a:ext>
                  </a:extLst>
                </p:cNvPr>
                <p:cNvPicPr/>
                <p:nvPr/>
              </p:nvPicPr>
              <p:blipFill>
                <a:blip r:embed="rId47"/>
                <a:stretch>
                  <a:fillRect/>
                </a:stretch>
              </p:blipFill>
              <p:spPr>
                <a:xfrm>
                  <a:off x="20510610" y="12471570"/>
                  <a:ext cx="416880" cy="2944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48">
              <p14:nvContentPartPr>
                <p14:cNvPr id="39" name="Ink 38">
                  <a:extLst>
                    <a:ext uri="{FF2B5EF4-FFF2-40B4-BE49-F238E27FC236}">
                      <a16:creationId xmlns:a16="http://schemas.microsoft.com/office/drawing/2014/main" id="{C0D513F2-F732-F599-5CC8-67A79C2CAD35}"/>
                    </a:ext>
                  </a:extLst>
                </p14:cNvPr>
                <p14:cNvContentPartPr/>
                <p14:nvPr/>
              </p14:nvContentPartPr>
              <p14:xfrm>
                <a:off x="21126210" y="12230010"/>
                <a:ext cx="167400" cy="595800"/>
              </p14:xfrm>
            </p:contentPart>
          </mc:Choice>
          <mc:Fallback>
            <p:pic>
              <p:nvPicPr>
                <p:cNvPr id="39" name="Ink 38">
                  <a:extLst>
                    <a:ext uri="{FF2B5EF4-FFF2-40B4-BE49-F238E27FC236}">
                      <a16:creationId xmlns:a16="http://schemas.microsoft.com/office/drawing/2014/main" id="{C0D513F2-F732-F599-5CC8-67A79C2CAD35}"/>
                    </a:ext>
                  </a:extLst>
                </p:cNvPr>
                <p:cNvPicPr/>
                <p:nvPr/>
              </p:nvPicPr>
              <p:blipFill>
                <a:blip r:embed="rId49"/>
                <a:stretch>
                  <a:fillRect/>
                </a:stretch>
              </p:blipFill>
              <p:spPr>
                <a:xfrm>
                  <a:off x="21120090" y="12223890"/>
                  <a:ext cx="179640" cy="6080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0">
              <p14:nvContentPartPr>
                <p14:cNvPr id="40" name="Ink 39">
                  <a:extLst>
                    <a:ext uri="{FF2B5EF4-FFF2-40B4-BE49-F238E27FC236}">
                      <a16:creationId xmlns:a16="http://schemas.microsoft.com/office/drawing/2014/main" id="{E297E648-3F31-9858-7812-8309C330CBB0}"/>
                    </a:ext>
                  </a:extLst>
                </p14:cNvPr>
                <p14:cNvContentPartPr/>
                <p14:nvPr/>
              </p14:nvContentPartPr>
              <p14:xfrm>
                <a:off x="21354810" y="12526650"/>
                <a:ext cx="207000" cy="244440"/>
              </p14:xfrm>
            </p:contentPart>
          </mc:Choice>
          <mc:Fallback>
            <p:pic>
              <p:nvPicPr>
                <p:cNvPr id="40" name="Ink 39">
                  <a:extLst>
                    <a:ext uri="{FF2B5EF4-FFF2-40B4-BE49-F238E27FC236}">
                      <a16:creationId xmlns:a16="http://schemas.microsoft.com/office/drawing/2014/main" id="{E297E648-3F31-9858-7812-8309C330CBB0}"/>
                    </a:ext>
                  </a:extLst>
                </p:cNvPr>
                <p:cNvPicPr/>
                <p:nvPr/>
              </p:nvPicPr>
              <p:blipFill>
                <a:blip r:embed="rId51"/>
                <a:stretch>
                  <a:fillRect/>
                </a:stretch>
              </p:blipFill>
              <p:spPr>
                <a:xfrm>
                  <a:off x="21348690" y="12520530"/>
                  <a:ext cx="219240" cy="256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2">
              <p14:nvContentPartPr>
                <p14:cNvPr id="41" name="Ink 40">
                  <a:extLst>
                    <a:ext uri="{FF2B5EF4-FFF2-40B4-BE49-F238E27FC236}">
                      <a16:creationId xmlns:a16="http://schemas.microsoft.com/office/drawing/2014/main" id="{C140DBB7-AB3A-EF4A-2D01-0772E5A3ABB9}"/>
                    </a:ext>
                  </a:extLst>
                </p14:cNvPr>
                <p14:cNvContentPartPr/>
                <p14:nvPr/>
              </p14:nvContentPartPr>
              <p14:xfrm>
                <a:off x="21575850" y="12591810"/>
                <a:ext cx="141480" cy="249120"/>
              </p14:xfrm>
            </p:contentPart>
          </mc:Choice>
          <mc:Fallback>
            <p:pic>
              <p:nvPicPr>
                <p:cNvPr id="41" name="Ink 40">
                  <a:extLst>
                    <a:ext uri="{FF2B5EF4-FFF2-40B4-BE49-F238E27FC236}">
                      <a16:creationId xmlns:a16="http://schemas.microsoft.com/office/drawing/2014/main" id="{C140DBB7-AB3A-EF4A-2D01-0772E5A3ABB9}"/>
                    </a:ext>
                  </a:extLst>
                </p:cNvPr>
                <p:cNvPicPr/>
                <p:nvPr/>
              </p:nvPicPr>
              <p:blipFill>
                <a:blip r:embed="rId53"/>
                <a:stretch>
                  <a:fillRect/>
                </a:stretch>
              </p:blipFill>
              <p:spPr>
                <a:xfrm>
                  <a:off x="21569730" y="12585690"/>
                  <a:ext cx="153720" cy="26136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4">
              <p14:nvContentPartPr>
                <p14:cNvPr id="42" name="Ink 41">
                  <a:extLst>
                    <a:ext uri="{FF2B5EF4-FFF2-40B4-BE49-F238E27FC236}">
                      <a16:creationId xmlns:a16="http://schemas.microsoft.com/office/drawing/2014/main" id="{9913B5B2-C544-D2C8-57DC-521E5F9076DC}"/>
                    </a:ext>
                  </a:extLst>
                </p14:cNvPr>
                <p14:cNvContentPartPr/>
                <p14:nvPr/>
              </p14:nvContentPartPr>
              <p14:xfrm>
                <a:off x="21678810" y="12134610"/>
                <a:ext cx="360" cy="611640"/>
              </p14:xfrm>
            </p:contentPart>
          </mc:Choice>
          <mc:Fallback>
            <p:pic>
              <p:nvPicPr>
                <p:cNvPr id="42" name="Ink 41">
                  <a:extLst>
                    <a:ext uri="{FF2B5EF4-FFF2-40B4-BE49-F238E27FC236}">
                      <a16:creationId xmlns:a16="http://schemas.microsoft.com/office/drawing/2014/main" id="{9913B5B2-C544-D2C8-57DC-521E5F9076DC}"/>
                    </a:ext>
                  </a:extLst>
                </p:cNvPr>
                <p:cNvPicPr/>
                <p:nvPr/>
              </p:nvPicPr>
              <p:blipFill>
                <a:blip r:embed="rId55"/>
                <a:stretch>
                  <a:fillRect/>
                </a:stretch>
              </p:blipFill>
              <p:spPr>
                <a:xfrm>
                  <a:off x="21672690" y="12128490"/>
                  <a:ext cx="12600" cy="6238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6">
              <p14:nvContentPartPr>
                <p14:cNvPr id="43" name="Ink 42">
                  <a:extLst>
                    <a:ext uri="{FF2B5EF4-FFF2-40B4-BE49-F238E27FC236}">
                      <a16:creationId xmlns:a16="http://schemas.microsoft.com/office/drawing/2014/main" id="{D3C9EA87-56E5-3F5D-A1D8-F71A4616270F}"/>
                    </a:ext>
                  </a:extLst>
                </p14:cNvPr>
                <p14:cNvContentPartPr/>
                <p14:nvPr/>
              </p14:nvContentPartPr>
              <p14:xfrm>
                <a:off x="21812010" y="12458610"/>
                <a:ext cx="11880" cy="118440"/>
              </p14:xfrm>
            </p:contentPart>
          </mc:Choice>
          <mc:Fallback>
            <p:pic>
              <p:nvPicPr>
                <p:cNvPr id="43" name="Ink 42">
                  <a:extLst>
                    <a:ext uri="{FF2B5EF4-FFF2-40B4-BE49-F238E27FC236}">
                      <a16:creationId xmlns:a16="http://schemas.microsoft.com/office/drawing/2014/main" id="{D3C9EA87-56E5-3F5D-A1D8-F71A4616270F}"/>
                    </a:ext>
                  </a:extLst>
                </p:cNvPr>
                <p:cNvPicPr/>
                <p:nvPr/>
              </p:nvPicPr>
              <p:blipFill>
                <a:blip r:embed="rId57"/>
                <a:stretch>
                  <a:fillRect/>
                </a:stretch>
              </p:blipFill>
              <p:spPr>
                <a:xfrm>
                  <a:off x="21805890" y="12452490"/>
                  <a:ext cx="24120" cy="13068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58">
              <p14:nvContentPartPr>
                <p14:cNvPr id="44" name="Ink 43">
                  <a:extLst>
                    <a:ext uri="{FF2B5EF4-FFF2-40B4-BE49-F238E27FC236}">
                      <a16:creationId xmlns:a16="http://schemas.microsoft.com/office/drawing/2014/main" id="{2E5F6F38-1D22-75BC-B0CC-07A526F21D20}"/>
                    </a:ext>
                  </a:extLst>
                </p14:cNvPr>
                <p14:cNvContentPartPr/>
                <p14:nvPr/>
              </p14:nvContentPartPr>
              <p14:xfrm>
                <a:off x="21773850" y="12706290"/>
                <a:ext cx="42120" cy="232200"/>
              </p14:xfrm>
            </p:contentPart>
          </mc:Choice>
          <mc:Fallback>
            <p:pic>
              <p:nvPicPr>
                <p:cNvPr id="44" name="Ink 43">
                  <a:extLst>
                    <a:ext uri="{FF2B5EF4-FFF2-40B4-BE49-F238E27FC236}">
                      <a16:creationId xmlns:a16="http://schemas.microsoft.com/office/drawing/2014/main" id="{2E5F6F38-1D22-75BC-B0CC-07A526F21D20}"/>
                    </a:ext>
                  </a:extLst>
                </p:cNvPr>
                <p:cNvPicPr/>
                <p:nvPr/>
              </p:nvPicPr>
              <p:blipFill>
                <a:blip r:embed="rId59"/>
                <a:stretch>
                  <a:fillRect/>
                </a:stretch>
              </p:blipFill>
              <p:spPr>
                <a:xfrm>
                  <a:off x="21767730" y="12700170"/>
                  <a:ext cx="54360" cy="2444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0">
              <p14:nvContentPartPr>
                <p14:cNvPr id="45" name="Ink 44">
                  <a:extLst>
                    <a:ext uri="{FF2B5EF4-FFF2-40B4-BE49-F238E27FC236}">
                      <a16:creationId xmlns:a16="http://schemas.microsoft.com/office/drawing/2014/main" id="{3C3450C1-E380-D899-EE84-9375151D49BB}"/>
                    </a:ext>
                  </a:extLst>
                </p14:cNvPr>
                <p14:cNvContentPartPr/>
                <p14:nvPr/>
              </p14:nvContentPartPr>
              <p14:xfrm>
                <a:off x="21983370" y="12668130"/>
                <a:ext cx="182160" cy="201600"/>
              </p14:xfrm>
            </p:contentPart>
          </mc:Choice>
          <mc:Fallback>
            <p:pic>
              <p:nvPicPr>
                <p:cNvPr id="45" name="Ink 44">
                  <a:extLst>
                    <a:ext uri="{FF2B5EF4-FFF2-40B4-BE49-F238E27FC236}">
                      <a16:creationId xmlns:a16="http://schemas.microsoft.com/office/drawing/2014/main" id="{3C3450C1-E380-D899-EE84-9375151D49BB}"/>
                    </a:ext>
                  </a:extLst>
                </p:cNvPr>
                <p:cNvPicPr/>
                <p:nvPr/>
              </p:nvPicPr>
              <p:blipFill>
                <a:blip r:embed="rId61"/>
                <a:stretch>
                  <a:fillRect/>
                </a:stretch>
              </p:blipFill>
              <p:spPr>
                <a:xfrm>
                  <a:off x="21977250" y="12662010"/>
                  <a:ext cx="194400" cy="21384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62">
              <p14:nvContentPartPr>
                <p14:cNvPr id="46" name="Ink 45">
                  <a:extLst>
                    <a:ext uri="{FF2B5EF4-FFF2-40B4-BE49-F238E27FC236}">
                      <a16:creationId xmlns:a16="http://schemas.microsoft.com/office/drawing/2014/main" id="{FA7379EC-A2B6-DC8B-8DBF-89E1E735BDFE}"/>
                    </a:ext>
                  </a:extLst>
                </p14:cNvPr>
                <p14:cNvContentPartPr/>
                <p14:nvPr/>
              </p14:nvContentPartPr>
              <p14:xfrm>
                <a:off x="22308450" y="12687210"/>
                <a:ext cx="98640" cy="590040"/>
              </p14:xfrm>
            </p:contentPart>
          </mc:Choice>
          <mc:Fallback>
            <p:pic>
              <p:nvPicPr>
                <p:cNvPr id="46" name="Ink 45">
                  <a:extLst>
                    <a:ext uri="{FF2B5EF4-FFF2-40B4-BE49-F238E27FC236}">
                      <a16:creationId xmlns:a16="http://schemas.microsoft.com/office/drawing/2014/main" id="{FA7379EC-A2B6-DC8B-8DBF-89E1E735BDFE}"/>
                    </a:ext>
                  </a:extLst>
                </p:cNvPr>
                <p:cNvPicPr/>
                <p:nvPr/>
              </p:nvPicPr>
              <p:blipFill>
                <a:blip r:embed="rId63"/>
                <a:stretch>
                  <a:fillRect/>
                </a:stretch>
              </p:blipFill>
              <p:spPr>
                <a:xfrm>
                  <a:off x="22302330" y="12681090"/>
                  <a:ext cx="110880" cy="602280"/>
                </a:xfrm>
                <a:prstGeom prst="rect">
                  <a:avLst/>
                </a:prstGeom>
              </p:spPr>
            </p:pic>
          </mc:Fallback>
        </mc:AlternateContent>
      </p:grpSp>
      <mc:AlternateContent xmlns:mc="http://schemas.openxmlformats.org/markup-compatibility/2006">
        <mc:Choice xmlns:p14="http://schemas.microsoft.com/office/powerpoint/2010/main" Requires="p14">
          <p:contentPart p14:bwMode="auto" r:id="rId6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1BA43977-07C1-C4DB-6EDB-858370D0B441}"/>
                  </a:ext>
                </a:extLst>
              </p14:cNvPr>
              <p14:cNvContentPartPr/>
              <p14:nvPr/>
            </p14:nvContentPartPr>
            <p14:xfrm>
              <a:off x="22624170" y="12553650"/>
              <a:ext cx="163440" cy="385920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1BA43977-07C1-C4DB-6EDB-858370D0B441}"/>
                  </a:ext>
                </a:extLst>
              </p:cNvPr>
              <p:cNvPicPr/>
              <p:nvPr/>
            </p:nvPicPr>
            <p:blipFill>
              <a:blip r:embed="rId65"/>
              <a:stretch>
                <a:fillRect/>
              </a:stretch>
            </p:blipFill>
            <p:spPr>
              <a:xfrm>
                <a:off x="22618050" y="12547530"/>
                <a:ext cx="175680" cy="398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Words in sentenc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Words in sentences</a:t>
            </a:r>
          </a:p>
        </p:txBody>
      </p:sp>
      <p:pic>
        <p:nvPicPr>
          <p:cNvPr id="260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6749" y="3446273"/>
            <a:ext cx="6839442" cy="4436395"/>
          </a:xfrm>
          <a:prstGeom prst="rect">
            <a:avLst/>
          </a:prstGeom>
          <a:ln w="12700">
            <a:miter lim="400000"/>
          </a:ln>
        </p:spPr>
      </p:pic>
      <p:pic>
        <p:nvPicPr>
          <p:cNvPr id="261" name="pasted-movie.png" descr="pasted-movi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68207" y="3651209"/>
            <a:ext cx="6226925" cy="4297456"/>
          </a:xfrm>
          <a:prstGeom prst="rect">
            <a:avLst/>
          </a:prstGeom>
          <a:ln w="12700">
            <a:miter lim="400000"/>
          </a:ln>
        </p:spPr>
      </p:pic>
      <p:sp>
        <p:nvSpPr>
          <p:cNvPr id="262" name="https://phontron.com/class/anlp2024/assets/slides/anlp-02-wordrep-textclass.pdf"/>
          <p:cNvSpPr txBox="1"/>
          <p:nvPr/>
        </p:nvSpPr>
        <p:spPr>
          <a:xfrm>
            <a:off x="5199685" y="13087383"/>
            <a:ext cx="1129223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 sz="2400">
                <a:solidFill>
                  <a:srgbClr val="5E5E5E"/>
                </a:solidFill>
              </a:defRPr>
            </a:lvl1pPr>
          </a:lstStyle>
          <a:p>
            <a:r>
              <a:t>https://phontron.com/class/anlp2024/assets/slides/anlp-02-wordrep-textclass.pdf</a:t>
            </a:r>
          </a:p>
        </p:txBody>
      </p:sp>
      <p:sp>
        <p:nvSpPr>
          <p:cNvPr id="263" name="Arrow"/>
          <p:cNvSpPr/>
          <p:nvPr/>
        </p:nvSpPr>
        <p:spPr>
          <a:xfrm rot="5400000">
            <a:off x="15790333" y="8528156"/>
            <a:ext cx="1642535" cy="643468"/>
          </a:xfrm>
          <a:prstGeom prst="rightArrow">
            <a:avLst>
              <a:gd name="adj1" fmla="val 42526"/>
              <a:gd name="adj2" fmla="val 73684"/>
            </a:avLst>
          </a:prstGeom>
          <a:solidFill>
            <a:srgbClr val="92929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264" name="pasted-movie.png" descr="pasted-movi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105467" y="10074438"/>
            <a:ext cx="5012268" cy="135466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Neural network that produces contextual embeddings"/>
          <p:cNvSpPr txBox="1"/>
          <p:nvPr/>
        </p:nvSpPr>
        <p:spPr>
          <a:xfrm>
            <a:off x="17398745" y="7792457"/>
            <a:ext cx="6469042" cy="2114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lvl="1" indent="457200" algn="l" defTabSz="2438338">
              <a:lnSpc>
                <a:spcPct val="90000"/>
              </a:lnSpc>
              <a:spcBef>
                <a:spcPts val="4500"/>
              </a:spcBef>
              <a:defRPr sz="4800"/>
            </a:pPr>
            <a:r>
              <a:t>Neural network that produces contextual embeddings</a:t>
            </a: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Looking up embedding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Looking up embeddings</a:t>
            </a:r>
          </a:p>
        </p:txBody>
      </p:sp>
      <p:pic>
        <p:nvPicPr>
          <p:cNvPr id="269" name="pasted-movie.png" descr="pasted-movi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40741" y="5498896"/>
            <a:ext cx="6226925" cy="4297455"/>
          </a:xfrm>
          <a:prstGeom prst="rect">
            <a:avLst/>
          </a:prstGeom>
          <a:ln w="12700">
            <a:miter lim="400000"/>
          </a:ln>
        </p:spPr>
      </p:pic>
      <p:pic>
        <p:nvPicPr>
          <p:cNvPr id="270" name="pasted-movie.png" descr="pasted-movie.png"/>
          <p:cNvPicPr>
            <a:picLocks noChangeAspect="1"/>
          </p:cNvPicPr>
          <p:nvPr/>
        </p:nvPicPr>
        <p:blipFill>
          <a:blip r:embed="rId3"/>
          <a:srcRect l="4538" t="33733" r="21005"/>
          <a:stretch>
            <a:fillRect/>
          </a:stretch>
        </p:blipFill>
        <p:spPr>
          <a:xfrm>
            <a:off x="9971486" y="4798593"/>
            <a:ext cx="9723301" cy="3093578"/>
          </a:xfrm>
          <a:prstGeom prst="rect">
            <a:avLst/>
          </a:prstGeom>
          <a:ln w="12700">
            <a:miter lim="400000"/>
          </a:ln>
        </p:spPr>
      </p:pic>
      <p:pic>
        <p:nvPicPr>
          <p:cNvPr id="271" name="pasted-movie.png" descr="pasted-movie.png"/>
          <p:cNvPicPr>
            <a:picLocks noChangeAspect="1"/>
          </p:cNvPicPr>
          <p:nvPr/>
        </p:nvPicPr>
        <p:blipFill>
          <a:blip r:embed="rId4"/>
          <a:srcRect l="4649" t="30481" r="20326"/>
          <a:stretch>
            <a:fillRect/>
          </a:stretch>
        </p:blipFill>
        <p:spPr>
          <a:xfrm>
            <a:off x="10052052" y="10286277"/>
            <a:ext cx="9562430" cy="2896477"/>
          </a:xfrm>
          <a:prstGeom prst="rect">
            <a:avLst/>
          </a:prstGeom>
          <a:ln w="12700">
            <a:miter lim="400000"/>
          </a:ln>
        </p:spPr>
      </p:pic>
      <p:sp>
        <p:nvSpPr>
          <p:cNvPr id="272" name="Can also view lookup as multiplying by a “one-hot” vector"/>
          <p:cNvSpPr txBox="1"/>
          <p:nvPr/>
        </p:nvSpPr>
        <p:spPr>
          <a:xfrm>
            <a:off x="8300640" y="8358431"/>
            <a:ext cx="10592919" cy="14616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1219200" lvl="1" indent="-609600" algn="l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/>
            </a:pPr>
            <a:r>
              <a:t>Can also view lookup as multiplying by a “one-hot” vector</a:t>
            </a:r>
          </a:p>
        </p:txBody>
      </p:sp>
      <p:sp>
        <p:nvSpPr>
          <p:cNvPr id="273" name="Lookup: grabbing a vector from a big matrix of word embeddings"/>
          <p:cNvSpPr txBox="1"/>
          <p:nvPr/>
        </p:nvSpPr>
        <p:spPr>
          <a:xfrm>
            <a:off x="8359906" y="3322343"/>
            <a:ext cx="13281322" cy="14616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50800" tIns="50800" rIns="50800" bIns="50800" anchor="ctr">
            <a:spAutoFit/>
          </a:bodyPr>
          <a:lstStyle/>
          <a:p>
            <a:pPr marL="1219200" lvl="1" indent="-609600" algn="l" defTabSz="2438338">
              <a:lnSpc>
                <a:spcPct val="90000"/>
              </a:lnSpc>
              <a:spcBef>
                <a:spcPts val="4500"/>
              </a:spcBef>
              <a:buSzPct val="123000"/>
              <a:buChar char="•"/>
              <a:defRPr sz="4800"/>
            </a:pPr>
            <a:r>
              <a:t>Lookup: grabbing a vector from a big matrix of word embeddings</a:t>
            </a:r>
          </a:p>
        </p:txBody>
      </p:sp>
      <p:sp>
        <p:nvSpPr>
          <p:cNvPr id="274" name="Typically faster"/>
          <p:cNvSpPr txBox="1"/>
          <p:nvPr/>
        </p:nvSpPr>
        <p:spPr>
          <a:xfrm>
            <a:off x="20421955" y="6059003"/>
            <a:ext cx="2793290" cy="5728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 sz="3200">
                <a:solidFill>
                  <a:srgbClr val="5E5E5E"/>
                </a:solidFill>
              </a:defRPr>
            </a:lvl1pPr>
          </a:lstStyle>
          <a:p>
            <a:r>
              <a:t>Typically faster</a:t>
            </a:r>
          </a:p>
        </p:txBody>
      </p:sp>
      <p:sp>
        <p:nvSpPr>
          <p:cNvPr id="275" name="https://phontron.com/class/anlp2024/assets/slides/anlp-02-wordrep-textclass.pdf"/>
          <p:cNvSpPr txBox="1"/>
          <p:nvPr/>
        </p:nvSpPr>
        <p:spPr>
          <a:xfrm>
            <a:off x="5199685" y="13087383"/>
            <a:ext cx="11292231" cy="4613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50800" tIns="50800" rIns="50800" bIns="50800" anchor="ctr">
            <a:spAutoFit/>
          </a:bodyPr>
          <a:lstStyle>
            <a:lvl1pPr defTabSz="2438338">
              <a:defRPr sz="2400">
                <a:solidFill>
                  <a:srgbClr val="5E5E5E"/>
                </a:solidFill>
              </a:defRPr>
            </a:lvl1pPr>
          </a:lstStyle>
          <a:p>
            <a:r>
              <a:t>https://phontron.com/class/anlp2024/assets/slides/anlp-02-wordrep-textclass.pdf</a:t>
            </a:r>
          </a:p>
        </p:txBody>
      </p:sp>
      <p:sp>
        <p:nvSpPr>
          <p:cNvPr id="276" name="Arrow"/>
          <p:cNvSpPr/>
          <p:nvPr/>
        </p:nvSpPr>
        <p:spPr>
          <a:xfrm>
            <a:off x="7222066" y="7478290"/>
            <a:ext cx="1642535" cy="643467"/>
          </a:xfrm>
          <a:prstGeom prst="rightArrow">
            <a:avLst>
              <a:gd name="adj1" fmla="val 42526"/>
              <a:gd name="adj2" fmla="val 73684"/>
            </a:avLst>
          </a:prstGeom>
          <a:solidFill>
            <a:srgbClr val="929292"/>
          </a:solidFill>
          <a:ln w="12700">
            <a:miter lim="400000"/>
          </a:ln>
        </p:spPr>
        <p:txBody>
          <a:bodyPr lIns="50800" tIns="50800" rIns="50800" bIns="50800" anchor="ctr"/>
          <a:lstStyle/>
          <a:p>
            <a:pPr defTabSz="825500">
              <a:defRPr sz="32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Where do these word embeddings come from?"/>
          <p:cNvSpPr txBox="1">
            <a:spLocks noGrp="1"/>
          </p:cNvSpPr>
          <p:nvPr>
            <p:ph type="title"/>
          </p:nvPr>
        </p:nvSpPr>
        <p:spPr>
          <a:xfrm>
            <a:off x="4271980" y="5149307"/>
            <a:ext cx="15609095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Where do these word embeddings come from?</a:t>
            </a:r>
          </a:p>
        </p:txBody>
      </p:sp>
      <p:sp>
        <p:nvSpPr>
          <p:cNvPr id="27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31776" y="13073062"/>
            <a:ext cx="310923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9</a:t>
            </a:fld>
            <a:endParaRPr/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Task specific trai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Task specific training</a:t>
            </a:r>
          </a:p>
        </p:txBody>
      </p:sp>
      <p:sp>
        <p:nvSpPr>
          <p:cNvPr id="282" name="Assume you have annotated data specific to a task…"/>
          <p:cNvSpPr txBox="1"/>
          <p:nvPr/>
        </p:nvSpPr>
        <p:spPr>
          <a:xfrm>
            <a:off x="715548" y="4001719"/>
            <a:ext cx="9992338" cy="823498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Assume you have annotated data specific to a task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Initialize with random vectors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Lookup table from word to vector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Train your classifier 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Classifier parameters are updated during training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These parameters include the word vectors!</a:t>
            </a:r>
          </a:p>
          <a:p>
            <a:pPr marL="1047750" lvl="1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After training, you get word vectors that are good for your task!</a:t>
            </a:r>
          </a:p>
        </p:txBody>
      </p:sp>
      <p:pic>
        <p:nvPicPr>
          <p:cNvPr id="283" name="Image" descr="Image"/>
          <p:cNvPicPr>
            <a:picLocks noChangeAspect="1"/>
          </p:cNvPicPr>
          <p:nvPr/>
        </p:nvPicPr>
        <p:blipFill>
          <a:blip r:embed="rId2"/>
          <a:srcRect t="9681"/>
          <a:stretch>
            <a:fillRect/>
          </a:stretch>
        </p:blipFill>
        <p:spPr>
          <a:xfrm>
            <a:off x="11725339" y="6992391"/>
            <a:ext cx="8959105" cy="57335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437382" y="3112807"/>
            <a:ext cx="9534971" cy="414564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2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8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0" fill="hold"/>
                                        <p:tgtEl>
                                          <p:spTgt spid="28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28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28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28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" grpId="0" build="p" bldLvl="5" animBg="1" advAuto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Pretraining and task-specific fine-tun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Pretraining and task-specific fine-tuning</a:t>
            </a:r>
          </a:p>
        </p:txBody>
      </p:sp>
      <p:sp>
        <p:nvSpPr>
          <p:cNvPr id="287" name="Task-specific fine-tuning…"/>
          <p:cNvSpPr txBox="1">
            <a:spLocks noGrp="1"/>
          </p:cNvSpPr>
          <p:nvPr>
            <p:ph type="body" sz="quarter" idx="1"/>
          </p:nvPr>
        </p:nvSpPr>
        <p:spPr>
          <a:xfrm>
            <a:off x="14938781" y="3152731"/>
            <a:ext cx="7799570" cy="3517600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spcBef>
                <a:spcPts val="0"/>
              </a:spcBef>
              <a:buSzTx/>
              <a:buNone/>
              <a:defRPr sz="4800"/>
            </a:pPr>
            <a:r>
              <a:t>Task-specific fine-tuning</a:t>
            </a:r>
          </a:p>
          <a:p>
            <a:r>
              <a:t>Annotated data specific to a task (usually small)</a:t>
            </a:r>
          </a:p>
          <a:p>
            <a:r>
              <a:t>Initialize with pre-trained model</a:t>
            </a:r>
          </a:p>
        </p:txBody>
      </p:sp>
      <p:pic>
        <p:nvPicPr>
          <p:cNvPr id="288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93135" y="7328151"/>
            <a:ext cx="7034080" cy="4837318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34986" y="7701342"/>
            <a:ext cx="7491994" cy="3941101"/>
          </a:xfrm>
          <a:prstGeom prst="rect">
            <a:avLst/>
          </a:prstGeom>
          <a:ln w="12700">
            <a:miter lim="400000"/>
          </a:ln>
        </p:spPr>
      </p:pic>
      <p:sp>
        <p:nvSpPr>
          <p:cNvPr id="290" name="Pretraining…"/>
          <p:cNvSpPr txBox="1"/>
          <p:nvPr/>
        </p:nvSpPr>
        <p:spPr>
          <a:xfrm>
            <a:off x="2593000" y="3015897"/>
            <a:ext cx="8035962" cy="379126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457200">
              <a:defRPr sz="4800">
                <a:latin typeface="Georgia"/>
                <a:ea typeface="Georgia"/>
                <a:cs typeface="Georgia"/>
                <a:sym typeface="Georgia"/>
              </a:defRPr>
            </a:pPr>
            <a:r>
              <a:t>Pretraining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Big pile of unlabeled text data!</a:t>
            </a:r>
          </a:p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Lots of resources to train!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7" grpId="0" animBg="1" advAuto="0"/>
      <p:bldP spid="289" grpId="0" animBg="1" advAuto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Summary of three option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6417730" cy="3036095"/>
          </a:xfrm>
          <a:prstGeom prst="rect">
            <a:avLst/>
          </a:prstGeom>
        </p:spPr>
        <p:txBody>
          <a:bodyPr/>
          <a:lstStyle/>
          <a:p>
            <a:r>
              <a:t>Summary of three options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12</a:t>
            </a:fld>
            <a:endParaRPr/>
          </a:p>
        </p:txBody>
      </p:sp>
      <p:sp>
        <p:nvSpPr>
          <p:cNvPr id="294" name="Random + train - Initialize with random embeddings and learn them when you train your classifier.…"/>
          <p:cNvSpPr txBox="1">
            <a:spLocks noGrp="1"/>
          </p:cNvSpPr>
          <p:nvPr>
            <p:ph type="body" sz="half" idx="1"/>
          </p:nvPr>
        </p:nvSpPr>
        <p:spPr>
          <a:xfrm>
            <a:off x="1912839" y="3558720"/>
            <a:ext cx="10815804" cy="7974832"/>
          </a:xfrm>
          <a:prstGeom prst="rect">
            <a:avLst/>
          </a:prstGeom>
        </p:spPr>
        <p:txBody>
          <a:bodyPr/>
          <a:lstStyle/>
          <a:p>
            <a:pPr>
              <a:defRPr sz="4400"/>
            </a:pPr>
            <a:r>
              <a:rPr b="1" dirty="0"/>
              <a:t>Random + train</a:t>
            </a:r>
            <a:r>
              <a:rPr dirty="0"/>
              <a:t> - Initialize with random embeddings and learn them when you train your classifier. </a:t>
            </a:r>
          </a:p>
          <a:p>
            <a:pPr>
              <a:defRPr sz="4400"/>
            </a:pPr>
            <a:r>
              <a:rPr b="1" dirty="0"/>
              <a:t>Pretrain + fixed</a:t>
            </a:r>
            <a:r>
              <a:rPr dirty="0"/>
              <a:t> - Initialize with pretrained embeddings + keep them fixed </a:t>
            </a:r>
          </a:p>
          <a:p>
            <a:pPr>
              <a:defRPr sz="4400"/>
            </a:pPr>
            <a:r>
              <a:rPr b="1" dirty="0"/>
              <a:t>Pretrain + fine-tune</a:t>
            </a:r>
            <a:r>
              <a:rPr dirty="0"/>
              <a:t> - Initialize with pretrained embeddings and then allow embedding weights to change as classifier is trained</a:t>
            </a:r>
          </a:p>
        </p:txBody>
      </p:sp>
      <p:pic>
        <p:nvPicPr>
          <p:cNvPr id="295" name="Image" descr="Image"/>
          <p:cNvPicPr>
            <a:picLocks noChangeAspect="1"/>
          </p:cNvPicPr>
          <p:nvPr/>
        </p:nvPicPr>
        <p:blipFill>
          <a:blip r:embed="rId2"/>
          <a:srcRect t="9681"/>
          <a:stretch>
            <a:fillRect/>
          </a:stretch>
        </p:blipFill>
        <p:spPr>
          <a:xfrm>
            <a:off x="13857933" y="4441376"/>
            <a:ext cx="8959106" cy="5733556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9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2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29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29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4" grpId="0" build="p" bldLvl="5" animBg="1" advAuto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Neural Networks with…"/>
          <p:cNvSpPr txBox="1">
            <a:spLocks noGrp="1"/>
          </p:cNvSpPr>
          <p:nvPr>
            <p:ph type="title"/>
          </p:nvPr>
        </p:nvSpPr>
        <p:spPr>
          <a:xfrm>
            <a:off x="4271980" y="5149307"/>
            <a:ext cx="15609095" cy="3036095"/>
          </a:xfrm>
          <a:prstGeom prst="rect">
            <a:avLst/>
          </a:prstGeom>
        </p:spPr>
        <p:txBody>
          <a:bodyPr/>
          <a:lstStyle/>
          <a:p>
            <a:pPr>
              <a:defRPr sz="8400"/>
            </a:pPr>
            <a:r>
              <a:t>Neural Networks with</a:t>
            </a:r>
          </a:p>
          <a:p>
            <a:pPr>
              <a:defRPr sz="8400"/>
            </a:pPr>
            <a:r>
              <a:t>Word Embeddings</a:t>
            </a:r>
          </a:p>
        </p:txBody>
      </p:sp>
      <p:sp>
        <p:nvSpPr>
          <p:cNvPr id="29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13</a:t>
            </a:fld>
            <a:endParaRPr/>
          </a:p>
        </p:txBody>
      </p:sp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Statistical LM (n-grams) - used from 1990s to early 2010s…"/>
          <p:cNvSpPr txBox="1"/>
          <p:nvPr/>
        </p:nvSpPr>
        <p:spPr>
          <a:xfrm>
            <a:off x="1067720" y="5732357"/>
            <a:ext cx="18196445" cy="7678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4000"/>
            </a:pPr>
            <a:r>
              <a:rPr dirty="0"/>
              <a:t>Statistical LM (n-grams) - used from 1990s to early 2010s</a:t>
            </a:r>
          </a:p>
          <a:p>
            <a:pPr algn="l">
              <a:lnSpc>
                <a:spcPct val="120000"/>
              </a:lnSpc>
              <a:spcBef>
                <a:spcPts val="4000"/>
              </a:spcBef>
              <a:defRPr sz="4000"/>
            </a:pPr>
            <a:r>
              <a:rPr dirty="0"/>
              <a:t>     </a:t>
            </a:r>
          </a:p>
          <a:p>
            <a:pPr algn="l">
              <a:lnSpc>
                <a:spcPct val="120000"/>
              </a:lnSpc>
              <a:spcBef>
                <a:spcPts val="4000"/>
              </a:spcBef>
              <a:defRPr sz="4000"/>
            </a:pPr>
            <a:r>
              <a:rPr dirty="0"/>
              <a:t>Neural LM: introduced in 2003, popularized in 2010s</a:t>
            </a:r>
          </a:p>
          <a:p>
            <a:pPr algn="l">
              <a:lnSpc>
                <a:spcPct val="120000"/>
              </a:lnSpc>
              <a:spcBef>
                <a:spcPts val="4000"/>
              </a:spcBef>
              <a:defRPr sz="4000"/>
            </a:pPr>
            <a:r>
              <a:rPr dirty="0"/>
              <a:t>   Large language models (2020s): </a:t>
            </a:r>
          </a:p>
          <a:p>
            <a:pPr marL="1000125" lvl="1" indent="-555625" algn="l">
              <a:lnSpc>
                <a:spcPct val="120000"/>
              </a:lnSpc>
              <a:spcBef>
                <a:spcPts val="1000"/>
              </a:spcBef>
              <a:buSzPct val="145000"/>
              <a:buChar char="•"/>
              <a:defRPr sz="4000"/>
            </a:pPr>
            <a:r>
              <a:rPr dirty="0"/>
              <a:t>train with large amount of data (2020s)  </a:t>
            </a:r>
          </a:p>
        </p:txBody>
      </p:sp>
      <p:pic>
        <p:nvPicPr>
          <p:cNvPr id="30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4620" y="5054303"/>
            <a:ext cx="7827318" cy="614542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7720" y="4298844"/>
            <a:ext cx="11183349" cy="691947"/>
          </a:xfrm>
          <a:prstGeom prst="rect">
            <a:avLst/>
          </a:prstGeom>
          <a:ln w="12700">
            <a:miter lim="400000"/>
          </a:ln>
        </p:spPr>
      </p:pic>
      <p:sp>
        <p:nvSpPr>
          <p:cNvPr id="303" name="Estimating the probability of the next word"/>
          <p:cNvSpPr txBox="1">
            <a:spLocks noGrp="1"/>
          </p:cNvSpPr>
          <p:nvPr>
            <p:ph type="title"/>
          </p:nvPr>
        </p:nvSpPr>
        <p:spPr>
          <a:xfrm>
            <a:off x="2814291" y="377356"/>
            <a:ext cx="19451712" cy="2232151"/>
          </a:xfrm>
          <a:prstGeom prst="rect">
            <a:avLst/>
          </a:prstGeom>
        </p:spPr>
        <p:txBody>
          <a:bodyPr/>
          <a:lstStyle/>
          <a:p>
            <a:r>
              <a:t>Estimating the probability of the next word</a:t>
            </a:r>
          </a:p>
        </p:txBody>
      </p:sp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/>
          <a:lstStyle/>
          <a:p>
            <a:fld id="{86CB4B4D-7CA3-9044-876B-883B54F8677D}" type="slidenum">
              <a:t>14</a:t>
            </a:fld>
            <a:endParaRPr/>
          </a:p>
        </p:txBody>
      </p:sp>
      <p:pic>
        <p:nvPicPr>
          <p:cNvPr id="30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9872" y="2800454"/>
            <a:ext cx="9764257" cy="1686263"/>
          </a:xfrm>
          <a:prstGeom prst="rect">
            <a:avLst/>
          </a:prstGeom>
          <a:ln w="12700">
            <a:miter lim="400000"/>
          </a:ln>
        </p:spPr>
      </p:pic>
      <p:sp>
        <p:nvSpPr>
          <p:cNvPr id="306" name="Rectangle"/>
          <p:cNvSpPr/>
          <p:nvPr/>
        </p:nvSpPr>
        <p:spPr>
          <a:xfrm>
            <a:off x="1034620" y="8326578"/>
            <a:ext cx="12414480" cy="3312971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309" name="Group"/>
          <p:cNvGrpSpPr/>
          <p:nvPr/>
        </p:nvGrpSpPr>
        <p:grpSpPr>
          <a:xfrm>
            <a:off x="14925772" y="5163042"/>
            <a:ext cx="9295710" cy="7371583"/>
            <a:chOff x="0" y="0"/>
            <a:chExt cx="9295708" cy="7371581"/>
          </a:xfrm>
        </p:grpSpPr>
        <p:sp>
          <p:nvSpPr>
            <p:cNvPr id="307" name="Use neural network to encode the history and then estimate the probability of the next word…"/>
            <p:cNvSpPr txBox="1"/>
            <p:nvPr/>
          </p:nvSpPr>
          <p:spPr>
            <a:xfrm>
              <a:off x="0" y="2621552"/>
              <a:ext cx="9295709" cy="475003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/>
            <a:p>
              <a:pPr algn="l"/>
              <a:r>
                <a:rPr dirty="0"/>
                <a:t>Use </a:t>
              </a:r>
              <a:r>
                <a:rPr dirty="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rPr>
                <a:t>neural network</a:t>
              </a:r>
              <a:r>
                <a:rPr dirty="0"/>
                <a:t> to encode the history and then estimate the probability of the next word</a:t>
              </a:r>
            </a:p>
            <a:p>
              <a:pPr algn="l"/>
              <a:endParaRPr dirty="0"/>
            </a:p>
            <a:p>
              <a:pPr algn="l"/>
              <a:r>
                <a:rPr dirty="0"/>
                <a:t>Word representations</a:t>
              </a:r>
              <a:br>
                <a:rPr dirty="0"/>
              </a:br>
              <a:r>
                <a:rPr dirty="0"/>
                <a:t>- </a:t>
              </a:r>
              <a:r>
                <a:rPr dirty="0">
                  <a:solidFill>
                    <a:schemeClr val="accent4">
                      <a:hueOff val="-1081314"/>
                      <a:satOff val="4338"/>
                      <a:lumOff val="-8931"/>
                    </a:schemeClr>
                  </a:solidFill>
                </a:rPr>
                <a:t>continuous</a:t>
              </a:r>
              <a:r>
                <a:rPr dirty="0"/>
                <a:t> vector representations</a:t>
              </a:r>
            </a:p>
            <a:p>
              <a:pPr algn="l"/>
              <a:r>
                <a:rPr dirty="0"/>
                <a:t>- learned from lots of data</a:t>
              </a:r>
            </a:p>
          </p:txBody>
        </p:sp>
        <p:pic>
          <p:nvPicPr>
            <p:cNvPr id="308" name="Picture 4" descr="Picture 4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159735" y="0"/>
              <a:ext cx="3943896" cy="237472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310" name="Rectangle"/>
          <p:cNvSpPr/>
          <p:nvPr/>
        </p:nvSpPr>
        <p:spPr>
          <a:xfrm>
            <a:off x="14543988" y="5024578"/>
            <a:ext cx="9541534" cy="8050727"/>
          </a:xfrm>
          <a:prstGeom prst="rect">
            <a:avLst/>
          </a:prstGeom>
          <a:ln w="63500">
            <a:solidFill>
              <a:schemeClr val="accent4">
                <a:hueOff val="-1081314"/>
                <a:satOff val="4338"/>
                <a:lumOff val="-8931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6" grpId="0" animBg="1" advAuto="0"/>
      <p:bldP spid="309" grpId="0" animBg="1" advAuto="0"/>
      <p:bldP spid="310" grpId="0" animBg="1" advAuto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Language modelling with neural networks"/>
          <p:cNvSpPr txBox="1">
            <a:spLocks noGrp="1"/>
          </p:cNvSpPr>
          <p:nvPr>
            <p:ph type="title"/>
          </p:nvPr>
        </p:nvSpPr>
        <p:spPr>
          <a:xfrm>
            <a:off x="4387453" y="181482"/>
            <a:ext cx="15609094" cy="180003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796885">
              <a:defRPr sz="7178"/>
            </a:lvl1pPr>
          </a:lstStyle>
          <a:p>
            <a:r>
              <a:t>Language modelling with neural networks</a:t>
            </a:r>
          </a:p>
        </p:txBody>
      </p:sp>
      <p:sp>
        <p:nvSpPr>
          <p:cNvPr id="315" name="Words are represented as continuous word embeddings…"/>
          <p:cNvSpPr txBox="1">
            <a:spLocks noGrp="1"/>
          </p:cNvSpPr>
          <p:nvPr>
            <p:ph type="body" idx="1"/>
          </p:nvPr>
        </p:nvSpPr>
        <p:spPr>
          <a:xfrm>
            <a:off x="2103283" y="587674"/>
            <a:ext cx="13634468" cy="10417105"/>
          </a:xfrm>
          <a:prstGeom prst="rect">
            <a:avLst/>
          </a:prstGeom>
        </p:spPr>
        <p:txBody>
          <a:bodyPr/>
          <a:lstStyle/>
          <a:p>
            <a:r>
              <a:rPr dirty="0"/>
              <a:t>Words are represented as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continuous</a:t>
            </a:r>
            <a:r>
              <a:rPr dirty="0"/>
              <a:t> word embeddings</a:t>
            </a:r>
          </a:p>
          <a:p>
            <a:endParaRPr dirty="0"/>
          </a:p>
          <a:p>
            <a:r>
              <a:rPr dirty="0"/>
              <a:t>Parameters are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weights</a:t>
            </a:r>
            <a:r>
              <a:rPr dirty="0"/>
              <a:t> of the neural network</a:t>
            </a:r>
          </a:p>
          <a:p>
            <a:endParaRPr dirty="0"/>
          </a:p>
          <a:p>
            <a:r>
              <a:rPr dirty="0"/>
              <a:t>Train to predict the next word given the previous words</a:t>
            </a:r>
          </a:p>
          <a:p>
            <a:pPr lvl="1"/>
            <a:r>
              <a:rPr dirty="0"/>
              <a:t>For each word: </a:t>
            </a:r>
            <a:r>
              <a:rPr dirty="0">
                <a:solidFill>
                  <a:schemeClr val="accent1">
                    <a:lumOff val="-13575"/>
                  </a:schemeClr>
                </a:solidFill>
              </a:rPr>
              <a:t>classification problem over the entire vocabulary</a:t>
            </a:r>
          </a:p>
          <a:p>
            <a:pPr lvl="1"/>
            <a:r>
              <a:rPr dirty="0"/>
              <a:t>Recall: use </a:t>
            </a:r>
            <a:r>
              <a:rPr dirty="0" err="1"/>
              <a:t>softmax</a:t>
            </a:r>
            <a:r>
              <a:rPr dirty="0"/>
              <a:t> to model probability of output class and cross-entropy loss for classification</a:t>
            </a:r>
          </a:p>
        </p:txBody>
      </p:sp>
      <p:pic>
        <p:nvPicPr>
          <p:cNvPr id="316" name="Image" descr="Image"/>
          <p:cNvPicPr>
            <a:picLocks noChangeAspect="1"/>
          </p:cNvPicPr>
          <p:nvPr/>
        </p:nvPicPr>
        <p:blipFill>
          <a:blip r:embed="rId3"/>
          <a:srcRect l="1855" t="16133" r="55605" b="4642"/>
          <a:stretch>
            <a:fillRect/>
          </a:stretch>
        </p:blipFill>
        <p:spPr>
          <a:xfrm>
            <a:off x="15274091" y="4005424"/>
            <a:ext cx="8338239" cy="7617208"/>
          </a:xfrm>
          <a:prstGeom prst="rect">
            <a:avLst/>
          </a:prstGeom>
          <a:ln w="12700">
            <a:miter lim="400000"/>
          </a:ln>
        </p:spPr>
      </p:pic>
      <p:sp>
        <p:nvSpPr>
          <p:cNvPr id="317" name="A Neural Probabilistic Language Model [Bengio et al. 2003]"/>
          <p:cNvSpPr txBox="1"/>
          <p:nvPr/>
        </p:nvSpPr>
        <p:spPr>
          <a:xfrm>
            <a:off x="14856333" y="12632676"/>
            <a:ext cx="9667157" cy="943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00"/>
              </a:spcBef>
              <a:defRPr sz="28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 Neural Probabilistic Language Model [Bengio et al. 2003]</a:t>
            </a:r>
          </a:p>
        </p:txBody>
      </p:sp>
      <p:sp>
        <p:nvSpPr>
          <p:cNvPr id="318" name="P(mat | the cat sat on the) = ?"/>
          <p:cNvSpPr txBox="1"/>
          <p:nvPr/>
        </p:nvSpPr>
        <p:spPr>
          <a:xfrm>
            <a:off x="16757718" y="2742942"/>
            <a:ext cx="6730940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P(mat | the cat sat on the) = ?</a:t>
            </a:r>
          </a:p>
        </p:txBody>
      </p:sp>
      <p:pic>
        <p:nvPicPr>
          <p:cNvPr id="31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5380" y="11531787"/>
            <a:ext cx="9008967" cy="573722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322" name="Group"/>
          <p:cNvGrpSpPr/>
          <p:nvPr/>
        </p:nvGrpSpPr>
        <p:grpSpPr>
          <a:xfrm>
            <a:off x="2709568" y="9162237"/>
            <a:ext cx="9837501" cy="3197059"/>
            <a:chOff x="0" y="0"/>
            <a:chExt cx="9837499" cy="3197058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0" name="Equation"/>
                <p:cNvSpPr txBox="1"/>
                <p:nvPr/>
              </p:nvSpPr>
              <p:spPr>
                <a:xfrm>
                  <a:off x="98831" y="0"/>
                  <a:ext cx="8395582" cy="169619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sz="4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</m:t>
                        </m:r>
                        <m:f>
                          <m:fPr>
                            <m:ctrlP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m:rPr>
                                <m:sty m:val="p"/>
                              </m:rP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sub>
                            </m:sSub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num>
                          <m:den>
                            <m:sSubSup>
                              <m:sSubSupPr>
                                <m:ctrlP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sub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=1</m:t>
                                </m:r>
                              </m:sub>
                              <m:sup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bSup>
                            <m:r>
                              <m:rPr>
                                <m:sty m:val="p"/>
                              </m:rP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exp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sSub>
                              <m:sSubPr>
                                <m:ctrlP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𝑤</m:t>
                                </m:r>
                              </m:e>
                              <m:sub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b>
                              <m:sSubPr>
                                <m:ctrlP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𝑏</m:t>
                                </m:r>
                              </m:e>
                              <m:sub>
                                <m:r>
                                  <a:rPr sz="45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  <m:r>
                              <a:rPr sz="4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den>
                        </m:f>
                      </m:oMath>
                    </m:oMathPara>
                  </a14:m>
                  <a:endParaRPr sz="4500"/>
                </a:p>
              </p:txBody>
            </p:sp>
          </mc:Choice>
          <mc:Fallback>
            <p:sp>
              <p:nvSpPr>
                <p:cNvPr id="32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8831" y="0"/>
                  <a:ext cx="8395582" cy="1696190"/>
                </a:xfrm>
                <a:prstGeom prst="rect">
                  <a:avLst/>
                </a:prstGeom>
                <a:blipFill>
                  <a:blip r:embed="rId5"/>
                  <a:stretch>
                    <a:fillRect r="-65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21" name="Equation"/>
                <p:cNvSpPr txBox="1"/>
                <p:nvPr/>
              </p:nvSpPr>
              <p:spPr>
                <a:xfrm>
                  <a:off x="0" y="1857845"/>
                  <a:ext cx="9837499" cy="133921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ar-AE" sz="4400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lang="ar-AE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sub>
                        </m:sSub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limUpp>
                          <m:limUppPr>
                            <m:ctrlPr>
                              <a:rPr lang="ar-AE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r>
                              <a:rPr lang="ar-AE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lim>
                            <m:r>
                              <a:rPr lang="ar-AE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̂</m:t>
                            </m:r>
                          </m:lim>
                        </m:limUpp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)=−</m:t>
                        </m:r>
                        <m:limUpp>
                          <m:limUppPr>
                            <m:ctrlPr>
                              <a:rPr lang="ar-AE"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UppPr>
                          <m:e>
                            <m:limLow>
                              <m:limLowPr>
                                <m:ctrlPr>
                                  <a:rPr lang="ar-AE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a:rPr lang="ar-AE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∑</m:t>
                                </m:r>
                              </m:e>
                              <m:lim>
                                <m:r>
                                  <a:rPr lang="ar-AE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ar-AE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ar-AE"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lim>
                            </m:limLow>
                          </m:e>
                          <m:lim>
                            <m:r>
                              <a:rPr lang="ar-AE" sz="4400" b="0" i="1" smtClean="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lim>
                        </m:limUpp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{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ar-AE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}</m:t>
                        </m:r>
                        <m:r>
                          <m:rPr>
                            <m:sty m:val="p"/>
                          </m:rP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 sz="4400" dirty="0"/>
                </a:p>
              </p:txBody>
            </p:sp>
          </mc:Choice>
          <mc:Fallback>
            <p:sp>
              <p:nvSpPr>
                <p:cNvPr id="32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857845"/>
                  <a:ext cx="9837499" cy="1339213"/>
                </a:xfrm>
                <a:prstGeom prst="rect">
                  <a:avLst/>
                </a:prstGeom>
                <a:blipFill>
                  <a:blip r:embed="rId6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323" name="softmax"/>
          <p:cNvSpPr txBox="1"/>
          <p:nvPr/>
        </p:nvSpPr>
        <p:spPr>
          <a:xfrm>
            <a:off x="11870570" y="9383366"/>
            <a:ext cx="1859757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lvl="1" indent="0" algn="l">
              <a:spcBef>
                <a:spcPts val="1400"/>
              </a:spcBef>
              <a:defRPr sz="38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softmax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BC94D7A-3A05-265C-AD43-BF27ED83BD3F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089484" y="12223230"/>
            <a:ext cx="6329210" cy="1352809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CB25987-E3F0-39E7-96A5-47DE75FBDEC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78759" y="12632676"/>
            <a:ext cx="5936342" cy="880216"/>
          </a:xfrm>
          <a:prstGeom prst="rect">
            <a:avLst/>
          </a:prstGeom>
        </p:spPr>
      </p:pic>
      <p:grpSp>
        <p:nvGrpSpPr>
          <p:cNvPr id="8" name="Group 7">
            <a:extLst>
              <a:ext uri="{FF2B5EF4-FFF2-40B4-BE49-F238E27FC236}">
                <a16:creationId xmlns:a16="http://schemas.microsoft.com/office/drawing/2014/main" id="{645B9B2B-616C-8651-CA1A-F660F6CADBA7}"/>
              </a:ext>
            </a:extLst>
          </p:cNvPr>
          <p:cNvGrpSpPr/>
          <p:nvPr/>
        </p:nvGrpSpPr>
        <p:grpSpPr>
          <a:xfrm>
            <a:off x="2876340" y="12020490"/>
            <a:ext cx="2591280" cy="708480"/>
            <a:chOff x="2876340" y="12020490"/>
            <a:chExt cx="2591280" cy="708480"/>
          </a:xfrm>
        </p:grpSpPr>
        <mc:AlternateContent xmlns:mc="http://schemas.openxmlformats.org/markup-compatibility/2006">
          <mc:Choice xmlns:p14="http://schemas.microsoft.com/office/powerpoint/2010/main" Requires="p14">
            <p:contentPart p14:bwMode="auto" r:id="rId9">
              <p14:nvContentPartPr>
                <p14:cNvPr id="6" name="Ink 5">
                  <a:extLst>
                    <a:ext uri="{FF2B5EF4-FFF2-40B4-BE49-F238E27FC236}">
                      <a16:creationId xmlns:a16="http://schemas.microsoft.com/office/drawing/2014/main" id="{671552A3-20D5-B3D0-9BC5-2A75C7A73591}"/>
                    </a:ext>
                  </a:extLst>
                </p14:cNvPr>
                <p14:cNvContentPartPr/>
                <p14:nvPr/>
              </p14:nvContentPartPr>
              <p14:xfrm>
                <a:off x="2950860" y="12020490"/>
                <a:ext cx="2516760" cy="606960"/>
              </p14:xfrm>
            </p:contentPart>
          </mc:Choice>
          <mc:Fallback>
            <p:pic>
              <p:nvPicPr>
                <p:cNvPr id="6" name="Ink 5">
                  <a:extLst>
                    <a:ext uri="{FF2B5EF4-FFF2-40B4-BE49-F238E27FC236}">
                      <a16:creationId xmlns:a16="http://schemas.microsoft.com/office/drawing/2014/main" id="{671552A3-20D5-B3D0-9BC5-2A75C7A73591}"/>
                    </a:ext>
                  </a:extLst>
                </p:cNvPr>
                <p:cNvPicPr/>
                <p:nvPr/>
              </p:nvPicPr>
              <p:blipFill>
                <a:blip r:embed="rId10"/>
                <a:stretch>
                  <a:fillRect/>
                </a:stretch>
              </p:blipFill>
              <p:spPr>
                <a:xfrm>
                  <a:off x="2944740" y="12014370"/>
                  <a:ext cx="2529000" cy="61920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>
          <mc:Choice xmlns:p14="http://schemas.microsoft.com/office/powerpoint/2010/main" Requires="p14">
            <p:contentPart p14:bwMode="auto" r:id="rId11">
              <p14:nvContentPartPr>
                <p14:cNvPr id="7" name="Ink 6">
                  <a:extLst>
                    <a:ext uri="{FF2B5EF4-FFF2-40B4-BE49-F238E27FC236}">
                      <a16:creationId xmlns:a16="http://schemas.microsoft.com/office/drawing/2014/main" id="{755E2ECB-6115-579A-6A03-4ACD42512F48}"/>
                    </a:ext>
                  </a:extLst>
                </p14:cNvPr>
                <p14:cNvContentPartPr/>
                <p14:nvPr/>
              </p14:nvContentPartPr>
              <p14:xfrm>
                <a:off x="2876340" y="12401370"/>
                <a:ext cx="1022760" cy="327600"/>
              </p14:xfrm>
            </p:contentPart>
          </mc:Choice>
          <mc:Fallback>
            <p:pic>
              <p:nvPicPr>
                <p:cNvPr id="7" name="Ink 6">
                  <a:extLst>
                    <a:ext uri="{FF2B5EF4-FFF2-40B4-BE49-F238E27FC236}">
                      <a16:creationId xmlns:a16="http://schemas.microsoft.com/office/drawing/2014/main" id="{755E2ECB-6115-579A-6A03-4ACD42512F48}"/>
                    </a:ext>
                  </a:extLst>
                </p:cNvPr>
                <p:cNvPicPr/>
                <p:nvPr/>
              </p:nvPicPr>
              <p:blipFill>
                <a:blip r:embed="rId12"/>
                <a:stretch>
                  <a:fillRect/>
                </a:stretch>
              </p:blipFill>
              <p:spPr>
                <a:xfrm>
                  <a:off x="2870220" y="12395250"/>
                  <a:ext cx="1035000" cy="339840"/>
                </a:xfrm>
                <a:prstGeom prst="rect">
                  <a:avLst/>
                </a:prstGeom>
              </p:spPr>
            </p:pic>
          </mc:Fallback>
        </mc:AlternateContent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22" grpId="0" animBg="1" advAuto="0"/>
      <p:bldP spid="323" grpId="0" animBg="1" advAuto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7" name="Image" descr="Image"/>
          <p:cNvPicPr>
            <a:picLocks noChangeAspect="1"/>
          </p:cNvPicPr>
          <p:nvPr/>
        </p:nvPicPr>
        <p:blipFill>
          <a:blip r:embed="rId2"/>
          <a:srcRect t="9681"/>
          <a:stretch>
            <a:fillRect/>
          </a:stretch>
        </p:blipFill>
        <p:spPr>
          <a:xfrm>
            <a:off x="7855418" y="4923875"/>
            <a:ext cx="10423627" cy="6670806"/>
          </a:xfrm>
          <a:prstGeom prst="rect">
            <a:avLst/>
          </a:prstGeom>
          <a:ln w="12700">
            <a:miter lim="400000"/>
          </a:ln>
        </p:spPr>
      </p:pic>
      <p:sp>
        <p:nvSpPr>
          <p:cNvPr id="328" name="Neural Bag-of-Words (NBOW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>
            <a:lvl1pPr>
              <a:defRPr sz="6600"/>
            </a:lvl1pPr>
          </a:lstStyle>
          <a:p>
            <a:r>
              <a:t>Neural Bag-of-Words (NBOW)</a:t>
            </a:r>
          </a:p>
        </p:txBody>
      </p:sp>
      <p:sp>
        <p:nvSpPr>
          <p:cNvPr id="329" name="Deep Averaging Networks (DAN) for Text Classification"/>
          <p:cNvSpPr txBox="1">
            <a:spLocks noGrp="1"/>
          </p:cNvSpPr>
          <p:nvPr>
            <p:ph type="body" sz="quarter" idx="1"/>
          </p:nvPr>
        </p:nvSpPr>
        <p:spPr>
          <a:xfrm>
            <a:off x="4267952" y="3298088"/>
            <a:ext cx="15609095" cy="943363"/>
          </a:xfrm>
          <a:prstGeom prst="rect">
            <a:avLst/>
          </a:prstGeom>
        </p:spPr>
        <p:txBody>
          <a:bodyPr/>
          <a:lstStyle/>
          <a:p>
            <a:r>
              <a:t>Deep Averaging Networks (DAN) for Text Classification</a:t>
            </a:r>
          </a:p>
        </p:txBody>
      </p:sp>
      <p:sp>
        <p:nvSpPr>
          <p:cNvPr id="330" name="(Iyyer et 2015): Deep Unordered Composition Rivals Syntactic Methods for Text Classification"/>
          <p:cNvSpPr txBox="1"/>
          <p:nvPr/>
        </p:nvSpPr>
        <p:spPr>
          <a:xfrm>
            <a:off x="4543842" y="12276976"/>
            <a:ext cx="15296315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900"/>
              </a:spcBef>
              <a:defRPr sz="2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(Iyyer et 2015): Deep Unordered Composition Rivals Syntactic Methods for Text Classification</a:t>
            </a:r>
          </a:p>
        </p:txBody>
      </p:sp>
      <p:sp>
        <p:nvSpPr>
          <p:cNvPr id="331" name="word embeddings"/>
          <p:cNvSpPr txBox="1"/>
          <p:nvPr/>
        </p:nvSpPr>
        <p:spPr>
          <a:xfrm>
            <a:off x="3314541" y="9753184"/>
            <a:ext cx="4109870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word embeddings</a:t>
            </a:r>
          </a:p>
        </p:txBody>
      </p:sp>
      <p:sp>
        <p:nvSpPr>
          <p:cNvPr id="332" name="averaging"/>
          <p:cNvSpPr txBox="1"/>
          <p:nvPr/>
        </p:nvSpPr>
        <p:spPr>
          <a:xfrm>
            <a:off x="8972970" y="7957830"/>
            <a:ext cx="3359069" cy="1077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solidFill>
                  <a:srgbClr val="941100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averaging</a:t>
            </a:r>
          </a:p>
        </p:txBody>
      </p:sp>
      <p:sp>
        <p:nvSpPr>
          <p:cNvPr id="33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16</a:t>
            </a:fld>
            <a:endParaRPr/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Feedforward Neural LM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Feedforward Neural LMs</a:t>
            </a:r>
          </a:p>
        </p:txBody>
      </p:sp>
      <p:sp>
        <p:nvSpPr>
          <p:cNvPr id="33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17</a:t>
            </a:fld>
            <a:endParaRPr/>
          </a:p>
        </p:txBody>
      </p:sp>
      <p:pic>
        <p:nvPicPr>
          <p:cNvPr id="337" name="Image" descr="Image"/>
          <p:cNvPicPr>
            <a:picLocks noChangeAspect="1"/>
          </p:cNvPicPr>
          <p:nvPr/>
        </p:nvPicPr>
        <p:blipFill>
          <a:blip r:embed="rId2"/>
          <a:srcRect l="1855" r="55605" b="4642"/>
          <a:stretch>
            <a:fillRect/>
          </a:stretch>
        </p:blipFill>
        <p:spPr>
          <a:xfrm>
            <a:off x="3228511" y="2686699"/>
            <a:ext cx="8819239" cy="9697322"/>
          </a:xfrm>
          <a:prstGeom prst="rect">
            <a:avLst/>
          </a:prstGeom>
          <a:ln w="12700">
            <a:miter lim="400000"/>
          </a:ln>
        </p:spPr>
      </p:pic>
      <p:sp>
        <p:nvSpPr>
          <p:cNvPr id="338" name="(Bengio et 2003): A Neural Probabilistic Language Model"/>
          <p:cNvSpPr txBox="1"/>
          <p:nvPr/>
        </p:nvSpPr>
        <p:spPr>
          <a:xfrm>
            <a:off x="5641562" y="12222698"/>
            <a:ext cx="13676503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00"/>
              </a:spcBef>
              <a:defRPr sz="2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(Bengio et 2003): A Neural Probabilistic Language Model</a:t>
            </a:r>
          </a:p>
        </p:txBody>
      </p:sp>
      <p:grpSp>
        <p:nvGrpSpPr>
          <p:cNvPr id="342" name="Group"/>
          <p:cNvGrpSpPr/>
          <p:nvPr/>
        </p:nvGrpSpPr>
        <p:grpSpPr>
          <a:xfrm>
            <a:off x="12538558" y="3667645"/>
            <a:ext cx="9556092" cy="2803261"/>
            <a:chOff x="0" y="0"/>
            <a:chExt cx="9556090" cy="2803260"/>
          </a:xfrm>
        </p:grpSpPr>
        <p:sp>
          <p:nvSpPr>
            <p:cNvPr id="339" name="Input layer (context size n = 5):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494665" indent="-494665" algn="l" defTabSz="673655">
                <a:spcBef>
                  <a:spcPts val="1100"/>
                </a:spcBef>
                <a:buSzPct val="145000"/>
                <a:buChar char="•"/>
                <a:defRPr sz="3116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Input layer (context size n = 5):</a:t>
              </a:r>
            </a:p>
          </p:txBody>
        </p:sp>
        <p:pic>
          <p:nvPicPr>
            <p:cNvPr id="340" name="mathbf_x_=_mathb.pdf" descr="mathbf_x_=_mathb.pdf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083967" y="1214011"/>
              <a:ext cx="6744588" cy="5216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341" name="concatenate word embeddings"/>
            <p:cNvSpPr txBox="1"/>
            <p:nvPr/>
          </p:nvSpPr>
          <p:spPr>
            <a:xfrm>
              <a:off x="3157443" y="1725353"/>
              <a:ext cx="6398648" cy="107790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 defTabSz="788669">
                <a:spcBef>
                  <a:spcPts val="1300"/>
                </a:spcBef>
                <a:defRPr sz="3648">
                  <a:solidFill>
                    <a:srgbClr val="941100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concatenate word embeddings</a:t>
              </a:r>
            </a:p>
          </p:txBody>
        </p:sp>
      </p:grpSp>
      <p:grpSp>
        <p:nvGrpSpPr>
          <p:cNvPr id="345" name="Group"/>
          <p:cNvGrpSpPr/>
          <p:nvPr/>
        </p:nvGrpSpPr>
        <p:grpSpPr>
          <a:xfrm>
            <a:off x="12518177" y="6651621"/>
            <a:ext cx="6440855" cy="1767399"/>
            <a:chOff x="0" y="0"/>
            <a:chExt cx="6440853" cy="1767398"/>
          </a:xfrm>
        </p:grpSpPr>
        <p:sp>
          <p:nvSpPr>
            <p:cNvPr id="343" name="Hidden layer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6136" indent="-606136" algn="l">
                <a:spcBef>
                  <a:spcPts val="1400"/>
                </a:spcBef>
                <a:buSzPct val="145000"/>
                <a:buChar char="•"/>
                <a:defRPr sz="30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Hidden layer</a:t>
              </a:r>
            </a:p>
          </p:txBody>
        </p:sp>
        <p:pic>
          <p:nvPicPr>
            <p:cNvPr id="344" name="mathbf_h_=_tanh(.pdf" descr="mathbf_h_=_tanh(.pdf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1342374" y="1212641"/>
              <a:ext cx="5098480" cy="554758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grpSp>
        <p:nvGrpSpPr>
          <p:cNvPr id="349" name="Group"/>
          <p:cNvGrpSpPr/>
          <p:nvPr/>
        </p:nvGrpSpPr>
        <p:grpSpPr>
          <a:xfrm>
            <a:off x="12620079" y="9050260"/>
            <a:ext cx="7583832" cy="2541199"/>
            <a:chOff x="0" y="0"/>
            <a:chExt cx="7583830" cy="2541198"/>
          </a:xfrm>
        </p:grpSpPr>
        <p:sp>
          <p:nvSpPr>
            <p:cNvPr id="346" name="Output layer (softmax)"/>
            <p:cNvSpPr txBox="1"/>
            <p:nvPr/>
          </p:nvSpPr>
          <p:spPr>
            <a:xfrm>
              <a:off x="0" y="0"/>
              <a:ext cx="6140835" cy="943362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marL="606136" indent="-606136" algn="l">
                <a:spcBef>
                  <a:spcPts val="1400"/>
                </a:spcBef>
                <a:buSzPct val="145000"/>
                <a:buChar char="•"/>
                <a:defRPr sz="3000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Output layer (softmax)</a:t>
              </a:r>
            </a:p>
          </p:txBody>
        </p:sp>
        <p:pic>
          <p:nvPicPr>
            <p:cNvPr id="347" name="mathbf_z_=_mathb.pdf" descr="mathbf_z_=_mathb.pdf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1878176" y="1120710"/>
              <a:ext cx="2965406" cy="4702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348" name="P(w_=_i_mid_text.pdf" descr="P(w_=_i_mid_text.pdf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557136" y="2049728"/>
              <a:ext cx="7026695" cy="49147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pic>
        <p:nvPicPr>
          <p:cNvPr id="350" name="Image" descr="Image"/>
          <p:cNvPicPr>
            <a:picLocks noChangeAspect="1"/>
          </p:cNvPicPr>
          <p:nvPr/>
        </p:nvPicPr>
        <p:blipFill>
          <a:blip r:embed="rId7"/>
          <a:srcRect l="19799" r="638"/>
          <a:stretch>
            <a:fillRect/>
          </a:stretch>
        </p:blipFill>
        <p:spPr>
          <a:xfrm>
            <a:off x="18535517" y="448337"/>
            <a:ext cx="2481332" cy="2407659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42" grpId="0" animBg="1" advAuto="0"/>
      <p:bldP spid="345" grpId="0" animBg="1" advAuto="0"/>
      <p:bldP spid="349" grpId="0" animBg="1" advAuto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Language modelling with neural networks"/>
          <p:cNvSpPr txBox="1">
            <a:spLocks noGrp="1"/>
          </p:cNvSpPr>
          <p:nvPr>
            <p:ph type="title"/>
          </p:nvPr>
        </p:nvSpPr>
        <p:spPr>
          <a:xfrm>
            <a:off x="4387453" y="181482"/>
            <a:ext cx="15609094" cy="1800032"/>
          </a:xfrm>
          <a:prstGeom prst="rect">
            <a:avLst/>
          </a:prstGeom>
        </p:spPr>
        <p:txBody>
          <a:bodyPr>
            <a:normAutofit fontScale="90000"/>
          </a:bodyPr>
          <a:lstStyle>
            <a:lvl1pPr defTabSz="796885">
              <a:defRPr sz="7178"/>
            </a:lvl1pPr>
          </a:lstStyle>
          <a:p>
            <a:r>
              <a:t>Language modelling with neural networks</a:t>
            </a:r>
          </a:p>
        </p:txBody>
      </p:sp>
      <p:sp>
        <p:nvSpPr>
          <p:cNvPr id="353" name="Words are represented as continuous word embeddings…"/>
          <p:cNvSpPr txBox="1">
            <a:spLocks noGrp="1"/>
          </p:cNvSpPr>
          <p:nvPr>
            <p:ph type="body" idx="1"/>
          </p:nvPr>
        </p:nvSpPr>
        <p:spPr>
          <a:xfrm>
            <a:off x="2103283" y="587674"/>
            <a:ext cx="13634468" cy="10417105"/>
          </a:xfrm>
          <a:prstGeom prst="rect">
            <a:avLst/>
          </a:prstGeom>
        </p:spPr>
        <p:txBody>
          <a:bodyPr/>
          <a:lstStyle/>
          <a:p>
            <a:r>
              <a:t>Words are represented as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continuous</a:t>
            </a:r>
            <a:r>
              <a:t> word embeddings</a:t>
            </a:r>
          </a:p>
          <a:p>
            <a:endParaRPr/>
          </a:p>
          <a:p>
            <a:r>
              <a:t>Parameters are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weights</a:t>
            </a:r>
            <a:r>
              <a:t> of the neural network</a:t>
            </a:r>
          </a:p>
          <a:p>
            <a:endParaRPr/>
          </a:p>
          <a:p>
            <a:r>
              <a:t>Train to predict the next word given the previous words</a:t>
            </a:r>
          </a:p>
          <a:p>
            <a:pPr lvl="1"/>
            <a:r>
              <a:t>For each word: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classification problem over the entire vocabulary</a:t>
            </a:r>
          </a:p>
          <a:p>
            <a:pPr lvl="1"/>
            <a:r>
              <a:t>Recall: use softmax to model probability of output class and cross-entropy loss for classification</a:t>
            </a:r>
          </a:p>
        </p:txBody>
      </p:sp>
      <p:pic>
        <p:nvPicPr>
          <p:cNvPr id="354" name="Image" descr="Image"/>
          <p:cNvPicPr>
            <a:picLocks noChangeAspect="1"/>
          </p:cNvPicPr>
          <p:nvPr/>
        </p:nvPicPr>
        <p:blipFill>
          <a:blip r:embed="rId3"/>
          <a:srcRect l="1855" t="16133" r="55605" b="4642"/>
          <a:stretch>
            <a:fillRect/>
          </a:stretch>
        </p:blipFill>
        <p:spPr>
          <a:xfrm>
            <a:off x="15274091" y="4005424"/>
            <a:ext cx="8338239" cy="7617208"/>
          </a:xfrm>
          <a:prstGeom prst="rect">
            <a:avLst/>
          </a:prstGeom>
          <a:ln w="12700">
            <a:miter lim="400000"/>
          </a:ln>
        </p:spPr>
      </p:pic>
      <p:sp>
        <p:nvSpPr>
          <p:cNvPr id="355" name="A Neural Probabilistic Language Model [Bengio et al. 2003]"/>
          <p:cNvSpPr txBox="1"/>
          <p:nvPr/>
        </p:nvSpPr>
        <p:spPr>
          <a:xfrm>
            <a:off x="14856333" y="12632676"/>
            <a:ext cx="9667157" cy="9433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500"/>
              </a:spcBef>
              <a:defRPr sz="28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 Neural Probabilistic Language Model [Bengio et al. 2003]</a:t>
            </a:r>
          </a:p>
        </p:txBody>
      </p:sp>
      <p:sp>
        <p:nvSpPr>
          <p:cNvPr id="356" name="P(mat | the cat sat on the) = ?"/>
          <p:cNvSpPr txBox="1"/>
          <p:nvPr/>
        </p:nvSpPr>
        <p:spPr>
          <a:xfrm>
            <a:off x="16757718" y="2742942"/>
            <a:ext cx="6730940" cy="9433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P(mat | the cat sat on the) = ?</a:t>
            </a:r>
          </a:p>
        </p:txBody>
      </p:sp>
      <p:pic>
        <p:nvPicPr>
          <p:cNvPr id="35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85380" y="11531787"/>
            <a:ext cx="9008967" cy="573722"/>
          </a:xfrm>
          <a:prstGeom prst="rect">
            <a:avLst/>
          </a:prstGeom>
          <a:ln w="12700">
            <a:miter lim="400000"/>
          </a:ln>
        </p:spPr>
      </p:pic>
      <p:sp>
        <p:nvSpPr>
          <p:cNvPr id="358" name="Different neural network architectures…"/>
          <p:cNvSpPr txBox="1"/>
          <p:nvPr/>
        </p:nvSpPr>
        <p:spPr>
          <a:xfrm>
            <a:off x="2142328" y="7891355"/>
            <a:ext cx="15609095" cy="53881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911542" lvl="1" indent="-524827" algn="l" defTabSz="714732">
              <a:spcBef>
                <a:spcPts val="1200"/>
              </a:spcBef>
              <a:buSzPct val="145000"/>
              <a:buChar char="•"/>
              <a:defRPr sz="3306">
                <a:latin typeface="Georgia"/>
                <a:ea typeface="Georgia"/>
                <a:cs typeface="Georgia"/>
                <a:sym typeface="Georgia"/>
              </a:defRPr>
            </a:pPr>
            <a:endParaRPr/>
          </a:p>
          <a:p>
            <a:pPr marL="524827" indent="-524827" algn="l" defTabSz="714732">
              <a:spcBef>
                <a:spcPts val="1200"/>
              </a:spcBef>
              <a:buSzPct val="145000"/>
              <a:buChar char="•"/>
              <a:defRPr sz="3306">
                <a:latin typeface="Georgia"/>
                <a:ea typeface="Georgia"/>
                <a:cs typeface="Georgia"/>
                <a:sym typeface="Georgia"/>
              </a:defRPr>
            </a:pPr>
            <a:endParaRPr/>
          </a:p>
          <a:p>
            <a:pPr marL="524827" indent="-524827" algn="l" defTabSz="714732">
              <a:spcBef>
                <a:spcPts val="1200"/>
              </a:spcBef>
              <a:buSzPct val="145000"/>
              <a:buChar char="•"/>
              <a:defRPr sz="3306">
                <a:latin typeface="Georgia"/>
                <a:ea typeface="Georgia"/>
                <a:cs typeface="Georgia"/>
                <a:sym typeface="Georgia"/>
              </a:defRPr>
            </a:pPr>
            <a:r>
              <a:t>Different neural network architectures</a:t>
            </a:r>
          </a:p>
          <a:p>
            <a:pPr marL="911542" lvl="1" indent="-524827" algn="l" defTabSz="714732">
              <a:spcBef>
                <a:spcPts val="1200"/>
              </a:spcBef>
              <a:buSzPct val="145000"/>
              <a:buChar char="•"/>
              <a:defRPr sz="3306">
                <a:latin typeface="Georgia"/>
                <a:ea typeface="Georgia"/>
                <a:cs typeface="Georgia"/>
                <a:sym typeface="Georgia"/>
              </a:defRPr>
            </a:pPr>
            <a:r>
              <a:t>FFNs  </a:t>
            </a:r>
          </a:p>
          <a:p>
            <a:pPr lvl="2" indent="0" algn="l" defTabSz="714732">
              <a:spcBef>
                <a:spcPts val="1200"/>
              </a:spcBef>
              <a:defRPr sz="3306">
                <a:latin typeface="Georgia"/>
                <a:ea typeface="Georgia"/>
                <a:cs typeface="Georgia"/>
                <a:sym typeface="Georgia"/>
              </a:defRPr>
            </a:pPr>
            <a:endParaRPr/>
          </a:p>
          <a:p>
            <a:pPr marL="911542" lvl="1" indent="-524827" algn="l" defTabSz="714732">
              <a:spcBef>
                <a:spcPts val="1200"/>
              </a:spcBef>
              <a:buSzPct val="145000"/>
              <a:buChar char="•"/>
              <a:defRPr sz="3306">
                <a:latin typeface="Georgia"/>
                <a:ea typeface="Georgia"/>
                <a:cs typeface="Georgia"/>
                <a:sym typeface="Georgia"/>
              </a:defRPr>
            </a:pPr>
            <a:r>
              <a:t>RNNs</a:t>
            </a:r>
          </a:p>
          <a:p>
            <a:pPr lvl="1" indent="0" algn="l" defTabSz="714732">
              <a:spcBef>
                <a:spcPts val="1200"/>
              </a:spcBef>
              <a:defRPr sz="3306">
                <a:latin typeface="Georgia"/>
                <a:ea typeface="Georgia"/>
                <a:cs typeface="Georgia"/>
                <a:sym typeface="Georgia"/>
              </a:defRPr>
            </a:pPr>
            <a:endParaRPr/>
          </a:p>
          <a:p>
            <a:pPr marL="911542" lvl="1" indent="-524827" algn="l" defTabSz="714732">
              <a:spcBef>
                <a:spcPts val="1200"/>
              </a:spcBef>
              <a:buSzPct val="145000"/>
              <a:buChar char="•"/>
              <a:defRPr sz="3306">
                <a:latin typeface="Georgia"/>
                <a:ea typeface="Georgia"/>
                <a:cs typeface="Georgia"/>
                <a:sym typeface="Georgia"/>
              </a:defRPr>
            </a:pPr>
            <a:r>
              <a:t>Transformers</a:t>
            </a:r>
          </a:p>
        </p:txBody>
      </p:sp>
      <p:pic>
        <p:nvPicPr>
          <p:cNvPr id="359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142328" y="7891355"/>
            <a:ext cx="8158686" cy="5816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142328" y="7891355"/>
            <a:ext cx="8841946" cy="49870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Feedforward Neural Language Model…"/>
          <p:cNvSpPr txBox="1">
            <a:spLocks noGrp="1"/>
          </p:cNvSpPr>
          <p:nvPr>
            <p:ph type="title"/>
          </p:nvPr>
        </p:nvSpPr>
        <p:spPr>
          <a:xfrm>
            <a:off x="4387453" y="181482"/>
            <a:ext cx="15609094" cy="1800032"/>
          </a:xfrm>
          <a:prstGeom prst="rect">
            <a:avLst/>
          </a:prstGeom>
        </p:spPr>
        <p:txBody>
          <a:bodyPr>
            <a:normAutofit fontScale="90000"/>
          </a:bodyPr>
          <a:lstStyle/>
          <a:p>
            <a:pPr defTabSz="632579">
              <a:defRPr sz="5698"/>
            </a:pPr>
            <a:r>
              <a:t>Feedforward Neural Language Model</a:t>
            </a:r>
          </a:p>
          <a:p>
            <a:pPr defTabSz="632579">
              <a:defRPr sz="5698"/>
            </a:pPr>
            <a:r>
              <a:t>(Neural BOW LM)</a:t>
            </a:r>
          </a:p>
        </p:txBody>
      </p:sp>
      <p:sp>
        <p:nvSpPr>
          <p:cNvPr id="365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36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42195" y="1752504"/>
            <a:ext cx="17377650" cy="10560004"/>
          </a:xfrm>
          <a:prstGeom prst="rect">
            <a:avLst/>
          </a:prstGeom>
          <a:ln w="12700">
            <a:miter lim="400000"/>
          </a:ln>
        </p:spPr>
      </p:pic>
      <p:sp>
        <p:nvSpPr>
          <p:cNvPr id="367" name="Slide credit: Chris Manning"/>
          <p:cNvSpPr txBox="1"/>
          <p:nvPr/>
        </p:nvSpPr>
        <p:spPr>
          <a:xfrm>
            <a:off x="17845484" y="12865693"/>
            <a:ext cx="5651120" cy="676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>
              <a:defRPr sz="3600" i="1">
                <a:solidFill>
                  <a:srgbClr val="929292"/>
                </a:solidFill>
              </a:defRPr>
            </a:lvl1pPr>
          </a:lstStyle>
          <a:p>
            <a:r>
              <a:t>Slide credit: Chris Manning</a:t>
            </a:r>
          </a:p>
        </p:txBody>
      </p:sp>
      <p:pic>
        <p:nvPicPr>
          <p:cNvPr id="368" name="Image" descr="Image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9092411" y="6710267"/>
            <a:ext cx="3450834" cy="644406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369" name="Issues: Fixed window, no parameter sharing…"/>
              <p:cNvSpPr txBox="1"/>
              <p:nvPr/>
            </p:nvSpPr>
            <p:spPr>
              <a:xfrm>
                <a:off x="165873" y="304879"/>
                <a:ext cx="5651120" cy="242456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>
                  <a:defRPr sz="3600">
                    <a:solidFill>
                      <a:schemeClr val="accent5">
                        <a:lumOff val="-29866"/>
                      </a:schemeClr>
                    </a:solidFill>
                  </a:defRPr>
                </a:pPr>
                <a:r>
                  <a:t>Issues: Fixed window, no parameter sharing</a:t>
                </a:r>
              </a:p>
              <a:p>
                <a:pPr>
                  <a:defRPr sz="3600">
                    <a:solidFill>
                      <a:schemeClr val="accent5">
                        <a:lumOff val="-29866"/>
                      </a:schemeClr>
                    </a:solidFill>
                  </a:defRPr>
                </a:pPr>
                <a:r>
                  <a:t>Larger window </a:t>
                </a:r>
                <a14:m>
                  <m:oMath xmlns:m="http://schemas.openxmlformats.org/officeDocument/2006/math">
                    <m:r>
                      <a:rPr sz="4300" i="1">
                        <a:solidFill>
                          <a:srgbClr val="B41700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t> more parameters</a:t>
                </a:r>
                <a:endParaRPr>
                  <a:solidFill>
                    <a:srgbClr val="B51700"/>
                  </a:solidFill>
                </a:endParaRPr>
              </a:p>
            </p:txBody>
          </p:sp>
        </mc:Choice>
        <mc:Fallback>
          <p:sp>
            <p:nvSpPr>
              <p:cNvPr id="369" name="Issues: Fixed window, no parameter sharing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65873" y="304879"/>
                <a:ext cx="5651120" cy="2424569"/>
              </a:xfrm>
              <a:prstGeom prst="rect">
                <a:avLst/>
              </a:prstGeom>
              <a:blipFill>
                <a:blip r:embed="rId5"/>
                <a:stretch>
                  <a:fillRect l="-108" t="-3015" r="-2265" b="-8543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3" name="Neural network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Neural networks</a:t>
            </a:r>
          </a:p>
        </p:txBody>
      </p:sp>
      <p:sp>
        <p:nvSpPr>
          <p:cNvPr id="374" name="The neurons are connected to each other, forming a network…"/>
          <p:cNvSpPr txBox="1">
            <a:spLocks noGrp="1"/>
          </p:cNvSpPr>
          <p:nvPr>
            <p:ph type="body" sz="quarter" idx="1"/>
          </p:nvPr>
        </p:nvSpPr>
        <p:spPr>
          <a:xfrm>
            <a:off x="4373019" y="2705096"/>
            <a:ext cx="15136602" cy="2635832"/>
          </a:xfrm>
          <a:prstGeom prst="rect">
            <a:avLst/>
          </a:prstGeom>
        </p:spPr>
        <p:txBody>
          <a:bodyPr/>
          <a:lstStyle/>
          <a:p>
            <a:r>
              <a:t>The neurons are connected to each other, forming a </a:t>
            </a:r>
            <a:r>
              <a:rPr b="1"/>
              <a:t>network</a:t>
            </a:r>
          </a:p>
          <a:p>
            <a:r>
              <a:t>The output of a neuron may feed into the inputs of other neurons</a:t>
            </a:r>
          </a:p>
        </p:txBody>
      </p:sp>
      <p:pic>
        <p:nvPicPr>
          <p:cNvPr id="375" name="Screen Shot 2019-09-30 at 8.43.37 PM.png" descr="Screen Shot 2019-09-30 at 8.43.37 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0911" y="5378615"/>
            <a:ext cx="12886055" cy="6909915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20</a:t>
            </a:fld>
            <a:endParaRPr/>
          </a:p>
        </p:txBody>
      </p:sp>
      <p:sp>
        <p:nvSpPr>
          <p:cNvPr id="377" name="Feed forward network (FFN)"/>
          <p:cNvSpPr txBox="1"/>
          <p:nvPr/>
        </p:nvSpPr>
        <p:spPr>
          <a:xfrm>
            <a:off x="568044" y="11323284"/>
            <a:ext cx="6897130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Feed forward network (FFN)</a:t>
            </a:r>
          </a:p>
        </p:txBody>
      </p:sp>
      <p:sp>
        <p:nvSpPr>
          <p:cNvPr id="378" name="Fully connected network (FCN)"/>
          <p:cNvSpPr txBox="1"/>
          <p:nvPr/>
        </p:nvSpPr>
        <p:spPr>
          <a:xfrm>
            <a:off x="547663" y="12285879"/>
            <a:ext cx="7455844" cy="6889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Fully connected network (FCN)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7" grpId="0" animBg="1" advAuto="0"/>
      <p:bldP spid="378" grpId="0" animBg="1" advAuto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6464" y="4757301"/>
            <a:ext cx="1917701" cy="3263901"/>
          </a:xfrm>
          <a:prstGeom prst="rect">
            <a:avLst/>
          </a:prstGeom>
          <a:ln w="12700">
            <a:miter lim="400000"/>
          </a:ln>
        </p:spPr>
      </p:pic>
      <p:pic>
        <p:nvPicPr>
          <p:cNvPr id="38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216188" y="5995787"/>
            <a:ext cx="1841501" cy="3517901"/>
          </a:xfrm>
          <a:prstGeom prst="rect">
            <a:avLst/>
          </a:prstGeom>
          <a:ln w="12700">
            <a:miter lim="400000"/>
          </a:ln>
        </p:spPr>
      </p:pic>
      <p:sp>
        <p:nvSpPr>
          <p:cNvPr id="382" name="Computational graph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Computational graph</a:t>
            </a:r>
          </a:p>
        </p:txBody>
      </p:sp>
      <p:sp>
        <p:nvSpPr>
          <p:cNvPr id="38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2029262" y="13073062"/>
            <a:ext cx="315951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21</a:t>
            </a:fld>
            <a:endParaRPr/>
          </a:p>
        </p:txBody>
      </p:sp>
      <p:grpSp>
        <p:nvGrpSpPr>
          <p:cNvPr id="402" name="Group"/>
          <p:cNvGrpSpPr/>
          <p:nvPr/>
        </p:nvGrpSpPr>
        <p:grpSpPr>
          <a:xfrm>
            <a:off x="1058828" y="3385542"/>
            <a:ext cx="8037739" cy="3056974"/>
            <a:chOff x="0" y="0"/>
            <a:chExt cx="8037737" cy="3056972"/>
          </a:xfrm>
        </p:grpSpPr>
        <p:sp>
          <p:nvSpPr>
            <p:cNvPr id="384" name="Circle"/>
            <p:cNvSpPr/>
            <p:nvPr/>
          </p:nvSpPr>
          <p:spPr>
            <a:xfrm>
              <a:off x="3507699" y="15669"/>
              <a:ext cx="1270001" cy="1270001"/>
            </a:xfrm>
            <a:prstGeom prst="ellips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85" name="Circle"/>
            <p:cNvSpPr/>
            <p:nvPr/>
          </p:nvSpPr>
          <p:spPr>
            <a:xfrm>
              <a:off x="882031" y="15669"/>
              <a:ext cx="1270001" cy="1270001"/>
            </a:xfrm>
            <a:prstGeom prst="ellips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86" name="Line"/>
            <p:cNvSpPr/>
            <p:nvPr/>
          </p:nvSpPr>
          <p:spPr>
            <a:xfrm flipV="1">
              <a:off x="1517031" y="1310805"/>
              <a:ext cx="1" cy="112553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87" name="Line"/>
            <p:cNvSpPr/>
            <p:nvPr/>
          </p:nvSpPr>
          <p:spPr>
            <a:xfrm>
              <a:off x="185455" y="683732"/>
              <a:ext cx="704503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88" name="Line"/>
            <p:cNvSpPr/>
            <p:nvPr/>
          </p:nvSpPr>
          <p:spPr>
            <a:xfrm>
              <a:off x="2191791" y="683732"/>
              <a:ext cx="1333717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89" name="Equation"/>
                <p:cNvSpPr txBox="1"/>
                <p:nvPr/>
              </p:nvSpPr>
              <p:spPr>
                <a:xfrm>
                  <a:off x="0" y="189991"/>
                  <a:ext cx="263754" cy="2576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38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189991"/>
                  <a:ext cx="263754" cy="257608"/>
                </a:xfrm>
                <a:prstGeom prst="rect">
                  <a:avLst/>
                </a:prstGeom>
                <a:blipFill>
                  <a:blip r:embed="rId4"/>
                  <a:stretch>
                    <a:fillRect r="-11628" b="-11190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0" name="Equation"/>
                <p:cNvSpPr txBox="1"/>
                <p:nvPr/>
              </p:nvSpPr>
              <p:spPr>
                <a:xfrm>
                  <a:off x="1164780" y="2539523"/>
                  <a:ext cx="704503" cy="517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39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64780" y="2539523"/>
                  <a:ext cx="704503" cy="517450"/>
                </a:xfrm>
                <a:prstGeom prst="rect">
                  <a:avLst/>
                </a:prstGeom>
                <a:blipFill>
                  <a:blip r:embed="rId5"/>
                  <a:stretch>
                    <a:fillRect b="-2705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1" name="Equation"/>
                <p:cNvSpPr txBox="1"/>
                <p:nvPr/>
              </p:nvSpPr>
              <p:spPr>
                <a:xfrm>
                  <a:off x="2244158" y="0"/>
                  <a:ext cx="1017017" cy="51744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39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44158" y="0"/>
                  <a:ext cx="1017017" cy="517449"/>
                </a:xfrm>
                <a:prstGeom prst="rect">
                  <a:avLst/>
                </a:prstGeom>
                <a:blipFill>
                  <a:blip r:embed="rId6"/>
                  <a:stretch>
                    <a:fillRect r="-2395" b="-2823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2" name="Equation"/>
                <p:cNvSpPr txBox="1"/>
                <p:nvPr/>
              </p:nvSpPr>
              <p:spPr>
                <a:xfrm>
                  <a:off x="6258594" y="391386"/>
                  <a:ext cx="374176" cy="5185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39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258594" y="391386"/>
                  <a:ext cx="374176" cy="518567"/>
                </a:xfrm>
                <a:prstGeom prst="rect">
                  <a:avLst/>
                </a:prstGeom>
                <a:blipFill>
                  <a:blip r:embed="rId7"/>
                  <a:stretch>
                    <a:fillRect l="-1613" r="-12903" b="-2823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3" name="Circle"/>
            <p:cNvSpPr/>
            <p:nvPr/>
          </p:nvSpPr>
          <p:spPr>
            <a:xfrm>
              <a:off x="5810682" y="48732"/>
              <a:ext cx="1270001" cy="1270001"/>
            </a:xfrm>
            <a:prstGeom prst="ellips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4" name="Equation"/>
                <p:cNvSpPr txBox="1"/>
                <p:nvPr/>
              </p:nvSpPr>
              <p:spPr>
                <a:xfrm>
                  <a:off x="3985422" y="504128"/>
                  <a:ext cx="328575" cy="32857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39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85422" y="504128"/>
                  <a:ext cx="328575" cy="328575"/>
                </a:xfrm>
                <a:prstGeom prst="rect">
                  <a:avLst/>
                </a:prstGeom>
                <a:blipFill>
                  <a:blip r:embed="rId8"/>
                  <a:stretch>
                    <a:fillRect r="-16667" b="-7037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5" name="Equation"/>
                <p:cNvSpPr txBox="1"/>
                <p:nvPr/>
              </p:nvSpPr>
              <p:spPr>
                <a:xfrm>
                  <a:off x="1449213" y="582851"/>
                  <a:ext cx="135637" cy="135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8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oMath>
                    </m:oMathPara>
                  </a14:m>
                  <a:endParaRPr sz="8900"/>
                </a:p>
              </p:txBody>
            </p:sp>
          </mc:Choice>
          <mc:Fallback>
            <p:sp>
              <p:nvSpPr>
                <p:cNvPr id="395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49213" y="582851"/>
                  <a:ext cx="135637" cy="135637"/>
                </a:xfrm>
                <a:prstGeom prst="rect">
                  <a:avLst/>
                </a:prstGeom>
                <a:blipFill>
                  <a:blip r:embed="rId9"/>
                  <a:stretch>
                    <a:fillRect r="-65217" b="-531818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6" name="Line"/>
            <p:cNvSpPr/>
            <p:nvPr/>
          </p:nvSpPr>
          <p:spPr>
            <a:xfrm flipV="1">
              <a:off x="4142699" y="1288181"/>
              <a:ext cx="1" cy="1107594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97" name="Equation"/>
                <p:cNvSpPr txBox="1"/>
                <p:nvPr/>
              </p:nvSpPr>
              <p:spPr>
                <a:xfrm>
                  <a:off x="3913942" y="2539523"/>
                  <a:ext cx="457513" cy="517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39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13942" y="2539523"/>
                  <a:ext cx="457513" cy="517450"/>
                </a:xfrm>
                <a:prstGeom prst="rect">
                  <a:avLst/>
                </a:prstGeom>
                <a:blipFill>
                  <a:blip r:embed="rId10"/>
                  <a:stretch>
                    <a:fillRect r="-17333" b="-2705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398" name="Line"/>
            <p:cNvSpPr/>
            <p:nvPr/>
          </p:nvSpPr>
          <p:spPr>
            <a:xfrm>
              <a:off x="4820512" y="701372"/>
              <a:ext cx="1017017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399" name="Line"/>
            <p:cNvSpPr/>
            <p:nvPr/>
          </p:nvSpPr>
          <p:spPr>
            <a:xfrm>
              <a:off x="7053837" y="701372"/>
              <a:ext cx="983901" cy="755635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0" name="Equation"/>
                <p:cNvSpPr txBox="1"/>
                <p:nvPr/>
              </p:nvSpPr>
              <p:spPr>
                <a:xfrm>
                  <a:off x="5034568" y="60071"/>
                  <a:ext cx="392692" cy="39730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00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034568" y="60071"/>
                  <a:ext cx="392692" cy="397307"/>
                </a:xfrm>
                <a:prstGeom prst="rect">
                  <a:avLst/>
                </a:prstGeom>
                <a:blipFill>
                  <a:blip r:embed="rId11"/>
                  <a:stretch>
                    <a:fillRect r="-20313" b="-6769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1" name="Equation"/>
                <p:cNvSpPr txBox="1"/>
                <p:nvPr/>
              </p:nvSpPr>
              <p:spPr>
                <a:xfrm>
                  <a:off x="7464106" y="391944"/>
                  <a:ext cx="458630" cy="517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0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464106" y="391944"/>
                  <a:ext cx="458630" cy="517450"/>
                </a:xfrm>
                <a:prstGeom prst="rect">
                  <a:avLst/>
                </a:prstGeom>
                <a:blipFill>
                  <a:blip r:embed="rId12"/>
                  <a:stretch>
                    <a:fillRect r="-17333" b="-2705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19" name="Group"/>
          <p:cNvGrpSpPr/>
          <p:nvPr/>
        </p:nvGrpSpPr>
        <p:grpSpPr>
          <a:xfrm>
            <a:off x="8964134" y="4593158"/>
            <a:ext cx="7125246" cy="3041305"/>
            <a:chOff x="0" y="0"/>
            <a:chExt cx="7125244" cy="3041303"/>
          </a:xfrm>
        </p:grpSpPr>
        <p:sp>
          <p:nvSpPr>
            <p:cNvPr id="403" name="Circle"/>
            <p:cNvSpPr/>
            <p:nvPr/>
          </p:nvSpPr>
          <p:spPr>
            <a:xfrm>
              <a:off x="2651068" y="0"/>
              <a:ext cx="1270001" cy="1270000"/>
            </a:xfrm>
            <a:prstGeom prst="ellips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04" name="Circle"/>
            <p:cNvSpPr/>
            <p:nvPr/>
          </p:nvSpPr>
          <p:spPr>
            <a:xfrm>
              <a:off x="0" y="0"/>
              <a:ext cx="1270000" cy="1270000"/>
            </a:xfrm>
            <a:prstGeom prst="ellips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05" name="Line"/>
            <p:cNvSpPr/>
            <p:nvPr/>
          </p:nvSpPr>
          <p:spPr>
            <a:xfrm flipV="1">
              <a:off x="635000" y="1295136"/>
              <a:ext cx="1" cy="1125530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06" name="Line"/>
            <p:cNvSpPr/>
            <p:nvPr/>
          </p:nvSpPr>
          <p:spPr>
            <a:xfrm>
              <a:off x="1230110" y="668063"/>
              <a:ext cx="1438767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7" name="Equation"/>
                <p:cNvSpPr txBox="1"/>
                <p:nvPr/>
              </p:nvSpPr>
              <p:spPr>
                <a:xfrm>
                  <a:off x="282749" y="2523854"/>
                  <a:ext cx="736242" cy="517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0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82749" y="2523854"/>
                  <a:ext cx="736242" cy="517450"/>
                </a:xfrm>
                <a:prstGeom prst="rect">
                  <a:avLst/>
                </a:prstGeom>
                <a:blipFill>
                  <a:blip r:embed="rId13"/>
                  <a:stretch>
                    <a:fillRect b="-2823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8" name="Equation"/>
                <p:cNvSpPr txBox="1"/>
                <p:nvPr/>
              </p:nvSpPr>
              <p:spPr>
                <a:xfrm>
                  <a:off x="1220466" y="1313"/>
                  <a:ext cx="1213569" cy="51744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sSub>
                          <m:sSubPr>
                            <m:ctrlP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0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220466" y="1313"/>
                  <a:ext cx="1213569" cy="517449"/>
                </a:xfrm>
                <a:prstGeom prst="rect">
                  <a:avLst/>
                </a:prstGeom>
                <a:blipFill>
                  <a:blip r:embed="rId14"/>
                  <a:stretch>
                    <a:fillRect r="-7035" b="-27059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09" name="Equation"/>
                <p:cNvSpPr txBox="1"/>
                <p:nvPr/>
              </p:nvSpPr>
              <p:spPr>
                <a:xfrm>
                  <a:off x="5401964" y="375716"/>
                  <a:ext cx="405916" cy="51856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09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01964" y="375716"/>
                  <a:ext cx="405916" cy="518568"/>
                </a:xfrm>
                <a:prstGeom prst="rect">
                  <a:avLst/>
                </a:prstGeom>
                <a:blipFill>
                  <a:blip r:embed="rId15"/>
                  <a:stretch>
                    <a:fillRect l="-3030" r="-6061" b="-2941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0" name="Circle"/>
            <p:cNvSpPr/>
            <p:nvPr/>
          </p:nvSpPr>
          <p:spPr>
            <a:xfrm>
              <a:off x="4954051" y="33063"/>
              <a:ext cx="1270001" cy="1270001"/>
            </a:xfrm>
            <a:prstGeom prst="ellips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1" name="Equation"/>
                <p:cNvSpPr txBox="1"/>
                <p:nvPr/>
              </p:nvSpPr>
              <p:spPr>
                <a:xfrm>
                  <a:off x="3128791" y="488459"/>
                  <a:ext cx="328575" cy="32857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1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128791" y="488459"/>
                  <a:ext cx="328575" cy="328575"/>
                </a:xfrm>
                <a:prstGeom prst="rect">
                  <a:avLst/>
                </a:prstGeom>
                <a:blipFill>
                  <a:blip r:embed="rId16"/>
                  <a:stretch>
                    <a:fillRect r="-14815" b="-7358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2" name="Equation"/>
                <p:cNvSpPr txBox="1"/>
                <p:nvPr/>
              </p:nvSpPr>
              <p:spPr>
                <a:xfrm>
                  <a:off x="535056" y="567182"/>
                  <a:ext cx="135637" cy="13563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89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</m:oMath>
                    </m:oMathPara>
                  </a14:m>
                  <a:endParaRPr sz="8900"/>
                </a:p>
              </p:txBody>
            </p:sp>
          </mc:Choice>
          <mc:Fallback>
            <p:sp>
              <p:nvSpPr>
                <p:cNvPr id="41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35056" y="567182"/>
                  <a:ext cx="135637" cy="135637"/>
                </a:xfrm>
                <a:prstGeom prst="rect">
                  <a:avLst/>
                </a:prstGeom>
                <a:blipFill>
                  <a:blip r:embed="rId17"/>
                  <a:stretch>
                    <a:fillRect r="-60870" b="-527273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3" name="Line"/>
            <p:cNvSpPr/>
            <p:nvPr/>
          </p:nvSpPr>
          <p:spPr>
            <a:xfrm flipV="1">
              <a:off x="3286067" y="1272512"/>
              <a:ext cx="1" cy="1107594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4" name="Equation"/>
                <p:cNvSpPr txBox="1"/>
                <p:nvPr/>
              </p:nvSpPr>
              <p:spPr>
                <a:xfrm>
                  <a:off x="3057311" y="2523854"/>
                  <a:ext cx="489253" cy="517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𝐛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1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057311" y="2523854"/>
                  <a:ext cx="489253" cy="517450"/>
                </a:xfrm>
                <a:prstGeom prst="rect">
                  <a:avLst/>
                </a:prstGeom>
                <a:blipFill>
                  <a:blip r:embed="rId18"/>
                  <a:stretch>
                    <a:fillRect r="-11250" b="-2823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15" name="Line"/>
            <p:cNvSpPr/>
            <p:nvPr/>
          </p:nvSpPr>
          <p:spPr>
            <a:xfrm>
              <a:off x="3963881" y="685703"/>
              <a:ext cx="1017017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416" name="Line"/>
            <p:cNvSpPr/>
            <p:nvPr/>
          </p:nvSpPr>
          <p:spPr>
            <a:xfrm>
              <a:off x="6197206" y="685703"/>
              <a:ext cx="928039" cy="69378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7" name="Equation"/>
                <p:cNvSpPr txBox="1"/>
                <p:nvPr/>
              </p:nvSpPr>
              <p:spPr>
                <a:xfrm>
                  <a:off x="4177937" y="44401"/>
                  <a:ext cx="424432" cy="3973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𝐳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1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77937" y="44401"/>
                  <a:ext cx="424432" cy="397308"/>
                </a:xfrm>
                <a:prstGeom prst="rect">
                  <a:avLst/>
                </a:prstGeom>
                <a:blipFill>
                  <a:blip r:embed="rId19"/>
                  <a:stretch>
                    <a:fillRect r="-13043" b="-66154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18" name="Equation"/>
                <p:cNvSpPr txBox="1"/>
                <p:nvPr/>
              </p:nvSpPr>
              <p:spPr>
                <a:xfrm>
                  <a:off x="6575735" y="376275"/>
                  <a:ext cx="490371" cy="517450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18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575735" y="376275"/>
                  <a:ext cx="490371" cy="517450"/>
                </a:xfrm>
                <a:prstGeom prst="rect">
                  <a:avLst/>
                </a:prstGeom>
                <a:blipFill>
                  <a:blip r:embed="rId20"/>
                  <a:stretch>
                    <a:fillRect r="-9877" b="-2823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443" name="Group"/>
          <p:cNvGrpSpPr/>
          <p:nvPr/>
        </p:nvGrpSpPr>
        <p:grpSpPr>
          <a:xfrm>
            <a:off x="16033188" y="5646339"/>
            <a:ext cx="7720546" cy="4523818"/>
            <a:chOff x="0" y="0"/>
            <a:chExt cx="7720545" cy="4523816"/>
          </a:xfrm>
        </p:grpSpPr>
        <p:grpSp>
          <p:nvGrpSpPr>
            <p:cNvPr id="440" name="Group"/>
            <p:cNvGrpSpPr/>
            <p:nvPr/>
          </p:nvGrpSpPr>
          <p:grpSpPr>
            <a:xfrm>
              <a:off x="0" y="0"/>
              <a:ext cx="7720546" cy="3908043"/>
              <a:chOff x="0" y="0"/>
              <a:chExt cx="7720545" cy="3908042"/>
            </a:xfrm>
          </p:grpSpPr>
          <p:sp>
            <p:nvSpPr>
              <p:cNvPr id="420" name="Circle"/>
              <p:cNvSpPr/>
              <p:nvPr/>
            </p:nvSpPr>
            <p:spPr>
              <a:xfrm>
                <a:off x="2714568" y="0"/>
                <a:ext cx="1270001" cy="1270000"/>
              </a:xfrm>
              <a:prstGeom prst="ellips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1" name="Circle"/>
              <p:cNvSpPr/>
              <p:nvPr/>
            </p:nvSpPr>
            <p:spPr>
              <a:xfrm>
                <a:off x="0" y="0"/>
                <a:ext cx="1270000" cy="1270000"/>
              </a:xfrm>
              <a:prstGeom prst="ellips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2" name="Line"/>
              <p:cNvSpPr/>
              <p:nvPr/>
            </p:nvSpPr>
            <p:spPr>
              <a:xfrm flipV="1">
                <a:off x="635000" y="1295136"/>
                <a:ext cx="1" cy="1125530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23" name="Line"/>
              <p:cNvSpPr/>
              <p:nvPr/>
            </p:nvSpPr>
            <p:spPr>
              <a:xfrm>
                <a:off x="1245837" y="668063"/>
                <a:ext cx="1486540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4" name="Equation"/>
                  <p:cNvSpPr txBox="1"/>
                  <p:nvPr/>
                </p:nvSpPr>
                <p:spPr>
                  <a:xfrm>
                    <a:off x="282749" y="2523854"/>
                    <a:ext cx="733862" cy="521814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24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82749" y="2523854"/>
                    <a:ext cx="733862" cy="521814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26744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5" name="Equation"/>
                  <p:cNvSpPr txBox="1"/>
                  <p:nvPr/>
                </p:nvSpPr>
                <p:spPr>
                  <a:xfrm>
                    <a:off x="1283966" y="1313"/>
                    <a:ext cx="1245309" cy="521814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  <m:sSub>
                            <m:sSubPr>
                              <m:ctrlP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𝐡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25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283966" y="1313"/>
                    <a:ext cx="1245309" cy="521814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r="-5392" b="-2790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6" name="Equation"/>
                  <p:cNvSpPr txBox="1"/>
                  <p:nvPr/>
                </p:nvSpPr>
                <p:spPr>
                  <a:xfrm>
                    <a:off x="5511734" y="512343"/>
                    <a:ext cx="281636" cy="245314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𝜎</m:t>
                          </m:r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26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511734" y="512343"/>
                    <a:ext cx="281636" cy="245314"/>
                  </a:xfrm>
                  <a:prstGeom prst="rect">
                    <a:avLst/>
                  </a:prstGeom>
                  <a:blipFill>
                    <a:blip r:embed="rId23"/>
                    <a:stretch>
                      <a:fillRect r="-17391" b="-121951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27" name="Circle"/>
              <p:cNvSpPr/>
              <p:nvPr/>
            </p:nvSpPr>
            <p:spPr>
              <a:xfrm>
                <a:off x="5017551" y="33063"/>
                <a:ext cx="1270001" cy="1270001"/>
              </a:xfrm>
              <a:prstGeom prst="ellips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8" name="Equation"/>
                  <p:cNvSpPr txBox="1"/>
                  <p:nvPr/>
                </p:nvSpPr>
                <p:spPr>
                  <a:xfrm>
                    <a:off x="3192291" y="488459"/>
                    <a:ext cx="328575" cy="32857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+</m:t>
                          </m:r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28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92291" y="488459"/>
                    <a:ext cx="328575" cy="328575"/>
                  </a:xfrm>
                  <a:prstGeom prst="rect">
                    <a:avLst/>
                  </a:prstGeom>
                  <a:blipFill>
                    <a:blip r:embed="rId24"/>
                    <a:stretch>
                      <a:fillRect r="-14815" b="-70370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29" name="Equation"/>
                  <p:cNvSpPr txBox="1"/>
                  <p:nvPr/>
                </p:nvSpPr>
                <p:spPr>
                  <a:xfrm>
                    <a:off x="535056" y="567182"/>
                    <a:ext cx="135637" cy="13563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89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⋅</m:t>
                          </m:r>
                        </m:oMath>
                      </m:oMathPara>
                    </a14:m>
                    <a:endParaRPr sz="8900"/>
                  </a:p>
                </p:txBody>
              </p:sp>
            </mc:Choice>
            <mc:Fallback>
              <p:sp>
                <p:nvSpPr>
                  <p:cNvPr id="42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35056" y="567182"/>
                    <a:ext cx="135637" cy="135637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68182" b="-504348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0" name="Line"/>
              <p:cNvSpPr/>
              <p:nvPr/>
            </p:nvSpPr>
            <p:spPr>
              <a:xfrm flipV="1">
                <a:off x="3349567" y="1272512"/>
                <a:ext cx="1" cy="1107594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1" name="Equation"/>
                  <p:cNvSpPr txBox="1"/>
                  <p:nvPr/>
                </p:nvSpPr>
                <p:spPr>
                  <a:xfrm>
                    <a:off x="3120811" y="2523854"/>
                    <a:ext cx="432593" cy="52572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31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120811" y="2523854"/>
                    <a:ext cx="432593" cy="525726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r="-16901" b="-26744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2" name="Line"/>
              <p:cNvSpPr/>
              <p:nvPr/>
            </p:nvSpPr>
            <p:spPr>
              <a:xfrm>
                <a:off x="4027381" y="685703"/>
                <a:ext cx="1017017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33" name="Line"/>
              <p:cNvSpPr/>
              <p:nvPr/>
            </p:nvSpPr>
            <p:spPr>
              <a:xfrm>
                <a:off x="6028968" y="1164890"/>
                <a:ext cx="712528" cy="712528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4" name="Equation"/>
                  <p:cNvSpPr txBox="1"/>
                  <p:nvPr/>
                </p:nvSpPr>
                <p:spPr>
                  <a:xfrm>
                    <a:off x="4241437" y="44401"/>
                    <a:ext cx="422051" cy="401672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𝐳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𝑜</m:t>
                              </m:r>
                            </m:sub>
                          </m:sSub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34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4241437" y="44401"/>
                    <a:ext cx="422051" cy="401672"/>
                  </a:xfrm>
                  <a:prstGeom prst="rect">
                    <a:avLst/>
                  </a:prstGeom>
                  <a:blipFill>
                    <a:blip r:embed="rId27"/>
                    <a:stretch>
                      <a:fillRect r="-17391" b="-67692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5" name="Equation"/>
                  <p:cNvSpPr txBox="1"/>
                  <p:nvPr/>
                </p:nvSpPr>
                <p:spPr>
                  <a:xfrm>
                    <a:off x="6412748" y="1043040"/>
                    <a:ext cx="251461" cy="36154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𝑦</m:t>
                          </m:r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35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6412748" y="1043040"/>
                    <a:ext cx="251461" cy="361545"/>
                  </a:xfrm>
                  <a:prstGeom prst="rect">
                    <a:avLst/>
                  </a:prstGeom>
                  <a:blipFill>
                    <a:blip r:embed="rId28"/>
                    <a:stretch>
                      <a:fillRect r="-24390" b="-8166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6" name="Circle"/>
              <p:cNvSpPr/>
              <p:nvPr/>
            </p:nvSpPr>
            <p:spPr>
              <a:xfrm>
                <a:off x="6450545" y="1716875"/>
                <a:ext cx="1270001" cy="1270001"/>
              </a:xfrm>
              <a:prstGeom prst="ellips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37" name="Equation"/>
                  <p:cNvSpPr txBox="1"/>
                  <p:nvPr/>
                </p:nvSpPr>
                <p:spPr>
                  <a:xfrm>
                    <a:off x="5257152" y="3415180"/>
                    <a:ext cx="503480" cy="492863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p>
                            <m:sSupPr>
                              <m:ctrlPr>
                                <a:rPr sz="4400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sz="44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e>
                            <m:sup>
                              <m:r>
                                <a:rPr sz="4400" i="1">
                                  <a:solidFill>
                                    <a:srgbClr val="5E5E5E"/>
                                  </a:solidFill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oMath>
                      </m:oMathPara>
                    </a14:m>
                    <a:endParaRPr sz="4400">
                      <a:solidFill>
                        <a:srgbClr val="5E5E5E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37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257152" y="3415180"/>
                    <a:ext cx="503480" cy="492863"/>
                  </a:xfrm>
                  <a:prstGeom prst="rect">
                    <a:avLst/>
                  </a:prstGeom>
                  <a:blipFill>
                    <a:blip r:embed="rId29"/>
                    <a:stretch>
                      <a:fillRect l="-1220" r="-2439" b="-35802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438" name="Line"/>
              <p:cNvSpPr/>
              <p:nvPr/>
            </p:nvSpPr>
            <p:spPr>
              <a:xfrm flipV="1">
                <a:off x="5963770" y="2784761"/>
                <a:ext cx="672257" cy="672256"/>
              </a:xfrm>
              <a:prstGeom prst="line">
                <a:avLst/>
              </a:prstGeom>
              <a:noFill/>
              <a:ln w="63500" cap="flat">
                <a:solidFill>
                  <a:srgbClr val="929292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p:sp>
            <p:nvSpPr>
              <p:cNvPr id="439" name="Line"/>
              <p:cNvSpPr/>
              <p:nvPr/>
            </p:nvSpPr>
            <p:spPr>
              <a:xfrm>
                <a:off x="7085545" y="2983462"/>
                <a:ext cx="1" cy="877470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1" name="Equation"/>
                <p:cNvSpPr txBox="1"/>
                <p:nvPr/>
              </p:nvSpPr>
              <p:spPr>
                <a:xfrm>
                  <a:off x="6723913" y="2050843"/>
                  <a:ext cx="792662" cy="610923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sSub>
                              <m:sSubPr>
                                <m:ctrlP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𝐶𝐸</m:t>
                                </m:r>
                              </m:sub>
                            </m:sSub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41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913" y="2050843"/>
                  <a:ext cx="792662" cy="610923"/>
                </a:xfrm>
                <a:prstGeom prst="rect">
                  <a:avLst/>
                </a:prstGeom>
                <a:blipFill>
                  <a:blip r:embed="rId30"/>
                  <a:stretch>
                    <a:fillRect l="-769" r="-14615" b="-22000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42" name="Equation"/>
                <p:cNvSpPr txBox="1"/>
                <p:nvPr/>
              </p:nvSpPr>
              <p:spPr>
                <a:xfrm>
                  <a:off x="6723913" y="4012078"/>
                  <a:ext cx="811700" cy="511739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sz="4400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e>
                          <m:sub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𝐶𝐸</m:t>
                            </m:r>
                          </m:sub>
                        </m:sSub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42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723913" y="4012078"/>
                  <a:ext cx="811700" cy="511739"/>
                </a:xfrm>
                <a:prstGeom prst="rect">
                  <a:avLst/>
                </a:prstGeom>
                <a:blipFill>
                  <a:blip r:embed="rId31"/>
                  <a:stretch>
                    <a:fillRect b="-30952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pic>
        <p:nvPicPr>
          <p:cNvPr id="444" name="Image" descr="Image"/>
          <p:cNvPicPr>
            <a:picLocks noChangeAspect="1"/>
          </p:cNvPicPr>
          <p:nvPr/>
        </p:nvPicPr>
        <p:blipFill>
          <a:blip r:embed="rId32"/>
          <a:stretch>
            <a:fillRect/>
          </a:stretch>
        </p:blipFill>
        <p:spPr>
          <a:xfrm>
            <a:off x="429610" y="529034"/>
            <a:ext cx="1473201" cy="2692401"/>
          </a:xfrm>
          <a:prstGeom prst="rect">
            <a:avLst/>
          </a:prstGeom>
          <a:ln w="12700">
            <a:miter lim="400000"/>
          </a:ln>
        </p:spPr>
      </p:pic>
      <p:sp>
        <p:nvSpPr>
          <p:cNvPr id="445" name="Focus on computation…"/>
          <p:cNvSpPr txBox="1"/>
          <p:nvPr/>
        </p:nvSpPr>
        <p:spPr>
          <a:xfrm>
            <a:off x="667691" y="8600275"/>
            <a:ext cx="5672206" cy="26924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 defTabSz="764024">
              <a:spcBef>
                <a:spcPts val="1300"/>
              </a:spcBef>
              <a:defRPr sz="3534">
                <a:latin typeface="Georgia"/>
                <a:ea typeface="Georgia"/>
                <a:cs typeface="Georgia"/>
                <a:sym typeface="Georgia"/>
              </a:defRPr>
            </a:pPr>
            <a:r>
              <a:t>Focus on computation</a:t>
            </a:r>
          </a:p>
          <a:p>
            <a:pPr algn="l" defTabSz="764024">
              <a:spcBef>
                <a:spcPts val="1300"/>
              </a:spcBef>
              <a:defRPr sz="3534">
                <a:latin typeface="Georgia"/>
                <a:ea typeface="Georgia"/>
                <a:cs typeface="Georgia"/>
                <a:sym typeface="Georgia"/>
              </a:defRPr>
            </a:pPr>
            <a:r>
              <a:t>Nodes represent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operations</a:t>
            </a:r>
          </a:p>
          <a:p>
            <a:pPr algn="l" defTabSz="764024">
              <a:spcBef>
                <a:spcPts val="1300"/>
              </a:spcBef>
              <a:defRPr sz="3534">
                <a:latin typeface="Georgia"/>
                <a:ea typeface="Georgia"/>
                <a:cs typeface="Georgia"/>
                <a:sym typeface="Georgia"/>
              </a:defRPr>
            </a:pPr>
            <a:r>
              <a:t>Edges are values from one operator to the next</a:t>
            </a:r>
          </a:p>
        </p:txBody>
      </p:sp>
      <p:sp>
        <p:nvSpPr>
          <p:cNvPr id="446" name="Forward pass: compute function value…"/>
          <p:cNvSpPr txBox="1"/>
          <p:nvPr/>
        </p:nvSpPr>
        <p:spPr>
          <a:xfrm>
            <a:off x="13981610" y="11131147"/>
            <a:ext cx="10724944" cy="23425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Forward pass</a:t>
            </a:r>
            <a:r>
              <a:t>: compute function value</a:t>
            </a:r>
          </a:p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Backward pass</a:t>
            </a:r>
            <a:r>
              <a:t>: gradient using chain rule</a:t>
            </a:r>
          </a:p>
        </p:txBody>
      </p:sp>
      <p:pic>
        <p:nvPicPr>
          <p:cNvPr id="447" name="Image" descr="Image"/>
          <p:cNvPicPr>
            <a:picLocks noChangeAspect="1"/>
          </p:cNvPicPr>
          <p:nvPr/>
        </p:nvPicPr>
        <p:blipFill>
          <a:blip r:embed="rId33"/>
          <a:stretch>
            <a:fillRect/>
          </a:stretch>
        </p:blipFill>
        <p:spPr>
          <a:xfrm>
            <a:off x="22455364" y="4871104"/>
            <a:ext cx="1687458" cy="173859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4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4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0" grpId="0" animBg="1" advAuto="0"/>
      <p:bldP spid="381" grpId="0" animBg="1" advAuto="0"/>
      <p:bldP spid="402" grpId="0" animBg="1" advAuto="0"/>
      <p:bldP spid="419" grpId="0" animBg="1" advAuto="0"/>
      <p:bldP spid="443" grpId="0" animBg="1" advAuto="0"/>
      <p:bldP spid="445" grpId="0" animBg="1" advAuto="0"/>
      <p:bldP spid="446" grpId="0" animBg="1" advAuto="0"/>
      <p:bldP spid="447" grpId="0" animBg="1" advAuto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Simplified example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549448"/>
          </a:xfrm>
          <a:prstGeom prst="rect">
            <a:avLst/>
          </a:prstGeom>
        </p:spPr>
        <p:txBody>
          <a:bodyPr/>
          <a:lstStyle/>
          <a:p>
            <a:r>
              <a:t>Simplified example</a:t>
            </a:r>
          </a:p>
        </p:txBody>
      </p:sp>
      <p:sp>
        <p:nvSpPr>
          <p:cNvPr id="45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173285" y="12950780"/>
            <a:ext cx="315952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22</a:t>
            </a:fld>
            <a:endParaRPr/>
          </a:p>
        </p:txBody>
      </p:sp>
      <p:grpSp>
        <p:nvGrpSpPr>
          <p:cNvPr id="475" name="Group"/>
          <p:cNvGrpSpPr/>
          <p:nvPr/>
        </p:nvGrpSpPr>
        <p:grpSpPr>
          <a:xfrm>
            <a:off x="1413500" y="3469353"/>
            <a:ext cx="10802724" cy="2911663"/>
            <a:chOff x="0" y="0"/>
            <a:chExt cx="10802723" cy="2911662"/>
          </a:xfrm>
        </p:grpSpPr>
        <p:grpSp>
          <p:nvGrpSpPr>
            <p:cNvPr id="472" name="Group"/>
            <p:cNvGrpSpPr/>
            <p:nvPr/>
          </p:nvGrpSpPr>
          <p:grpSpPr>
            <a:xfrm>
              <a:off x="942097" y="0"/>
              <a:ext cx="9860627" cy="2911663"/>
              <a:chOff x="0" y="0"/>
              <a:chExt cx="9860626" cy="2911662"/>
            </a:xfrm>
          </p:grpSpPr>
          <p:grpSp>
            <p:nvGrpSpPr>
              <p:cNvPr id="469" name="Group"/>
              <p:cNvGrpSpPr/>
              <p:nvPr/>
            </p:nvGrpSpPr>
            <p:grpSpPr>
              <a:xfrm>
                <a:off x="-1" y="0"/>
                <a:ext cx="9420921" cy="2911663"/>
                <a:chOff x="0" y="0"/>
                <a:chExt cx="9420919" cy="2911662"/>
              </a:xfrm>
            </p:grpSpPr>
            <p:sp>
              <p:nvSpPr>
                <p:cNvPr id="451" name="Circle"/>
                <p:cNvSpPr/>
                <p:nvPr/>
              </p:nvSpPr>
              <p:spPr>
                <a:xfrm>
                  <a:off x="2714568" y="0"/>
                  <a:ext cx="1270001" cy="1270000"/>
                </a:xfrm>
                <a:prstGeom prst="ellips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452" name="Circle"/>
                <p:cNvSpPr/>
                <p:nvPr/>
              </p:nvSpPr>
              <p:spPr>
                <a:xfrm>
                  <a:off x="0" y="0"/>
                  <a:ext cx="1270000" cy="1270000"/>
                </a:xfrm>
                <a:prstGeom prst="ellips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453" name="Line"/>
                <p:cNvSpPr/>
                <p:nvPr/>
              </p:nvSpPr>
              <p:spPr>
                <a:xfrm flipV="1">
                  <a:off x="635000" y="1295136"/>
                  <a:ext cx="1" cy="1125530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454" name="Line"/>
                <p:cNvSpPr/>
                <p:nvPr/>
              </p:nvSpPr>
              <p:spPr>
                <a:xfrm>
                  <a:off x="1245837" y="668063"/>
                  <a:ext cx="1486540" cy="1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5" name="Equation"/>
                    <p:cNvSpPr txBox="1"/>
                    <p:nvPr/>
                  </p:nvSpPr>
                  <p:spPr>
                    <a:xfrm>
                      <a:off x="366217" y="2524692"/>
                      <a:ext cx="537566" cy="386132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55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66217" y="2524692"/>
                      <a:ext cx="537566" cy="386132"/>
                    </a:xfrm>
                    <a:prstGeom prst="rect">
                      <a:avLst/>
                    </a:prstGeom>
                    <a:blipFill>
                      <a:blip r:embed="rId2"/>
                      <a:stretch>
                        <a:fillRect r="-1124" b="-4062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6" name="Equation"/>
                    <p:cNvSpPr txBox="1"/>
                    <p:nvPr/>
                  </p:nvSpPr>
                  <p:spPr>
                    <a:xfrm>
                      <a:off x="1283966" y="1313"/>
                      <a:ext cx="818643" cy="38613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𝐖𝐱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56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1283966" y="1313"/>
                      <a:ext cx="818643" cy="386131"/>
                    </a:xfrm>
                    <a:prstGeom prst="rect">
                      <a:avLst/>
                    </a:prstGeom>
                    <a:blipFill>
                      <a:blip r:embed="rId3"/>
                      <a:stretch>
                        <a:fillRect r="-2985" b="-4062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7" name="Equation"/>
                    <p:cNvSpPr txBox="1"/>
                    <p:nvPr/>
                  </p:nvSpPr>
                  <p:spPr>
                    <a:xfrm>
                      <a:off x="5511734" y="512343"/>
                      <a:ext cx="281636" cy="245314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𝜎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57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511734" y="512343"/>
                      <a:ext cx="281636" cy="245314"/>
                    </a:xfrm>
                    <a:prstGeom prst="rect">
                      <a:avLst/>
                    </a:prstGeom>
                    <a:blipFill>
                      <a:blip r:embed="rId4"/>
                      <a:stretch>
                        <a:fillRect r="-15217" b="-125000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58" name="Circle"/>
                <p:cNvSpPr/>
                <p:nvPr/>
              </p:nvSpPr>
              <p:spPr>
                <a:xfrm>
                  <a:off x="5017551" y="33063"/>
                  <a:ext cx="1270001" cy="1270001"/>
                </a:xfrm>
                <a:prstGeom prst="ellips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59" name="Equation"/>
                    <p:cNvSpPr txBox="1"/>
                    <p:nvPr/>
                  </p:nvSpPr>
                  <p:spPr>
                    <a:xfrm>
                      <a:off x="3192291" y="488459"/>
                      <a:ext cx="328575" cy="32857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59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192291" y="488459"/>
                      <a:ext cx="328575" cy="328575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r="-16667" b="-70370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0" name="Equation"/>
                    <p:cNvSpPr txBox="1"/>
                    <p:nvPr/>
                  </p:nvSpPr>
                  <p:spPr>
                    <a:xfrm>
                      <a:off x="535056" y="567182"/>
                      <a:ext cx="135637" cy="13563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89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⋅</m:t>
                            </m:r>
                          </m:oMath>
                        </m:oMathPara>
                      </a14:m>
                      <a:endParaRPr sz="8900"/>
                    </a:p>
                  </p:txBody>
                </p:sp>
              </mc:Choice>
              <mc:Fallback>
                <p:sp>
                  <p:nvSpPr>
                    <p:cNvPr id="460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535056" y="567182"/>
                      <a:ext cx="135637" cy="135637"/>
                    </a:xfrm>
                    <a:prstGeom prst="rect">
                      <a:avLst/>
                    </a:prstGeom>
                    <a:blipFill>
                      <a:blip r:embed="rId6"/>
                      <a:stretch>
                        <a:fillRect r="-68182" b="-531818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1" name="Line"/>
                <p:cNvSpPr/>
                <p:nvPr/>
              </p:nvSpPr>
              <p:spPr>
                <a:xfrm flipV="1">
                  <a:off x="3349567" y="1272512"/>
                  <a:ext cx="1" cy="1107594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2" name="Equation"/>
                    <p:cNvSpPr txBox="1"/>
                    <p:nvPr/>
                  </p:nvSpPr>
                  <p:spPr>
                    <a:xfrm>
                      <a:off x="3223838" y="2523854"/>
                      <a:ext cx="251461" cy="387809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62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223838" y="2523854"/>
                      <a:ext cx="251461" cy="387809"/>
                    </a:xfrm>
                    <a:prstGeom prst="rect">
                      <a:avLst/>
                    </a:prstGeom>
                    <a:blipFill>
                      <a:blip r:embed="rId7"/>
                      <a:stretch>
                        <a:fillRect r="-9524" b="-4062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3" name="Line"/>
                <p:cNvSpPr/>
                <p:nvPr/>
              </p:nvSpPr>
              <p:spPr>
                <a:xfrm>
                  <a:off x="4027381" y="685703"/>
                  <a:ext cx="1017017" cy="1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464" name="Line"/>
                <p:cNvSpPr/>
                <p:nvPr/>
              </p:nvSpPr>
              <p:spPr>
                <a:xfrm>
                  <a:off x="6260706" y="685703"/>
                  <a:ext cx="1017017" cy="1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5" name="Equation"/>
                    <p:cNvSpPr txBox="1"/>
                    <p:nvPr/>
                  </p:nvSpPr>
                  <p:spPr>
                    <a:xfrm>
                      <a:off x="4241437" y="44401"/>
                      <a:ext cx="213462" cy="284431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𝑧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65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4241437" y="44401"/>
                      <a:ext cx="213462" cy="284431"/>
                    </a:xfrm>
                    <a:prstGeom prst="rect">
                      <a:avLst/>
                    </a:prstGeom>
                    <a:blipFill>
                      <a:blip r:embed="rId8"/>
                      <a:stretch>
                        <a:fillRect r="-25714" b="-91489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66" name="Equation"/>
                    <p:cNvSpPr txBox="1"/>
                    <p:nvPr/>
                  </p:nvSpPr>
                  <p:spPr>
                    <a:xfrm>
                      <a:off x="6412748" y="44401"/>
                      <a:ext cx="251461" cy="361545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𝑦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66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6412748" y="44401"/>
                      <a:ext cx="251461" cy="361545"/>
                    </a:xfrm>
                    <a:prstGeom prst="rect">
                      <a:avLst/>
                    </a:prstGeom>
                    <a:blipFill>
                      <a:blip r:embed="rId9"/>
                      <a:stretch>
                        <a:fillRect r="-21429" b="-81667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467" name="Circle"/>
                <p:cNvSpPr/>
                <p:nvPr/>
              </p:nvSpPr>
              <p:spPr>
                <a:xfrm>
                  <a:off x="7320535" y="50703"/>
                  <a:ext cx="1270001" cy="1270001"/>
                </a:xfrm>
                <a:prstGeom prst="ellips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468" name="Line"/>
                <p:cNvSpPr/>
                <p:nvPr/>
              </p:nvSpPr>
              <p:spPr>
                <a:xfrm>
                  <a:off x="8572727" y="668063"/>
                  <a:ext cx="848193" cy="1"/>
                </a:xfrm>
                <a:prstGeom prst="line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  <a:tailEnd type="triangle" w="med" len="med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0" name="Equation"/>
                  <p:cNvSpPr txBox="1"/>
                  <p:nvPr/>
                </p:nvSpPr>
                <p:spPr>
                  <a:xfrm>
                    <a:off x="7582551" y="418054"/>
                    <a:ext cx="439639" cy="51856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sSub>
                            <m:sSubPr>
                              <m:ctrlPr>
                                <a:rPr sz="4400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𝑓</m:t>
                              </m:r>
                            </m:e>
                            <m:sub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sub>
                          </m:sSub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70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7582551" y="418054"/>
                    <a:ext cx="439639" cy="518567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l="-1389" b="-28235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71" name="Equation"/>
                  <p:cNvSpPr txBox="1"/>
                  <p:nvPr/>
                </p:nvSpPr>
                <p:spPr>
                  <a:xfrm>
                    <a:off x="9543786" y="418054"/>
                    <a:ext cx="316841" cy="364897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𝐿</m:t>
                          </m:r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71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543786" y="418054"/>
                    <a:ext cx="316841" cy="364897"/>
                  </a:xfrm>
                  <a:prstGeom prst="rect">
                    <a:avLst/>
                  </a:prstGeom>
                  <a:blipFill>
                    <a:blip r:embed="rId11"/>
                    <a:stretch>
                      <a:fillRect b="-48333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sp>
          <p:nvSpPr>
            <p:cNvPr id="473" name="Line"/>
            <p:cNvSpPr/>
            <p:nvPr/>
          </p:nvSpPr>
          <p:spPr>
            <a:xfrm>
              <a:off x="185455" y="709671"/>
              <a:ext cx="704502" cy="1"/>
            </a:xfrm>
            <a:prstGeom prst="line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474" name="Equation"/>
                <p:cNvSpPr txBox="1"/>
                <p:nvPr/>
              </p:nvSpPr>
              <p:spPr>
                <a:xfrm>
                  <a:off x="0" y="215930"/>
                  <a:ext cx="263754" cy="257608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sz="44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𝐱</m:t>
                        </m:r>
                      </m:oMath>
                    </m:oMathPara>
                  </a14:m>
                  <a:endParaRPr sz="4400"/>
                </a:p>
              </p:txBody>
            </p:sp>
          </mc:Choice>
          <mc:Fallback>
            <p:sp>
              <p:nvSpPr>
                <p:cNvPr id="474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215930"/>
                  <a:ext cx="263754" cy="257608"/>
                </a:xfrm>
                <a:prstGeom prst="rect">
                  <a:avLst/>
                </a:prstGeom>
                <a:blipFill>
                  <a:blip r:embed="rId12"/>
                  <a:stretch>
                    <a:fillRect r="-11628" b="-11190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539" name="Group"/>
          <p:cNvGrpSpPr/>
          <p:nvPr/>
        </p:nvGrpSpPr>
        <p:grpSpPr>
          <a:xfrm>
            <a:off x="1654577" y="8683833"/>
            <a:ext cx="10741583" cy="3742316"/>
            <a:chOff x="0" y="0"/>
            <a:chExt cx="10741582" cy="3742314"/>
          </a:xfrm>
        </p:grpSpPr>
        <p:grpSp>
          <p:nvGrpSpPr>
            <p:cNvPr id="497" name="Group"/>
            <p:cNvGrpSpPr/>
            <p:nvPr/>
          </p:nvGrpSpPr>
          <p:grpSpPr>
            <a:xfrm>
              <a:off x="0" y="830652"/>
              <a:ext cx="10741583" cy="2911663"/>
              <a:chOff x="0" y="0"/>
              <a:chExt cx="10741582" cy="2911662"/>
            </a:xfrm>
          </p:grpSpPr>
          <p:grpSp>
            <p:nvGrpSpPr>
              <p:cNvPr id="494" name="Group"/>
              <p:cNvGrpSpPr/>
              <p:nvPr/>
            </p:nvGrpSpPr>
            <p:grpSpPr>
              <a:xfrm>
                <a:off x="942097" y="0"/>
                <a:ext cx="9799486" cy="2911663"/>
                <a:chOff x="0" y="0"/>
                <a:chExt cx="9799484" cy="2911662"/>
              </a:xfrm>
            </p:grpSpPr>
            <p:grpSp>
              <p:nvGrpSpPr>
                <p:cNvPr id="491" name="Group"/>
                <p:cNvGrpSpPr/>
                <p:nvPr/>
              </p:nvGrpSpPr>
              <p:grpSpPr>
                <a:xfrm>
                  <a:off x="-1" y="0"/>
                  <a:ext cx="9423260" cy="2911663"/>
                  <a:chOff x="0" y="0"/>
                  <a:chExt cx="9423257" cy="2911662"/>
                </a:xfrm>
              </p:grpSpPr>
              <p:sp>
                <p:nvSpPr>
                  <p:cNvPr id="476" name="Circle"/>
                  <p:cNvSpPr/>
                  <p:nvPr/>
                </p:nvSpPr>
                <p:spPr>
                  <a:xfrm>
                    <a:off x="2714568" y="0"/>
                    <a:ext cx="1270001" cy="1270000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477" name="Circle"/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478" name="Line"/>
                  <p:cNvSpPr/>
                  <p:nvPr/>
                </p:nvSpPr>
                <p:spPr>
                  <a:xfrm flipV="1">
                    <a:off x="635000" y="1295136"/>
                    <a:ext cx="1" cy="1125530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479" name="Line"/>
                  <p:cNvSpPr/>
                  <p:nvPr/>
                </p:nvSpPr>
                <p:spPr>
                  <a:xfrm>
                    <a:off x="1245837" y="668063"/>
                    <a:ext cx="1486540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0" name="Equation"/>
                      <p:cNvSpPr txBox="1"/>
                      <p:nvPr/>
                    </p:nvSpPr>
                    <p:spPr>
                      <a:xfrm>
                        <a:off x="366217" y="2524692"/>
                        <a:ext cx="537566" cy="386132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480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6217" y="2524692"/>
                        <a:ext cx="537566" cy="386132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r="-2273" b="-42857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1" name="Equation"/>
                      <p:cNvSpPr txBox="1"/>
                      <p:nvPr/>
                    </p:nvSpPr>
                    <p:spPr>
                      <a:xfrm>
                        <a:off x="5511734" y="512343"/>
                        <a:ext cx="281636" cy="245314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481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11734" y="512343"/>
                        <a:ext cx="281636" cy="245314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r="-17391" b="-125000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82" name="Circle"/>
                  <p:cNvSpPr/>
                  <p:nvPr/>
                </p:nvSpPr>
                <p:spPr>
                  <a:xfrm>
                    <a:off x="5017551" y="33063"/>
                    <a:ext cx="1270001" cy="1270001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3" name="Equation"/>
                      <p:cNvSpPr txBox="1"/>
                      <p:nvPr/>
                    </p:nvSpPr>
                    <p:spPr>
                      <a:xfrm>
                        <a:off x="3192291" y="488459"/>
                        <a:ext cx="328575" cy="328575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483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92291" y="488459"/>
                        <a:ext cx="328575" cy="328575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14815" b="-70370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4" name="Equation"/>
                      <p:cNvSpPr txBox="1"/>
                      <p:nvPr/>
                    </p:nvSpPr>
                    <p:spPr>
                      <a:xfrm>
                        <a:off x="535056" y="567182"/>
                        <a:ext cx="135637" cy="13563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8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m:oMathPara>
                        </a14:m>
                        <a:endParaRPr sz="8900"/>
                      </a:p>
                    </p:txBody>
                  </p:sp>
                </mc:Choice>
                <mc:Fallback>
                  <p:sp>
                    <p:nvSpPr>
                      <p:cNvPr id="484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5056" y="567182"/>
                        <a:ext cx="135637" cy="135637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r="-68182" b="-527273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85" name="Line"/>
                  <p:cNvSpPr/>
                  <p:nvPr/>
                </p:nvSpPr>
                <p:spPr>
                  <a:xfrm flipV="1">
                    <a:off x="3349567" y="1272512"/>
                    <a:ext cx="1" cy="1107594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486" name="Equation"/>
                      <p:cNvSpPr txBox="1"/>
                      <p:nvPr/>
                    </p:nvSpPr>
                    <p:spPr>
                      <a:xfrm>
                        <a:off x="3223838" y="2523854"/>
                        <a:ext cx="251461" cy="387809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486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223838" y="2523854"/>
                        <a:ext cx="251461" cy="387809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r="-9756" b="-42857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487" name="Line"/>
                  <p:cNvSpPr/>
                  <p:nvPr/>
                </p:nvSpPr>
                <p:spPr>
                  <a:xfrm>
                    <a:off x="4027381" y="685703"/>
                    <a:ext cx="1017017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488" name="Line"/>
                  <p:cNvSpPr/>
                  <p:nvPr/>
                </p:nvSpPr>
                <p:spPr>
                  <a:xfrm>
                    <a:off x="6260706" y="685703"/>
                    <a:ext cx="1017017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489" name="Circle"/>
                  <p:cNvSpPr/>
                  <p:nvPr/>
                </p:nvSpPr>
                <p:spPr>
                  <a:xfrm>
                    <a:off x="7320535" y="50703"/>
                    <a:ext cx="1270001" cy="1270001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490" name="Line"/>
                  <p:cNvSpPr/>
                  <p:nvPr/>
                </p:nvSpPr>
                <p:spPr>
                  <a:xfrm>
                    <a:off x="8572727" y="652746"/>
                    <a:ext cx="850531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2" name="Equation"/>
                    <p:cNvSpPr txBox="1"/>
                    <p:nvPr/>
                  </p:nvSpPr>
                  <p:spPr>
                    <a:xfrm>
                      <a:off x="7582551" y="418054"/>
                      <a:ext cx="439639" cy="51856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4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92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82551" y="418054"/>
                      <a:ext cx="439639" cy="51856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389" b="-2941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493" name="Equation"/>
                    <p:cNvSpPr txBox="1"/>
                    <p:nvPr/>
                  </p:nvSpPr>
                  <p:spPr>
                    <a:xfrm>
                      <a:off x="9482645" y="494889"/>
                      <a:ext cx="316840" cy="36489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493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82645" y="494889"/>
                      <a:ext cx="316840" cy="36489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b="-4833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495" name="Line"/>
              <p:cNvSpPr/>
              <p:nvPr/>
            </p:nvSpPr>
            <p:spPr>
              <a:xfrm>
                <a:off x="185455" y="709671"/>
                <a:ext cx="704502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6" name="Equation"/>
                  <p:cNvSpPr txBox="1"/>
                  <p:nvPr/>
                </p:nvSpPr>
                <p:spPr>
                  <a:xfrm>
                    <a:off x="0" y="215930"/>
                    <a:ext cx="263754" cy="2576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496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15930"/>
                    <a:ext cx="263754" cy="25760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9091" b="-114286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0" name="Group"/>
            <p:cNvGrpSpPr/>
            <p:nvPr/>
          </p:nvGrpSpPr>
          <p:grpSpPr>
            <a:xfrm>
              <a:off x="7216182" y="16564"/>
              <a:ext cx="772791" cy="1249680"/>
              <a:chOff x="0" y="0"/>
              <a:chExt cx="772790" cy="1249679"/>
            </a:xfrm>
          </p:grpSpPr>
          <p:sp>
            <p:nvSpPr>
              <p:cNvPr id="498" name="Line"/>
              <p:cNvSpPr/>
              <p:nvPr/>
            </p:nvSpPr>
            <p:spPr>
              <a:xfrm flipH="1" flipV="1">
                <a:off x="-1" y="1249679"/>
                <a:ext cx="772792" cy="1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499" name="Equation"/>
                  <p:cNvSpPr txBox="1"/>
                  <p:nvPr/>
                </p:nvSpPr>
                <p:spPr>
                  <a:xfrm>
                    <a:off x="105902" y="0"/>
                    <a:ext cx="560986" cy="10648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oMath>
                      </m:oMathPara>
                    </a14:m>
                    <a:endParaRPr sz="3600"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49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02" y="0"/>
                    <a:ext cx="560986" cy="106481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685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04" name="Group"/>
            <p:cNvGrpSpPr/>
            <p:nvPr/>
          </p:nvGrpSpPr>
          <p:grpSpPr>
            <a:xfrm>
              <a:off x="2310527" y="116470"/>
              <a:ext cx="3452930" cy="1188539"/>
              <a:chOff x="0" y="0"/>
              <a:chExt cx="3452929" cy="1188538"/>
            </a:xfrm>
          </p:grpSpPr>
          <p:sp>
            <p:nvSpPr>
              <p:cNvPr id="501" name="Line"/>
              <p:cNvSpPr/>
              <p:nvPr/>
            </p:nvSpPr>
            <p:spPr>
              <a:xfrm flipH="1" flipV="1">
                <a:off x="2685492" y="1188538"/>
                <a:ext cx="767438" cy="1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2" name="Equation"/>
                  <p:cNvSpPr txBox="1"/>
                  <p:nvPr/>
                </p:nvSpPr>
                <p:spPr>
                  <a:xfrm>
                    <a:off x="2788718" y="0"/>
                    <a:ext cx="560986" cy="100766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𝑧</m:t>
                              </m:r>
                            </m:den>
                          </m:f>
                        </m:oMath>
                      </m:oMathPara>
                    </a14:m>
                    <a:endParaRPr sz="3600"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02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2788718" y="0"/>
                    <a:ext cx="560986" cy="1007669"/>
                  </a:xfrm>
                  <a:prstGeom prst="rect">
                    <a:avLst/>
                  </a:prstGeom>
                  <a:blipFill>
                    <a:blip r:embed="rId22"/>
                    <a:stretch>
                      <a:fillRect b="-3636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503" name="Line"/>
              <p:cNvSpPr/>
              <p:nvPr/>
            </p:nvSpPr>
            <p:spPr>
              <a:xfrm flipH="1" flipV="1">
                <a:off x="0" y="1188538"/>
                <a:ext cx="1145037" cy="1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sp>
          <p:nvSpPr>
            <p:cNvPr id="505" name="Line"/>
            <p:cNvSpPr/>
            <p:nvPr/>
          </p:nvSpPr>
          <p:spPr>
            <a:xfrm>
              <a:off x="4518011" y="2165702"/>
              <a:ext cx="1" cy="1055120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6" name="Equation"/>
                <p:cNvSpPr txBox="1"/>
                <p:nvPr/>
              </p:nvSpPr>
              <p:spPr>
                <a:xfrm>
                  <a:off x="4703585" y="2205429"/>
                  <a:ext cx="560985" cy="97566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𝑏</m:t>
                            </m:r>
                          </m:den>
                        </m:f>
                      </m:oMath>
                    </m:oMathPara>
                  </a14:m>
                  <a:endParaRPr sz="3600"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506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703585" y="2205429"/>
                  <a:ext cx="560985" cy="975666"/>
                </a:xfrm>
                <a:prstGeom prst="rect">
                  <a:avLst/>
                </a:prstGeom>
                <a:blipFill>
                  <a:blip r:embed="rId23"/>
                  <a:stretch>
                    <a:fillRect b="-6875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07" name="Equation"/>
                <p:cNvSpPr txBox="1"/>
                <p:nvPr/>
              </p:nvSpPr>
              <p:spPr>
                <a:xfrm>
                  <a:off x="2568363" y="125216"/>
                  <a:ext cx="890626" cy="978867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</p:spPr>
              <p:txBody>
                <a:bodyPr wrap="none" lIns="0" tIns="0" rIns="0" bIns="0">
                  <a:spAutoFit/>
                </a:bodyPr>
                <a:lstStyle/>
                <a:p>
                  <a:pPr algn="l" defTabSz="914400" latinLnBrk="1">
                    <a:defRPr sz="1800"/>
                  </a:pPr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f>
                          <m:fPr>
                            <m:ctrlP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num>
                          <m:den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∂</m:t>
                            </m:r>
                            <m:r>
                              <a:rPr sz="3600" i="1">
                                <a:solidFill>
                                  <a:srgbClr val="0075B9"/>
                                </a:solidFill>
                                <a:latin typeface="Cambria Math" panose="02040503050406030204" pitchFamily="18" charset="0"/>
                              </a:rPr>
                              <m:t>𝑊𝑥</m:t>
                            </m:r>
                          </m:den>
                        </m:f>
                      </m:oMath>
                    </m:oMathPara>
                  </a14:m>
                  <a:endParaRPr sz="3600"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507" name="Equation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568363" y="125216"/>
                  <a:ext cx="890626" cy="978867"/>
                </a:xfrm>
                <a:prstGeom prst="rect">
                  <a:avLst/>
                </a:prstGeom>
                <a:blipFill>
                  <a:blip r:embed="rId24"/>
                  <a:stretch>
                    <a:fillRect l="-685" r="-5479" b="-6211"/>
                  </a:stretch>
                </a:blipFill>
                <a:ln w="12700" cap="flat">
                  <a:noFill/>
                  <a:miter lim="400000"/>
                </a:ln>
                <a:effectLst/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510" name="Group"/>
            <p:cNvGrpSpPr/>
            <p:nvPr/>
          </p:nvGrpSpPr>
          <p:grpSpPr>
            <a:xfrm>
              <a:off x="1837185" y="2087945"/>
              <a:ext cx="884198" cy="1221528"/>
              <a:chOff x="0" y="0"/>
              <a:chExt cx="884197" cy="1221527"/>
            </a:xfrm>
          </p:grpSpPr>
          <p:sp>
            <p:nvSpPr>
              <p:cNvPr id="508" name="Line"/>
              <p:cNvSpPr/>
              <p:nvPr/>
            </p:nvSpPr>
            <p:spPr>
              <a:xfrm flipH="1">
                <a:off x="-1" y="56384"/>
                <a:ext cx="2" cy="1165144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09" name="Equation"/>
                  <p:cNvSpPr txBox="1"/>
                  <p:nvPr/>
                </p:nvSpPr>
                <p:spPr>
                  <a:xfrm>
                    <a:off x="196568" y="0"/>
                    <a:ext cx="687630" cy="97886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den>
                          </m:f>
                        </m:oMath>
                      </m:oMathPara>
                    </a14:m>
                    <a:endParaRPr sz="3600"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09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96568" y="0"/>
                    <a:ext cx="687630" cy="978866"/>
                  </a:xfrm>
                  <a:prstGeom prst="rect">
                    <a:avLst/>
                  </a:prstGeom>
                  <a:blipFill>
                    <a:blip r:embed="rId25"/>
                    <a:stretch>
                      <a:fillRect r="-2655" b="-6211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13" name="Group"/>
            <p:cNvGrpSpPr/>
            <p:nvPr/>
          </p:nvGrpSpPr>
          <p:grpSpPr>
            <a:xfrm>
              <a:off x="9494067" y="0"/>
              <a:ext cx="759676" cy="1229299"/>
              <a:chOff x="0" y="0"/>
              <a:chExt cx="759674" cy="1229298"/>
            </a:xfrm>
          </p:grpSpPr>
          <p:sp>
            <p:nvSpPr>
              <p:cNvPr id="511" name="Line"/>
              <p:cNvSpPr/>
              <p:nvPr/>
            </p:nvSpPr>
            <p:spPr>
              <a:xfrm flipH="1" flipV="1">
                <a:off x="0" y="1229298"/>
                <a:ext cx="759675" cy="1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12" name="Equation"/>
                  <p:cNvSpPr txBox="1"/>
                  <p:nvPr/>
                </p:nvSpPr>
                <p:spPr>
                  <a:xfrm>
                    <a:off x="99345" y="0"/>
                    <a:ext cx="560985" cy="97566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den>
                          </m:f>
                        </m:oMath>
                      </m:oMathPara>
                    </a14:m>
                    <a:endParaRPr sz="3600"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12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99345" y="0"/>
                    <a:ext cx="560985" cy="975665"/>
                  </a:xfrm>
                  <a:prstGeom prst="rect">
                    <a:avLst/>
                  </a:prstGeom>
                  <a:blipFill>
                    <a:blip r:embed="rId26"/>
                    <a:stretch>
                      <a:fillRect b="-6875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35" name="Group"/>
            <p:cNvGrpSpPr/>
            <p:nvPr/>
          </p:nvGrpSpPr>
          <p:grpSpPr>
            <a:xfrm>
              <a:off x="-1" y="830652"/>
              <a:ext cx="10741584" cy="2911663"/>
              <a:chOff x="0" y="0"/>
              <a:chExt cx="10741582" cy="2911662"/>
            </a:xfrm>
          </p:grpSpPr>
          <p:grpSp>
            <p:nvGrpSpPr>
              <p:cNvPr id="532" name="Group"/>
              <p:cNvGrpSpPr/>
              <p:nvPr/>
            </p:nvGrpSpPr>
            <p:grpSpPr>
              <a:xfrm>
                <a:off x="942097" y="0"/>
                <a:ext cx="9799486" cy="2911663"/>
                <a:chOff x="0" y="0"/>
                <a:chExt cx="9799484" cy="2911662"/>
              </a:xfrm>
            </p:grpSpPr>
            <p:grpSp>
              <p:nvGrpSpPr>
                <p:cNvPr id="529" name="Group"/>
                <p:cNvGrpSpPr/>
                <p:nvPr/>
              </p:nvGrpSpPr>
              <p:grpSpPr>
                <a:xfrm>
                  <a:off x="-1" y="0"/>
                  <a:ext cx="9423260" cy="2911663"/>
                  <a:chOff x="0" y="0"/>
                  <a:chExt cx="9423257" cy="2911662"/>
                </a:xfrm>
              </p:grpSpPr>
              <p:sp>
                <p:nvSpPr>
                  <p:cNvPr id="514" name="Circle"/>
                  <p:cNvSpPr/>
                  <p:nvPr/>
                </p:nvSpPr>
                <p:spPr>
                  <a:xfrm>
                    <a:off x="2714568" y="0"/>
                    <a:ext cx="1270001" cy="1270000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515" name="Circle"/>
                  <p:cNvSpPr/>
                  <p:nvPr/>
                </p:nvSpPr>
                <p:spPr>
                  <a:xfrm>
                    <a:off x="0" y="0"/>
                    <a:ext cx="1270000" cy="1270000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516" name="Line"/>
                  <p:cNvSpPr/>
                  <p:nvPr/>
                </p:nvSpPr>
                <p:spPr>
                  <a:xfrm flipV="1">
                    <a:off x="635000" y="1295136"/>
                    <a:ext cx="1" cy="1125530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517" name="Line"/>
                  <p:cNvSpPr/>
                  <p:nvPr/>
                </p:nvSpPr>
                <p:spPr>
                  <a:xfrm>
                    <a:off x="1245837" y="668063"/>
                    <a:ext cx="1486540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18" name="Equation"/>
                      <p:cNvSpPr txBox="1"/>
                      <p:nvPr/>
                    </p:nvSpPr>
                    <p:spPr>
                      <a:xfrm>
                        <a:off x="366217" y="2524692"/>
                        <a:ext cx="537566" cy="386132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𝐖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518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66217" y="2524692"/>
                        <a:ext cx="537566" cy="386132"/>
                      </a:xfrm>
                      <a:prstGeom prst="rect">
                        <a:avLst/>
                      </a:prstGeom>
                      <a:blipFill>
                        <a:blip r:embed="rId13"/>
                        <a:stretch>
                          <a:fillRect r="-2273" b="-42857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19" name="Equation"/>
                      <p:cNvSpPr txBox="1"/>
                      <p:nvPr/>
                    </p:nvSpPr>
                    <p:spPr>
                      <a:xfrm>
                        <a:off x="5511734" y="512343"/>
                        <a:ext cx="281636" cy="245314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𝜎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519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511734" y="512343"/>
                        <a:ext cx="281636" cy="245314"/>
                      </a:xfrm>
                      <a:prstGeom prst="rect">
                        <a:avLst/>
                      </a:prstGeom>
                      <a:blipFill>
                        <a:blip r:embed="rId14"/>
                        <a:stretch>
                          <a:fillRect r="-17391" b="-125000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20" name="Circle"/>
                  <p:cNvSpPr/>
                  <p:nvPr/>
                </p:nvSpPr>
                <p:spPr>
                  <a:xfrm>
                    <a:off x="5017551" y="33063"/>
                    <a:ext cx="1270001" cy="1270001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21" name="Equation"/>
                      <p:cNvSpPr txBox="1"/>
                      <p:nvPr/>
                    </p:nvSpPr>
                    <p:spPr>
                      <a:xfrm>
                        <a:off x="3192291" y="488459"/>
                        <a:ext cx="328575" cy="328575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521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192291" y="488459"/>
                        <a:ext cx="328575" cy="328575"/>
                      </a:xfrm>
                      <a:prstGeom prst="rect">
                        <a:avLst/>
                      </a:prstGeom>
                      <a:blipFill>
                        <a:blip r:embed="rId15"/>
                        <a:stretch>
                          <a:fillRect r="-14815" b="-70370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22" name="Equation"/>
                      <p:cNvSpPr txBox="1"/>
                      <p:nvPr/>
                    </p:nvSpPr>
                    <p:spPr>
                      <a:xfrm>
                        <a:off x="535056" y="567182"/>
                        <a:ext cx="135637" cy="135637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89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⋅</m:t>
                              </m:r>
                            </m:oMath>
                          </m:oMathPara>
                        </a14:m>
                        <a:endParaRPr sz="8900"/>
                      </a:p>
                    </p:txBody>
                  </p:sp>
                </mc:Choice>
                <mc:Fallback>
                  <p:sp>
                    <p:nvSpPr>
                      <p:cNvPr id="522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535056" y="567182"/>
                        <a:ext cx="135637" cy="135637"/>
                      </a:xfrm>
                      <a:prstGeom prst="rect">
                        <a:avLst/>
                      </a:prstGeom>
                      <a:blipFill>
                        <a:blip r:embed="rId16"/>
                        <a:stretch>
                          <a:fillRect r="-68182" b="-527273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23" name="Line"/>
                  <p:cNvSpPr/>
                  <p:nvPr/>
                </p:nvSpPr>
                <p:spPr>
                  <a:xfrm flipV="1">
                    <a:off x="3349567" y="1272512"/>
                    <a:ext cx="1" cy="1107594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524" name="Equation"/>
                      <p:cNvSpPr txBox="1"/>
                      <p:nvPr/>
                    </p:nvSpPr>
                    <p:spPr>
                      <a:xfrm>
                        <a:off x="3223838" y="2523854"/>
                        <a:ext cx="251461" cy="387809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 wrap="none" lIns="0" tIns="0" rIns="0" bIns="0">
                        <a:spAutoFit/>
                      </a:bodyPr>
                      <a:lstStyle/>
                      <a:p>
                        <a:pPr algn="l" defTabSz="914400" latinLnBrk="1">
                          <a:defRPr sz="1800"/>
                        </a:pPr>
                        <a14:m>
                          <m:oMathPara xmlns:m="http://schemas.openxmlformats.org/officeDocument/2006/math">
                            <m:oMathParaPr>
                              <m:jc m:val="centerGroup"/>
                            </m:oMathParaPr>
                            <m:oMath xmlns:m="http://schemas.openxmlformats.org/officeDocument/2006/math">
                              <m:r>
                                <a:rPr sz="4400" i="1">
                                  <a:solidFill>
                                    <a:srgbClr val="000000"/>
                                  </a:solidFill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oMath>
                          </m:oMathPara>
                        </a14:m>
                        <a:endParaRPr sz="4400"/>
                      </a:p>
                    </p:txBody>
                  </p:sp>
                </mc:Choice>
                <mc:Fallback>
                  <p:sp>
                    <p:nvSpPr>
                      <p:cNvPr id="524" name="Equation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3223838" y="2523854"/>
                        <a:ext cx="251461" cy="387809"/>
                      </a:xfrm>
                      <a:prstGeom prst="rect">
                        <a:avLst/>
                      </a:prstGeom>
                      <a:blipFill>
                        <a:blip r:embed="rId17"/>
                        <a:stretch>
                          <a:fillRect r="-9756" b="-42857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525" name="Line"/>
                  <p:cNvSpPr/>
                  <p:nvPr/>
                </p:nvSpPr>
                <p:spPr>
                  <a:xfrm>
                    <a:off x="4027381" y="685703"/>
                    <a:ext cx="1017017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526" name="Line"/>
                  <p:cNvSpPr/>
                  <p:nvPr/>
                </p:nvSpPr>
                <p:spPr>
                  <a:xfrm>
                    <a:off x="6260706" y="685703"/>
                    <a:ext cx="1017017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527" name="Circle"/>
                  <p:cNvSpPr/>
                  <p:nvPr/>
                </p:nvSpPr>
                <p:spPr>
                  <a:xfrm>
                    <a:off x="7320535" y="50703"/>
                    <a:ext cx="1270001" cy="1270001"/>
                  </a:xfrm>
                  <a:prstGeom prst="ellips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528" name="Line"/>
                  <p:cNvSpPr/>
                  <p:nvPr/>
                </p:nvSpPr>
                <p:spPr>
                  <a:xfrm>
                    <a:off x="8572727" y="652746"/>
                    <a:ext cx="850531" cy="1"/>
                  </a:xfrm>
                  <a:prstGeom prst="line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  <a:tailEnd type="triangle" w="med" len="med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</p:grp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30" name="Equation"/>
                    <p:cNvSpPr txBox="1"/>
                    <p:nvPr/>
                  </p:nvSpPr>
                  <p:spPr>
                    <a:xfrm>
                      <a:off x="7582551" y="418054"/>
                      <a:ext cx="439639" cy="51856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sSub>
                              <m:sSubPr>
                                <m:ctrlPr>
                                  <a:rPr sz="4400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b>
                                <m:r>
                                  <a:rPr sz="4400" i="1">
                                    <a:solidFill>
                                      <a:srgbClr val="000000"/>
                                    </a:solidFill>
                                    <a:latin typeface="Cambria Math" panose="02040503050406030204" pitchFamily="18" charset="0"/>
                                  </a:rPr>
                                  <m:t>𝐿</m:t>
                                </m:r>
                              </m:sub>
                            </m:sSub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530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7582551" y="418054"/>
                      <a:ext cx="439639" cy="518567"/>
                    </a:xfrm>
                    <a:prstGeom prst="rect">
                      <a:avLst/>
                    </a:prstGeom>
                    <a:blipFill>
                      <a:blip r:embed="rId18"/>
                      <a:stretch>
                        <a:fillRect l="-1389" b="-29412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531" name="Equation"/>
                    <p:cNvSpPr txBox="1"/>
                    <p:nvPr/>
                  </p:nvSpPr>
                  <p:spPr>
                    <a:xfrm>
                      <a:off x="9482645" y="494889"/>
                      <a:ext cx="316840" cy="364897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</p:spPr>
                  <p:txBody>
                    <a:bodyPr wrap="none" lIns="0" tIns="0" rIns="0" bIns="0">
                      <a:spAutoFit/>
                    </a:bodyPr>
                    <a:lstStyle/>
                    <a:p>
                      <a:pPr algn="l" defTabSz="914400" latinLnBrk="1">
                        <a:defRPr sz="1800"/>
                      </a:pPr>
                      <a14:m>
                        <m:oMathPara xmlns:m="http://schemas.openxmlformats.org/officeDocument/2006/math">
                          <m:oMathParaPr>
                            <m:jc m:val="centerGroup"/>
                          </m:oMathParaPr>
                          <m:oMath xmlns:m="http://schemas.openxmlformats.org/officeDocument/2006/math">
                            <m:r>
                              <a:rPr sz="44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𝐿</m:t>
                            </m:r>
                          </m:oMath>
                        </m:oMathPara>
                      </a14:m>
                      <a:endParaRPr sz="4400"/>
                    </a:p>
                  </p:txBody>
                </p:sp>
              </mc:Choice>
              <mc:Fallback>
                <p:sp>
                  <p:nvSpPr>
                    <p:cNvPr id="531" name="Equation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9482645" y="494889"/>
                      <a:ext cx="316840" cy="364897"/>
                    </a:xfrm>
                    <a:prstGeom prst="rect">
                      <a:avLst/>
                    </a:prstGeom>
                    <a:blipFill>
                      <a:blip r:embed="rId19"/>
                      <a:stretch>
                        <a:fillRect b="-48333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</p:grpSp>
          <p:sp>
            <p:nvSpPr>
              <p:cNvPr id="533" name="Line"/>
              <p:cNvSpPr/>
              <p:nvPr/>
            </p:nvSpPr>
            <p:spPr>
              <a:xfrm>
                <a:off x="185455" y="709671"/>
                <a:ext cx="704502" cy="1"/>
              </a:xfrm>
              <a:prstGeom prst="line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4" name="Equation"/>
                  <p:cNvSpPr txBox="1"/>
                  <p:nvPr/>
                </p:nvSpPr>
                <p:spPr>
                  <a:xfrm>
                    <a:off x="0" y="215930"/>
                    <a:ext cx="263754" cy="257608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𝐱</m:t>
                          </m:r>
                        </m:oMath>
                      </m:oMathPara>
                    </a14:m>
                    <a:endParaRPr sz="4400"/>
                  </a:p>
                </p:txBody>
              </p:sp>
            </mc:Choice>
            <mc:Fallback>
              <p:sp>
                <p:nvSpPr>
                  <p:cNvPr id="534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15930"/>
                    <a:ext cx="263754" cy="257608"/>
                  </a:xfrm>
                  <a:prstGeom prst="rect">
                    <a:avLst/>
                  </a:prstGeom>
                  <a:blipFill>
                    <a:blip r:embed="rId20"/>
                    <a:stretch>
                      <a:fillRect r="-9091" b="-114286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538" name="Group"/>
            <p:cNvGrpSpPr/>
            <p:nvPr/>
          </p:nvGrpSpPr>
          <p:grpSpPr>
            <a:xfrm>
              <a:off x="7216182" y="16564"/>
              <a:ext cx="772791" cy="1249680"/>
              <a:chOff x="0" y="0"/>
              <a:chExt cx="772790" cy="1249679"/>
            </a:xfrm>
          </p:grpSpPr>
          <p:sp>
            <p:nvSpPr>
              <p:cNvPr id="536" name="Line"/>
              <p:cNvSpPr/>
              <p:nvPr/>
            </p:nvSpPr>
            <p:spPr>
              <a:xfrm flipH="1" flipV="1">
                <a:off x="-1" y="1249679"/>
                <a:ext cx="772792" cy="1"/>
              </a:xfrm>
              <a:prstGeom prst="line">
                <a:avLst/>
              </a:prstGeom>
              <a:noFill/>
              <a:ln w="50800" cap="flat">
                <a:solidFill>
                  <a:schemeClr val="accent1">
                    <a:lumOff val="-13575"/>
                  </a:schemeClr>
                </a:solidFill>
                <a:prstDash val="solid"/>
                <a:miter lim="400000"/>
                <a:tailEnd type="triangle" w="med" len="med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537" name="Equation"/>
                  <p:cNvSpPr txBox="1"/>
                  <p:nvPr/>
                </p:nvSpPr>
                <p:spPr>
                  <a:xfrm>
                    <a:off x="105902" y="0"/>
                    <a:ext cx="560986" cy="1064819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</p:spPr>
                <p:txBody>
                  <a:bodyPr wrap="none" lIns="0" tIns="0" rIns="0" bIns="0">
                    <a:spAutoFit/>
                  </a:bodyPr>
                  <a:lstStyle/>
                  <a:p>
                    <a:pPr algn="l" defTabSz="914400" latinLnBrk="1">
                      <a:defRPr sz="1800"/>
                    </a:pPr>
                    <a14:m>
                      <m:oMathPara xmlns:m="http://schemas.openxmlformats.org/officeDocument/2006/math">
                        <m:oMathParaPr>
                          <m:jc m:val="centerGroup"/>
                        </m:oMathParaPr>
                        <m:oMath xmlns:m="http://schemas.openxmlformats.org/officeDocument/2006/math">
                          <m:f>
                            <m:fPr>
                              <m:ctrlP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𝐿</m:t>
                              </m:r>
                            </m:num>
                            <m:den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∂</m:t>
                              </m:r>
                              <m:r>
                                <a:rPr sz="3600" i="1">
                                  <a:solidFill>
                                    <a:srgbClr val="0075B9"/>
                                  </a:solidFill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den>
                          </m:f>
                        </m:oMath>
                      </m:oMathPara>
                    </a14:m>
                    <a:endParaRPr sz="3600">
                      <a:solidFill>
                        <a:srgbClr val="0076BA"/>
                      </a:solidFill>
                    </a:endParaRPr>
                  </a:p>
                </p:txBody>
              </p:sp>
            </mc:Choice>
            <mc:Fallback>
              <p:sp>
                <p:nvSpPr>
                  <p:cNvPr id="537" name="Equation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05902" y="0"/>
                    <a:ext cx="560986" cy="1064819"/>
                  </a:xfrm>
                  <a:prstGeom prst="rect">
                    <a:avLst/>
                  </a:prstGeom>
                  <a:blipFill>
                    <a:blip r:embed="rId21"/>
                    <a:stretch>
                      <a:fillRect b="-6857"/>
                    </a:stretch>
                  </a:blipFill>
                  <a:ln w="12700" cap="flat">
                    <a:noFill/>
                    <a:miter lim="400000"/>
                  </a:ln>
                  <a:effectLst/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sp>
        <p:nvSpPr>
          <p:cNvPr id="540" name="Backward pass: gradient using chain rule"/>
          <p:cNvSpPr txBox="1"/>
          <p:nvPr/>
        </p:nvSpPr>
        <p:spPr>
          <a:xfrm>
            <a:off x="1452390" y="6939625"/>
            <a:ext cx="10724945" cy="2342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Backward pass</a:t>
            </a:r>
            <a:r>
              <a:t>: gradient using chain rule</a:t>
            </a:r>
          </a:p>
        </p:txBody>
      </p:sp>
      <p:sp>
        <p:nvSpPr>
          <p:cNvPr id="541" name="Forward pass: compute function value"/>
          <p:cNvSpPr txBox="1"/>
          <p:nvPr/>
        </p:nvSpPr>
        <p:spPr>
          <a:xfrm>
            <a:off x="1452390" y="1577464"/>
            <a:ext cx="10724945" cy="23425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rPr b="1"/>
              <a:t>Forward pass</a:t>
            </a:r>
            <a:r>
              <a:t>: compute function value</a:t>
            </a:r>
          </a:p>
        </p:txBody>
      </p:sp>
      <p:pic>
        <p:nvPicPr>
          <p:cNvPr id="542" name="Image" descr="Image"/>
          <p:cNvPicPr>
            <a:picLocks noChangeAspect="1"/>
          </p:cNvPicPr>
          <p:nvPr/>
        </p:nvPicPr>
        <p:blipFill>
          <a:blip r:embed="rId27"/>
          <a:srcRect b="4467"/>
          <a:stretch>
            <a:fillRect/>
          </a:stretch>
        </p:blipFill>
        <p:spPr>
          <a:xfrm>
            <a:off x="16069460" y="4377921"/>
            <a:ext cx="4991743" cy="5563505"/>
          </a:xfrm>
          <a:prstGeom prst="rect">
            <a:avLst/>
          </a:prstGeom>
          <a:ln w="12700">
            <a:miter lim="400000"/>
          </a:ln>
        </p:spPr>
      </p:pic>
      <p:sp>
        <p:nvSpPr>
          <p:cNvPr id="543" name="Good news is that modern automatic differentiation tools did all for you!"/>
          <p:cNvSpPr txBox="1"/>
          <p:nvPr/>
        </p:nvSpPr>
        <p:spPr>
          <a:xfrm>
            <a:off x="14180534" y="10303048"/>
            <a:ext cx="10932823" cy="178743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Good news is that modern automatic differentiation tools did all for you!</a:t>
            </a:r>
          </a:p>
        </p:txBody>
      </p:sp>
      <p:sp>
        <p:nvSpPr>
          <p:cNvPr id="544" name="Implementing backprop by hand is like programming in assembly language."/>
          <p:cNvSpPr txBox="1"/>
          <p:nvPr/>
        </p:nvSpPr>
        <p:spPr>
          <a:xfrm>
            <a:off x="14199156" y="11726405"/>
            <a:ext cx="9482417" cy="17874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Implementing backprop by hand is like programming in assembly language.</a:t>
            </a:r>
          </a:p>
        </p:txBody>
      </p:sp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8" name="Group"/>
          <p:cNvGrpSpPr/>
          <p:nvPr/>
        </p:nvGrpSpPr>
        <p:grpSpPr>
          <a:xfrm>
            <a:off x="15936073" y="496535"/>
            <a:ext cx="6540256" cy="4755370"/>
            <a:chOff x="0" y="0"/>
            <a:chExt cx="6540255" cy="4755369"/>
          </a:xfrm>
        </p:grpSpPr>
        <p:pic>
          <p:nvPicPr>
            <p:cNvPr id="546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0" y="0"/>
              <a:ext cx="6540256" cy="455708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47" name="Rectangle"/>
            <p:cNvSpPr/>
            <p:nvPr/>
          </p:nvSpPr>
          <p:spPr>
            <a:xfrm>
              <a:off x="2761317" y="4095577"/>
              <a:ext cx="1642075" cy="659793"/>
            </a:xfrm>
            <a:prstGeom prst="rect">
              <a:avLst/>
            </a:prstGeom>
            <a:solidFill>
              <a:srgbClr val="FFFFFF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551" name="Group"/>
          <p:cNvGrpSpPr/>
          <p:nvPr/>
        </p:nvGrpSpPr>
        <p:grpSpPr>
          <a:xfrm>
            <a:off x="9757313" y="4571964"/>
            <a:ext cx="14106367" cy="7933200"/>
            <a:chOff x="0" y="0"/>
            <a:chExt cx="14106366" cy="7933198"/>
          </a:xfrm>
        </p:grpSpPr>
        <p:pic>
          <p:nvPicPr>
            <p:cNvPr id="549" name="Screen Shot 2019-10-08 at 9.41.56 PM.png" descr="Screen Shot 2019-10-08 at 9.41.56 PM.png"/>
            <p:cNvPicPr>
              <a:picLocks noChangeAspect="1"/>
            </p:cNvPicPr>
            <p:nvPr/>
          </p:nvPicPr>
          <p:blipFill>
            <a:blip r:embed="rId4"/>
            <a:srcRect t="11578" r="17107"/>
            <a:stretch>
              <a:fillRect/>
            </a:stretch>
          </p:blipFill>
          <p:spPr>
            <a:xfrm>
              <a:off x="0" y="0"/>
              <a:ext cx="14066705" cy="7933199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50" name="Rectangle"/>
                <p:cNvSpPr/>
                <p:nvPr/>
              </p:nvSpPr>
              <p:spPr>
                <a:xfrm>
                  <a:off x="11304856" y="2364935"/>
                  <a:ext cx="2801511" cy="705928"/>
                </a:xfrm>
                <a:prstGeom prst="rect">
                  <a:avLst/>
                </a:prstGeom>
                <a:solidFill>
                  <a:srgbClr val="FFFFFF"/>
                </a:solid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 algn="l"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𝐡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b>
                        </m:s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𝐱</m:t>
                            </m:r>
                          </m:e>
                          <m:sub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a:rPr sz="355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550" name="Rectangle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1304856" y="2364935"/>
                  <a:ext cx="2801511" cy="705928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52" name="RNNs for Language Modeling"/>
          <p:cNvSpPr txBox="1">
            <a:spLocks noGrp="1"/>
          </p:cNvSpPr>
          <p:nvPr>
            <p:ph type="title"/>
          </p:nvPr>
        </p:nvSpPr>
        <p:spPr>
          <a:xfrm>
            <a:off x="2389207" y="27617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RNNs for Language Modeling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53" name="Equation"/>
              <p:cNvSpPr txBox="1"/>
              <p:nvPr/>
            </p:nvSpPr>
            <p:spPr>
              <a:xfrm>
                <a:off x="2005443" y="10271293"/>
                <a:ext cx="6975992" cy="53103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,…,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|</m:t>
                      </m:r>
                      <m:sSub>
                        <m:sSubPr>
                          <m:ctrlP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h</m:t>
                          </m:r>
                        </m:e>
                        <m:sub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𝑡</m:t>
                          </m:r>
                          <m:r>
                            <a:rPr sz="44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b>
                      </m:sSub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55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05443" y="10271293"/>
                <a:ext cx="6975992" cy="531034"/>
              </a:xfrm>
              <a:prstGeom prst="rect">
                <a:avLst/>
              </a:prstGeom>
              <a:blipFill>
                <a:blip r:embed="rId6"/>
                <a:stretch>
                  <a:fillRect r="-9965" b="-26437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4" name="Use a RNN to…"/>
          <p:cNvSpPr txBox="1"/>
          <p:nvPr/>
        </p:nvSpPr>
        <p:spPr>
          <a:xfrm>
            <a:off x="1367959" y="4781312"/>
            <a:ext cx="8250960" cy="4750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/>
            <a:r>
              <a:t>Use a RNN to </a:t>
            </a:r>
          </a:p>
          <a:p>
            <a:pPr marL="611187" indent="-611187" algn="l">
              <a:buSzPct val="145000"/>
              <a:buChar char="•"/>
            </a:pPr>
            <a:r>
              <a:t>capture the history of the previous words as a hidden state </a:t>
            </a:r>
          </a:p>
          <a:p>
            <a:pPr marL="611187" indent="-611187" algn="l">
              <a:buSzPct val="145000"/>
              <a:buChar char="•"/>
            </a:pPr>
            <a:r>
              <a:t>use hidden state to estimate the probability of the next word </a:t>
            </a:r>
          </a:p>
        </p:txBody>
      </p:sp>
      <p:pic>
        <p:nvPicPr>
          <p:cNvPr id="555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17500" y="3147988"/>
            <a:ext cx="8331201" cy="469901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9" name="(figure credit: Jay Alammar…"/>
          <p:cNvSpPr txBox="1"/>
          <p:nvPr/>
        </p:nvSpPr>
        <p:spPr>
          <a:xfrm>
            <a:off x="1987326" y="12608837"/>
            <a:ext cx="5716348" cy="8709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>
              <a:defRPr sz="2400" i="1">
                <a:solidFill>
                  <a:srgbClr val="5E5E5E"/>
                </a:solidFill>
              </a:defRPr>
            </a:pPr>
            <a:r>
              <a:t>(figure credit: </a:t>
            </a:r>
            <a:r>
              <a:rPr u="sng">
                <a:hlinkClick r:id="rId2"/>
              </a:rPr>
              <a:t>Jay Alammar</a:t>
            </a:r>
          </a:p>
          <a:p>
            <a:pPr>
              <a:defRPr sz="2400" i="1">
                <a:solidFill>
                  <a:srgbClr val="5E5E5E"/>
                </a:solidFill>
              </a:defRPr>
            </a:pPr>
            <a:r>
              <a:rPr u="sng">
                <a:hlinkClick r:id="rId3"/>
              </a:rPr>
              <a:t>http://jalammar.github.io/illustrated-bert/</a:t>
            </a:r>
            <a:r>
              <a:t>)</a:t>
            </a:r>
          </a:p>
        </p:txBody>
      </p:sp>
      <p:pic>
        <p:nvPicPr>
          <p:cNvPr id="560" name="Image" descr="Image"/>
          <p:cNvPicPr>
            <a:picLocks noChangeAspect="1"/>
          </p:cNvPicPr>
          <p:nvPr/>
        </p:nvPicPr>
        <p:blipFill>
          <a:blip r:embed="rId4"/>
          <a:srcRect b="5318"/>
          <a:stretch>
            <a:fillRect/>
          </a:stretch>
        </p:blipFill>
        <p:spPr>
          <a:xfrm>
            <a:off x="1824445" y="2257724"/>
            <a:ext cx="9829801" cy="9535505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63" name="Group"/>
          <p:cNvGrpSpPr/>
          <p:nvPr/>
        </p:nvGrpSpPr>
        <p:grpSpPr>
          <a:xfrm>
            <a:off x="11630091" y="5495648"/>
            <a:ext cx="8385109" cy="6196212"/>
            <a:chOff x="0" y="0"/>
            <a:chExt cx="8385108" cy="6196211"/>
          </a:xfrm>
        </p:grpSpPr>
        <p:pic>
          <p:nvPicPr>
            <p:cNvPr id="561" name="Image" descr="Image"/>
            <p:cNvPicPr>
              <a:picLocks noChangeAspect="1"/>
            </p:cNvPicPr>
            <p:nvPr/>
          </p:nvPicPr>
          <p:blipFill>
            <a:blip r:embed="rId5"/>
            <a:srcRect l="63909" t="21710" b="7390"/>
            <a:stretch>
              <a:fillRect/>
            </a:stretch>
          </p:blipFill>
          <p:spPr>
            <a:xfrm>
              <a:off x="2119531" y="586605"/>
              <a:ext cx="6265578" cy="560960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562" name="Line"/>
            <p:cNvSpPr/>
            <p:nvPr/>
          </p:nvSpPr>
          <p:spPr>
            <a:xfrm flipH="1" flipV="1">
              <a:off x="-1" y="-1"/>
              <a:ext cx="2274427" cy="841150"/>
            </a:xfrm>
            <a:prstGeom prst="line">
              <a:avLst/>
            </a:prstGeom>
            <a:noFill/>
            <a:ln w="50800" cap="flat">
              <a:solidFill>
                <a:srgbClr val="9292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564" name="Let’s     stick      to"/>
          <p:cNvSpPr txBox="1"/>
          <p:nvPr/>
        </p:nvSpPr>
        <p:spPr>
          <a:xfrm>
            <a:off x="4816578" y="11629097"/>
            <a:ext cx="5257076" cy="845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665440">
              <a:defRPr sz="486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lvl1pPr>
          </a:lstStyle>
          <a:p>
            <a:r>
              <a:t>Let’s     stick      to</a:t>
            </a:r>
          </a:p>
        </p:txBody>
      </p:sp>
      <p:sp>
        <p:nvSpPr>
          <p:cNvPr id="565" name="in         this      skit"/>
          <p:cNvSpPr txBox="1"/>
          <p:nvPr/>
        </p:nvSpPr>
        <p:spPr>
          <a:xfrm>
            <a:off x="13658953" y="11629097"/>
            <a:ext cx="5865132" cy="8459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>
            <a:lvl1pPr defTabSz="665440">
              <a:defRPr sz="4860">
                <a:solidFill>
                  <a:schemeClr val="accent3">
                    <a:hueOff val="362282"/>
                    <a:satOff val="31803"/>
                    <a:lumOff val="-18242"/>
                  </a:schemeClr>
                </a:solidFill>
              </a:defRPr>
            </a:lvl1pPr>
          </a:lstStyle>
          <a:p>
            <a:r>
              <a:t>in         this      skit</a:t>
            </a:r>
          </a:p>
        </p:txBody>
      </p:sp>
      <p:sp>
        <p:nvSpPr>
          <p:cNvPr id="566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24</a:t>
            </a:fld>
            <a:endParaRPr/>
          </a:p>
        </p:txBody>
      </p:sp>
      <p:sp>
        <p:nvSpPr>
          <p:cNvPr id="567" name="Learning contextualized word embeddings with RNNs: ELMo"/>
          <p:cNvSpPr txBox="1">
            <a:spLocks noGrp="1"/>
          </p:cNvSpPr>
          <p:nvPr>
            <p:ph type="title"/>
          </p:nvPr>
        </p:nvSpPr>
        <p:spPr>
          <a:xfrm>
            <a:off x="742882" y="299222"/>
            <a:ext cx="23451320" cy="1792583"/>
          </a:xfrm>
          <a:prstGeom prst="rect">
            <a:avLst/>
          </a:prstGeom>
        </p:spPr>
        <p:txBody>
          <a:bodyPr/>
          <a:lstStyle/>
          <a:p>
            <a:r>
              <a:t>Learning contextualized word embeddings with RNNs: ELMo</a:t>
            </a:r>
          </a:p>
        </p:txBody>
      </p:sp>
      <p:sp>
        <p:nvSpPr>
          <p:cNvPr id="568" name="Deep contextualized word representations [Peter et al. 2018]"/>
          <p:cNvSpPr txBox="1">
            <a:spLocks noGrp="1"/>
          </p:cNvSpPr>
          <p:nvPr>
            <p:ph type="body" sz="quarter" idx="1"/>
          </p:nvPr>
        </p:nvSpPr>
        <p:spPr>
          <a:xfrm>
            <a:off x="15320019" y="12562158"/>
            <a:ext cx="12784048" cy="964300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  <a:defRPr sz="2400">
                <a:solidFill>
                  <a:srgbClr val="5E5E5E"/>
                </a:solidFill>
              </a:defRPr>
            </a:lvl1pPr>
          </a:lstStyle>
          <a:p>
            <a:r>
              <a:t>Deep contextualized word representations [Peter et al. 2018]</a:t>
            </a:r>
          </a:p>
        </p:txBody>
      </p:sp>
      <p:sp>
        <p:nvSpPr>
          <p:cNvPr id="569" name="Group"/>
          <p:cNvSpPr txBox="1"/>
          <p:nvPr/>
        </p:nvSpPr>
        <p:spPr>
          <a:xfrm>
            <a:off x="12459255" y="2221269"/>
            <a:ext cx="11896569" cy="12909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 lnSpcReduction="10000"/>
          </a:bodyPr>
          <a:lstStyle/>
          <a:p>
            <a:pPr marL="579119" indent="-579119" algn="l" defTabSz="788669">
              <a:lnSpc>
                <a:spcPct val="120000"/>
              </a:lnSpc>
              <a:spcBef>
                <a:spcPts val="1300"/>
              </a:spcBef>
              <a:buSzPct val="145000"/>
              <a:buChar char="•"/>
              <a:defRPr sz="3648">
                <a:latin typeface="Georgia"/>
                <a:ea typeface="Georgia"/>
                <a:cs typeface="Georgia"/>
                <a:sym typeface="Georgia"/>
              </a:defRPr>
            </a:pPr>
            <a:r>
              <a:t>Train two stacked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LSTM-based language model</a:t>
            </a:r>
            <a:r>
              <a:t> on some large corpus</a:t>
            </a:r>
          </a:p>
        </p:txBody>
      </p:sp>
      <p:sp>
        <p:nvSpPr>
          <p:cNvPr id="570" name="Use the hidden states of the LSTM for each token to compute a vector representation of each word"/>
          <p:cNvSpPr txBox="1"/>
          <p:nvPr/>
        </p:nvSpPr>
        <p:spPr>
          <a:xfrm>
            <a:off x="12389598" y="3641637"/>
            <a:ext cx="12035883" cy="13763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lnSpcReduction="10000"/>
          </a:bodyPr>
          <a:lstStyle/>
          <a:p>
            <a:pPr marL="603250" indent="-603250" algn="l">
              <a:lnSpc>
                <a:spcPct val="120000"/>
              </a:lnSpc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Use the </a:t>
            </a:r>
            <a:r>
              <a:rPr>
                <a:solidFill>
                  <a:schemeClr val="accent5">
                    <a:lumOff val="-29866"/>
                  </a:schemeClr>
                </a:solidFill>
              </a:rPr>
              <a:t>hidden states of the LSTM</a:t>
            </a:r>
            <a:r>
              <a:t> for each token to compute a vector representation of each word</a:t>
            </a:r>
          </a:p>
        </p:txBody>
      </p:sp>
      <p:sp>
        <p:nvSpPr>
          <p:cNvPr id="571" name="Static embeddings"/>
          <p:cNvSpPr txBox="1"/>
          <p:nvPr/>
        </p:nvSpPr>
        <p:spPr>
          <a:xfrm>
            <a:off x="19284502" y="10006637"/>
            <a:ext cx="485508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Static embeddings</a:t>
            </a:r>
          </a:p>
        </p:txBody>
      </p:sp>
      <p:sp>
        <p:nvSpPr>
          <p:cNvPr id="572" name="Contextual embeddings"/>
          <p:cNvSpPr txBox="1"/>
          <p:nvPr/>
        </p:nvSpPr>
        <p:spPr>
          <a:xfrm>
            <a:off x="19358464" y="6788272"/>
            <a:ext cx="4707159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r>
              <a:t>Contextual embeddings</a:t>
            </a:r>
          </a:p>
        </p:txBody>
      </p:sp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4" name="Transformers for Language Modeling"/>
          <p:cNvSpPr txBox="1">
            <a:spLocks noGrp="1"/>
          </p:cNvSpPr>
          <p:nvPr>
            <p:ph type="title"/>
          </p:nvPr>
        </p:nvSpPr>
        <p:spPr>
          <a:xfrm>
            <a:off x="2389207" y="27617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Transformers for Language Modeling</a:t>
            </a:r>
          </a:p>
        </p:txBody>
      </p:sp>
      <p:pic>
        <p:nvPicPr>
          <p:cNvPr id="57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85332" y="10428220"/>
            <a:ext cx="7626665" cy="543741"/>
          </a:xfrm>
          <a:prstGeom prst="rect">
            <a:avLst/>
          </a:prstGeom>
          <a:ln w="12700">
            <a:miter lim="400000"/>
          </a:ln>
        </p:spPr>
      </p:pic>
      <p:sp>
        <p:nvSpPr>
          <p:cNvPr id="576" name="Transformer"/>
          <p:cNvSpPr/>
          <p:nvPr/>
        </p:nvSpPr>
        <p:spPr>
          <a:xfrm>
            <a:off x="13294531" y="4784109"/>
            <a:ext cx="7886967" cy="2677141"/>
          </a:xfrm>
          <a:prstGeom prst="roundRect">
            <a:avLst>
              <a:gd name="adj" fmla="val 7116"/>
            </a:avLst>
          </a:prstGeom>
          <a:solidFill>
            <a:srgbClr val="FFFFFF"/>
          </a:solidFill>
          <a:ln w="635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Transformer</a:t>
            </a:r>
          </a:p>
        </p:txBody>
      </p:sp>
      <p:sp>
        <p:nvSpPr>
          <p:cNvPr id="577" name="SOS"/>
          <p:cNvSpPr/>
          <p:nvPr/>
        </p:nvSpPr>
        <p:spPr>
          <a:xfrm>
            <a:off x="13450713" y="8883848"/>
            <a:ext cx="1083238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SOS</a:t>
            </a:r>
          </a:p>
        </p:txBody>
      </p:sp>
      <p:sp>
        <p:nvSpPr>
          <p:cNvPr id="578" name="the"/>
          <p:cNvSpPr/>
          <p:nvPr/>
        </p:nvSpPr>
        <p:spPr>
          <a:xfrm>
            <a:off x="14846696" y="8883848"/>
            <a:ext cx="1083238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the</a:t>
            </a:r>
          </a:p>
        </p:txBody>
      </p:sp>
      <p:sp>
        <p:nvSpPr>
          <p:cNvPr id="579" name="students"/>
          <p:cNvSpPr/>
          <p:nvPr/>
        </p:nvSpPr>
        <p:spPr>
          <a:xfrm>
            <a:off x="16242681" y="8883848"/>
            <a:ext cx="1990667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students</a:t>
            </a:r>
          </a:p>
        </p:txBody>
      </p:sp>
      <p:sp>
        <p:nvSpPr>
          <p:cNvPr id="580" name="opened"/>
          <p:cNvSpPr/>
          <p:nvPr/>
        </p:nvSpPr>
        <p:spPr>
          <a:xfrm>
            <a:off x="18702277" y="8883848"/>
            <a:ext cx="1990667" cy="870012"/>
          </a:xfrm>
          <a:prstGeom prst="roundRect">
            <a:avLst>
              <a:gd name="adj" fmla="val 15000"/>
            </a:avLst>
          </a:prstGeom>
          <a:solidFill>
            <a:srgbClr val="FFFFFF"/>
          </a:solidFill>
          <a:ln w="25400">
            <a:solidFill>
              <a:schemeClr val="accent1">
                <a:lumOff val="-135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/>
          <a:lstStyle>
            <a:lvl1pPr>
              <a:defRPr sz="3000">
                <a:solidFill>
                  <a:srgbClr val="5E5E5E"/>
                </a:solidFill>
                <a:latin typeface="+mn-lt"/>
                <a:ea typeface="+mn-ea"/>
                <a:cs typeface="+mn-cs"/>
                <a:sym typeface="Helvetica Neue Medium"/>
              </a:defRPr>
            </a:lvl1pPr>
          </a:lstStyle>
          <a:p>
            <a:r>
              <a:t>opened</a:t>
            </a:r>
          </a:p>
        </p:txBody>
      </p:sp>
      <p:sp>
        <p:nvSpPr>
          <p:cNvPr id="581" name="Line"/>
          <p:cNvSpPr/>
          <p:nvPr/>
        </p:nvSpPr>
        <p:spPr>
          <a:xfrm flipH="1" flipV="1">
            <a:off x="13982586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2" name="Line"/>
          <p:cNvSpPr/>
          <p:nvPr/>
        </p:nvSpPr>
        <p:spPr>
          <a:xfrm flipH="1" flipV="1">
            <a:off x="15385327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3" name="Line"/>
          <p:cNvSpPr/>
          <p:nvPr/>
        </p:nvSpPr>
        <p:spPr>
          <a:xfrm flipH="1" flipV="1">
            <a:off x="17235025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4" name="Line"/>
          <p:cNvSpPr/>
          <p:nvPr/>
        </p:nvSpPr>
        <p:spPr>
          <a:xfrm flipH="1" flipV="1">
            <a:off x="19694622" y="74931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5" name="Line"/>
          <p:cNvSpPr/>
          <p:nvPr/>
        </p:nvSpPr>
        <p:spPr>
          <a:xfrm flipH="1" flipV="1">
            <a:off x="13847639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6" name="Line"/>
          <p:cNvSpPr/>
          <p:nvPr/>
        </p:nvSpPr>
        <p:spPr>
          <a:xfrm flipH="1" flipV="1">
            <a:off x="15385327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7" name="Line"/>
          <p:cNvSpPr/>
          <p:nvPr/>
        </p:nvSpPr>
        <p:spPr>
          <a:xfrm flipH="1" flipV="1">
            <a:off x="17235025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588" name="Line"/>
          <p:cNvSpPr/>
          <p:nvPr/>
        </p:nvSpPr>
        <p:spPr>
          <a:xfrm flipH="1" flipV="1">
            <a:off x="19694622" y="4164579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589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501872" y="1301667"/>
            <a:ext cx="2391476" cy="251624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595" name="Group"/>
          <p:cNvGrpSpPr/>
          <p:nvPr/>
        </p:nvGrpSpPr>
        <p:grpSpPr>
          <a:xfrm>
            <a:off x="13191875" y="3858834"/>
            <a:ext cx="1317507" cy="264826"/>
            <a:chOff x="0" y="0"/>
            <a:chExt cx="1317506" cy="264825"/>
          </a:xfrm>
        </p:grpSpPr>
        <p:sp>
          <p:nvSpPr>
            <p:cNvPr id="590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1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5000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2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442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3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4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7036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01" name="Group"/>
          <p:cNvGrpSpPr/>
          <p:nvPr/>
        </p:nvGrpSpPr>
        <p:grpSpPr>
          <a:xfrm>
            <a:off x="14729562" y="3858834"/>
            <a:ext cx="1317508" cy="264826"/>
            <a:chOff x="0" y="0"/>
            <a:chExt cx="1317506" cy="264825"/>
          </a:xfrm>
        </p:grpSpPr>
        <p:sp>
          <p:nvSpPr>
            <p:cNvPr id="596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918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7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8016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8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8897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599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668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0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3228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07" name="Group"/>
          <p:cNvGrpSpPr/>
          <p:nvPr/>
        </p:nvGrpSpPr>
        <p:grpSpPr>
          <a:xfrm>
            <a:off x="16579260" y="3858834"/>
            <a:ext cx="1317508" cy="264826"/>
            <a:chOff x="0" y="0"/>
            <a:chExt cx="1317506" cy="264825"/>
          </a:xfrm>
        </p:grpSpPr>
        <p:sp>
          <p:nvSpPr>
            <p:cNvPr id="602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5089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3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775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4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325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5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282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6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13" name="Group"/>
          <p:cNvGrpSpPr/>
          <p:nvPr/>
        </p:nvGrpSpPr>
        <p:grpSpPr>
          <a:xfrm>
            <a:off x="19038858" y="3858834"/>
            <a:ext cx="1317507" cy="264826"/>
            <a:chOff x="0" y="0"/>
            <a:chExt cx="1317506" cy="264825"/>
          </a:xfrm>
        </p:grpSpPr>
        <p:sp>
          <p:nvSpPr>
            <p:cNvPr id="608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893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09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346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10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543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11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351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12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845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614" name="Line"/>
          <p:cNvSpPr/>
          <p:nvPr/>
        </p:nvSpPr>
        <p:spPr>
          <a:xfrm flipH="1" flipV="1">
            <a:off x="14020686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15" name="Line"/>
          <p:cNvSpPr/>
          <p:nvPr/>
        </p:nvSpPr>
        <p:spPr>
          <a:xfrm flipH="1" flipV="1">
            <a:off x="15423427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16" name="Line"/>
          <p:cNvSpPr/>
          <p:nvPr/>
        </p:nvSpPr>
        <p:spPr>
          <a:xfrm flipH="1" flipV="1">
            <a:off x="17273125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617" name="Line"/>
          <p:cNvSpPr/>
          <p:nvPr/>
        </p:nvSpPr>
        <p:spPr>
          <a:xfrm flipH="1" flipV="1">
            <a:off x="19732722" y="8344018"/>
            <a:ext cx="9746" cy="546522"/>
          </a:xfrm>
          <a:prstGeom prst="line">
            <a:avLst/>
          </a:prstGeom>
          <a:ln w="38100">
            <a:solidFill>
              <a:srgbClr val="929292"/>
            </a:solidFill>
            <a:miter lim="400000"/>
            <a:tailEnd type="triangle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623" name="Group"/>
          <p:cNvGrpSpPr/>
          <p:nvPr/>
        </p:nvGrpSpPr>
        <p:grpSpPr>
          <a:xfrm>
            <a:off x="13326822" y="8090896"/>
            <a:ext cx="1317507" cy="264826"/>
            <a:chOff x="0" y="0"/>
            <a:chExt cx="1317506" cy="264825"/>
          </a:xfrm>
        </p:grpSpPr>
        <p:sp>
          <p:nvSpPr>
            <p:cNvPr id="618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6595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19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379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0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9030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1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3511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2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1942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29" name="Group"/>
          <p:cNvGrpSpPr/>
          <p:nvPr/>
        </p:nvGrpSpPr>
        <p:grpSpPr>
          <a:xfrm>
            <a:off x="14767662" y="8081579"/>
            <a:ext cx="1317508" cy="264826"/>
            <a:chOff x="0" y="0"/>
            <a:chExt cx="1317506" cy="264825"/>
          </a:xfrm>
        </p:grpSpPr>
        <p:sp>
          <p:nvSpPr>
            <p:cNvPr id="624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057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5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9222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6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057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7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7548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28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77223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35" name="Group"/>
          <p:cNvGrpSpPr/>
          <p:nvPr/>
        </p:nvGrpSpPr>
        <p:grpSpPr>
          <a:xfrm>
            <a:off x="16617360" y="8090896"/>
            <a:ext cx="1317508" cy="264826"/>
            <a:chOff x="0" y="0"/>
            <a:chExt cx="1317506" cy="264825"/>
          </a:xfrm>
        </p:grpSpPr>
        <p:sp>
          <p:nvSpPr>
            <p:cNvPr id="630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4892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1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81059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2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29641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3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564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4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58532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641" name="Group"/>
          <p:cNvGrpSpPr/>
          <p:nvPr/>
        </p:nvGrpSpPr>
        <p:grpSpPr>
          <a:xfrm>
            <a:off x="19038858" y="8081579"/>
            <a:ext cx="1317507" cy="264826"/>
            <a:chOff x="0" y="0"/>
            <a:chExt cx="1317506" cy="264825"/>
          </a:xfrm>
        </p:grpSpPr>
        <p:sp>
          <p:nvSpPr>
            <p:cNvPr id="636" name="Square"/>
            <p:cNvSpPr/>
            <p:nvPr/>
          </p:nvSpPr>
          <p:spPr>
            <a:xfrm>
              <a:off x="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64766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7" name="Square"/>
            <p:cNvSpPr/>
            <p:nvPr/>
          </p:nvSpPr>
          <p:spPr>
            <a:xfrm>
              <a:off x="26317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9767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8" name="Square"/>
            <p:cNvSpPr/>
            <p:nvPr/>
          </p:nvSpPr>
          <p:spPr>
            <a:xfrm>
              <a:off x="526340" y="0"/>
              <a:ext cx="264826" cy="264826"/>
            </a:xfrm>
            <a:prstGeom prst="rect">
              <a:avLst/>
            </a:prstGeom>
            <a:solidFill>
              <a:schemeClr val="accent1">
                <a:lumOff val="-13575"/>
                <a:alpha val="19420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39" name="Square"/>
            <p:cNvSpPr/>
            <p:nvPr/>
          </p:nvSpPr>
          <p:spPr>
            <a:xfrm>
              <a:off x="78951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83874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40" name="Square"/>
            <p:cNvSpPr/>
            <p:nvPr/>
          </p:nvSpPr>
          <p:spPr>
            <a:xfrm>
              <a:off x="1052680" y="0"/>
              <a:ext cx="264827" cy="264826"/>
            </a:xfrm>
            <a:prstGeom prst="rect">
              <a:avLst/>
            </a:prstGeom>
            <a:solidFill>
              <a:schemeClr val="accent1">
                <a:lumOff val="-13575"/>
                <a:alpha val="45128"/>
              </a:schemeClr>
            </a:solidFill>
            <a:ln w="38100" cap="flat">
              <a:solidFill>
                <a:schemeClr val="accent1">
                  <a:hueOff val="114395"/>
                  <a:lumOff val="-249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642" name="Static embeddings"/>
          <p:cNvSpPr txBox="1"/>
          <p:nvPr/>
        </p:nvSpPr>
        <p:spPr>
          <a:xfrm>
            <a:off x="6498706" y="7829494"/>
            <a:ext cx="4855084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Static embeddings</a:t>
            </a:r>
          </a:p>
        </p:txBody>
      </p:sp>
      <p:sp>
        <p:nvSpPr>
          <p:cNvPr id="643" name="Contextual embeddings"/>
          <p:cNvSpPr txBox="1"/>
          <p:nvPr/>
        </p:nvSpPr>
        <p:spPr>
          <a:xfrm>
            <a:off x="5862233" y="3597433"/>
            <a:ext cx="6128030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Contextual embeddings</a:t>
            </a:r>
          </a:p>
        </p:txBody>
      </p:sp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7" name="How does this pretraining work?"/>
          <p:cNvSpPr txBox="1">
            <a:spLocks noGrp="1"/>
          </p:cNvSpPr>
          <p:nvPr>
            <p:ph type="title"/>
          </p:nvPr>
        </p:nvSpPr>
        <p:spPr>
          <a:xfrm>
            <a:off x="4387453" y="2272317"/>
            <a:ext cx="15609094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How does this pretraining work?</a:t>
            </a:r>
          </a:p>
        </p:txBody>
      </p:sp>
      <p:sp>
        <p:nvSpPr>
          <p:cNvPr id="64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26</a:t>
            </a:fld>
            <a:endParaRPr/>
          </a:p>
        </p:txBody>
      </p:sp>
      <p:pic>
        <p:nvPicPr>
          <p:cNvPr id="649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26402" y="5436982"/>
            <a:ext cx="7034081" cy="4837318"/>
          </a:xfrm>
          <a:prstGeom prst="rect">
            <a:avLst/>
          </a:prstGeom>
          <a:ln w="12700">
            <a:miter lim="400000"/>
          </a:ln>
        </p:spPr>
      </p:pic>
      <p:sp>
        <p:nvSpPr>
          <p:cNvPr id="650" name="Big pile of unlabeled text data!  Learn using language modelling!"/>
          <p:cNvSpPr txBox="1"/>
          <p:nvPr/>
        </p:nvSpPr>
        <p:spPr>
          <a:xfrm>
            <a:off x="5267560" y="10966846"/>
            <a:ext cx="13848880" cy="14136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Big pile of unlabeled text data!  Learn using language modelling!</a:t>
            </a:r>
          </a:p>
        </p:txBody>
      </p:sp>
    </p:spTree>
  </p:cSld>
  <p:clrMapOvr>
    <a:masterClrMapping/>
  </p:clrMapOvr>
  <p:transition spd="med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2" name="Representing words by their con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Representing words by their context</a:t>
            </a:r>
          </a:p>
        </p:txBody>
      </p:sp>
      <p:sp>
        <p:nvSpPr>
          <p:cNvPr id="653" name="Distributional hypothesis: words that occur in similar contexts tend to have similar meanings"/>
          <p:cNvSpPr txBox="1">
            <a:spLocks noGrp="1"/>
          </p:cNvSpPr>
          <p:nvPr>
            <p:ph type="body" sz="quarter" idx="1"/>
          </p:nvPr>
        </p:nvSpPr>
        <p:spPr>
          <a:xfrm>
            <a:off x="4387453" y="3125390"/>
            <a:ext cx="15609094" cy="1767172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None/>
              <a:defRPr sz="4400"/>
            </a:pPr>
            <a:r>
              <a:rPr b="1"/>
              <a:t>Distributional hypothesis</a:t>
            </a:r>
            <a:r>
              <a:t>: words that occur in similar contexts tend to have similar meanings</a:t>
            </a:r>
          </a:p>
        </p:txBody>
      </p:sp>
      <p:sp>
        <p:nvSpPr>
          <p:cNvPr id="654" name="J.R.Firth 1957"/>
          <p:cNvSpPr txBox="1"/>
          <p:nvPr/>
        </p:nvSpPr>
        <p:spPr>
          <a:xfrm>
            <a:off x="8479152" y="5326428"/>
            <a:ext cx="3561555" cy="85865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796885">
              <a:lnSpc>
                <a:spcPct val="120000"/>
              </a:lnSpc>
              <a:spcBef>
                <a:spcPts val="6800"/>
              </a:spcBef>
              <a:defRPr sz="4268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J.R.Firth 1957</a:t>
            </a:r>
          </a:p>
        </p:txBody>
      </p:sp>
      <p:pic>
        <p:nvPicPr>
          <p:cNvPr id="655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4935" y="5255957"/>
            <a:ext cx="2509310" cy="3581468"/>
          </a:xfrm>
          <a:prstGeom prst="rect">
            <a:avLst/>
          </a:prstGeom>
          <a:ln w="12700">
            <a:miter lim="400000"/>
          </a:ln>
        </p:spPr>
      </p:pic>
      <p:sp>
        <p:nvSpPr>
          <p:cNvPr id="656" name="“You shall know a word by the company it keeps”"/>
          <p:cNvSpPr txBox="1"/>
          <p:nvPr/>
        </p:nvSpPr>
        <p:spPr>
          <a:xfrm>
            <a:off x="8404783" y="5995019"/>
            <a:ext cx="11644623" cy="137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4519" indent="-604519" algn="l">
              <a:lnSpc>
                <a:spcPct val="120000"/>
              </a:lnSpc>
              <a:spcBef>
                <a:spcPts val="7000"/>
              </a:spcBef>
              <a:buSzPct val="145000"/>
              <a:buChar char="•"/>
              <a:defRPr sz="36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“You shall know a word by the company it keeps”</a:t>
            </a:r>
          </a:p>
        </p:txBody>
      </p:sp>
      <p:sp>
        <p:nvSpPr>
          <p:cNvPr id="657" name="One of the most successful ideas of modern statistical NLP!"/>
          <p:cNvSpPr txBox="1"/>
          <p:nvPr/>
        </p:nvSpPr>
        <p:spPr>
          <a:xfrm>
            <a:off x="8404783" y="7167936"/>
            <a:ext cx="12801497" cy="13785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marL="604519" indent="-604519" algn="l">
              <a:lnSpc>
                <a:spcPct val="120000"/>
              </a:lnSpc>
              <a:spcBef>
                <a:spcPts val="7000"/>
              </a:spcBef>
              <a:buSzPct val="145000"/>
              <a:buChar char="•"/>
              <a:defRPr sz="36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One of the most successful ideas of modern statistical NLP!</a:t>
            </a:r>
          </a:p>
        </p:txBody>
      </p:sp>
      <p:grpSp>
        <p:nvGrpSpPr>
          <p:cNvPr id="663" name="Group"/>
          <p:cNvGrpSpPr/>
          <p:nvPr/>
        </p:nvGrpSpPr>
        <p:grpSpPr>
          <a:xfrm>
            <a:off x="3783701" y="9529308"/>
            <a:ext cx="17105815" cy="3378690"/>
            <a:chOff x="0" y="0"/>
            <a:chExt cx="17105813" cy="3378689"/>
          </a:xfrm>
        </p:grpSpPr>
        <p:grpSp>
          <p:nvGrpSpPr>
            <p:cNvPr id="660" name="Group"/>
            <p:cNvGrpSpPr/>
            <p:nvPr/>
          </p:nvGrpSpPr>
          <p:grpSpPr>
            <a:xfrm>
              <a:off x="0" y="-1"/>
              <a:ext cx="17105814" cy="3378691"/>
              <a:chOff x="0" y="0"/>
              <a:chExt cx="17105813" cy="3378688"/>
            </a:xfrm>
          </p:grpSpPr>
          <p:pic>
            <p:nvPicPr>
              <p:cNvPr id="658" name="Screen Shot 2019-09-25 at 11.23.22 AM.png" descr="Screen Shot 2019-09-25 at 11.23.22 AM.png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0" y="0"/>
                <a:ext cx="17105814" cy="2510410"/>
              </a:xfrm>
              <a:prstGeom prst="rect">
                <a:avLst/>
              </a:prstGeom>
              <a:ln w="12700" cap="flat">
                <a:noFill/>
                <a:miter lim="400000"/>
              </a:ln>
              <a:effectLst/>
            </p:spPr>
          </p:pic>
          <p:sp>
            <p:nvSpPr>
              <p:cNvPr id="659" name="These context words will represent banking."/>
              <p:cNvSpPr txBox="1"/>
              <p:nvPr/>
            </p:nvSpPr>
            <p:spPr>
              <a:xfrm>
                <a:off x="4906832" y="2520039"/>
                <a:ext cx="11644623" cy="858650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rmAutofit/>
              </a:bodyPr>
              <a:lstStyle/>
              <a:p>
                <a:pPr algn="l">
                  <a:lnSpc>
                    <a:spcPct val="120000"/>
                  </a:lnSpc>
                  <a:spcBef>
                    <a:spcPts val="70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These </a:t>
                </a:r>
                <a:r>
                  <a:rPr>
                    <a:solidFill>
                      <a:schemeClr val="accent6"/>
                    </a:solidFill>
                  </a:rPr>
                  <a:t>context words</a:t>
                </a:r>
                <a:r>
                  <a:t> will represent </a:t>
                </a:r>
                <a:r>
                  <a:rPr b="1" i="1"/>
                  <a:t>banking</a:t>
                </a:r>
                <a:r>
                  <a:rPr i="1"/>
                  <a:t>.</a:t>
                </a:r>
              </a:p>
            </p:txBody>
          </p:sp>
        </p:grpSp>
        <p:sp>
          <p:nvSpPr>
            <p:cNvPr id="661" name="Line"/>
            <p:cNvSpPr/>
            <p:nvPr/>
          </p:nvSpPr>
          <p:spPr>
            <a:xfrm flipV="1">
              <a:off x="8560697" y="2212722"/>
              <a:ext cx="1103909" cy="576970"/>
            </a:xfrm>
            <a:prstGeom prst="line">
              <a:avLst/>
            </a:prstGeom>
            <a:noFill/>
            <a:ln w="50800" cap="flat">
              <a:solidFill>
                <a:srgbClr val="9292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662" name="Line"/>
            <p:cNvSpPr/>
            <p:nvPr/>
          </p:nvSpPr>
          <p:spPr>
            <a:xfrm flipH="1" flipV="1">
              <a:off x="5909730" y="2224054"/>
              <a:ext cx="1126968" cy="565638"/>
            </a:xfrm>
            <a:prstGeom prst="line">
              <a:avLst/>
            </a:prstGeom>
            <a:noFill/>
            <a:ln w="50800" cap="flat">
              <a:solidFill>
                <a:srgbClr val="929292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63" grpId="0" animBg="1" advAuto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7" name="Distributional hypothesis"/>
          <p:cNvSpPr txBox="1">
            <a:spLocks noGrp="1"/>
          </p:cNvSpPr>
          <p:nvPr>
            <p:ph type="title"/>
          </p:nvPr>
        </p:nvSpPr>
        <p:spPr>
          <a:xfrm>
            <a:off x="4271980" y="35718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Distributional hypothesis</a:t>
            </a:r>
          </a:p>
        </p:txBody>
      </p:sp>
      <p:sp>
        <p:nvSpPr>
          <p:cNvPr id="668" name="“tejuino”"/>
          <p:cNvSpPr txBox="1">
            <a:spLocks noGrp="1"/>
          </p:cNvSpPr>
          <p:nvPr>
            <p:ph type="body" sz="quarter" idx="1"/>
          </p:nvPr>
        </p:nvSpPr>
        <p:spPr>
          <a:xfrm>
            <a:off x="6119671" y="4598885"/>
            <a:ext cx="2667574" cy="1180736"/>
          </a:xfrm>
          <a:prstGeom prst="rect">
            <a:avLst/>
          </a:prstGeom>
        </p:spPr>
        <p:txBody>
          <a:bodyPr/>
          <a:lstStyle>
            <a:lvl1pPr marL="0" indent="0">
              <a:buSzTx/>
              <a:buNone/>
            </a:lvl1pPr>
          </a:lstStyle>
          <a:p>
            <a:r>
              <a:t>“tejuino”</a:t>
            </a:r>
          </a:p>
        </p:txBody>
      </p:sp>
      <p:grpSp>
        <p:nvGrpSpPr>
          <p:cNvPr id="673" name="Group"/>
          <p:cNvGrpSpPr/>
          <p:nvPr/>
        </p:nvGrpSpPr>
        <p:grpSpPr>
          <a:xfrm>
            <a:off x="10838521" y="4908313"/>
            <a:ext cx="8456154" cy="5469382"/>
            <a:chOff x="0" y="0"/>
            <a:chExt cx="8456153" cy="5469380"/>
          </a:xfrm>
        </p:grpSpPr>
        <p:sp>
          <p:nvSpPr>
            <p:cNvPr id="669" name="C1: A bottle of ___ is on the table."/>
            <p:cNvSpPr txBox="1"/>
            <p:nvPr/>
          </p:nvSpPr>
          <p:spPr>
            <a:xfrm>
              <a:off x="0" y="0"/>
              <a:ext cx="8456154" cy="11807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fontScale="92500"/>
            </a:bodyPr>
            <a:lstStyle>
              <a:lvl1pPr algn="l">
                <a:lnSpc>
                  <a:spcPct val="120000"/>
                </a:lnSpc>
                <a:spcBef>
                  <a:spcPts val="70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C1: A bottle of ___ is on the table.</a:t>
              </a:r>
            </a:p>
          </p:txBody>
        </p:sp>
        <p:sp>
          <p:nvSpPr>
            <p:cNvPr id="670" name="C2: Everybody likes ___."/>
            <p:cNvSpPr txBox="1"/>
            <p:nvPr/>
          </p:nvSpPr>
          <p:spPr>
            <a:xfrm>
              <a:off x="0" y="1362189"/>
              <a:ext cx="8456154" cy="11807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lnSpc>
                  <a:spcPct val="120000"/>
                </a:lnSpc>
                <a:spcBef>
                  <a:spcPts val="70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C2: Everybody likes ___.</a:t>
              </a:r>
            </a:p>
          </p:txBody>
        </p:sp>
        <p:sp>
          <p:nvSpPr>
            <p:cNvPr id="671" name="C3: Don’t have ___ before you drive."/>
            <p:cNvSpPr txBox="1"/>
            <p:nvPr/>
          </p:nvSpPr>
          <p:spPr>
            <a:xfrm>
              <a:off x="0" y="2724379"/>
              <a:ext cx="8456154" cy="118073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 fontScale="92500"/>
            </a:bodyPr>
            <a:lstStyle>
              <a:lvl1pPr algn="l" defTabSz="755808">
                <a:lnSpc>
                  <a:spcPct val="120000"/>
                </a:lnSpc>
                <a:spcBef>
                  <a:spcPts val="6400"/>
                </a:spcBef>
                <a:defRPr sz="4048"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C3: Don’t have ___ before you drive.</a:t>
              </a:r>
            </a:p>
          </p:txBody>
        </p:sp>
        <p:sp>
          <p:nvSpPr>
            <p:cNvPr id="672" name="C4: We make ___ out of corn."/>
            <p:cNvSpPr txBox="1"/>
            <p:nvPr/>
          </p:nvSpPr>
          <p:spPr>
            <a:xfrm>
              <a:off x="0" y="4288645"/>
              <a:ext cx="8456154" cy="118073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 algn="l">
                <a:lnSpc>
                  <a:spcPct val="120000"/>
                </a:lnSpc>
                <a:spcBef>
                  <a:spcPts val="70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C4: We make ___ out of corn.</a:t>
              </a:r>
            </a:p>
          </p:txBody>
        </p:sp>
      </p:grpSp>
      <p:pic>
        <p:nvPicPr>
          <p:cNvPr id="67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5306" y="6005573"/>
            <a:ext cx="3217648" cy="3655248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73" grpId="0" animBg="1" advAuto="0"/>
      <p:bldP spid="674" grpId="0" animBg="1" advAuto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Distributional hypothesis"/>
          <p:cNvSpPr txBox="1">
            <a:spLocks noGrp="1"/>
          </p:cNvSpPr>
          <p:nvPr>
            <p:ph type="title"/>
          </p:nvPr>
        </p:nvSpPr>
        <p:spPr>
          <a:xfrm>
            <a:off x="4271980" y="35718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Distributional hypothesis</a:t>
            </a:r>
          </a:p>
        </p:txBody>
      </p:sp>
      <p:graphicFrame>
        <p:nvGraphicFramePr>
          <p:cNvPr id="677" name="Table 1"/>
          <p:cNvGraphicFramePr/>
          <p:nvPr/>
        </p:nvGraphicFramePr>
        <p:xfrm>
          <a:off x="11332816" y="3716351"/>
          <a:ext cx="11736843" cy="7071371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377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8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0195">
                <a:tc>
                  <a:txBody>
                    <a:bodyPr/>
                    <a:lstStyle/>
                    <a:p>
                      <a:pPr algn="l" defTabSz="914400">
                        <a:defRPr sz="4000">
                          <a:latin typeface="Georgia"/>
                          <a:ea typeface="Georgia"/>
                          <a:cs typeface="Georgia"/>
                          <a:sym typeface="Georgi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C1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C2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C3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C4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821531">
                        <a:lnSpc>
                          <a:spcPct val="120000"/>
                        </a:lnSpc>
                        <a:spcBef>
                          <a:spcPts val="7000"/>
                        </a:spcBef>
                      </a:pPr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tejuino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loud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motor-oil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tortillas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choices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wine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78" name="C1: A bottle of ___ is on the table."/>
          <p:cNvSpPr txBox="1"/>
          <p:nvPr/>
        </p:nvSpPr>
        <p:spPr>
          <a:xfrm>
            <a:off x="1692703" y="5242056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/>
          </a:bodyPr>
          <a:lstStyle>
            <a:lvl1pPr algn="l" defTabSz="813315">
              <a:lnSpc>
                <a:spcPct val="120000"/>
              </a:lnSpc>
              <a:spcBef>
                <a:spcPts val="6900"/>
              </a:spcBef>
              <a:defRPr sz="3959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C1: A bottle of ___ is on the table.</a:t>
            </a:r>
          </a:p>
        </p:txBody>
      </p:sp>
      <p:sp>
        <p:nvSpPr>
          <p:cNvPr id="679" name="C2: Everybody likes ___."/>
          <p:cNvSpPr txBox="1"/>
          <p:nvPr/>
        </p:nvSpPr>
        <p:spPr>
          <a:xfrm>
            <a:off x="1692703" y="6386985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C2: Everybody likes ___.</a:t>
            </a:r>
          </a:p>
        </p:txBody>
      </p:sp>
      <p:sp>
        <p:nvSpPr>
          <p:cNvPr id="680" name="C3: Don’t have ___ before you drive."/>
          <p:cNvSpPr txBox="1"/>
          <p:nvPr/>
        </p:nvSpPr>
        <p:spPr>
          <a:xfrm>
            <a:off x="1692703" y="7437367"/>
            <a:ext cx="8723060" cy="145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C3: Don’t have ___ before you drive.</a:t>
            </a:r>
          </a:p>
        </p:txBody>
      </p:sp>
      <p:sp>
        <p:nvSpPr>
          <p:cNvPr id="681" name="C4: We make ___ out of corn."/>
          <p:cNvSpPr txBox="1"/>
          <p:nvPr/>
        </p:nvSpPr>
        <p:spPr>
          <a:xfrm>
            <a:off x="1692703" y="8676842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C4: We make ___ out of corn.</a:t>
            </a:r>
          </a:p>
        </p:txBody>
      </p:sp>
      <p:sp>
        <p:nvSpPr>
          <p:cNvPr id="682" name="“words that occur in similar contexts tend to have similar meanings”"/>
          <p:cNvSpPr txBox="1"/>
          <p:nvPr/>
        </p:nvSpPr>
        <p:spPr>
          <a:xfrm>
            <a:off x="3853249" y="2458205"/>
            <a:ext cx="16996247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“words that occur in similar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contexts</a:t>
            </a:r>
            <a:r>
              <a:t> tend to have similar meanings”</a:t>
            </a:r>
          </a:p>
        </p:txBody>
      </p:sp>
      <p:sp>
        <p:nvSpPr>
          <p:cNvPr id="683" name="Rectangle"/>
          <p:cNvSpPr txBox="1"/>
          <p:nvPr/>
        </p:nvSpPr>
        <p:spPr>
          <a:xfrm>
            <a:off x="11166833" y="9872058"/>
            <a:ext cx="11538195" cy="874861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84" name="Rectangle"/>
          <p:cNvSpPr txBox="1"/>
          <p:nvPr/>
        </p:nvSpPr>
        <p:spPr>
          <a:xfrm>
            <a:off x="11147351" y="4757992"/>
            <a:ext cx="11577160" cy="985264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85" name="Use as context:  other words that appear in a span around the target word"/>
          <p:cNvSpPr txBox="1"/>
          <p:nvPr/>
        </p:nvSpPr>
        <p:spPr>
          <a:xfrm>
            <a:off x="3660316" y="11110791"/>
            <a:ext cx="16832423" cy="116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r" defTabSz="788669">
              <a:spcBef>
                <a:spcPts val="1300"/>
              </a:spcBef>
              <a:defRPr sz="403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Use as context:  other words that appear in a span around the target word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83" grpId="0" animBg="1" advAuto="0"/>
      <p:bldP spid="684" grpId="0" animBg="1" advAuto="0"/>
      <p:bldP spid="685" grpId="0" animBg="1" advAuto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9" name="How are these embeddings learned?"/>
          <p:cNvSpPr txBox="1">
            <a:spLocks noGrp="1"/>
          </p:cNvSpPr>
          <p:nvPr>
            <p:ph type="title"/>
          </p:nvPr>
        </p:nvSpPr>
        <p:spPr>
          <a:xfrm>
            <a:off x="4271980" y="35718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How are these embeddings learned?</a:t>
            </a:r>
          </a:p>
        </p:txBody>
      </p:sp>
      <p:graphicFrame>
        <p:nvGraphicFramePr>
          <p:cNvPr id="690" name="Table 1"/>
          <p:cNvGraphicFramePr/>
          <p:nvPr/>
        </p:nvGraphicFramePr>
        <p:xfrm>
          <a:off x="11332816" y="3716351"/>
          <a:ext cx="11736843" cy="7071371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377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8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0195">
                <a:tc>
                  <a:txBody>
                    <a:bodyPr/>
                    <a:lstStyle/>
                    <a:p>
                      <a:pPr algn="l" defTabSz="914400">
                        <a:defRPr sz="4000">
                          <a:latin typeface="Georgia"/>
                          <a:ea typeface="Georgia"/>
                          <a:cs typeface="Georgia"/>
                          <a:sym typeface="Georgi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C1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C2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C3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C4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821531">
                        <a:lnSpc>
                          <a:spcPct val="120000"/>
                        </a:lnSpc>
                        <a:spcBef>
                          <a:spcPts val="7000"/>
                        </a:spcBef>
                      </a:pPr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tejuino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loud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motor-oil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tortillas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choices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wine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91" name="C1: A bottle of ___ is on the table."/>
          <p:cNvSpPr txBox="1"/>
          <p:nvPr/>
        </p:nvSpPr>
        <p:spPr>
          <a:xfrm>
            <a:off x="1692703" y="5242056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/>
          </a:bodyPr>
          <a:lstStyle>
            <a:lvl1pPr algn="l" defTabSz="813315">
              <a:lnSpc>
                <a:spcPct val="120000"/>
              </a:lnSpc>
              <a:spcBef>
                <a:spcPts val="6900"/>
              </a:spcBef>
              <a:defRPr sz="3959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C1: A bottle of ___ is on the table.</a:t>
            </a:r>
          </a:p>
        </p:txBody>
      </p:sp>
      <p:sp>
        <p:nvSpPr>
          <p:cNvPr id="692" name="C2: Everybody likes ___."/>
          <p:cNvSpPr txBox="1"/>
          <p:nvPr/>
        </p:nvSpPr>
        <p:spPr>
          <a:xfrm>
            <a:off x="1692703" y="6386985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C2: Everybody likes ___.</a:t>
            </a:r>
          </a:p>
        </p:txBody>
      </p:sp>
      <p:sp>
        <p:nvSpPr>
          <p:cNvPr id="693" name="C3: Don’t have ___ before you drive."/>
          <p:cNvSpPr txBox="1"/>
          <p:nvPr/>
        </p:nvSpPr>
        <p:spPr>
          <a:xfrm>
            <a:off x="1692703" y="7437367"/>
            <a:ext cx="8723060" cy="145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C3: Don’t have ___ before you drive.</a:t>
            </a:r>
          </a:p>
        </p:txBody>
      </p:sp>
      <p:sp>
        <p:nvSpPr>
          <p:cNvPr id="694" name="C4: We make ___ out of corn."/>
          <p:cNvSpPr txBox="1"/>
          <p:nvPr/>
        </p:nvSpPr>
        <p:spPr>
          <a:xfrm>
            <a:off x="1692703" y="8676842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C4: We make ___ out of corn.</a:t>
            </a:r>
          </a:p>
        </p:txBody>
      </p:sp>
      <p:sp>
        <p:nvSpPr>
          <p:cNvPr id="695" name="“words that occur in similar contexts tend to have similar meanings”"/>
          <p:cNvSpPr txBox="1"/>
          <p:nvPr/>
        </p:nvSpPr>
        <p:spPr>
          <a:xfrm>
            <a:off x="3693877" y="12111628"/>
            <a:ext cx="16996247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“words that occur in similar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contexts</a:t>
            </a:r>
            <a:r>
              <a:t> tend to have similar meanings”</a:t>
            </a:r>
          </a:p>
        </p:txBody>
      </p:sp>
      <p:sp>
        <p:nvSpPr>
          <p:cNvPr id="696" name="Rectangle"/>
          <p:cNvSpPr txBox="1"/>
          <p:nvPr/>
        </p:nvSpPr>
        <p:spPr>
          <a:xfrm>
            <a:off x="11166833" y="9872058"/>
            <a:ext cx="11538195" cy="874861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97" name="Rectangle"/>
          <p:cNvSpPr txBox="1"/>
          <p:nvPr/>
        </p:nvSpPr>
        <p:spPr>
          <a:xfrm>
            <a:off x="11147351" y="4757992"/>
            <a:ext cx="11577160" cy="985264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698" name="Use as context:  other words that appear in a span around the target word"/>
          <p:cNvSpPr txBox="1"/>
          <p:nvPr/>
        </p:nvSpPr>
        <p:spPr>
          <a:xfrm>
            <a:off x="3660316" y="11110791"/>
            <a:ext cx="16832423" cy="116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r" defTabSz="788669">
              <a:spcBef>
                <a:spcPts val="1300"/>
              </a:spcBef>
              <a:defRPr sz="403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Use as context:  other words that appear in a span around the target word</a:t>
            </a:r>
          </a:p>
        </p:txBody>
      </p:sp>
      <p:sp>
        <p:nvSpPr>
          <p:cNvPr id="699" name="Get embeddings by counting or by predicting (i.e. training a classifier)!"/>
          <p:cNvSpPr txBox="1"/>
          <p:nvPr/>
        </p:nvSpPr>
        <p:spPr>
          <a:xfrm>
            <a:off x="1554128" y="3153795"/>
            <a:ext cx="9315404" cy="1687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4200">
                <a:latin typeface="Georgia"/>
                <a:ea typeface="Georgia"/>
                <a:cs typeface="Georgia"/>
                <a:sym typeface="Georgia"/>
              </a:defRPr>
            </a:pPr>
            <a:r>
              <a:t>Get embeddings by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counting</a:t>
            </a:r>
            <a:r>
              <a:t> or by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predicting</a:t>
            </a:r>
            <a:r>
              <a:t> (i.e. training a classifier)!</a:t>
            </a:r>
          </a:p>
        </p:txBody>
      </p:sp>
    </p:spTree>
  </p:cSld>
  <p:clrMapOvr>
    <a:masterClrMapping/>
  </p:clrMapOvr>
  <p:transition spd="med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3" name="How are these embeddings learned?"/>
          <p:cNvSpPr txBox="1">
            <a:spLocks noGrp="1"/>
          </p:cNvSpPr>
          <p:nvPr>
            <p:ph type="title"/>
          </p:nvPr>
        </p:nvSpPr>
        <p:spPr>
          <a:xfrm>
            <a:off x="4271980" y="35718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How are these embeddings learned?</a:t>
            </a:r>
          </a:p>
        </p:txBody>
      </p:sp>
      <p:graphicFrame>
        <p:nvGraphicFramePr>
          <p:cNvPr id="704" name="Table 1"/>
          <p:cNvGraphicFramePr/>
          <p:nvPr/>
        </p:nvGraphicFramePr>
        <p:xfrm>
          <a:off x="11332816" y="3716351"/>
          <a:ext cx="11736843" cy="7071371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377521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79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8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466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79858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010195">
                <a:tc>
                  <a:txBody>
                    <a:bodyPr/>
                    <a:lstStyle/>
                    <a:p>
                      <a:pPr algn="l" defTabSz="914400">
                        <a:defRPr sz="4000">
                          <a:latin typeface="Georgia"/>
                          <a:ea typeface="Georgia"/>
                          <a:cs typeface="Georgia"/>
                          <a:sym typeface="Georgi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C1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C2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C3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C4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821531">
                        <a:lnSpc>
                          <a:spcPct val="120000"/>
                        </a:lnSpc>
                        <a:spcBef>
                          <a:spcPts val="7000"/>
                        </a:spcBef>
                      </a:pPr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tejuino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loud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motor-oil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tortillas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choices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wine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705" name="C1: A bottle of ___ is on the table."/>
          <p:cNvSpPr txBox="1"/>
          <p:nvPr/>
        </p:nvSpPr>
        <p:spPr>
          <a:xfrm>
            <a:off x="1692703" y="5242056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/>
          </a:bodyPr>
          <a:lstStyle>
            <a:lvl1pPr algn="l" defTabSz="813315">
              <a:lnSpc>
                <a:spcPct val="120000"/>
              </a:lnSpc>
              <a:spcBef>
                <a:spcPts val="6900"/>
              </a:spcBef>
              <a:defRPr sz="3959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C1: A bottle of ___ is on the table.</a:t>
            </a:r>
          </a:p>
        </p:txBody>
      </p:sp>
      <p:sp>
        <p:nvSpPr>
          <p:cNvPr id="706" name="C2: Everybody likes ___."/>
          <p:cNvSpPr txBox="1"/>
          <p:nvPr/>
        </p:nvSpPr>
        <p:spPr>
          <a:xfrm>
            <a:off x="1692703" y="6386985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C2: Everybody likes ___.</a:t>
            </a:r>
          </a:p>
        </p:txBody>
      </p:sp>
      <p:sp>
        <p:nvSpPr>
          <p:cNvPr id="707" name="C3: Don’t have ___ before you drive."/>
          <p:cNvSpPr txBox="1"/>
          <p:nvPr/>
        </p:nvSpPr>
        <p:spPr>
          <a:xfrm>
            <a:off x="1692703" y="7437367"/>
            <a:ext cx="8723060" cy="145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C3: Don’t have ___ before you drive.</a:t>
            </a:r>
          </a:p>
        </p:txBody>
      </p:sp>
      <p:sp>
        <p:nvSpPr>
          <p:cNvPr id="708" name="C4: We make ___ out of corn."/>
          <p:cNvSpPr txBox="1"/>
          <p:nvPr/>
        </p:nvSpPr>
        <p:spPr>
          <a:xfrm>
            <a:off x="1692703" y="8676842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C4: We make ___ out of corn.</a:t>
            </a:r>
          </a:p>
        </p:txBody>
      </p:sp>
      <p:sp>
        <p:nvSpPr>
          <p:cNvPr id="709" name="“words that occur in similar contexts tend to have similar meanings”"/>
          <p:cNvSpPr txBox="1"/>
          <p:nvPr/>
        </p:nvSpPr>
        <p:spPr>
          <a:xfrm>
            <a:off x="3693877" y="12111628"/>
            <a:ext cx="16996247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“words that occur in similar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contexts</a:t>
            </a:r>
            <a:r>
              <a:t> tend to have similar meanings”</a:t>
            </a:r>
          </a:p>
        </p:txBody>
      </p:sp>
      <p:sp>
        <p:nvSpPr>
          <p:cNvPr id="710" name="Rectangle"/>
          <p:cNvSpPr txBox="1"/>
          <p:nvPr/>
        </p:nvSpPr>
        <p:spPr>
          <a:xfrm>
            <a:off x="11166833" y="9872058"/>
            <a:ext cx="11538195" cy="874861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11" name="Rectangle"/>
          <p:cNvSpPr txBox="1"/>
          <p:nvPr/>
        </p:nvSpPr>
        <p:spPr>
          <a:xfrm>
            <a:off x="11147351" y="4757992"/>
            <a:ext cx="11577160" cy="985264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12" name="Use as context:  other words that appear in a span around the target word"/>
          <p:cNvSpPr txBox="1"/>
          <p:nvPr/>
        </p:nvSpPr>
        <p:spPr>
          <a:xfrm>
            <a:off x="3660316" y="11110791"/>
            <a:ext cx="16832423" cy="116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r" defTabSz="788669">
              <a:spcBef>
                <a:spcPts val="1300"/>
              </a:spcBef>
              <a:defRPr sz="403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Use as context:  other words that appear in a span around the target word</a:t>
            </a:r>
          </a:p>
        </p:txBody>
      </p:sp>
      <p:sp>
        <p:nvSpPr>
          <p:cNvPr id="713" name="Get embeddings by counting or by predicting (i.e. training a classifier)!"/>
          <p:cNvSpPr txBox="1"/>
          <p:nvPr/>
        </p:nvSpPr>
        <p:spPr>
          <a:xfrm>
            <a:off x="1554128" y="3153795"/>
            <a:ext cx="9315404" cy="16870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algn="l">
              <a:spcBef>
                <a:spcPts val="1400"/>
              </a:spcBef>
              <a:defRPr sz="4200">
                <a:latin typeface="Georgia"/>
                <a:ea typeface="Georgia"/>
                <a:cs typeface="Georgia"/>
                <a:sym typeface="Georgia"/>
              </a:defRPr>
            </a:pPr>
            <a:r>
              <a:t>Get embeddings by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counting</a:t>
            </a:r>
            <a:r>
              <a:t> </a:t>
            </a:r>
            <a:r>
              <a:rPr>
                <a:solidFill>
                  <a:srgbClr val="D6D5D5"/>
                </a:solidFill>
              </a:rPr>
              <a:t>or by predicting (i.e. training a classifier)!</a:t>
            </a:r>
          </a:p>
        </p:txBody>
      </p:sp>
    </p:spTree>
  </p:cSld>
  <p:clrMapOvr>
    <a:masterClrMapping/>
  </p:clrMapOvr>
  <p:transition spd="med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0" name="Group"/>
          <p:cNvGrpSpPr/>
          <p:nvPr/>
        </p:nvGrpSpPr>
        <p:grpSpPr>
          <a:xfrm>
            <a:off x="3458329" y="5355127"/>
            <a:ext cx="17958258" cy="7700977"/>
            <a:chOff x="0" y="0"/>
            <a:chExt cx="17958257" cy="7700975"/>
          </a:xfrm>
        </p:grpSpPr>
        <p:sp>
          <p:nvSpPr>
            <p:cNvPr id="717" name="word-word (term-context) co-occurrence matrix"/>
            <p:cNvSpPr txBox="1"/>
            <p:nvPr/>
          </p:nvSpPr>
          <p:spPr>
            <a:xfrm>
              <a:off x="2349163" y="1642804"/>
              <a:ext cx="15609095" cy="243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lvl="2" indent="889000" algn="l">
                <a:spcBef>
                  <a:spcPts val="1400"/>
                </a:spcBef>
                <a:defRPr sz="3800">
                  <a:solidFill>
                    <a:schemeClr val="accent1">
                      <a:lumOff val="-13575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word-word (term-context) co-occurrence matrix </a:t>
              </a:r>
            </a:p>
            <a:p>
              <a:pPr lvl="1" indent="444500" algn="l">
                <a:spcBef>
                  <a:spcPts val="1400"/>
                </a:spcBef>
                <a:defRPr sz="3800">
                  <a:latin typeface="Georgia"/>
                  <a:ea typeface="Georgia"/>
                  <a:cs typeface="Georgia"/>
                  <a:sym typeface="Georgia"/>
                </a:defRPr>
              </a:pPr>
              <a:endParaRPr/>
            </a:p>
          </p:txBody>
        </p:sp>
        <p:sp>
          <p:nvSpPr>
            <p:cNvPr id="718" name="Our first solution: use context vectors to represent the meaning of words"/>
            <p:cNvSpPr txBox="1"/>
            <p:nvPr/>
          </p:nvSpPr>
          <p:spPr>
            <a:xfrm>
              <a:off x="0" y="0"/>
              <a:ext cx="15609094" cy="1795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marL="1416843" lvl="2" indent="-527843" algn="l">
                <a:spcBef>
                  <a:spcPts val="1400"/>
                </a:spcBef>
                <a:buSzPct val="145000"/>
                <a:buChar char="•"/>
                <a:defRPr>
                  <a:latin typeface="Georgia"/>
                  <a:ea typeface="Georgia"/>
                  <a:cs typeface="Georgia"/>
                  <a:sym typeface="Georgia"/>
                </a:defRPr>
              </a:pPr>
              <a:r>
                <a:t>Our first solution: use context vectors to represent the meaning of words</a:t>
              </a:r>
            </a:p>
          </p:txBody>
        </p:sp>
        <p:pic>
          <p:nvPicPr>
            <p:cNvPr id="719" name="Screen Shot 2019-09-26 at 9.01.26 AM.png" descr="Screen Shot 2019-09-26 at 9.01.26 AM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476023" y="4161690"/>
              <a:ext cx="14906782" cy="35392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21" name="Representing words as vector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607345"/>
          </a:xfrm>
          <a:prstGeom prst="rect">
            <a:avLst/>
          </a:prstGeom>
        </p:spPr>
        <p:txBody>
          <a:bodyPr/>
          <a:lstStyle/>
          <a:p>
            <a:r>
              <a:t>Representing words as vectors</a:t>
            </a:r>
          </a:p>
        </p:txBody>
      </p:sp>
      <p:sp>
        <p:nvSpPr>
          <p:cNvPr id="722" name="What we are aiming for:…"/>
          <p:cNvSpPr txBox="1">
            <a:spLocks noGrp="1"/>
          </p:cNvSpPr>
          <p:nvPr>
            <p:ph type="body" sz="quarter" idx="1"/>
          </p:nvPr>
        </p:nvSpPr>
        <p:spPr>
          <a:xfrm>
            <a:off x="4002670" y="2569117"/>
            <a:ext cx="15609094" cy="2926747"/>
          </a:xfrm>
          <a:prstGeom prst="rect">
            <a:avLst/>
          </a:prstGeom>
        </p:spPr>
        <p:txBody>
          <a:bodyPr/>
          <a:lstStyle/>
          <a:p>
            <a:pPr marL="972343" lvl="1" indent="-527843">
              <a:defRPr sz="4400"/>
            </a:pPr>
            <a:r>
              <a:t>What we are aiming for:</a:t>
            </a:r>
          </a:p>
          <a:p>
            <a:pPr marL="1416843" lvl="2" indent="-527843">
              <a:defRPr sz="4400"/>
            </a:pPr>
            <a:r>
              <a:t>Each word is a vector</a:t>
            </a:r>
          </a:p>
          <a:p>
            <a:pPr marL="1416843" lvl="2" indent="-527843">
              <a:defRPr sz="4400"/>
            </a:pPr>
            <a:r>
              <a:t>Similar words are “nearby in space”</a:t>
            </a:r>
          </a:p>
        </p:txBody>
      </p:sp>
      <p:pic>
        <p:nvPicPr>
          <p:cNvPr id="72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387" y="7948346"/>
            <a:ext cx="15956320" cy="1904938"/>
          </a:xfrm>
          <a:prstGeom prst="rect">
            <a:avLst/>
          </a:prstGeom>
          <a:ln w="12700">
            <a:miter lim="400000"/>
          </a:ln>
        </p:spPr>
      </p:pic>
      <p:sp>
        <p:nvSpPr>
          <p:cNvPr id="724" name="Example from: Dan Jurafsky"/>
          <p:cNvSpPr txBox="1"/>
          <p:nvPr/>
        </p:nvSpPr>
        <p:spPr>
          <a:xfrm>
            <a:off x="18161017" y="12443015"/>
            <a:ext cx="5625346" cy="1077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13315">
              <a:spcBef>
                <a:spcPts val="1300"/>
              </a:spcBef>
              <a:defRPr sz="3366">
                <a:solidFill>
                  <a:srgbClr val="9292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Example from: Dan Jurafsky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20" grpId="0" animBg="1" advAuto="0"/>
      <p:bldP spid="723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Problem with raw frequenc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with raw frequencies</a:t>
            </a:r>
          </a:p>
        </p:txBody>
      </p:sp>
      <p:sp>
        <p:nvSpPr>
          <p:cNvPr id="727" name="Problem: using raw frequency counts is not always very good..…"/>
          <p:cNvSpPr txBox="1">
            <a:spLocks noGrp="1"/>
          </p:cNvSpPr>
          <p:nvPr>
            <p:ph type="body" idx="1"/>
          </p:nvPr>
        </p:nvSpPr>
        <p:spPr>
          <a:xfrm>
            <a:off x="3757977" y="2701656"/>
            <a:ext cx="16346958" cy="8696611"/>
          </a:xfrm>
          <a:prstGeom prst="rect">
            <a:avLst/>
          </a:prstGeom>
        </p:spPr>
        <p:txBody>
          <a:bodyPr/>
          <a:lstStyle/>
          <a:p>
            <a:pPr marL="0" lvl="2" indent="0">
              <a:buSzTx/>
              <a:buNone/>
              <a:defRPr sz="4400"/>
            </a:pPr>
            <a:r>
              <a:rPr b="1"/>
              <a:t>Problem</a:t>
            </a:r>
            <a:r>
              <a:t>: using raw frequency counts is not always very good..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if sugar appears a lot near apricot, that's useful information.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But overly frequent words like </a:t>
            </a:r>
            <a:r>
              <a:rPr i="1"/>
              <a:t>the</a:t>
            </a:r>
            <a:r>
              <a:t>, </a:t>
            </a:r>
            <a:r>
              <a:rPr i="1"/>
              <a:t>it</a:t>
            </a:r>
            <a:r>
              <a:t>, or </a:t>
            </a:r>
            <a:r>
              <a:rPr i="1"/>
              <a:t>they</a:t>
            </a:r>
            <a:r>
              <a:t> are not very informative about the context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0" lvl="2" indent="0">
              <a:buSzTx/>
              <a:buNone/>
              <a:defRPr sz="4400"/>
            </a:pP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0" lvl="2" indent="0">
              <a:buSzTx/>
              <a:buNone/>
              <a:defRPr sz="4400"/>
            </a:pPr>
            <a:r>
              <a:rPr b="1"/>
              <a:t>Solution</a:t>
            </a:r>
            <a:r>
              <a:t>: let’s weight the counts! </a:t>
            </a:r>
          </a:p>
          <a:p>
            <a:pPr marL="1861343" lvl="3" indent="-527843">
              <a:defRPr sz="4400"/>
            </a:pPr>
            <a:r>
              <a:t>TF-IDF = Traditional method used in document retrieval  </a:t>
            </a:r>
          </a:p>
          <a:p>
            <a:pPr marL="1861343" lvl="3" indent="-527843">
              <a:defRPr sz="4400">
                <a:solidFill>
                  <a:schemeClr val="accent1">
                    <a:lumOff val="-13575"/>
                  </a:schemeClr>
                </a:solidFill>
              </a:defRPr>
            </a:pPr>
            <a:r>
              <a:t>PPMI = Positive Pointwise Mutual Information</a:t>
            </a:r>
          </a:p>
        </p:txBody>
      </p:sp>
    </p:spTree>
  </p:cSld>
  <p:clrMapOvr>
    <a:masterClrMapping/>
  </p:clrMapOvr>
  <p:transition spd="med"/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9" name="PPMI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PPMI</a:t>
            </a:r>
          </a:p>
        </p:txBody>
      </p:sp>
      <p:sp>
        <p:nvSpPr>
          <p:cNvPr id="730" name="PPMI = Positive Pointwise Mutual Information"/>
          <p:cNvSpPr txBox="1">
            <a:spLocks noGrp="1"/>
          </p:cNvSpPr>
          <p:nvPr>
            <p:ph type="body" sz="quarter" idx="1"/>
          </p:nvPr>
        </p:nvSpPr>
        <p:spPr>
          <a:xfrm>
            <a:off x="4387453" y="2590820"/>
            <a:ext cx="15609094" cy="2033628"/>
          </a:xfrm>
          <a:prstGeom prst="rect">
            <a:avLst/>
          </a:prstGeom>
        </p:spPr>
        <p:txBody>
          <a:bodyPr/>
          <a:lstStyle/>
          <a:p>
            <a:pPr marL="0" lvl="4" indent="1778000">
              <a:spcBef>
                <a:spcPts val="2000"/>
              </a:spcBef>
              <a:buSzTx/>
              <a:buNone/>
              <a:defRPr sz="4400"/>
            </a:pPr>
            <a:r>
              <a:t>PPMI = Positive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Pointwise Mutual Information</a:t>
            </a:r>
          </a:p>
        </p:txBody>
      </p:sp>
      <p:pic>
        <p:nvPicPr>
          <p:cNvPr id="731" name="Screen Shot 2019-09-26 at 9.14.52 AM.png" descr="Screen Shot 2019-09-26 at 9.14.52 AM.png"/>
          <p:cNvPicPr>
            <a:picLocks noChangeAspect="1"/>
          </p:cNvPicPr>
          <p:nvPr/>
        </p:nvPicPr>
        <p:blipFill>
          <a:blip r:embed="rId2"/>
          <a:srcRect t="14231"/>
          <a:stretch>
            <a:fillRect/>
          </a:stretch>
        </p:blipFill>
        <p:spPr>
          <a:xfrm>
            <a:off x="6589514" y="5444121"/>
            <a:ext cx="11204948" cy="2074356"/>
          </a:xfrm>
          <a:prstGeom prst="rect">
            <a:avLst/>
          </a:prstGeom>
          <a:ln w="12700">
            <a:miter lim="400000"/>
          </a:ln>
        </p:spPr>
      </p:pic>
      <p:sp>
        <p:nvSpPr>
          <p:cNvPr id="732" name="Do two events co-occur more than if they were independent?"/>
          <p:cNvSpPr txBox="1"/>
          <p:nvPr/>
        </p:nvSpPr>
        <p:spPr>
          <a:xfrm>
            <a:off x="4642991" y="1905689"/>
            <a:ext cx="15098019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1400"/>
              </a:spcBef>
              <a:defRPr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Do two events co-occur more than if they were independent?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33" name="PMI ranges from   to"/>
              <p:cNvSpPr txBox="1"/>
              <p:nvPr/>
            </p:nvSpPr>
            <p:spPr>
              <a:xfrm>
                <a:off x="9733222" y="9385539"/>
                <a:ext cx="4917556" cy="14920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PMI ranges from </a:t>
                </a:r>
                <a14:m>
                  <m:oMath xmlns:m="http://schemas.openxmlformats.org/officeDocument/2006/math">
                    <m:r>
                      <a:rPr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t> to </a:t>
                </a:r>
                <a14:m>
                  <m:oMath xmlns:m="http://schemas.openxmlformats.org/officeDocument/2006/math">
                    <m:r>
                      <a:rPr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733" name="PMI ranges from   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222" y="9385539"/>
                <a:ext cx="4917556" cy="1492086"/>
              </a:xfrm>
              <a:prstGeom prst="rect">
                <a:avLst/>
              </a:prstGeom>
              <a:blipFill>
                <a:blip r:embed="rId3"/>
                <a:stretch>
                  <a:fillRect l="-5459" t="-8607" b="-1926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34" name="Negative values are problematic so cap bottom to 0"/>
          <p:cNvSpPr txBox="1"/>
          <p:nvPr/>
        </p:nvSpPr>
        <p:spPr>
          <a:xfrm>
            <a:off x="16693667" y="9107644"/>
            <a:ext cx="5389550" cy="204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Negative values are problematic so cap bottom to 0</a:t>
            </a:r>
          </a:p>
        </p:txBody>
      </p:sp>
      <p:sp>
        <p:nvSpPr>
          <p:cNvPr id="735" name="Joint probability"/>
          <p:cNvSpPr txBox="1"/>
          <p:nvPr/>
        </p:nvSpPr>
        <p:spPr>
          <a:xfrm>
            <a:off x="12290254" y="4357906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Joint probability</a:t>
            </a:r>
          </a:p>
        </p:txBody>
      </p:sp>
      <p:sp>
        <p:nvSpPr>
          <p:cNvPr id="736" name="Marginals"/>
          <p:cNvSpPr txBox="1"/>
          <p:nvPr/>
        </p:nvSpPr>
        <p:spPr>
          <a:xfrm>
            <a:off x="12290254" y="7431306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Marginals</a:t>
            </a:r>
          </a:p>
        </p:txBody>
      </p:sp>
      <p:sp>
        <p:nvSpPr>
          <p:cNvPr id="737" name="Negative if co-occurs less than if independent"/>
          <p:cNvSpPr txBox="1"/>
          <p:nvPr/>
        </p:nvSpPr>
        <p:spPr>
          <a:xfrm>
            <a:off x="7281685" y="10942208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defTabSz="747593">
              <a:spcBef>
                <a:spcPts val="1200"/>
              </a:spcBef>
              <a:defRPr sz="3822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Negative if co-occurs less than if independent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7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7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7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3" grpId="0" animBg="1" advAuto="0"/>
      <p:bldP spid="734" grpId="0" animBg="1" advAuto="0"/>
      <p:bldP spid="735" grpId="0" animBg="1" advAuto="0"/>
      <p:bldP spid="736" grpId="0" animBg="1" advAuto="0"/>
      <p:bldP spid="737" grpId="0" animBg="1" advAuto="0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9" name="Sparse vs dense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Sparse vs dense vectors</a:t>
            </a:r>
          </a:p>
        </p:txBody>
      </p:sp>
      <p:sp>
        <p:nvSpPr>
          <p:cNvPr id="74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35</a:t>
            </a:fld>
            <a:endParaRPr/>
          </a:p>
        </p:txBody>
      </p:sp>
      <p:sp>
        <p:nvSpPr>
          <p:cNvPr id="741" name="Vectors we get from word-word (term-context) co-occurrence matrix are…"/>
          <p:cNvSpPr txBox="1"/>
          <p:nvPr/>
        </p:nvSpPr>
        <p:spPr>
          <a:xfrm>
            <a:off x="3513047" y="3804236"/>
            <a:ext cx="18470864" cy="6787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25000" lnSpcReduction="20000"/>
          </a:bodyPr>
          <a:lstStyle/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Vectors we get from word-word (term-context) co-occurrence matrix are</a:t>
            </a:r>
            <a:endParaRPr sz="912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b="1">
                <a:solidFill>
                  <a:schemeClr val="accent1">
                    <a:lumOff val="-13575"/>
                  </a:schemeClr>
                </a:solidFill>
              </a:rPr>
              <a:t>long</a:t>
            </a:r>
            <a:r>
              <a:t> (length |V|= 20,000 to 50,000)</a:t>
            </a:r>
            <a:endParaRPr sz="912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b="1">
                <a:solidFill>
                  <a:schemeClr val="accent1">
                    <a:lumOff val="-13575"/>
                  </a:schemeClr>
                </a:solidFill>
              </a:rPr>
              <a:t>sparse</a:t>
            </a:r>
            <a:r>
              <a:rPr b="1"/>
              <a:t> </a:t>
            </a:r>
            <a:r>
              <a:t>(most elements are zero)</a:t>
            </a:r>
          </a:p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True for both one-hot and PPMI vectors</a:t>
            </a:r>
          </a:p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Alternative: we want to represent words as </a:t>
            </a: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short</a:t>
            </a:r>
            <a:r>
              <a:t> (50-300 dimensional) </a:t>
            </a: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dense</a:t>
            </a:r>
            <a:r>
              <a:t> (real-valued) vectors</a:t>
            </a:r>
          </a:p>
        </p:txBody>
      </p:sp>
      <p:pic>
        <p:nvPicPr>
          <p:cNvPr id="742" name="Image" descr="Image"/>
          <p:cNvPicPr>
            <a:picLocks noChangeAspect="1"/>
          </p:cNvPicPr>
          <p:nvPr/>
        </p:nvPicPr>
        <p:blipFill>
          <a:blip r:embed="rId2"/>
          <a:srcRect l="54820" b="20251"/>
          <a:stretch>
            <a:fillRect/>
          </a:stretch>
        </p:blipFill>
        <p:spPr>
          <a:xfrm>
            <a:off x="17088687" y="7170766"/>
            <a:ext cx="6295573" cy="5035843"/>
          </a:xfrm>
          <a:prstGeom prst="rect">
            <a:avLst/>
          </a:prstGeom>
          <a:ln w="12700">
            <a:miter lim="400000"/>
          </a:ln>
        </p:spPr>
      </p:pic>
      <p:pic>
        <p:nvPicPr>
          <p:cNvPr id="743" name="text_employees_=.pdf" descr="text_employees_=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275" y="8401199"/>
            <a:ext cx="3112229" cy="3299303"/>
          </a:xfrm>
          <a:prstGeom prst="rect">
            <a:avLst/>
          </a:prstGeom>
          <a:ln w="12700">
            <a:miter lim="400000"/>
          </a:ln>
        </p:spPr>
      </p:pic>
      <p:sp>
        <p:nvSpPr>
          <p:cNvPr id="744" name="More memory efficient and easier to work with…"/>
          <p:cNvSpPr txBox="1"/>
          <p:nvPr/>
        </p:nvSpPr>
        <p:spPr>
          <a:xfrm>
            <a:off x="3271619" y="11002414"/>
            <a:ext cx="11707089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More memory efficient and easier to work with</a:t>
            </a:r>
          </a:p>
          <a:p>
            <a:r>
              <a:t>Capture similarity between words better</a:t>
            </a:r>
          </a:p>
        </p:txBody>
      </p:sp>
      <p:sp>
        <p:nvSpPr>
          <p:cNvPr id="745" name="Distributed representation"/>
          <p:cNvSpPr txBox="1"/>
          <p:nvPr/>
        </p:nvSpPr>
        <p:spPr>
          <a:xfrm>
            <a:off x="15274439" y="6804033"/>
            <a:ext cx="6624803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Distributed representation</a:t>
            </a:r>
          </a:p>
        </p:txBody>
      </p:sp>
    </p:spTree>
  </p:cSld>
  <p:clrMapOvr>
    <a:masterClrMapping/>
  </p:clrMapOvr>
  <p:transition spd="med"/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" name="Why dense vector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dense vectors?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48" name="Short vectors are easier to use as features in ML system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Short vectors are easier to use as features in ML systems</a:t>
                </a:r>
              </a:p>
              <a:p>
                <a:r>
                  <a:t>Dense vectors may generalize better than storing explicit counts</a:t>
                </a:r>
              </a:p>
              <a:p>
                <a:r>
                  <a:t>They do better at capturing synonymy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co-occurs with “car”,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co-occurs with “automobile”</a:t>
                </a:r>
                <a:endParaRPr sz="3900"/>
              </a:p>
            </p:txBody>
          </p:sp>
        </mc:Choice>
        <mc:Fallback>
          <p:sp>
            <p:nvSpPr>
              <p:cNvPr id="748" name="Short vectors are easier to use as features in ML system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  <a:blipFill>
                <a:blip r:embed="rId2"/>
                <a:stretch>
                  <a:fillRect l="-2170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751" name="Group"/>
          <p:cNvGrpSpPr/>
          <p:nvPr/>
        </p:nvGrpSpPr>
        <p:grpSpPr>
          <a:xfrm>
            <a:off x="4185375" y="8181002"/>
            <a:ext cx="18781186" cy="3234059"/>
            <a:chOff x="0" y="0"/>
            <a:chExt cx="18781184" cy="3234057"/>
          </a:xfrm>
        </p:grpSpPr>
        <p:sp>
          <p:nvSpPr>
            <p:cNvPr id="749" name="Different methods for getting dense vectors:…"/>
            <p:cNvSpPr txBox="1"/>
            <p:nvPr/>
          </p:nvSpPr>
          <p:spPr>
            <a:xfrm>
              <a:off x="0" y="0"/>
              <a:ext cx="11407589" cy="3234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pPr>
              <a:r>
                <a:t>Different methods for getting dense vectors:</a:t>
              </a:r>
            </a:p>
            <a:p>
              <a:pPr marL="1492250" lvl="2" indent="-603250" algn="l">
                <a:spcBef>
                  <a:spcPts val="1400"/>
                </a:spcBef>
                <a:buSzPct val="145000"/>
                <a:buChar char="•"/>
                <a:defRPr sz="3800">
                  <a:solidFill>
                    <a:schemeClr val="accent1">
                      <a:lumOff val="-13575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Singular value decomposition (SVD)</a:t>
              </a:r>
            </a:p>
            <a:p>
              <a:pPr marL="1492250" lvl="2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pPr>
              <a:r>
                <a:t>word2vec and friends: “learn” the vectors!</a:t>
              </a:r>
            </a:p>
          </p:txBody>
        </p:sp>
        <p:pic>
          <p:nvPicPr>
            <p:cNvPr id="750" name="pasted-movie.png" descr="pasted-movi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07435" y="204361"/>
              <a:ext cx="7673750" cy="28253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752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36</a:t>
            </a:fld>
            <a:endParaRPr/>
          </a:p>
        </p:txBody>
      </p:sp>
      <p:sp>
        <p:nvSpPr>
          <p:cNvPr id="753" name="Text"/>
          <p:cNvSpPr txBox="1"/>
          <p:nvPr/>
        </p:nvSpPr>
        <p:spPr>
          <a:xfrm>
            <a:off x="14914581" y="10940525"/>
            <a:ext cx="155576" cy="141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754" name="Count based method…"/>
          <p:cNvSpPr txBox="1"/>
          <p:nvPr/>
        </p:nvSpPr>
        <p:spPr>
          <a:xfrm>
            <a:off x="16060013" y="11567770"/>
            <a:ext cx="6068616" cy="1222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 sz="3600">
                <a:solidFill>
                  <a:srgbClr val="5E5E5E"/>
                </a:solidFill>
              </a:defRPr>
            </a:pPr>
            <a:r>
              <a:t>Count based method </a:t>
            </a:r>
          </a:p>
          <a:p>
            <a:pPr>
              <a:defRPr sz="3600">
                <a:solidFill>
                  <a:srgbClr val="5E5E5E"/>
                </a:solidFill>
              </a:defRPr>
            </a:pPr>
            <a:r>
              <a:t>(known since the 1990s)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1" grpId="0" animBg="1" advAuto="0"/>
      <p:bldP spid="754" grpId="0" animBg="1" advAuto="0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6" name="page1image9569296.png" descr="page1image9569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459" y="6467036"/>
            <a:ext cx="12025459" cy="333523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760" name="Group"/>
          <p:cNvGrpSpPr/>
          <p:nvPr/>
        </p:nvGrpSpPr>
        <p:grpSpPr>
          <a:xfrm>
            <a:off x="5188545" y="9712046"/>
            <a:ext cx="1927620" cy="3451245"/>
            <a:chOff x="0" y="0"/>
            <a:chExt cx="1927619" cy="3451243"/>
          </a:xfrm>
        </p:grpSpPr>
        <p:sp>
          <p:nvSpPr>
            <p:cNvPr id="757" name="Wk"/>
            <p:cNvSpPr/>
            <p:nvPr/>
          </p:nvSpPr>
          <p:spPr>
            <a:xfrm>
              <a:off x="523346" y="502122"/>
              <a:ext cx="869962" cy="2398174"/>
            </a:xfrm>
            <a:prstGeom prst="rect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t">
              <a:noAutofit/>
            </a:bodyPr>
            <a:lstStyle/>
            <a:p>
              <a: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  <a:p>
              <a:pPr>
                <a:defRPr sz="36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W</a:t>
              </a:r>
              <a:r>
                <a:rPr baseline="-5999"/>
                <a:t>k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8" name="Text"/>
                <p:cNvSpPr txBox="1"/>
                <p:nvPr/>
              </p:nvSpPr>
              <p:spPr>
                <a:xfrm>
                  <a:off x="0" y="0"/>
                  <a:ext cx="1927620" cy="57180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spAutoFit/>
                </a:bodyPr>
                <a:lstStyle>
                  <a:lvl1pPr>
                    <a:defRPr sz="24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1.....</m:t>
                        </m:r>
                        <m:r>
                          <m:rPr>
                            <m:nor/>
                          </m:rP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758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1927620" cy="5718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59" name="Text"/>
                <p:cNvSpPr txBox="1"/>
                <p:nvPr/>
              </p:nvSpPr>
              <p:spPr>
                <a:xfrm>
                  <a:off x="395192" y="2660668"/>
                  <a:ext cx="1126270" cy="79057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 b="1"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a14:m>
                  <a:r>
                    <a:t> </a:t>
                  </a:r>
                  <a:endParaRPr sz="2400"/>
                </a:p>
              </p:txBody>
            </p:sp>
          </mc:Choice>
          <mc:Fallback>
            <p:sp>
              <p:nvSpPr>
                <p:cNvPr id="759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92" y="2660668"/>
                  <a:ext cx="1126270" cy="790576"/>
                </a:xfrm>
                <a:prstGeom prst="rect">
                  <a:avLst/>
                </a:prstGeom>
                <a:blipFill>
                  <a:blip r:embed="rId5"/>
                  <a:stretch>
                    <a:fillRect t="-14729" r="-19459" b="-35659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761" name="Using SVD for obtaining dense vectors"/>
          <p:cNvSpPr txBox="1">
            <a:spLocks noGrp="1"/>
          </p:cNvSpPr>
          <p:nvPr>
            <p:ph type="title"/>
          </p:nvPr>
        </p:nvSpPr>
        <p:spPr>
          <a:xfrm>
            <a:off x="4387453" y="675652"/>
            <a:ext cx="15609094" cy="1315696"/>
          </a:xfrm>
          <a:prstGeom prst="rect">
            <a:avLst/>
          </a:prstGeom>
        </p:spPr>
        <p:txBody>
          <a:bodyPr/>
          <a:lstStyle/>
          <a:p>
            <a:r>
              <a:t>Using SVD for obtaining dense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62" name="In our case,   is a  matrix.  Assume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0655555" y="5459612"/>
                <a:ext cx="9992760" cy="1067177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 defTabSz="813315">
                  <a:spcBef>
                    <a:spcPts val="1300"/>
                  </a:spcBef>
                  <a:buSzTx/>
                  <a:buNone/>
                  <a:defRPr sz="3168"/>
                </a:pPr>
                <a:r>
                  <a:t>In our case,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t> is a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|×|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t>matrix.  Assume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3200"/>
              </a:p>
            </p:txBody>
          </p:sp>
        </mc:Choice>
        <mc:Fallback>
          <p:sp>
            <p:nvSpPr>
              <p:cNvPr id="762" name="In our case,   is a  matrix.  Assum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0655555" y="5459612"/>
                <a:ext cx="9992760" cy="1067177"/>
              </a:xfrm>
              <a:prstGeom prst="rect">
                <a:avLst/>
              </a:prstGeom>
              <a:blipFill>
                <a:blip r:embed="rId6"/>
                <a:stretch>
                  <a:fillRect l="-1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37</a:t>
            </a:fld>
            <a:endParaRPr/>
          </a:p>
        </p:txBody>
      </p:sp>
      <p:sp>
        <p:nvSpPr>
          <p:cNvPr id="764" name="SVD = Singular value decomposition"/>
          <p:cNvSpPr txBox="1"/>
          <p:nvPr/>
        </p:nvSpPr>
        <p:spPr>
          <a:xfrm>
            <a:off x="10672764" y="2121730"/>
            <a:ext cx="8745398" cy="106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70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SVD = Singular value decomposition</a:t>
            </a:r>
          </a:p>
        </p:txBody>
      </p:sp>
      <p:grpSp>
        <p:nvGrpSpPr>
          <p:cNvPr id="774" name="Group"/>
          <p:cNvGrpSpPr/>
          <p:nvPr/>
        </p:nvGrpSpPr>
        <p:grpSpPr>
          <a:xfrm>
            <a:off x="5461386" y="3738892"/>
            <a:ext cx="4531023" cy="2918210"/>
            <a:chOff x="0" y="0"/>
            <a:chExt cx="4531022" cy="2918209"/>
          </a:xfrm>
        </p:grpSpPr>
        <p:grpSp>
          <p:nvGrpSpPr>
            <p:cNvPr id="767" name="Group"/>
            <p:cNvGrpSpPr/>
            <p:nvPr/>
          </p:nvGrpSpPr>
          <p:grpSpPr>
            <a:xfrm>
              <a:off x="-1" y="-1"/>
              <a:ext cx="1230897" cy="2918211"/>
              <a:chOff x="0" y="0"/>
              <a:chExt cx="1230895" cy="2918209"/>
            </a:xfrm>
          </p:grpSpPr>
          <p:sp>
            <p:nvSpPr>
              <p:cNvPr id="765" name="W"/>
              <p:cNvSpPr/>
              <p:nvPr/>
            </p:nvSpPr>
            <p:spPr>
              <a:xfrm>
                <a:off x="111484" y="0"/>
                <a:ext cx="1007927" cy="2398173"/>
              </a:xfrm>
              <a:prstGeom prst="rect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W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66" name="Text"/>
                  <p:cNvSpPr txBox="1"/>
                  <p:nvPr/>
                </p:nvSpPr>
                <p:spPr>
                  <a:xfrm>
                    <a:off x="0" y="2127634"/>
                    <a:ext cx="1230896" cy="79057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>
                      <a:defRPr b="1">
                        <a:latin typeface="+mj-lt"/>
                        <a:ea typeface="+mj-ea"/>
                        <a:cs typeface="+mj-cs"/>
                        <a:sym typeface="Gill Sans"/>
                      </a:defRPr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a14:m>
                    <a:r>
                      <a:t> </a:t>
                    </a:r>
                    <a:endParaRPr sz="2400"/>
                  </a:p>
                </p:txBody>
              </p:sp>
            </mc:Choice>
            <mc:Fallback>
              <p:sp>
                <p:nvSpPr>
                  <p:cNvPr id="766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127634"/>
                    <a:ext cx="1230896" cy="79057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 t="-13846" r="-17327" b="-35385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0" name="Group"/>
            <p:cNvGrpSpPr/>
            <p:nvPr/>
          </p:nvGrpSpPr>
          <p:grpSpPr>
            <a:xfrm>
              <a:off x="1277805" y="-1"/>
              <a:ext cx="1272419" cy="1594375"/>
              <a:chOff x="0" y="0"/>
              <a:chExt cx="1272418" cy="159437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68" name="Square"/>
                  <p:cNvSpPr/>
                  <p:nvPr/>
                </p:nvSpPr>
                <p:spPr>
                  <a:xfrm>
                    <a:off x="133177" y="0"/>
                    <a:ext cx="1100539" cy="1104963"/>
                  </a:xfrm>
                  <a:prstGeom prst="rect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768" name="Squar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177" y="0"/>
                    <a:ext cx="1100539" cy="110496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69" name="Text"/>
                  <p:cNvSpPr txBox="1"/>
                  <p:nvPr/>
                </p:nvSpPr>
                <p:spPr>
                  <a:xfrm>
                    <a:off x="-1" y="803798"/>
                    <a:ext cx="1272420" cy="79057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>
                      <a:defRPr b="1">
                        <a:latin typeface="+mj-lt"/>
                        <a:ea typeface="+mj-ea"/>
                        <a:cs typeface="+mj-cs"/>
                        <a:sym typeface="Gill Sans"/>
                      </a:defRPr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a14:m>
                    <a:r>
                      <a:t> </a:t>
                    </a:r>
                    <a:endParaRPr sz="2400"/>
                  </a:p>
                </p:txBody>
              </p:sp>
            </mc:Choice>
            <mc:Fallback>
              <p:sp>
                <p:nvSpPr>
                  <p:cNvPr id="769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803798"/>
                    <a:ext cx="1272420" cy="7905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773" name="Group"/>
            <p:cNvGrpSpPr/>
            <p:nvPr/>
          </p:nvGrpSpPr>
          <p:grpSpPr>
            <a:xfrm>
              <a:off x="2708618" y="-1"/>
              <a:ext cx="1822405" cy="1594375"/>
              <a:chOff x="0" y="0"/>
              <a:chExt cx="1822403" cy="1594373"/>
            </a:xfrm>
          </p:grpSpPr>
          <p:sp>
            <p:nvSpPr>
              <p:cNvPr id="771" name="C"/>
              <p:cNvSpPr/>
              <p:nvPr/>
            </p:nvSpPr>
            <p:spPr>
              <a:xfrm>
                <a:off x="0" y="0"/>
                <a:ext cx="1822404" cy="1104963"/>
              </a:xfrm>
              <a:prstGeom prst="rect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772" name="Text"/>
                  <p:cNvSpPr txBox="1"/>
                  <p:nvPr/>
                </p:nvSpPr>
                <p:spPr>
                  <a:xfrm>
                    <a:off x="347992" y="803798"/>
                    <a:ext cx="1126419" cy="79057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>
                      <a:defRPr b="1">
                        <a:latin typeface="+mj-lt"/>
                        <a:ea typeface="+mj-ea"/>
                        <a:cs typeface="+mj-cs"/>
                        <a:sym typeface="Gill Sans"/>
                      </a:defRPr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a14:m>
                    <a:r>
                      <a:t> </a:t>
                    </a:r>
                    <a:endParaRPr sz="2400"/>
                  </a:p>
                </p:txBody>
              </p:sp>
            </mc:Choice>
            <mc:Fallback>
              <p:sp>
                <p:nvSpPr>
                  <p:cNvPr id="772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992" y="803798"/>
                    <a:ext cx="1126419" cy="7905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799" name="Group"/>
          <p:cNvGrpSpPr/>
          <p:nvPr/>
        </p:nvGrpSpPr>
        <p:grpSpPr>
          <a:xfrm>
            <a:off x="5511507" y="6787202"/>
            <a:ext cx="4480902" cy="3097692"/>
            <a:chOff x="0" y="0"/>
            <a:chExt cx="4480901" cy="3097690"/>
          </a:xfrm>
        </p:grpSpPr>
        <p:sp>
          <p:nvSpPr>
            <p:cNvPr id="775" name="Rectangle"/>
            <p:cNvSpPr/>
            <p:nvPr/>
          </p:nvSpPr>
          <p:spPr>
            <a:xfrm>
              <a:off x="812930" y="45529"/>
              <a:ext cx="281157" cy="2360058"/>
            </a:xfrm>
            <a:prstGeom prst="rect">
              <a:avLst/>
            </a:prstGeom>
            <a:solidFill>
              <a:srgbClr val="929292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798" name="Group"/>
            <p:cNvGrpSpPr/>
            <p:nvPr/>
          </p:nvGrpSpPr>
          <p:grpSpPr>
            <a:xfrm>
              <a:off x="-1" y="-1"/>
              <a:ext cx="4480903" cy="3097692"/>
              <a:chOff x="0" y="0"/>
              <a:chExt cx="4480901" cy="3097690"/>
            </a:xfrm>
          </p:grpSpPr>
          <p:sp>
            <p:nvSpPr>
              <p:cNvPr id="776" name="W"/>
              <p:cNvSpPr/>
              <p:nvPr/>
            </p:nvSpPr>
            <p:spPr>
              <a:xfrm>
                <a:off x="54409" y="26471"/>
                <a:ext cx="1007928" cy="2398174"/>
              </a:xfrm>
              <a:prstGeom prst="rect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W</a:t>
                </a:r>
              </a:p>
            </p:txBody>
          </p:sp>
          <p:grpSp>
            <p:nvGrpSpPr>
              <p:cNvPr id="783" name="Group"/>
              <p:cNvGrpSpPr/>
              <p:nvPr/>
            </p:nvGrpSpPr>
            <p:grpSpPr>
              <a:xfrm>
                <a:off x="2658497" y="19873"/>
                <a:ext cx="1822405" cy="1940485"/>
                <a:chOff x="0" y="0"/>
                <a:chExt cx="1822403" cy="1940483"/>
              </a:xfrm>
            </p:grpSpPr>
            <p:sp>
              <p:nvSpPr>
                <p:cNvPr id="777" name="Rectangle"/>
                <p:cNvSpPr/>
                <p:nvPr/>
              </p:nvSpPr>
              <p:spPr>
                <a:xfrm>
                  <a:off x="28481" y="820771"/>
                  <a:ext cx="1765441" cy="300345"/>
                </a:xfrm>
                <a:prstGeom prst="rect">
                  <a:avLst/>
                </a:prstGeom>
                <a:solidFill>
                  <a:srgbClr val="92929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778" name="C"/>
                <p:cNvSpPr/>
                <p:nvPr/>
              </p:nvSpPr>
              <p:spPr>
                <a:xfrm>
                  <a:off x="0" y="0"/>
                  <a:ext cx="1822404" cy="1104963"/>
                </a:xfrm>
                <a:prstGeom prst="rect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r>
                    <a:t>C</a:t>
                  </a:r>
                </a:p>
              </p:txBody>
            </p:sp>
            <p:grpSp>
              <p:nvGrpSpPr>
                <p:cNvPr id="782" name="Group"/>
                <p:cNvGrpSpPr/>
                <p:nvPr/>
              </p:nvGrpSpPr>
              <p:grpSpPr>
                <a:xfrm>
                  <a:off x="347992" y="932234"/>
                  <a:ext cx="1126419" cy="1008250"/>
                  <a:chOff x="0" y="0"/>
                  <a:chExt cx="1126417" cy="1008249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779" name="Text"/>
                      <p:cNvSpPr txBox="1"/>
                      <p:nvPr/>
                    </p:nvSpPr>
                    <p:spPr>
                      <a:xfrm>
                        <a:off x="0" y="-1"/>
                        <a:ext cx="1126418" cy="790576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m="http://schemas.openxmlformats.org/officeDocument/2006/math" xmlns="" val="1"/>
                        </a:ext>
                      </a:extLst>
                    </p:spPr>
                    <p:txBody>
                      <a:bodyPr wrap="none" lIns="71437" tIns="71437" rIns="71437" bIns="71437" numCol="1" anchor="ctr">
                        <a:spAutoFit/>
                      </a:bodyPr>
                      <a:lstStyle/>
                      <a:p>
                        <a:pPr>
                          <a:defRPr b="1">
                            <a:latin typeface="+mj-lt"/>
                            <a:ea typeface="+mj-ea"/>
                            <a:cs typeface="+mj-cs"/>
                            <a:sym typeface="Gill Sans"/>
                          </a:defRPr>
                        </a:pPr>
                        <a14:m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oMath>
                        </a14:m>
                        <a:r>
                          <a:t> </a:t>
                        </a:r>
                        <a:endParaRPr sz="2400"/>
                      </a:p>
                    </p:txBody>
                  </p:sp>
                </mc:Choice>
                <mc:Fallback>
                  <p:sp>
                    <p:nvSpPr>
                      <p:cNvPr id="779" name="Text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-1"/>
                        <a:ext cx="1126418" cy="790576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t="-14729" r="-19459" b="-35659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780" name="Line"/>
                  <p:cNvSpPr/>
                  <p:nvPr/>
                </p:nvSpPr>
                <p:spPr>
                  <a:xfrm flipV="1">
                    <a:off x="190010" y="349404"/>
                    <a:ext cx="292962" cy="29296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5">
                        <a:lumOff val="-29866"/>
                      </a:schemeClr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781" name="k"/>
                  <p:cNvSpPr txBox="1"/>
                  <p:nvPr/>
                </p:nvSpPr>
                <p:spPr>
                  <a:xfrm>
                    <a:off x="436043" y="505915"/>
                    <a:ext cx="330532" cy="50233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>
                    <a:lvl1pPr>
                      <a:defRPr sz="2400" b="1">
                        <a:solidFill>
                          <a:schemeClr val="accent5">
                            <a:lumOff val="-29866"/>
                          </a:schemeClr>
                        </a:solidFill>
                      </a:defRPr>
                    </a:lvl1pPr>
                  </a:lstStyle>
                  <a:p>
                    <a:r>
                      <a:t>k</a:t>
                    </a:r>
                  </a:p>
                </p:txBody>
              </p:sp>
            </p:grpSp>
          </p:grpSp>
          <p:grpSp>
            <p:nvGrpSpPr>
              <p:cNvPr id="789" name="Group"/>
              <p:cNvGrpSpPr/>
              <p:nvPr/>
            </p:nvGrpSpPr>
            <p:grpSpPr>
              <a:xfrm>
                <a:off x="1220731" y="952107"/>
                <a:ext cx="1333134" cy="995551"/>
                <a:chOff x="0" y="0"/>
                <a:chExt cx="1333133" cy="995549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84" name="Text"/>
                    <p:cNvSpPr txBox="1"/>
                    <p:nvPr/>
                  </p:nvSpPr>
                  <p:spPr>
                    <a:xfrm>
                      <a:off x="-1" y="-1"/>
                      <a:ext cx="1272420" cy="790576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71437" tIns="71437" rIns="71437" bIns="71437" numCol="1" anchor="ctr">
                      <a:spAutoFit/>
                    </a:bodyPr>
                    <a:lstStyle/>
                    <a:p>
                      <a:pPr>
                        <a:defRPr b="1">
                          <a:latin typeface="+mj-lt"/>
                          <a:ea typeface="+mj-ea"/>
                          <a:cs typeface="+mj-cs"/>
                          <a:sym typeface="Gill Sans"/>
                        </a:defRPr>
                      </a:pPr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a14:m>
                      <a:r>
                        <a:t> </a:t>
                      </a:r>
                      <a:endParaRPr sz="2400"/>
                    </a:p>
                  </p:txBody>
                </p:sp>
              </mc:Choice>
              <mc:Fallback>
                <p:sp>
                  <p:nvSpPr>
                    <p:cNvPr id="784" name="Text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1" y="-1"/>
                      <a:ext cx="1272420" cy="790576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85" name="Line"/>
                <p:cNvSpPr/>
                <p:nvPr/>
              </p:nvSpPr>
              <p:spPr>
                <a:xfrm flipV="1">
                  <a:off x="796396" y="336704"/>
                  <a:ext cx="292962" cy="292961"/>
                </a:xfrm>
                <a:prstGeom prst="line">
                  <a:avLst/>
                </a:prstGeom>
                <a:noFill/>
                <a:ln w="50800" cap="flat">
                  <a:solidFill>
                    <a:schemeClr val="accent5">
                      <a:lumOff val="-29866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786" name="Line"/>
                <p:cNvSpPr/>
                <p:nvPr/>
              </p:nvSpPr>
              <p:spPr>
                <a:xfrm flipV="1">
                  <a:off x="224896" y="336704"/>
                  <a:ext cx="292962" cy="292961"/>
                </a:xfrm>
                <a:prstGeom prst="line">
                  <a:avLst/>
                </a:prstGeom>
                <a:noFill/>
                <a:ln w="50800" cap="flat">
                  <a:solidFill>
                    <a:schemeClr val="accent5">
                      <a:lumOff val="-29866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787" name="k"/>
                <p:cNvSpPr txBox="1"/>
                <p:nvPr/>
              </p:nvSpPr>
              <p:spPr>
                <a:xfrm>
                  <a:off x="1002603" y="493215"/>
                  <a:ext cx="330531" cy="502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>
                  <a:lvl1pPr>
                    <a:defRPr sz="2400" b="1">
                      <a:solidFill>
                        <a:schemeClr val="accent5">
                          <a:lumOff val="-29866"/>
                        </a:schemeClr>
                      </a:solidFill>
                    </a:defRPr>
                  </a:lvl1pPr>
                </a:lstStyle>
                <a:p>
                  <a:r>
                    <a:t>k</a:t>
                  </a:r>
                </a:p>
              </p:txBody>
            </p:sp>
            <p:sp>
              <p:nvSpPr>
                <p:cNvPr id="788" name="k"/>
                <p:cNvSpPr txBox="1"/>
                <p:nvPr/>
              </p:nvSpPr>
              <p:spPr>
                <a:xfrm>
                  <a:off x="494603" y="493215"/>
                  <a:ext cx="330531" cy="502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>
                  <a:lvl1pPr>
                    <a:defRPr sz="2400" b="1">
                      <a:solidFill>
                        <a:schemeClr val="accent5">
                          <a:lumOff val="-29866"/>
                        </a:schemeClr>
                      </a:solidFill>
                    </a:defRPr>
                  </a:lvl1pPr>
                </a:lstStyle>
                <a:p>
                  <a:r>
                    <a:t>k</a:t>
                  </a:r>
                </a:p>
              </p:txBody>
            </p:sp>
          </p:grpSp>
          <p:grpSp>
            <p:nvGrpSpPr>
              <p:cNvPr id="793" name="Group"/>
              <p:cNvGrpSpPr/>
              <p:nvPr/>
            </p:nvGrpSpPr>
            <p:grpSpPr>
              <a:xfrm>
                <a:off x="-1" y="2133270"/>
                <a:ext cx="1270731" cy="964421"/>
                <a:chOff x="0" y="0"/>
                <a:chExt cx="1270729" cy="964420"/>
              </a:xfrm>
            </p:grpSpPr>
            <p:sp>
              <p:nvSpPr>
                <p:cNvPr id="790" name="k"/>
                <p:cNvSpPr txBox="1"/>
                <p:nvPr/>
              </p:nvSpPr>
              <p:spPr>
                <a:xfrm>
                  <a:off x="940199" y="462086"/>
                  <a:ext cx="330531" cy="502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>
                  <a:lvl1pPr>
                    <a:defRPr sz="2400" b="1">
                      <a:solidFill>
                        <a:schemeClr val="accent5">
                          <a:lumOff val="-29866"/>
                        </a:schemeClr>
                      </a:solidFill>
                    </a:defRPr>
                  </a:lvl1pPr>
                </a:lstStyle>
                <a:p>
                  <a:r>
                    <a:t>k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91" name="Text"/>
                    <p:cNvSpPr txBox="1"/>
                    <p:nvPr/>
                  </p:nvSpPr>
                  <p:spPr>
                    <a:xfrm>
                      <a:off x="0" y="-1"/>
                      <a:ext cx="1230896" cy="790576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71437" tIns="71437" rIns="71437" bIns="71437" numCol="1" anchor="ctr">
                      <a:spAutoFit/>
                    </a:bodyPr>
                    <a:lstStyle/>
                    <a:p>
                      <a:pPr>
                        <a:defRPr b="1">
                          <a:latin typeface="+mj-lt"/>
                          <a:ea typeface="+mj-ea"/>
                          <a:cs typeface="+mj-cs"/>
                          <a:sym typeface="Gill Sans"/>
                        </a:defRPr>
                      </a:pPr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a14:m>
                      <a:r>
                        <a:t> </a:t>
                      </a:r>
                      <a:endParaRPr sz="2400"/>
                    </a:p>
                  </p:txBody>
                </p:sp>
              </mc:Choice>
              <mc:Fallback>
                <p:sp>
                  <p:nvSpPr>
                    <p:cNvPr id="791" name="Text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1"/>
                      <a:ext cx="1230896" cy="790576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 t="-13846" r="-17327" b="-35385"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92" name="Line"/>
                <p:cNvSpPr/>
                <p:nvPr/>
              </p:nvSpPr>
              <p:spPr>
                <a:xfrm flipV="1">
                  <a:off x="751134" y="388248"/>
                  <a:ext cx="292962" cy="292962"/>
                </a:xfrm>
                <a:prstGeom prst="line">
                  <a:avLst/>
                </a:prstGeom>
                <a:noFill/>
                <a:ln w="50800" cap="flat">
                  <a:solidFill>
                    <a:schemeClr val="accent5">
                      <a:lumOff val="-29866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797" name="Group"/>
              <p:cNvGrpSpPr/>
              <p:nvPr/>
            </p:nvGrpSpPr>
            <p:grpSpPr>
              <a:xfrm>
                <a:off x="1321862" y="-1"/>
                <a:ext cx="1164038" cy="1140990"/>
                <a:chOff x="0" y="0"/>
                <a:chExt cx="1164037" cy="1140988"/>
              </a:xfrm>
            </p:grpSpPr>
            <p:sp>
              <p:nvSpPr>
                <p:cNvPr id="794" name="Rectangle"/>
                <p:cNvSpPr/>
                <p:nvPr/>
              </p:nvSpPr>
              <p:spPr>
                <a:xfrm>
                  <a:off x="0" y="840644"/>
                  <a:ext cx="1164038" cy="300345"/>
                </a:xfrm>
                <a:prstGeom prst="rect">
                  <a:avLst/>
                </a:prstGeom>
                <a:solidFill>
                  <a:srgbClr val="92929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795" name="Square"/>
                    <p:cNvSpPr/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noFill/>
                    <a:ln w="635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square" lIns="71437" tIns="71437" rIns="71437" bIns="71437" numCol="1" anchor="ctr">
                      <a:noAutofit/>
                    </a:bodyPr>
                    <a:lstStyle>
                      <a:lvl1pPr>
                        <a:defRPr sz="3000">
                          <a:latin typeface="+mn-lt"/>
                          <a:ea typeface="+mn-ea"/>
                          <a:cs typeface="+mn-cs"/>
                          <a:sym typeface="Helvetica Neue Medium"/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>
                <p:sp>
                  <p:nvSpPr>
                    <p:cNvPr id="795" name="Square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 w="635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796" name="Rectangle"/>
                <p:cNvSpPr/>
                <p:nvPr/>
              </p:nvSpPr>
              <p:spPr>
                <a:xfrm>
                  <a:off x="830512" y="25720"/>
                  <a:ext cx="281157" cy="902361"/>
                </a:xfrm>
                <a:prstGeom prst="rect">
                  <a:avLst/>
                </a:prstGeom>
                <a:solidFill>
                  <a:srgbClr val="92929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803" name="Group"/>
          <p:cNvGrpSpPr/>
          <p:nvPr/>
        </p:nvGrpSpPr>
        <p:grpSpPr>
          <a:xfrm>
            <a:off x="3320926" y="3738892"/>
            <a:ext cx="1927621" cy="2918210"/>
            <a:chOff x="0" y="0"/>
            <a:chExt cx="1927619" cy="2918209"/>
          </a:xfrm>
        </p:grpSpPr>
        <p:sp>
          <p:nvSpPr>
            <p:cNvPr id="800" name="X"/>
            <p:cNvSpPr/>
            <p:nvPr/>
          </p:nvSpPr>
          <p:spPr>
            <a:xfrm>
              <a:off x="247183" y="0"/>
              <a:ext cx="1433253" cy="2398173"/>
            </a:xfrm>
            <a:prstGeom prst="rect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801" name="Text"/>
                <p:cNvSpPr txBox="1"/>
                <p:nvPr/>
              </p:nvSpPr>
              <p:spPr>
                <a:xfrm>
                  <a:off x="421361" y="2127634"/>
                  <a:ext cx="1084896" cy="79057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 b="1"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a14:m>
                  <a:r>
                    <a:t> </a:t>
                  </a:r>
                  <a:endParaRPr sz="2400"/>
                </a:p>
              </p:txBody>
            </p:sp>
          </mc:Choice>
          <mc:Fallback>
            <p:sp>
              <p:nvSpPr>
                <p:cNvPr id="801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61" y="2127634"/>
                  <a:ext cx="1084896" cy="790576"/>
                </a:xfrm>
                <a:prstGeom prst="rect">
                  <a:avLst/>
                </a:prstGeom>
                <a:blipFill>
                  <a:blip r:embed="rId15"/>
                  <a:stretch>
                    <a:fillRect t="-13846" r="-21348" b="-35385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02" name="word-word…"/>
            <p:cNvSpPr txBox="1"/>
            <p:nvPr/>
          </p:nvSpPr>
          <p:spPr>
            <a:xfrm>
              <a:off x="0" y="48888"/>
              <a:ext cx="1927620" cy="6952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/>
            <a:p>
              <a:pPr>
                <a:defRPr sz="1800"/>
              </a:pPr>
              <a:r>
                <a:t>word-word</a:t>
              </a:r>
            </a:p>
            <a:p>
              <a:pPr>
                <a:defRPr sz="1800"/>
              </a:pPr>
              <a:r>
                <a:t>PPMI matrix</a:t>
              </a:r>
            </a:p>
          </p:txBody>
        </p:sp>
      </p:grpSp>
      <p:sp>
        <p:nvSpPr>
          <p:cNvPr id="804" name="1) SVD"/>
          <p:cNvSpPr txBox="1"/>
          <p:nvPr/>
        </p:nvSpPr>
        <p:spPr>
          <a:xfrm>
            <a:off x="846509" y="4544164"/>
            <a:ext cx="186326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1) SVD</a:t>
            </a:r>
          </a:p>
        </p:txBody>
      </p:sp>
      <p:sp>
        <p:nvSpPr>
          <p:cNvPr id="805" name="2) Truncation"/>
          <p:cNvSpPr txBox="1"/>
          <p:nvPr/>
        </p:nvSpPr>
        <p:spPr>
          <a:xfrm>
            <a:off x="846509" y="7618946"/>
            <a:ext cx="3374823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2) Truncation</a:t>
            </a:r>
          </a:p>
        </p:txBody>
      </p:sp>
      <p:sp>
        <p:nvSpPr>
          <p:cNvPr id="806" name="3) Embeddings"/>
          <p:cNvSpPr txBox="1"/>
          <p:nvPr/>
        </p:nvSpPr>
        <p:spPr>
          <a:xfrm>
            <a:off x="846510" y="10221369"/>
            <a:ext cx="3913506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3) Embeddings</a:t>
            </a:r>
          </a:p>
        </p:txBody>
      </p:sp>
      <p:grpSp>
        <p:nvGrpSpPr>
          <p:cNvPr id="818" name="Group"/>
          <p:cNvGrpSpPr/>
          <p:nvPr/>
        </p:nvGrpSpPr>
        <p:grpSpPr>
          <a:xfrm>
            <a:off x="6715390" y="10074679"/>
            <a:ext cx="3339446" cy="1428285"/>
            <a:chOff x="0" y="0"/>
            <a:chExt cx="3339445" cy="1428283"/>
          </a:xfrm>
        </p:grpSpPr>
        <p:grpSp>
          <p:nvGrpSpPr>
            <p:cNvPr id="811" name="Group"/>
            <p:cNvGrpSpPr/>
            <p:nvPr/>
          </p:nvGrpSpPr>
          <p:grpSpPr>
            <a:xfrm>
              <a:off x="1517042" y="-1"/>
              <a:ext cx="1822404" cy="1414497"/>
              <a:chOff x="0" y="0"/>
              <a:chExt cx="1822403" cy="1414495"/>
            </a:xfrm>
          </p:grpSpPr>
          <p:grpSp>
            <p:nvGrpSpPr>
              <p:cNvPr id="809" name="Group"/>
              <p:cNvGrpSpPr/>
              <p:nvPr/>
            </p:nvGrpSpPr>
            <p:grpSpPr>
              <a:xfrm>
                <a:off x="0" y="146689"/>
                <a:ext cx="1822404" cy="1121117"/>
                <a:chOff x="0" y="0"/>
                <a:chExt cx="1822403" cy="1121115"/>
              </a:xfrm>
            </p:grpSpPr>
            <p:sp>
              <p:nvSpPr>
                <p:cNvPr id="807" name="Rectangle"/>
                <p:cNvSpPr/>
                <p:nvPr/>
              </p:nvSpPr>
              <p:spPr>
                <a:xfrm>
                  <a:off x="28481" y="820771"/>
                  <a:ext cx="1765441" cy="300345"/>
                </a:xfrm>
                <a:prstGeom prst="rect">
                  <a:avLst/>
                </a:prstGeom>
                <a:solidFill>
                  <a:srgbClr val="929292">
                    <a:alpha val="49838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808" name="C"/>
                <p:cNvSpPr/>
                <p:nvPr/>
              </p:nvSpPr>
              <p:spPr>
                <a:xfrm>
                  <a:off x="0" y="0"/>
                  <a:ext cx="1822404" cy="1104963"/>
                </a:xfrm>
                <a:prstGeom prst="rect">
                  <a:avLst/>
                </a:prstGeom>
                <a:noFill/>
                <a:ln w="63500" cap="flat">
                  <a:solidFill>
                    <a:srgbClr val="000000">
                      <a:alpha val="49838"/>
                    </a:srgbClr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r>
                    <a:t>C</a:t>
                  </a:r>
                </a:p>
              </p:txBody>
            </p:sp>
          </p:grpSp>
          <p:sp>
            <p:nvSpPr>
              <p:cNvPr id="810" name="Line"/>
              <p:cNvSpPr/>
              <p:nvPr/>
            </p:nvSpPr>
            <p:spPr>
              <a:xfrm flipV="1">
                <a:off x="141526" y="-1"/>
                <a:ext cx="1414497" cy="1414497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817" name="Group"/>
            <p:cNvGrpSpPr/>
            <p:nvPr/>
          </p:nvGrpSpPr>
          <p:grpSpPr>
            <a:xfrm>
              <a:off x="-1" y="13788"/>
              <a:ext cx="1414497" cy="1414496"/>
              <a:chOff x="0" y="0"/>
              <a:chExt cx="1414495" cy="1414495"/>
            </a:xfrm>
          </p:grpSpPr>
          <p:grpSp>
            <p:nvGrpSpPr>
              <p:cNvPr id="815" name="Group"/>
              <p:cNvGrpSpPr/>
              <p:nvPr/>
            </p:nvGrpSpPr>
            <p:grpSpPr>
              <a:xfrm>
                <a:off x="125229" y="84884"/>
                <a:ext cx="1164038" cy="1140990"/>
                <a:chOff x="0" y="0"/>
                <a:chExt cx="1164037" cy="1140988"/>
              </a:xfrm>
            </p:grpSpPr>
            <p:sp>
              <p:nvSpPr>
                <p:cNvPr id="812" name="Rectangle"/>
                <p:cNvSpPr/>
                <p:nvPr/>
              </p:nvSpPr>
              <p:spPr>
                <a:xfrm>
                  <a:off x="0" y="840644"/>
                  <a:ext cx="1164038" cy="300345"/>
                </a:xfrm>
                <a:prstGeom prst="rect">
                  <a:avLst/>
                </a:prstGeom>
                <a:solidFill>
                  <a:srgbClr val="929292">
                    <a:alpha val="50013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813" name="Square"/>
                    <p:cNvSpPr/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noFill/>
                    <a:ln w="63500" cap="flat">
                      <a:solidFill>
                        <a:srgbClr val="000000">
                          <a:alpha val="50013"/>
                        </a:srgbClr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square" lIns="71437" tIns="71437" rIns="71437" bIns="71437" numCol="1" anchor="ctr">
                      <a:noAutofit/>
                    </a:bodyPr>
                    <a:lstStyle>
                      <a:lvl1pPr>
                        <a:defRPr sz="3000">
                          <a:latin typeface="+mn-lt"/>
                          <a:ea typeface="+mn-ea"/>
                          <a:cs typeface="+mn-cs"/>
                          <a:sym typeface="Helvetica Neue Medium"/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>
                <p:sp>
                  <p:nvSpPr>
                    <p:cNvPr id="813" name="Square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 w="63500" cap="flat">
                      <a:solidFill>
                        <a:srgbClr val="000000">
                          <a:alpha val="50013"/>
                        </a:srgbClr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814" name="Rectangle"/>
                <p:cNvSpPr/>
                <p:nvPr/>
              </p:nvSpPr>
              <p:spPr>
                <a:xfrm>
                  <a:off x="830512" y="25720"/>
                  <a:ext cx="281157" cy="830322"/>
                </a:xfrm>
                <a:prstGeom prst="rect">
                  <a:avLst/>
                </a:prstGeom>
                <a:solidFill>
                  <a:srgbClr val="929292">
                    <a:alpha val="50013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  <p:sp>
            <p:nvSpPr>
              <p:cNvPr id="816" name="Line"/>
              <p:cNvSpPr/>
              <p:nvPr/>
            </p:nvSpPr>
            <p:spPr>
              <a:xfrm flipV="1">
                <a:off x="0" y="-1"/>
                <a:ext cx="1414496" cy="1414497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821" name="Group"/>
          <p:cNvGrpSpPr/>
          <p:nvPr/>
        </p:nvGrpSpPr>
        <p:grpSpPr>
          <a:xfrm>
            <a:off x="730615" y="11482641"/>
            <a:ext cx="6050456" cy="638786"/>
            <a:chOff x="0" y="0"/>
            <a:chExt cx="6050454" cy="638784"/>
          </a:xfrm>
        </p:grpSpPr>
        <p:sp>
          <p:nvSpPr>
            <p:cNvPr id="819" name="embedding for word i"/>
            <p:cNvSpPr txBox="1"/>
            <p:nvPr/>
          </p:nvSpPr>
          <p:spPr>
            <a:xfrm>
              <a:off x="0" y="-1"/>
              <a:ext cx="4282288" cy="638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400"/>
              </a:lvl1pPr>
            </a:lstStyle>
            <a:p>
              <a:r>
                <a:t>embedding for word i</a:t>
              </a:r>
            </a:p>
          </p:txBody>
        </p:sp>
        <p:sp>
          <p:nvSpPr>
            <p:cNvPr id="820" name="Rectangle"/>
            <p:cNvSpPr/>
            <p:nvPr/>
          </p:nvSpPr>
          <p:spPr>
            <a:xfrm>
              <a:off x="4407449" y="145776"/>
              <a:ext cx="1643006" cy="347233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chemeClr val="accent5">
                  <a:lumOff val="-29866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822" name="1…"/>
          <p:cNvSpPr txBox="1"/>
          <p:nvPr/>
        </p:nvSpPr>
        <p:spPr>
          <a:xfrm>
            <a:off x="5295672" y="10159051"/>
            <a:ext cx="310922" cy="253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 sz="2200"/>
            </a:pPr>
            <a:r>
              <a:t>1</a:t>
            </a:r>
          </a:p>
          <a:p>
            <a:pPr>
              <a:defRPr sz="2200"/>
            </a:pPr>
            <a:r>
              <a:t>2</a:t>
            </a:r>
          </a:p>
          <a:p>
            <a:pPr>
              <a:defRPr sz="2200"/>
            </a:pPr>
            <a:r>
              <a:t>.</a:t>
            </a:r>
          </a:p>
          <a:p>
            <a:pPr>
              <a:defRPr sz="2200"/>
            </a:pPr>
            <a:r>
              <a:t>.</a:t>
            </a:r>
          </a:p>
          <a:p>
            <a:pPr>
              <a:defRPr sz="2200"/>
            </a:pPr>
            <a:r>
              <a:t>i</a:t>
            </a:r>
          </a:p>
          <a:p>
            <a:pPr>
              <a:defRPr sz="2200"/>
            </a:pPr>
            <a:r>
              <a:t>.</a:t>
            </a:r>
          </a:p>
          <a:p>
            <a:pPr>
              <a:defRPr sz="2200"/>
            </a:pPr>
            <a: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23" name="Equation"/>
              <p:cNvSpPr txBox="1"/>
              <p:nvPr/>
            </p:nvSpPr>
            <p:spPr>
              <a:xfrm>
                <a:off x="5091525" y="4863379"/>
                <a:ext cx="329693" cy="14920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8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525" y="4863379"/>
                <a:ext cx="329693" cy="149200"/>
              </a:xfrm>
              <a:prstGeom prst="rect">
                <a:avLst/>
              </a:prstGeom>
              <a:blipFill>
                <a:blip r:embed="rId17"/>
                <a:stretch>
                  <a:fillRect r="-16667" b="-212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4" name="Equation"/>
              <p:cNvSpPr txBox="1"/>
              <p:nvPr/>
            </p:nvSpPr>
            <p:spPr>
              <a:xfrm>
                <a:off x="5091525" y="7938161"/>
                <a:ext cx="329693" cy="25201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82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525" y="7938161"/>
                <a:ext cx="329693" cy="252019"/>
              </a:xfrm>
              <a:prstGeom prst="rect">
                <a:avLst/>
              </a:prstGeom>
              <a:blipFill>
                <a:blip r:embed="rId18"/>
                <a:stretch>
                  <a:fillRect r="-14815" b="-9047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5" name="is a diagonal matrix with singular values:…"/>
              <p:cNvSpPr txBox="1"/>
              <p:nvPr/>
            </p:nvSpPr>
            <p:spPr>
              <a:xfrm>
                <a:off x="10876422" y="3033323"/>
                <a:ext cx="12567531" cy="207597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t> is a diagonal matrix with singular values:</a:t>
                </a:r>
              </a:p>
              <a:p>
                <a:pPr lvl="1" indent="0"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t>                     where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t> is the rank of the matrix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/>
              </a:p>
              <a:p>
                <a:pPr lvl="1" indent="0"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𝐔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has orthonormal columns,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t> has orthonormal rows</a:t>
                </a:r>
              </a:p>
            </p:txBody>
          </p:sp>
        </mc:Choice>
        <mc:Fallback>
          <p:sp>
            <p:nvSpPr>
              <p:cNvPr id="825" name="is a diagonal matrix with singular value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6422" y="3033323"/>
                <a:ext cx="12567531" cy="2075973"/>
              </a:xfrm>
              <a:prstGeom prst="rect">
                <a:avLst/>
              </a:prstGeom>
              <a:blipFill>
                <a:blip r:embed="rId19"/>
                <a:stretch>
                  <a:fillRect t="-1765" b="-911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6" name="Equation"/>
              <p:cNvSpPr txBox="1"/>
              <p:nvPr/>
            </p:nvSpPr>
            <p:spPr>
              <a:xfrm>
                <a:off x="6410212" y="2922267"/>
                <a:ext cx="2178716" cy="4150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sz="3800"/>
              </a:p>
            </p:txBody>
          </p:sp>
        </mc:Choice>
        <mc:Fallback>
          <p:sp>
            <p:nvSpPr>
              <p:cNvPr id="82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212" y="2922267"/>
                <a:ext cx="2178716" cy="415046"/>
              </a:xfrm>
              <a:prstGeom prst="rect">
                <a:avLst/>
              </a:prstGeom>
              <a:blipFill>
                <a:blip r:embed="rId20"/>
                <a:stretch>
                  <a:fillRect b="-1470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827" name="page1image9994448.png" descr="page1image999444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90713" y="6467036"/>
            <a:ext cx="12338950" cy="333523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28" name="Finally, we take  th row of   as the embedding of word"/>
              <p:cNvSpPr txBox="1"/>
              <p:nvPr/>
            </p:nvSpPr>
            <p:spPr>
              <a:xfrm>
                <a:off x="11163631" y="10168875"/>
                <a:ext cx="10636419" cy="6799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Finally, we take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th row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as the embedding of word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 </a:t>
                </a:r>
              </a:p>
            </p:txBody>
          </p:sp>
        </mc:Choice>
        <mc:Fallback>
          <p:sp>
            <p:nvSpPr>
              <p:cNvPr id="828" name="Finally, we take  th row of   as the embedding of wor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631" y="10168875"/>
                <a:ext cx="10636419" cy="679935"/>
              </a:xfrm>
              <a:prstGeom prst="rect">
                <a:avLst/>
              </a:prstGeom>
              <a:blipFill>
                <a:blip r:embed="rId22"/>
                <a:stretch>
                  <a:fillRect l="-1605" t="-1786" r="-2464" b="-2410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29" name="Truncation:…"/>
              <p:cNvSpPr txBox="1"/>
              <p:nvPr/>
            </p:nvSpPr>
            <p:spPr>
              <a:xfrm>
                <a:off x="11147459" y="6605065"/>
                <a:ext cx="12025459" cy="3051839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algn="l" defTabSz="714732">
                  <a:spcBef>
                    <a:spcPts val="1200"/>
                  </a:spcBef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rPr sz="3132"/>
                  <a:t>Truncation</a:t>
                </a:r>
                <a:r>
                  <a:t>: </a:t>
                </a:r>
              </a:p>
              <a:p>
                <a:pPr marL="386715" indent="-386715" algn="l" defTabSz="714732">
                  <a:spcBef>
                    <a:spcPts val="1200"/>
                  </a:spcBef>
                  <a:buSzPct val="145000"/>
                  <a:buChar char="•"/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Select the first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columns of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to get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-dimensional row vectors</a:t>
                </a:r>
              </a:p>
              <a:p>
                <a:pPr marL="386715" indent="-386715" algn="l" defTabSz="714732">
                  <a:spcBef>
                    <a:spcPts val="1200"/>
                  </a:spcBef>
                  <a:buSzPct val="145000"/>
                  <a:buChar char="•"/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Note that the singular values are ordered from largest to smallest, which each singular value representing the variance captured by that dimension</a:t>
                </a:r>
              </a:p>
              <a:p>
                <a:pPr marL="386715" indent="-386715" algn="l" defTabSz="714732">
                  <a:spcBef>
                    <a:spcPts val="1200"/>
                  </a:spcBef>
                  <a:buSzPct val="145000"/>
                  <a:buChar char="•"/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So the first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dimensions are the dimensions with the most variance</a:t>
                </a:r>
                <a:endParaRPr sz="3200"/>
              </a:p>
            </p:txBody>
          </p:sp>
        </mc:Choice>
        <mc:Fallback>
          <p:sp>
            <p:nvSpPr>
              <p:cNvPr id="829" name="Truncation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7459" y="6605065"/>
                <a:ext cx="12025459" cy="3051839"/>
              </a:xfrm>
              <a:prstGeom prst="rect">
                <a:avLst/>
              </a:prstGeom>
              <a:blipFill>
                <a:blip r:embed="rId23"/>
                <a:stretch>
                  <a:fillRect l="-1876" r="-609" b="-48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30" name="Note there are variants where the word embedding matrix is taken to be…"/>
              <p:cNvSpPr txBox="1"/>
              <p:nvPr/>
            </p:nvSpPr>
            <p:spPr>
              <a:xfrm>
                <a:off x="11163631" y="11005060"/>
                <a:ext cx="13026431" cy="131572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Note there are variants where the word embedding matrix is taken to be</a:t>
                </a:r>
              </a:p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t>  (with common values being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0.5,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) </a:t>
                </a:r>
              </a:p>
            </p:txBody>
          </p:sp>
        </mc:Choice>
        <mc:Fallback>
          <p:sp>
            <p:nvSpPr>
              <p:cNvPr id="830" name="Note there are variants where the word embedding matrix is taken to b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631" y="11005060"/>
                <a:ext cx="13026431" cy="1315728"/>
              </a:xfrm>
              <a:prstGeom prst="rect">
                <a:avLst/>
              </a:prstGeom>
              <a:blipFill>
                <a:blip r:embed="rId24"/>
                <a:stretch>
                  <a:fillRect l="-1310" t="-5556" r="-1357" b="-1574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834" name="Group"/>
          <p:cNvGrpSpPr/>
          <p:nvPr/>
        </p:nvGrpSpPr>
        <p:grpSpPr>
          <a:xfrm>
            <a:off x="17506746" y="11736828"/>
            <a:ext cx="1774237" cy="2591505"/>
            <a:chOff x="472915" y="0"/>
            <a:chExt cx="1774235" cy="2591503"/>
          </a:xfrm>
        </p:grpSpPr>
        <p:sp>
          <p:nvSpPr>
            <p:cNvPr id="831" name="Rectangle"/>
            <p:cNvSpPr/>
            <p:nvPr/>
          </p:nvSpPr>
          <p:spPr>
            <a:xfrm>
              <a:off x="472915" y="0"/>
              <a:ext cx="1008471" cy="530668"/>
            </a:xfrm>
            <a:prstGeom prst="rect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32" name="Line"/>
            <p:cNvSpPr/>
            <p:nvPr/>
          </p:nvSpPr>
          <p:spPr>
            <a:xfrm flipV="1">
              <a:off x="1008738" y="514272"/>
              <a:ext cx="1" cy="51768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833" name="traditional"/>
            <p:cNvSpPr/>
            <p:nvPr/>
          </p:nvSpPr>
          <p:spPr>
            <a:xfrm>
              <a:off x="977150" y="132150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2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traditional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7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8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82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8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8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7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8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8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8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8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56" grpId="0" animBg="1" advAuto="0"/>
      <p:bldP spid="760" grpId="0" animBg="1" advAuto="0"/>
      <p:bldP spid="762" grpId="0" animBg="1" advAuto="0"/>
      <p:bldP spid="764" grpId="0" animBg="1" advAuto="0"/>
      <p:bldP spid="774" grpId="0" animBg="1" advAuto="0"/>
      <p:bldP spid="799" grpId="0" animBg="1" advAuto="0"/>
      <p:bldP spid="804" grpId="0" animBg="1" advAuto="0"/>
      <p:bldP spid="805" grpId="0" animBg="1" advAuto="0"/>
      <p:bldP spid="806" grpId="0" animBg="1" advAuto="0"/>
      <p:bldP spid="818" grpId="0" animBg="1" advAuto="0"/>
      <p:bldP spid="821" grpId="0" animBg="1" advAuto="0"/>
      <p:bldP spid="822" grpId="0" animBg="1" advAuto="0"/>
      <p:bldP spid="823" grpId="0" animBg="1" advAuto="0"/>
      <p:bldP spid="824" grpId="0" animBg="1" advAuto="0"/>
      <p:bldP spid="825" grpId="0" animBg="1" advAuto="0"/>
      <p:bldP spid="826" grpId="0" animBg="1" advAuto="0"/>
      <p:bldP spid="827" grpId="0" animBg="1" advAuto="0"/>
      <p:bldP spid="828" grpId="0" animBg="1" advAuto="0"/>
      <p:bldP spid="829" grpId="0" build="p" animBg="1" advAuto="0"/>
      <p:bldP spid="830" grpId="0" animBg="1" advAuto="0"/>
      <p:bldP spid="834" grpId="0" animBg="1" advAuto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8" name="What is wrong with using SVD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wrong with using SVD?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39" name="Computational complexity is high: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725291" y="3504202"/>
                <a:ext cx="15609095" cy="7063736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spcBef>
                    <a:spcPts val="4000"/>
                  </a:spcBef>
                </a:pPr>
                <a:r>
                  <a:t>Computational complexity is high: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(|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>
                  <a:spcBef>
                    <a:spcPts val="4000"/>
                  </a:spcBef>
                </a:pPr>
                <a:r>
                  <a:t>Cannot be trained as part of a larger model</a:t>
                </a:r>
              </a:p>
              <a:p>
                <a:pPr lvl="1">
                  <a:spcBef>
                    <a:spcPts val="4000"/>
                  </a:spcBef>
                </a:pPr>
                <a:r>
                  <a:t>Not a component that can be part of a larger neural network</a:t>
                </a:r>
              </a:p>
              <a:p>
                <a:pPr>
                  <a:spcBef>
                    <a:spcPts val="4000"/>
                  </a:spcBef>
                </a:pPr>
                <a:r>
                  <a:t>Cannot be trained discriminatively for a particular task</a:t>
                </a:r>
              </a:p>
            </p:txBody>
          </p:sp>
        </mc:Choice>
        <mc:Fallback>
          <p:sp>
            <p:nvSpPr>
              <p:cNvPr id="839" name="Computational complexity is high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725291" y="3504202"/>
                <a:ext cx="15609095" cy="7063736"/>
              </a:xfrm>
              <a:prstGeom prst="rect">
                <a:avLst/>
              </a:prstGeom>
              <a:blipFill>
                <a:blip r:embed="rId2"/>
                <a:stretch>
                  <a:fillRect l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38</a:t>
            </a:fld>
            <a:endParaRPr/>
          </a:p>
        </p:txBody>
      </p:sp>
    </p:spTree>
  </p:cSld>
  <p:clrMapOvr>
    <a:masterClrMapping/>
  </p:clrMapOvr>
  <p:transition spd="med"/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2" name="Why dense vector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dense vectors?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43" name="Short vectors are easier to use as features in ML system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Short vectors are easier to use as features in ML systems</a:t>
                </a:r>
              </a:p>
              <a:p>
                <a:r>
                  <a:t>Dense vectors may generalize better than storing explicit counts</a:t>
                </a:r>
              </a:p>
              <a:p>
                <a:r>
                  <a:t>They do better at capturing synonymy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co-occurs with “car”,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co-occurs with “automobile”</a:t>
                </a:r>
                <a:endParaRPr sz="3900"/>
              </a:p>
            </p:txBody>
          </p:sp>
        </mc:Choice>
        <mc:Fallback>
          <p:sp>
            <p:nvSpPr>
              <p:cNvPr id="843" name="Short vectors are easier to use as features in ML system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  <a:blipFill>
                <a:blip r:embed="rId2"/>
                <a:stretch>
                  <a:fillRect l="-2170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44" name="Group"/>
          <p:cNvSpPr txBox="1"/>
          <p:nvPr/>
        </p:nvSpPr>
        <p:spPr>
          <a:xfrm>
            <a:off x="4185375" y="8181002"/>
            <a:ext cx="11407590" cy="3234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Different methods for getting dense vectors:</a:t>
            </a:r>
          </a:p>
          <a:p>
            <a:pPr marL="1492250" lvl="2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Singular value decomposition (SVD)</a:t>
            </a:r>
          </a:p>
          <a:p>
            <a:pPr marL="1492250" lvl="2" indent="-603250" algn="l">
              <a:spcBef>
                <a:spcPts val="1400"/>
              </a:spcBef>
              <a:buSzPct val="145000"/>
              <a:buChar char="•"/>
              <a:defRPr sz="38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word2vec and friends: “learn” the vectors!</a:t>
            </a:r>
          </a:p>
        </p:txBody>
      </p:sp>
      <p:sp>
        <p:nvSpPr>
          <p:cNvPr id="84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39</a:t>
            </a:fld>
            <a:endParaRPr/>
          </a:p>
        </p:txBody>
      </p:sp>
      <p:sp>
        <p:nvSpPr>
          <p:cNvPr id="846" name="Text"/>
          <p:cNvSpPr txBox="1"/>
          <p:nvPr/>
        </p:nvSpPr>
        <p:spPr>
          <a:xfrm>
            <a:off x="14914581" y="10940525"/>
            <a:ext cx="155576" cy="141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8" name="Table 1"/>
          <p:cNvGraphicFramePr/>
          <p:nvPr/>
        </p:nvGraphicFramePr>
        <p:xfrm>
          <a:off x="11332816" y="3716351"/>
          <a:ext cx="11736843" cy="7071371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327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1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9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0195">
                <a:tc>
                  <a:txBody>
                    <a:bodyPr/>
                    <a:lstStyle/>
                    <a:p>
                      <a:pPr algn="l" defTabSz="914400">
                        <a:defRPr sz="4000">
                          <a:latin typeface="Georgia"/>
                          <a:ea typeface="Georgia"/>
                          <a:cs typeface="Georgia"/>
                          <a:sym typeface="Georgi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bottle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likes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before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make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corn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821531">
                        <a:lnSpc>
                          <a:spcPct val="120000"/>
                        </a:lnSpc>
                        <a:spcBef>
                          <a:spcPts val="7000"/>
                        </a:spcBef>
                      </a:pPr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tejuino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loud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motor-oil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tortillas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choices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wine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49" name="C1: A bottle of ___ is on the table."/>
          <p:cNvSpPr txBox="1"/>
          <p:nvPr/>
        </p:nvSpPr>
        <p:spPr>
          <a:xfrm>
            <a:off x="1692703" y="5242056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/>
          </a:bodyPr>
          <a:lstStyle>
            <a:lvl1pPr algn="l" defTabSz="813315">
              <a:lnSpc>
                <a:spcPct val="120000"/>
              </a:lnSpc>
              <a:spcBef>
                <a:spcPts val="6900"/>
              </a:spcBef>
              <a:defRPr sz="3959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C1: A bottle of ___ is on the table.</a:t>
            </a:r>
          </a:p>
        </p:txBody>
      </p:sp>
      <p:sp>
        <p:nvSpPr>
          <p:cNvPr id="850" name="C2: Everybody likes ___."/>
          <p:cNvSpPr txBox="1"/>
          <p:nvPr/>
        </p:nvSpPr>
        <p:spPr>
          <a:xfrm>
            <a:off x="1692703" y="6386985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C2: Everybody likes ___.</a:t>
            </a:r>
          </a:p>
        </p:txBody>
      </p:sp>
      <p:sp>
        <p:nvSpPr>
          <p:cNvPr id="851" name="C3: Don’t have ___ before you drive."/>
          <p:cNvSpPr txBox="1"/>
          <p:nvPr/>
        </p:nvSpPr>
        <p:spPr>
          <a:xfrm>
            <a:off x="1692703" y="7437367"/>
            <a:ext cx="8723060" cy="145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C3: Don’t have ___ before you drive.</a:t>
            </a:r>
          </a:p>
        </p:txBody>
      </p:sp>
      <p:sp>
        <p:nvSpPr>
          <p:cNvPr id="852" name="C4: We make ___ out of corn."/>
          <p:cNvSpPr txBox="1"/>
          <p:nvPr/>
        </p:nvSpPr>
        <p:spPr>
          <a:xfrm>
            <a:off x="1692703" y="8676842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C4: We make ___ out of corn.</a:t>
            </a:r>
          </a:p>
        </p:txBody>
      </p:sp>
      <p:sp>
        <p:nvSpPr>
          <p:cNvPr id="853" name="Rectangle"/>
          <p:cNvSpPr txBox="1"/>
          <p:nvPr/>
        </p:nvSpPr>
        <p:spPr>
          <a:xfrm>
            <a:off x="11166833" y="9872058"/>
            <a:ext cx="11972290" cy="874861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54" name="Rectangle"/>
          <p:cNvSpPr txBox="1"/>
          <p:nvPr/>
        </p:nvSpPr>
        <p:spPr>
          <a:xfrm>
            <a:off x="11147351" y="4757992"/>
            <a:ext cx="12011255" cy="985264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855" name="“words that occur in similar contexts tend to have similar meanings”"/>
          <p:cNvSpPr txBox="1"/>
          <p:nvPr/>
        </p:nvSpPr>
        <p:spPr>
          <a:xfrm>
            <a:off x="3693877" y="12111628"/>
            <a:ext cx="16996247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“words that occur in similar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contexts</a:t>
            </a:r>
            <a:r>
              <a:t> tend to have similar meanings”</a:t>
            </a:r>
          </a:p>
        </p:txBody>
      </p:sp>
      <p:sp>
        <p:nvSpPr>
          <p:cNvPr id="856" name="Use as context:  other words that appear in a span around the target word"/>
          <p:cNvSpPr txBox="1"/>
          <p:nvPr/>
        </p:nvSpPr>
        <p:spPr>
          <a:xfrm>
            <a:off x="3660316" y="11110791"/>
            <a:ext cx="16832423" cy="116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r" defTabSz="788669">
              <a:spcBef>
                <a:spcPts val="1300"/>
              </a:spcBef>
              <a:defRPr sz="403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Use as context:  other words that appear in a span around the target word</a:t>
            </a:r>
          </a:p>
        </p:txBody>
      </p:sp>
      <p:sp>
        <p:nvSpPr>
          <p:cNvPr id="857" name="How are these embeddings learned?"/>
          <p:cNvSpPr txBox="1">
            <a:spLocks noGrp="1"/>
          </p:cNvSpPr>
          <p:nvPr>
            <p:ph type="title"/>
          </p:nvPr>
        </p:nvSpPr>
        <p:spPr>
          <a:xfrm>
            <a:off x="4271980" y="35718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How are these embeddings learned?</a:t>
            </a:r>
          </a:p>
        </p:txBody>
      </p:sp>
      <p:sp>
        <p:nvSpPr>
          <p:cNvPr id="858" name="Learn predictor to fill in the blank!"/>
          <p:cNvSpPr txBox="1"/>
          <p:nvPr/>
        </p:nvSpPr>
        <p:spPr>
          <a:xfrm>
            <a:off x="1554128" y="3153795"/>
            <a:ext cx="7620001" cy="116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747593">
              <a:spcBef>
                <a:spcPts val="1200"/>
              </a:spcBef>
              <a:defRPr sz="382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Learn predictor to fill in the blank!</a:t>
            </a:r>
          </a:p>
        </p:txBody>
      </p:sp>
      <p:sp>
        <p:nvSpPr>
          <p:cNvPr id="859" name="Represent each word as a vector…"/>
          <p:cNvSpPr txBox="1"/>
          <p:nvPr/>
        </p:nvSpPr>
        <p:spPr>
          <a:xfrm>
            <a:off x="1479215" y="6657385"/>
            <a:ext cx="8499098" cy="3860934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>
                <a:hueOff val="114395"/>
                <a:lumOff val="-249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r>
              <a:t>Represent each word as a vector</a:t>
            </a:r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r>
              <a:t>Train classifier to predict word using context words.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r>
              <a:t>During training, the word vector is updated so that it is possible to predict the center word using the context words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8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53" grpId="0" animBg="1" advAuto="0"/>
      <p:bldP spid="854" grpId="0" animBg="1" advAuto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3" name="Many different ways to learn the representations"/>
          <p:cNvSpPr txBox="1">
            <a:spLocks noGrp="1"/>
          </p:cNvSpPr>
          <p:nvPr>
            <p:ph type="title"/>
          </p:nvPr>
        </p:nvSpPr>
        <p:spPr>
          <a:xfrm>
            <a:off x="1639543" y="357187"/>
            <a:ext cx="22077264" cy="1952626"/>
          </a:xfrm>
          <a:prstGeom prst="rect">
            <a:avLst/>
          </a:prstGeom>
        </p:spPr>
        <p:txBody>
          <a:bodyPr/>
          <a:lstStyle/>
          <a:p>
            <a:r>
              <a:t>Many different ways to learn the representations</a:t>
            </a:r>
          </a:p>
        </p:txBody>
      </p:sp>
      <p:sp>
        <p:nvSpPr>
          <p:cNvPr id="864" name="From context words, predict target word (Masked LM)…"/>
          <p:cNvSpPr txBox="1">
            <a:spLocks noGrp="1"/>
          </p:cNvSpPr>
          <p:nvPr>
            <p:ph type="body" idx="1"/>
          </p:nvPr>
        </p:nvSpPr>
        <p:spPr>
          <a:xfrm>
            <a:off x="2107491" y="3173477"/>
            <a:ext cx="21141368" cy="8705047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30859" indent="-530859" defTabSz="722947">
              <a:spcBef>
                <a:spcPts val="1200"/>
              </a:spcBef>
              <a:defRPr sz="3343"/>
            </a:pPr>
            <a:r>
              <a:t>From context words, predict target word (Masked LM)</a:t>
            </a:r>
          </a:p>
          <a:p>
            <a:pPr marL="0" indent="0" defTabSz="722947">
              <a:lnSpc>
                <a:spcPct val="120000"/>
              </a:lnSpc>
              <a:spcBef>
                <a:spcPts val="6100"/>
              </a:spcBef>
              <a:buSzTx/>
              <a:buNone/>
              <a:defRPr sz="3520"/>
            </a:pPr>
            <a:r>
              <a:t>      A bottle of ___ is on the table.</a:t>
            </a:r>
          </a:p>
          <a:p>
            <a:pPr marL="530859" indent="-530859" defTabSz="722947">
              <a:spcBef>
                <a:spcPts val="1200"/>
              </a:spcBef>
              <a:defRPr sz="3343"/>
            </a:pPr>
            <a:endParaRPr/>
          </a:p>
          <a:p>
            <a:pPr marL="530859" indent="-530859" defTabSz="722947">
              <a:spcBef>
                <a:spcPts val="1200"/>
              </a:spcBef>
              <a:defRPr sz="3343"/>
            </a:pPr>
            <a:r>
              <a:t>From target word, predict other context words.</a:t>
            </a:r>
          </a:p>
          <a:p>
            <a:pPr marL="0" indent="0" defTabSz="722947">
              <a:lnSpc>
                <a:spcPct val="120000"/>
              </a:lnSpc>
              <a:spcBef>
                <a:spcPts val="6100"/>
              </a:spcBef>
              <a:buSzTx/>
              <a:buNone/>
              <a:defRPr sz="3520"/>
            </a:pPr>
            <a:r>
              <a:t>      What words go with “tejuino”?</a:t>
            </a:r>
          </a:p>
          <a:p>
            <a:pPr marL="530859" indent="-530859" defTabSz="722947">
              <a:spcBef>
                <a:spcPts val="1200"/>
              </a:spcBef>
              <a:defRPr sz="3343"/>
            </a:pPr>
            <a:endParaRPr/>
          </a:p>
          <a:p>
            <a:pPr marL="530859" indent="-530859" defTabSz="722947">
              <a:spcBef>
                <a:spcPts val="1200"/>
              </a:spcBef>
              <a:defRPr sz="3343"/>
            </a:pPr>
            <a:r>
              <a:t>From previous words, predict next (target) word (Traditional LM)</a:t>
            </a:r>
          </a:p>
          <a:p>
            <a:pPr marL="0" indent="0" defTabSz="722947">
              <a:lnSpc>
                <a:spcPct val="120000"/>
              </a:lnSpc>
              <a:spcBef>
                <a:spcPts val="6100"/>
              </a:spcBef>
              <a:buSzTx/>
              <a:buNone/>
              <a:defRPr sz="3520"/>
            </a:pPr>
            <a:r>
              <a:t>      A bottle of ___</a:t>
            </a:r>
          </a:p>
          <a:p>
            <a:pPr marL="0" indent="0" defTabSz="722947">
              <a:lnSpc>
                <a:spcPct val="120000"/>
              </a:lnSpc>
              <a:spcBef>
                <a:spcPts val="6100"/>
              </a:spcBef>
              <a:buSzTx/>
              <a:buNone/>
              <a:defRPr sz="3520"/>
            </a:pPr>
            <a:r>
              <a:t>      A bottle of tejuino is on the ___</a:t>
            </a:r>
          </a:p>
        </p:txBody>
      </p:sp>
      <p:sp>
        <p:nvSpPr>
          <p:cNvPr id="865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41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6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6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6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6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6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6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6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86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86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4" grpId="0" build="p" animBg="1" advAuto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7" name="Many different ways to learn the representations"/>
          <p:cNvSpPr txBox="1">
            <a:spLocks noGrp="1"/>
          </p:cNvSpPr>
          <p:nvPr>
            <p:ph type="title"/>
          </p:nvPr>
        </p:nvSpPr>
        <p:spPr>
          <a:xfrm>
            <a:off x="1639543" y="357187"/>
            <a:ext cx="22077264" cy="1952626"/>
          </a:xfrm>
          <a:prstGeom prst="rect">
            <a:avLst/>
          </a:prstGeom>
        </p:spPr>
        <p:txBody>
          <a:bodyPr/>
          <a:lstStyle/>
          <a:p>
            <a:r>
              <a:t>Many different ways to learn the representations</a:t>
            </a:r>
          </a:p>
        </p:txBody>
      </p:sp>
      <p:sp>
        <p:nvSpPr>
          <p:cNvPr id="868" name="Different architectures and models to learn the representations…"/>
          <p:cNvSpPr txBox="1">
            <a:spLocks noGrp="1"/>
          </p:cNvSpPr>
          <p:nvPr>
            <p:ph type="body" idx="1"/>
          </p:nvPr>
        </p:nvSpPr>
        <p:spPr>
          <a:xfrm>
            <a:off x="2107491" y="3173477"/>
            <a:ext cx="21141368" cy="8705047"/>
          </a:xfrm>
          <a:prstGeom prst="rect">
            <a:avLst/>
          </a:prstGeom>
        </p:spPr>
        <p:txBody>
          <a:bodyPr/>
          <a:lstStyle/>
          <a:p>
            <a:r>
              <a:t>Different architectures and models to learn the representations</a:t>
            </a:r>
          </a:p>
          <a:p>
            <a:endParaRPr/>
          </a:p>
          <a:p>
            <a:r>
              <a:t>Get sentence embeddings by combining word embeddings</a:t>
            </a:r>
          </a:p>
          <a:p>
            <a:endParaRPr/>
          </a:p>
          <a:p>
            <a:r>
              <a:t>Two types of word embeddings</a:t>
            </a:r>
          </a:p>
          <a:p>
            <a:endParaRPr/>
          </a:p>
          <a:p>
            <a:pPr lvl="1">
              <a:defRPr>
                <a:solidFill>
                  <a:schemeClr val="accent1">
                    <a:lumOff val="-13575"/>
                  </a:schemeClr>
                </a:solidFill>
              </a:defRPr>
            </a:pPr>
            <a:r>
              <a:t>Static - mapping of word to embedding</a:t>
            </a:r>
          </a:p>
          <a:p>
            <a:pPr lvl="1"/>
            <a:endParaRPr/>
          </a:p>
          <a:p>
            <a:pPr lvl="1"/>
            <a:r>
              <a:t>Contextual - embedding of word changes based on the context</a:t>
            </a:r>
          </a:p>
        </p:txBody>
      </p:sp>
      <p:sp>
        <p:nvSpPr>
          <p:cNvPr id="869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42</a:t>
            </a:fld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6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6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6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6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86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6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86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86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68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868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68" grpId="0" build="p" animBg="1" advAuto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1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sp>
        <p:nvSpPr>
          <p:cNvPr id="872" name="Representing words as vectors…"/>
          <p:cNvSpPr txBox="1">
            <a:spLocks noGrp="1"/>
          </p:cNvSpPr>
          <p:nvPr>
            <p:ph type="body" idx="1"/>
          </p:nvPr>
        </p:nvSpPr>
        <p:spPr>
          <a:xfrm>
            <a:off x="3312566" y="3083864"/>
            <a:ext cx="19095945" cy="920088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79119" indent="-579119" defTabSz="788669">
              <a:spcBef>
                <a:spcPts val="2400"/>
              </a:spcBef>
              <a:defRPr sz="3839"/>
            </a:pPr>
            <a:r>
              <a:t>Representing words as vectors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One-hot vectors vs vectors built using context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Cosine similarity for measuring similarity between words</a:t>
            </a:r>
          </a:p>
          <a:p>
            <a:pPr marL="579119" indent="-579119" defTabSz="788669">
              <a:spcBef>
                <a:spcPts val="2400"/>
              </a:spcBef>
              <a:defRPr sz="3839"/>
            </a:pPr>
            <a:r>
              <a:t>Using context to represent words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Distributional hypothesis: </a:t>
            </a:r>
          </a:p>
          <a:p>
            <a:pPr marL="0" lvl="1" indent="426719" defTabSz="788669">
              <a:spcBef>
                <a:spcPts val="2400"/>
              </a:spcBef>
              <a:buSzTx/>
              <a:buNone/>
              <a:defRPr sz="3839"/>
            </a:pPr>
            <a:r>
              <a:t>words that occur in similar contexts tend to have similar meanings</a:t>
            </a:r>
          </a:p>
          <a:p>
            <a:pPr marL="579119" indent="-579119" defTabSz="788669">
              <a:spcBef>
                <a:spcPts val="2400"/>
              </a:spcBef>
              <a:defRPr sz="3839"/>
            </a:pPr>
            <a:r>
              <a:t>Co-occurrence matrix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Raw counts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TF-IDF (term-frequency inverse-document-frequency)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PPMI (positive pointwise mutual information)</a:t>
            </a:r>
          </a:p>
          <a:p>
            <a:pPr marL="579119" indent="-579119" defTabSz="788669">
              <a:spcBef>
                <a:spcPts val="2400"/>
              </a:spcBef>
              <a:defRPr sz="3839"/>
            </a:pPr>
            <a:r>
              <a:t>Dense vectors via SVD or learned by predicting the missing word</a:t>
            </a:r>
          </a:p>
        </p:txBody>
      </p:sp>
    </p:spTree>
  </p:cSld>
  <p:clrMapOvr>
    <a:masterClrMapping/>
  </p:clrMapOvr>
  <p:transition spd="med"/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4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875" name="Double-click to edit"/>
          <p:cNvSpPr txBox="1">
            <a:spLocks noGrp="1"/>
          </p:cNvSpPr>
          <p:nvPr>
            <p:ph type="body" sz="half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Ovr>
    <a:masterClrMapping/>
  </p:clrMapOvr>
  <p:transition spd="med"/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7" name="Notes on count based word vectors"/>
          <p:cNvSpPr txBox="1">
            <a:spLocks noGrp="1"/>
          </p:cNvSpPr>
          <p:nvPr>
            <p:ph type="title"/>
          </p:nvPr>
        </p:nvSpPr>
        <p:spPr>
          <a:xfrm>
            <a:off x="4271980" y="5149307"/>
            <a:ext cx="17191103" cy="3036095"/>
          </a:xfrm>
          <a:prstGeom prst="rect">
            <a:avLst/>
          </a:prstGeom>
        </p:spPr>
        <p:txBody>
          <a:bodyPr/>
          <a:lstStyle>
            <a:lvl1pPr>
              <a:defRPr sz="8400"/>
            </a:lvl1pPr>
          </a:lstStyle>
          <a:p>
            <a:r>
              <a:t>Notes on count based word vectors</a:t>
            </a:r>
          </a:p>
        </p:txBody>
      </p:sp>
      <p:sp>
        <p:nvSpPr>
          <p:cNvPr id="87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45</a:t>
            </a:fld>
            <a:endParaRPr/>
          </a:p>
        </p:txBody>
      </p:sp>
    </p:spTree>
  </p:cSld>
  <p:clrMapOvr>
    <a:masterClrMapping/>
  </p:clrMapOvr>
  <p:transition spd="med"/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83" name="Group"/>
          <p:cNvGrpSpPr/>
          <p:nvPr/>
        </p:nvGrpSpPr>
        <p:grpSpPr>
          <a:xfrm>
            <a:off x="3458329" y="5355127"/>
            <a:ext cx="17958258" cy="7700977"/>
            <a:chOff x="0" y="0"/>
            <a:chExt cx="17958257" cy="7700975"/>
          </a:xfrm>
        </p:grpSpPr>
        <p:sp>
          <p:nvSpPr>
            <p:cNvPr id="880" name="word-word (term-context) co-occurrence matrix"/>
            <p:cNvSpPr txBox="1"/>
            <p:nvPr/>
          </p:nvSpPr>
          <p:spPr>
            <a:xfrm>
              <a:off x="2349163" y="1642804"/>
              <a:ext cx="15609095" cy="243916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lvl="2" indent="889000" algn="l">
                <a:spcBef>
                  <a:spcPts val="1400"/>
                </a:spcBef>
                <a:defRPr sz="3800">
                  <a:solidFill>
                    <a:schemeClr val="accent1">
                      <a:lumOff val="-13575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word-word (term-context) co-occurrence matrix </a:t>
              </a:r>
            </a:p>
            <a:p>
              <a:pPr lvl="1" indent="444500" algn="l">
                <a:spcBef>
                  <a:spcPts val="1400"/>
                </a:spcBef>
                <a:defRPr sz="3800">
                  <a:latin typeface="Georgia"/>
                  <a:ea typeface="Georgia"/>
                  <a:cs typeface="Georgia"/>
                  <a:sym typeface="Georgia"/>
                </a:defRPr>
              </a:pPr>
              <a:endParaRPr/>
            </a:p>
          </p:txBody>
        </p:sp>
        <p:sp>
          <p:nvSpPr>
            <p:cNvPr id="881" name="Our first solution: use context vectors to represent the meaning of words"/>
            <p:cNvSpPr txBox="1"/>
            <p:nvPr/>
          </p:nvSpPr>
          <p:spPr>
            <a:xfrm>
              <a:off x="0" y="0"/>
              <a:ext cx="15609094" cy="179509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marL="1416843" lvl="2" indent="-527843" algn="l">
                <a:spcBef>
                  <a:spcPts val="1400"/>
                </a:spcBef>
                <a:buSzPct val="145000"/>
                <a:buChar char="•"/>
                <a:defRPr>
                  <a:latin typeface="Georgia"/>
                  <a:ea typeface="Georgia"/>
                  <a:cs typeface="Georgia"/>
                  <a:sym typeface="Georgia"/>
                </a:defRPr>
              </a:pPr>
              <a:r>
                <a:t>Our first solution: use context vectors to represent the meaning of words</a:t>
              </a:r>
            </a:p>
          </p:txBody>
        </p:sp>
        <p:pic>
          <p:nvPicPr>
            <p:cNvPr id="882" name="Screen Shot 2019-09-26 at 9.01.26 AM.png" descr="Screen Shot 2019-09-26 at 9.01.26 AM.png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476023" y="4161690"/>
              <a:ext cx="14906782" cy="353928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884" name="Representing words as vectors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607345"/>
          </a:xfrm>
          <a:prstGeom prst="rect">
            <a:avLst/>
          </a:prstGeom>
        </p:spPr>
        <p:txBody>
          <a:bodyPr/>
          <a:lstStyle/>
          <a:p>
            <a:r>
              <a:t>Representing words as vectors</a:t>
            </a:r>
          </a:p>
        </p:txBody>
      </p:sp>
      <p:sp>
        <p:nvSpPr>
          <p:cNvPr id="885" name="What we are aiming for:…"/>
          <p:cNvSpPr txBox="1">
            <a:spLocks noGrp="1"/>
          </p:cNvSpPr>
          <p:nvPr>
            <p:ph type="body" sz="quarter" idx="1"/>
          </p:nvPr>
        </p:nvSpPr>
        <p:spPr>
          <a:xfrm>
            <a:off x="4002670" y="2569117"/>
            <a:ext cx="15609094" cy="2926747"/>
          </a:xfrm>
          <a:prstGeom prst="rect">
            <a:avLst/>
          </a:prstGeom>
        </p:spPr>
        <p:txBody>
          <a:bodyPr/>
          <a:lstStyle/>
          <a:p>
            <a:pPr marL="972343" lvl="1" indent="-527843">
              <a:defRPr sz="4400"/>
            </a:pPr>
            <a:r>
              <a:t>What we are aiming for:</a:t>
            </a:r>
          </a:p>
          <a:p>
            <a:pPr marL="1416843" lvl="2" indent="-527843">
              <a:defRPr sz="4400"/>
            </a:pPr>
            <a:r>
              <a:t>Each word is a vector</a:t>
            </a:r>
          </a:p>
          <a:p>
            <a:pPr marL="1416843" lvl="2" indent="-527843">
              <a:defRPr sz="4400"/>
            </a:pPr>
            <a:r>
              <a:t>Similar words are “nearby in space”</a:t>
            </a:r>
          </a:p>
        </p:txBody>
      </p:sp>
      <p:pic>
        <p:nvPicPr>
          <p:cNvPr id="88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7387" y="7948346"/>
            <a:ext cx="15956320" cy="1904938"/>
          </a:xfrm>
          <a:prstGeom prst="rect">
            <a:avLst/>
          </a:prstGeom>
          <a:ln w="12700">
            <a:miter lim="400000"/>
          </a:ln>
        </p:spPr>
      </p:pic>
      <p:sp>
        <p:nvSpPr>
          <p:cNvPr id="887" name="Example from: Dan Jurafsky"/>
          <p:cNvSpPr txBox="1"/>
          <p:nvPr/>
        </p:nvSpPr>
        <p:spPr>
          <a:xfrm>
            <a:off x="18161017" y="12443015"/>
            <a:ext cx="5625346" cy="10779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813315">
              <a:spcBef>
                <a:spcPts val="1300"/>
              </a:spcBef>
              <a:defRPr sz="3366">
                <a:solidFill>
                  <a:srgbClr val="929292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Example from: Dan Jurafsky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3" grpId="0" animBg="1" advAuto="0"/>
      <p:bldP spid="886" grpId="0" animBg="1" advAuto="0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9" name="Exampl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Example</a:t>
            </a:r>
          </a:p>
        </p:txBody>
      </p:sp>
      <p:sp>
        <p:nvSpPr>
          <p:cNvPr id="890" name="Which pair of words is more similar?…"/>
          <p:cNvSpPr txBox="1">
            <a:spLocks noGrp="1"/>
          </p:cNvSpPr>
          <p:nvPr>
            <p:ph type="body" sz="half" idx="1"/>
          </p:nvPr>
        </p:nvSpPr>
        <p:spPr>
          <a:xfrm>
            <a:off x="1716881" y="6463109"/>
            <a:ext cx="10470555" cy="6502736"/>
          </a:xfrm>
          <a:prstGeom prst="rect">
            <a:avLst/>
          </a:prstGeom>
        </p:spPr>
        <p:txBody>
          <a:bodyPr>
            <a:normAutofit fontScale="25000" lnSpcReduction="20000"/>
          </a:bodyPr>
          <a:lstStyle/>
          <a:p>
            <a:pPr marL="0" indent="0" defTabSz="457200">
              <a:lnSpc>
                <a:spcPts val="6700"/>
              </a:lnSpc>
              <a:spcBef>
                <a:spcPts val="0"/>
              </a:spcBef>
              <a:buSzTx/>
              <a:buNone/>
              <a:defRPr sz="4400" b="1">
                <a:latin typeface="Calibri"/>
                <a:ea typeface="Calibri"/>
                <a:cs typeface="Calibri"/>
                <a:sym typeface="Calibri"/>
              </a:defRPr>
            </a:pPr>
            <a:r>
              <a:t>Which pair of words is more similar?</a:t>
            </a:r>
          </a:p>
          <a:p>
            <a:pPr marL="0" indent="0" defTabSz="457200">
              <a:lnSpc>
                <a:spcPts val="6700"/>
              </a:lnSpc>
              <a:spcBef>
                <a:spcPts val="5000"/>
              </a:spcBef>
              <a:buSzTx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pPr>
            <a:r>
              <a:t>cos(apricot, information) = </a:t>
            </a:r>
          </a:p>
          <a:p>
            <a:pPr marL="0" indent="0" defTabSz="457200">
              <a:lnSpc>
                <a:spcPts val="6700"/>
              </a:lnSpc>
              <a:spcBef>
                <a:spcPts val="10900"/>
              </a:spcBef>
              <a:buSzTx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pPr>
            <a:r>
              <a:t>cos(digital, information) =</a:t>
            </a:r>
          </a:p>
          <a:p>
            <a:pPr marL="0" indent="0" defTabSz="457200">
              <a:lnSpc>
                <a:spcPts val="6700"/>
              </a:lnSpc>
              <a:spcBef>
                <a:spcPts val="10900"/>
              </a:spcBef>
              <a:buSzTx/>
              <a:buNone/>
              <a:defRPr sz="4400">
                <a:latin typeface="Calibri"/>
                <a:ea typeface="Calibri"/>
                <a:cs typeface="Calibri"/>
                <a:sym typeface="Calibri"/>
              </a:defRPr>
            </a:pPr>
            <a:r>
              <a:t>cos(apricot, digital) =</a:t>
            </a:r>
          </a:p>
        </p:txBody>
      </p:sp>
      <p:graphicFrame>
        <p:nvGraphicFramePr>
          <p:cNvPr id="891" name="Table 1"/>
          <p:cNvGraphicFramePr/>
          <p:nvPr/>
        </p:nvGraphicFramePr>
        <p:xfrm>
          <a:off x="13557250" y="3040639"/>
          <a:ext cx="5929115" cy="2774489"/>
        </p:xfrm>
        <a:graphic>
          <a:graphicData uri="http://schemas.openxmlformats.org/drawingml/2006/table">
            <a:tbl>
              <a:tblPr bandRow="1">
                <a:tableStyleId>{4C3C2611-4C71-4FC5-86AE-919BDF0F9419}</a:tableStyleId>
              </a:tblPr>
              <a:tblGrid>
                <a:gridCol w="20075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020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5531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6419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93622">
                <a:tc>
                  <a:txBody>
                    <a:bodyPr/>
                    <a:lstStyle/>
                    <a:p>
                      <a:pPr defTabSz="914400">
                        <a:defRPr sz="3000"/>
                      </a:pPr>
                      <a:endParaRPr/>
                    </a:p>
                  </a:txBody>
                  <a:tcPr marL="121920" marR="121920" marT="60960" marB="60960" horzOverflow="overflow"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666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large</a:t>
                      </a:r>
                    </a:p>
                  </a:txBody>
                  <a:tcPr marL="121920" marR="121920" marT="60960" marB="60960" horzOverflow="overflow"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666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data</a:t>
                      </a:r>
                    </a:p>
                  </a:txBody>
                  <a:tcPr marL="121920" marR="121920" marT="60960" marB="60960" horzOverflow="overflow">
                    <a:solidFill>
                      <a:srgbClr val="E48312"/>
                    </a:solidFill>
                  </a:tcPr>
                </a:tc>
                <a:tc>
                  <a:txBody>
                    <a:bodyPr/>
                    <a:lstStyle/>
                    <a:p>
                      <a:pPr algn="l" defTabSz="457200"/>
                      <a:r>
                        <a:rPr sz="2666" b="1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computer</a:t>
                      </a:r>
                    </a:p>
                  </a:txBody>
                  <a:tcPr marL="121920" marR="121920" marT="60960" marB="60960" horzOverflow="overflow">
                    <a:solidFill>
                      <a:srgbClr val="E4831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3622">
                <a:tc>
                  <a:txBody>
                    <a:bodyPr/>
                    <a:lstStyle/>
                    <a:p>
                      <a:pPr algn="l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apricot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3622">
                <a:tc>
                  <a:txBody>
                    <a:bodyPr/>
                    <a:lstStyle/>
                    <a:p>
                      <a:pPr algn="l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digital</a:t>
                      </a:r>
                    </a:p>
                  </a:txBody>
                  <a:tcPr marL="121920" marR="121920" marT="60960" marB="60960" horzOverflow="overflow"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</a:p>
                  </a:txBody>
                  <a:tcPr marL="121920" marR="121920" marT="60960" marB="60960" horzOverflow="overflow"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121920" marR="121920" marT="60960" marB="60960" horzOverflow="overflow">
                    <a:solidFill>
                      <a:srgbClr val="FAEDE7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</a:p>
                  </a:txBody>
                  <a:tcPr marL="121920" marR="121920" marT="60960" marB="60960" horzOverflow="overflow">
                    <a:solidFill>
                      <a:srgbClr val="FAEDE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3622">
                <a:tc>
                  <a:txBody>
                    <a:bodyPr/>
                    <a:lstStyle/>
                    <a:p>
                      <a:pPr algn="l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information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tc>
                  <a:txBody>
                    <a:bodyPr/>
                    <a:lstStyle/>
                    <a:p>
                      <a:pPr algn="r" defTabSz="457200"/>
                      <a:r>
                        <a:rPr sz="2666"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</a:p>
                  </a:txBody>
                  <a:tcPr marL="121920" marR="121920" marT="60960" marB="60960" horzOverflow="overflow">
                    <a:solidFill>
                      <a:srgbClr val="F5D9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89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2252" y="3228707"/>
            <a:ext cx="9853347" cy="2283093"/>
          </a:xfrm>
          <a:prstGeom prst="rect">
            <a:avLst/>
          </a:prstGeom>
          <a:ln w="12700">
            <a:miter lim="400000"/>
          </a:ln>
        </p:spPr>
      </p:pic>
      <p:pic>
        <p:nvPicPr>
          <p:cNvPr id="89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05800" y="7278585"/>
            <a:ext cx="7944621" cy="1605828"/>
          </a:xfrm>
          <a:prstGeom prst="rect">
            <a:avLst/>
          </a:prstGeom>
          <a:ln w="12700">
            <a:miter lim="400000"/>
          </a:ln>
        </p:spPr>
      </p:pic>
      <p:pic>
        <p:nvPicPr>
          <p:cNvPr id="89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95352" y="9223073"/>
            <a:ext cx="8049351" cy="1571928"/>
          </a:xfrm>
          <a:prstGeom prst="rect">
            <a:avLst/>
          </a:prstGeom>
          <a:ln w="12700">
            <a:miter lim="400000"/>
          </a:ln>
        </p:spPr>
      </p:pic>
      <p:pic>
        <p:nvPicPr>
          <p:cNvPr id="89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61450" y="11363786"/>
            <a:ext cx="6207779" cy="1571927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896" name="Q: What is the range of  ?"/>
              <p:cNvSpPr txBox="1"/>
              <p:nvPr/>
            </p:nvSpPr>
            <p:spPr>
              <a:xfrm>
                <a:off x="1005135" y="1510380"/>
                <a:ext cx="7714076" cy="116387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algn="r">
                  <a:spcBef>
                    <a:spcPts val="1400"/>
                  </a:spcBef>
                  <a:defRPr sz="4200">
                    <a:solidFill>
                      <a:srgbClr val="941100"/>
                    </a:solidFill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rPr>
                  <a:t>Q: What</a:t>
                </a:r>
                <a:r>
                  <a:t> </a:t>
                </a:r>
                <a:r>
                  <a: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rPr>
                  <a:t>is the range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sz="4700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sz="4700" i="1">
                        <a:solidFill>
                          <a:srgbClr val="ED220B"/>
                        </a:solidFill>
                        <a:latin typeface="Cambria Math" panose="02040503050406030204" pitchFamily="18" charset="0"/>
                      </a:rPr>
                      <m:t>(⋅)</m:t>
                    </m:r>
                  </m:oMath>
                </a14:m>
                <a:r>
                  <a:rPr>
                    <a:solidFill>
                      <a:schemeClr val="accent5">
                        <a:hueOff val="-82419"/>
                        <a:satOff val="-9513"/>
                        <a:lumOff val="-16343"/>
                      </a:schemeClr>
                    </a:solidFill>
                  </a:rPr>
                  <a:t>?</a:t>
                </a:r>
                <a:endParaRPr>
                  <a:solidFill>
                    <a:srgbClr val="EE220C"/>
                  </a:solidFill>
                </a:endParaRPr>
              </a:p>
            </p:txBody>
          </p:sp>
        </mc:Choice>
        <mc:Fallback>
          <p:sp>
            <p:nvSpPr>
              <p:cNvPr id="896" name="Q: What is the range of  ?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05135" y="1510380"/>
                <a:ext cx="7714076" cy="1163874"/>
              </a:xfrm>
              <a:prstGeom prst="rect">
                <a:avLst/>
              </a:prstGeom>
              <a:blipFill>
                <a:blip r:embed="rId6"/>
                <a:stretch>
                  <a:fillRect r="-3320" b="-680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" fill="hold"/>
                                        <p:tgtEl>
                                          <p:spTgt spid="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3" grpId="0" animBg="1" advAuto="0"/>
      <p:bldP spid="894" grpId="0" animBg="1" advAuto="0"/>
      <p:bldP spid="895" grpId="0" animBg="1" advAuto="0"/>
      <p:bldP spid="896" grpId="0" animBg="1" advAuto="0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8" name="Problem with raw frequenc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with raw frequencies</a:t>
            </a:r>
          </a:p>
        </p:txBody>
      </p:sp>
      <p:sp>
        <p:nvSpPr>
          <p:cNvPr id="899" name="Problem: using raw frequency counts is not always very good..…"/>
          <p:cNvSpPr txBox="1">
            <a:spLocks noGrp="1"/>
          </p:cNvSpPr>
          <p:nvPr>
            <p:ph type="body" idx="1"/>
          </p:nvPr>
        </p:nvSpPr>
        <p:spPr>
          <a:xfrm>
            <a:off x="3757977" y="2701656"/>
            <a:ext cx="16346958" cy="8696611"/>
          </a:xfrm>
          <a:prstGeom prst="rect">
            <a:avLst/>
          </a:prstGeom>
        </p:spPr>
        <p:txBody>
          <a:bodyPr/>
          <a:lstStyle/>
          <a:p>
            <a:pPr marL="0" lvl="2" indent="0">
              <a:buSzTx/>
              <a:buNone/>
              <a:defRPr sz="4400"/>
            </a:pPr>
            <a:r>
              <a:rPr b="1"/>
              <a:t>Problem</a:t>
            </a:r>
            <a:r>
              <a:t>: using raw frequency counts is not always very good..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if sugar appears a lot near apricot, that's useful information.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But overly frequent words like </a:t>
            </a:r>
            <a:r>
              <a:rPr i="1"/>
              <a:t>the</a:t>
            </a:r>
            <a:r>
              <a:t>, </a:t>
            </a:r>
            <a:r>
              <a:rPr i="1"/>
              <a:t>it</a:t>
            </a:r>
            <a:r>
              <a:t>, or </a:t>
            </a:r>
            <a:r>
              <a:rPr i="1"/>
              <a:t>they</a:t>
            </a:r>
            <a:r>
              <a:t> are not very informative about the context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0" lvl="2" indent="0">
              <a:buSzTx/>
              <a:buNone/>
              <a:defRPr sz="4400"/>
            </a:pP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0" lvl="2" indent="0">
              <a:buSzTx/>
              <a:buNone/>
              <a:defRPr sz="4400"/>
            </a:pPr>
            <a:r>
              <a:rPr b="1"/>
              <a:t>Solution</a:t>
            </a:r>
            <a:r>
              <a:t>: let’s weight the counts! </a:t>
            </a:r>
          </a:p>
          <a:p>
            <a:pPr marL="1861343" lvl="3" indent="-527843">
              <a:defRPr sz="4400"/>
            </a:pPr>
            <a:r>
              <a:t>TF-IDF = Traditional method used in document retrieval  </a:t>
            </a:r>
          </a:p>
          <a:p>
            <a:pPr marL="1861343" lvl="3" indent="-527843">
              <a:defRPr sz="4400"/>
            </a:pPr>
            <a:r>
              <a:t>PPMI = Positive Pointwise Mutual Information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899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89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89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89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89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89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89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89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99" grpId="0" build="p" bldLvl="5" animBg="1" advAuto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1" name="Problem with raw frequenc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with raw frequencies</a:t>
            </a:r>
          </a:p>
        </p:txBody>
      </p:sp>
      <p:sp>
        <p:nvSpPr>
          <p:cNvPr id="902" name="Problem: using raw frequency counts is not always very good..…"/>
          <p:cNvSpPr txBox="1">
            <a:spLocks noGrp="1"/>
          </p:cNvSpPr>
          <p:nvPr>
            <p:ph type="body" idx="1"/>
          </p:nvPr>
        </p:nvSpPr>
        <p:spPr>
          <a:xfrm>
            <a:off x="3757977" y="2701656"/>
            <a:ext cx="16346958" cy="8696611"/>
          </a:xfrm>
          <a:prstGeom prst="rect">
            <a:avLst/>
          </a:prstGeom>
        </p:spPr>
        <p:txBody>
          <a:bodyPr/>
          <a:lstStyle/>
          <a:p>
            <a:pPr marL="0" lvl="2" indent="0">
              <a:buSzTx/>
              <a:buNone/>
              <a:defRPr sz="4400"/>
            </a:pPr>
            <a:r>
              <a:rPr b="1"/>
              <a:t>Problem</a:t>
            </a:r>
            <a:r>
              <a:t>: using raw frequency counts is not always very good..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if sugar appears a lot near apricot, that's useful information.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But overly frequent words like </a:t>
            </a:r>
            <a:r>
              <a:rPr i="1"/>
              <a:t>the</a:t>
            </a:r>
            <a:r>
              <a:t>, </a:t>
            </a:r>
            <a:r>
              <a:rPr i="1"/>
              <a:t>it</a:t>
            </a:r>
            <a:r>
              <a:t>, or </a:t>
            </a:r>
            <a:r>
              <a:rPr i="1"/>
              <a:t>they</a:t>
            </a:r>
            <a:r>
              <a:t> are not very informative about the context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0" lvl="2" indent="0">
              <a:buSzTx/>
              <a:buNone/>
              <a:defRPr sz="4400"/>
            </a:pP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0" lvl="2" indent="0">
              <a:buSzTx/>
              <a:buNone/>
              <a:defRPr sz="4400"/>
            </a:pPr>
            <a:r>
              <a:rPr b="1"/>
              <a:t>Solution</a:t>
            </a:r>
            <a:r>
              <a:t>: let’s weight the counts! </a:t>
            </a:r>
          </a:p>
          <a:p>
            <a:pPr marL="1861343" lvl="3" indent="-527843">
              <a:defRPr sz="4400">
                <a:solidFill>
                  <a:schemeClr val="accent1">
                    <a:lumOff val="-13575"/>
                  </a:schemeClr>
                </a:solidFill>
              </a:defRPr>
            </a:pPr>
            <a:r>
              <a:t>TF-IDF = Traditional method used in document retrieval  </a:t>
            </a:r>
          </a:p>
          <a:p>
            <a:pPr marL="1861343" lvl="3" indent="-527843">
              <a:defRPr sz="4400"/>
            </a:pPr>
            <a:r>
              <a:t>PPMI = Positive Pointwise Mutual Information</a:t>
            </a:r>
          </a:p>
        </p:txBody>
      </p:sp>
    </p:spTree>
  </p:cSld>
  <p:clrMapOvr>
    <a:masterClrMapping/>
  </p:clrMapOvr>
  <p:transition spd="med"/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30" y="4849558"/>
            <a:ext cx="15897340" cy="2682500"/>
          </a:xfrm>
          <a:prstGeom prst="rect">
            <a:avLst/>
          </a:prstGeom>
          <a:ln w="12700">
            <a:miter lim="400000"/>
          </a:ln>
        </p:spPr>
      </p:pic>
      <p:sp>
        <p:nvSpPr>
          <p:cNvPr id="905" name="Tf-id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Tf-idf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06" name="Term-document matrix…"/>
              <p:cNvSpPr txBox="1"/>
              <p:nvPr/>
            </p:nvSpPr>
            <p:spPr>
              <a:xfrm>
                <a:off x="5530710" y="2940616"/>
                <a:ext cx="14089867" cy="155175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 defTabSz="457200">
                  <a:lnSpc>
                    <a:spcPts val="6600"/>
                  </a:lnSpc>
                  <a:defRPr sz="4600"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                        </a:t>
                </a:r>
                <a:r>
                  <a:rPr b="1"/>
                  <a:t> Term-document matrix</a:t>
                </a:r>
              </a:p>
              <a:p>
                <a:pPr algn="l" defTabSz="457200">
                  <a:lnSpc>
                    <a:spcPts val="6600"/>
                  </a:lnSpc>
                  <a:defRPr sz="4600"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count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= count of times term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 occurred in document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906" name="Term-document matrix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710" y="2940616"/>
                <a:ext cx="14089867" cy="1551751"/>
              </a:xfrm>
              <a:prstGeom prst="rect">
                <a:avLst/>
              </a:prstGeom>
              <a:blipFill>
                <a:blip r:embed="rId3"/>
                <a:stretch>
                  <a:fillRect t="-8235" r="-3028" b="-2509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07" name="Documents are represented by the column vectors"/>
          <p:cNvSpPr txBox="1"/>
          <p:nvPr/>
        </p:nvSpPr>
        <p:spPr>
          <a:xfrm>
            <a:off x="5837947" y="7888931"/>
            <a:ext cx="13475393" cy="146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38968" indent="-638968" algn="l" defTabSz="457200">
              <a:lnSpc>
                <a:spcPts val="6600"/>
              </a:lnSpc>
              <a:buSzPct val="80000"/>
              <a:buChar char="•"/>
              <a:defRPr sz="4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Documents</a:t>
            </a:r>
            <a:r>
              <a:t> are represented by the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column</a:t>
            </a:r>
            <a:r>
              <a:t> vectors</a:t>
            </a:r>
          </a:p>
        </p:txBody>
      </p:sp>
      <p:grpSp>
        <p:nvGrpSpPr>
          <p:cNvPr id="912" name="Group"/>
          <p:cNvGrpSpPr/>
          <p:nvPr/>
        </p:nvGrpSpPr>
        <p:grpSpPr>
          <a:xfrm>
            <a:off x="7326085" y="5534502"/>
            <a:ext cx="11444995" cy="1997556"/>
            <a:chOff x="0" y="0"/>
            <a:chExt cx="11444993" cy="1997554"/>
          </a:xfrm>
        </p:grpSpPr>
        <p:sp>
          <p:nvSpPr>
            <p:cNvPr id="908" name="Rounded Rectangle"/>
            <p:cNvSpPr/>
            <p:nvPr/>
          </p:nvSpPr>
          <p:spPr>
            <a:xfrm>
              <a:off x="0" y="0"/>
              <a:ext cx="884257" cy="1997555"/>
            </a:xfrm>
            <a:prstGeom prst="roundRect">
              <a:avLst>
                <a:gd name="adj" fmla="val 21544"/>
              </a:avLst>
            </a:prstGeom>
            <a:noFill/>
            <a:ln w="762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09" name="Rounded Rectangle"/>
            <p:cNvSpPr/>
            <p:nvPr/>
          </p:nvSpPr>
          <p:spPr>
            <a:xfrm>
              <a:off x="3713343" y="0"/>
              <a:ext cx="884258" cy="1997555"/>
            </a:xfrm>
            <a:prstGeom prst="roundRect">
              <a:avLst>
                <a:gd name="adj" fmla="val 21544"/>
              </a:avLst>
            </a:prstGeom>
            <a:noFill/>
            <a:ln w="762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10" name="Rounded Rectangle"/>
            <p:cNvSpPr/>
            <p:nvPr/>
          </p:nvSpPr>
          <p:spPr>
            <a:xfrm>
              <a:off x="10560736" y="0"/>
              <a:ext cx="884258" cy="1997555"/>
            </a:xfrm>
            <a:prstGeom prst="roundRect">
              <a:avLst>
                <a:gd name="adj" fmla="val 21544"/>
              </a:avLst>
            </a:prstGeom>
            <a:noFill/>
            <a:ln w="762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11" name="Rounded Rectangle"/>
            <p:cNvSpPr/>
            <p:nvPr/>
          </p:nvSpPr>
          <p:spPr>
            <a:xfrm>
              <a:off x="7401287" y="0"/>
              <a:ext cx="884258" cy="1997555"/>
            </a:xfrm>
            <a:prstGeom prst="roundRect">
              <a:avLst>
                <a:gd name="adj" fmla="val 21544"/>
              </a:avLst>
            </a:prstGeom>
            <a:noFill/>
            <a:ln w="762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7" grpId="0" animBg="1" advAuto="0"/>
      <p:bldP spid="912" grpId="0" animBg="1" advAuto="0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1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30" y="4849558"/>
            <a:ext cx="15897340" cy="2682500"/>
          </a:xfrm>
          <a:prstGeom prst="rect">
            <a:avLst/>
          </a:prstGeom>
          <a:ln w="12700">
            <a:miter lim="400000"/>
          </a:ln>
        </p:spPr>
      </p:pic>
      <p:sp>
        <p:nvSpPr>
          <p:cNvPr id="915" name="Tf-id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Tf-idf 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16" name="Term-document matrix…"/>
              <p:cNvSpPr txBox="1"/>
              <p:nvPr/>
            </p:nvSpPr>
            <p:spPr>
              <a:xfrm>
                <a:off x="5530710" y="2940616"/>
                <a:ext cx="14089867" cy="1551751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 defTabSz="457200">
                  <a:lnSpc>
                    <a:spcPts val="6600"/>
                  </a:lnSpc>
                  <a:defRPr sz="4600"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                        </a:t>
                </a:r>
                <a:r>
                  <a:rPr b="1"/>
                  <a:t> Term-document matrix</a:t>
                </a:r>
              </a:p>
              <a:p>
                <a:pPr algn="l" defTabSz="457200">
                  <a:lnSpc>
                    <a:spcPts val="6600"/>
                  </a:lnSpc>
                  <a:defRPr sz="4600"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14:m>
                  <m:oMath xmlns:m="http://schemas.openxmlformats.org/officeDocument/2006/math">
                    <m:r>
                      <m:rPr>
                        <m:nor/>
                      </m:rP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count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= count of times term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t> occurred in document </a:t>
                </a:r>
                <a14:m>
                  <m:oMath xmlns:m="http://schemas.openxmlformats.org/officeDocument/2006/math">
                    <m:r>
                      <a:rPr sz="49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916" name="Term-document matrix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30710" y="2940616"/>
                <a:ext cx="14089867" cy="1551751"/>
              </a:xfrm>
              <a:prstGeom prst="rect">
                <a:avLst/>
              </a:prstGeom>
              <a:blipFill>
                <a:blip r:embed="rId3"/>
                <a:stretch>
                  <a:fillRect l="-1990" t="-8235" r="-3028" b="-2509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17" name="Documents are represented by the column vectors…"/>
          <p:cNvSpPr txBox="1"/>
          <p:nvPr/>
        </p:nvSpPr>
        <p:spPr>
          <a:xfrm>
            <a:off x="5837947" y="7888931"/>
            <a:ext cx="13475393" cy="14617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marL="638968" indent="-638968" algn="l" defTabSz="457200">
              <a:lnSpc>
                <a:spcPts val="6600"/>
              </a:lnSpc>
              <a:buSzPct val="80000"/>
              <a:buChar char="•"/>
              <a:defRPr sz="4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rgbClr val="000000"/>
                </a:solidFill>
              </a:rPr>
              <a:t>Documents</a:t>
            </a:r>
            <a:r>
              <a:t> are represented by the </a:t>
            </a:r>
            <a:r>
              <a:rPr>
                <a:solidFill>
                  <a:srgbClr val="000000"/>
                </a:solidFill>
              </a:rPr>
              <a:t>column</a:t>
            </a:r>
            <a:r>
              <a:t> vectors</a:t>
            </a:r>
          </a:p>
          <a:p>
            <a:pPr marL="638968" indent="-638968" algn="l" defTabSz="457200">
              <a:lnSpc>
                <a:spcPts val="6600"/>
              </a:lnSpc>
              <a:buSzPct val="80000"/>
              <a:buChar char="•"/>
              <a:defRPr sz="4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>
                <a:solidFill>
                  <a:schemeClr val="accent1">
                    <a:lumOff val="-13575"/>
                  </a:schemeClr>
                </a:solidFill>
              </a:rPr>
              <a:t>Words</a:t>
            </a:r>
            <a:r>
              <a:t> are represented by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row</a:t>
            </a:r>
            <a:r>
              <a:t> vectors</a:t>
            </a:r>
          </a:p>
        </p:txBody>
      </p:sp>
      <p:grpSp>
        <p:nvGrpSpPr>
          <p:cNvPr id="922" name="Group"/>
          <p:cNvGrpSpPr/>
          <p:nvPr/>
        </p:nvGrpSpPr>
        <p:grpSpPr>
          <a:xfrm>
            <a:off x="7213302" y="5492778"/>
            <a:ext cx="11623506" cy="2071911"/>
            <a:chOff x="0" y="0"/>
            <a:chExt cx="11623505" cy="2071910"/>
          </a:xfrm>
        </p:grpSpPr>
        <p:sp>
          <p:nvSpPr>
            <p:cNvPr id="918" name="Rounded Rectangle"/>
            <p:cNvSpPr/>
            <p:nvPr/>
          </p:nvSpPr>
          <p:spPr>
            <a:xfrm>
              <a:off x="810" y="0"/>
              <a:ext cx="11621885" cy="480676"/>
            </a:xfrm>
            <a:prstGeom prst="roundRect">
              <a:avLst>
                <a:gd name="adj" fmla="val 40588"/>
              </a:avLst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19" name="Rounded Rectangle"/>
            <p:cNvSpPr/>
            <p:nvPr/>
          </p:nvSpPr>
          <p:spPr>
            <a:xfrm>
              <a:off x="0" y="491785"/>
              <a:ext cx="11623506" cy="483386"/>
            </a:xfrm>
            <a:prstGeom prst="roundRect">
              <a:avLst>
                <a:gd name="adj" fmla="val 40360"/>
              </a:avLst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20" name="Rounded Rectangle"/>
            <p:cNvSpPr/>
            <p:nvPr/>
          </p:nvSpPr>
          <p:spPr>
            <a:xfrm>
              <a:off x="26173" y="1002390"/>
              <a:ext cx="11571159" cy="572651"/>
            </a:xfrm>
            <a:prstGeom prst="roundRect">
              <a:avLst>
                <a:gd name="adj" fmla="val 34069"/>
              </a:avLst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21" name="Rounded Rectangle"/>
            <p:cNvSpPr/>
            <p:nvPr/>
          </p:nvSpPr>
          <p:spPr>
            <a:xfrm>
              <a:off x="810" y="1591234"/>
              <a:ext cx="11621885" cy="480677"/>
            </a:xfrm>
            <a:prstGeom prst="roundRect">
              <a:avLst>
                <a:gd name="adj" fmla="val 40588"/>
              </a:avLst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923" name="Tf-idf: re-weighing scheme for information retrieval…"/>
          <p:cNvSpPr txBox="1"/>
          <p:nvPr/>
        </p:nvSpPr>
        <p:spPr>
          <a:xfrm>
            <a:off x="5584983" y="10736567"/>
            <a:ext cx="12895747" cy="14094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457200">
              <a:lnSpc>
                <a:spcPts val="6600"/>
              </a:lnSpc>
              <a:defRPr sz="4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Tf-idf: re-weighing scheme for information retrieval</a:t>
            </a:r>
          </a:p>
          <a:p>
            <a:pPr marL="638968" indent="-638968" algn="l" defTabSz="457200">
              <a:lnSpc>
                <a:spcPts val="6100"/>
              </a:lnSpc>
              <a:buSzPct val="80000"/>
              <a:buChar char="•"/>
              <a:defRPr sz="42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Down-weighs frequent words such as </a:t>
            </a:r>
            <a:r>
              <a:rPr i="1"/>
              <a:t>this</a:t>
            </a:r>
            <a:r>
              <a:t>, </a:t>
            </a:r>
            <a:r>
              <a:rPr i="1"/>
              <a:t>that</a:t>
            </a:r>
            <a:r>
              <a:t>, </a:t>
            </a:r>
            <a:r>
              <a:rPr i="1"/>
              <a:t>the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3" grpId="0" animBg="1" advAuto="0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5" name="Tf-idf combine two fa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Tf-idf combine two factors</a:t>
            </a:r>
          </a:p>
        </p:txBody>
      </p:sp>
      <p:grpSp>
        <p:nvGrpSpPr>
          <p:cNvPr id="928" name="Group"/>
          <p:cNvGrpSpPr/>
          <p:nvPr/>
        </p:nvGrpSpPr>
        <p:grpSpPr>
          <a:xfrm>
            <a:off x="3802138" y="3087391"/>
            <a:ext cx="15109441" cy="2571037"/>
            <a:chOff x="0" y="0"/>
            <a:chExt cx="15109440" cy="2571035"/>
          </a:xfrm>
        </p:grpSpPr>
        <p:sp>
          <p:nvSpPr>
            <p:cNvPr id="926" name="tf: term frequency. frequency count (usually log-transformed):"/>
            <p:cNvSpPr txBox="1"/>
            <p:nvPr/>
          </p:nvSpPr>
          <p:spPr>
            <a:xfrm>
              <a:off x="0" y="0"/>
              <a:ext cx="15109441" cy="73784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 algn="l" defTabSz="457200">
                <a:lnSpc>
                  <a:spcPts val="6600"/>
                </a:lnSpc>
                <a:defRPr sz="4600">
                  <a:latin typeface="Calibri"/>
                  <a:ea typeface="Calibri"/>
                  <a:cs typeface="Calibri"/>
                  <a:sym typeface="Calibri"/>
                </a:defRPr>
              </a:pPr>
              <a:r>
                <a:t> </a:t>
              </a:r>
              <a:r>
                <a:rPr b="1"/>
                <a:t>tf: term frequency</a:t>
              </a:r>
              <a:r>
                <a:t>. frequency count (usually log-transformed):</a:t>
              </a:r>
            </a:p>
          </p:txBody>
        </p:sp>
        <p:pic>
          <p:nvPicPr>
            <p:cNvPr id="927" name="Image" descr="Image"/>
            <p:cNvPicPr>
              <a:picLocks noChangeAspect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>
            <a:xfrm>
              <a:off x="1828345" y="539035"/>
              <a:ext cx="12577892" cy="2032001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929" name="Words like “the” or “it” will have very low idf"/>
          <p:cNvSpPr txBox="1"/>
          <p:nvPr/>
        </p:nvSpPr>
        <p:spPr>
          <a:xfrm>
            <a:off x="313368" y="9297075"/>
            <a:ext cx="11132121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1400"/>
              </a:spcBef>
              <a:defRPr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Words like “the” or “it” will have very low idf</a:t>
            </a:r>
          </a:p>
        </p:txBody>
      </p:sp>
      <p:grpSp>
        <p:nvGrpSpPr>
          <p:cNvPr id="932" name="Group"/>
          <p:cNvGrpSpPr/>
          <p:nvPr/>
        </p:nvGrpSpPr>
        <p:grpSpPr>
          <a:xfrm>
            <a:off x="6724905" y="10955339"/>
            <a:ext cx="8726511" cy="1925170"/>
            <a:chOff x="0" y="388937"/>
            <a:chExt cx="8726509" cy="1925168"/>
          </a:xfrm>
        </p:grpSpPr>
        <p:pic>
          <p:nvPicPr>
            <p:cNvPr id="930" name="Image" descr="Image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207678" y="993609"/>
              <a:ext cx="6518832" cy="1320497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1" name="tf-idf value for word t in document d"/>
            <p:cNvSpPr/>
            <p:nvPr/>
          </p:nvSpPr>
          <p:spPr>
            <a:xfrm>
              <a:off x="0" y="388937"/>
              <a:ext cx="1270000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 algn="l">
                <a:spcBef>
                  <a:spcPts val="1400"/>
                </a:spcBef>
                <a:defRPr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tf-idf value for word t in document d</a:t>
              </a:r>
            </a:p>
          </p:txBody>
        </p:sp>
      </p:grpSp>
      <p:sp>
        <p:nvSpPr>
          <p:cNvPr id="933" name="There are variations on the exact…"/>
          <p:cNvSpPr txBox="1"/>
          <p:nvPr/>
        </p:nvSpPr>
        <p:spPr>
          <a:xfrm>
            <a:off x="15787358" y="7178655"/>
            <a:ext cx="8531291" cy="151527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spcBef>
                <a:spcPts val="1400"/>
              </a:spcBef>
              <a:defRPr sz="41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There are variations on the exact </a:t>
            </a:r>
          </a:p>
          <a:p>
            <a:pPr>
              <a:spcBef>
                <a:spcPts val="1400"/>
              </a:spcBef>
              <a:defRPr sz="41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formulation of tf and idf</a:t>
            </a:r>
          </a:p>
        </p:txBody>
      </p:sp>
      <p:sp>
        <p:nvSpPr>
          <p:cNvPr id="934" name="+1 (avoid 0 in denominator)"/>
          <p:cNvSpPr txBox="1"/>
          <p:nvPr/>
        </p:nvSpPr>
        <p:spPr>
          <a:xfrm>
            <a:off x="15386764" y="9316125"/>
            <a:ext cx="7491316" cy="7397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spcBef>
                <a:spcPts val="1400"/>
              </a:spcBef>
              <a:defRPr sz="41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rPr>
                <a:solidFill>
                  <a:srgbClr val="000000"/>
                </a:solidFill>
              </a:rPr>
              <a:t>+1</a:t>
            </a:r>
            <a:r>
              <a:t> (avoid 0 in denominator)</a:t>
            </a:r>
          </a:p>
        </p:txBody>
      </p:sp>
      <p:grpSp>
        <p:nvGrpSpPr>
          <p:cNvPr id="937" name="Group"/>
          <p:cNvGrpSpPr/>
          <p:nvPr/>
        </p:nvGrpSpPr>
        <p:grpSpPr>
          <a:xfrm>
            <a:off x="3622990" y="6038865"/>
            <a:ext cx="15453601" cy="3559720"/>
            <a:chOff x="0" y="0"/>
            <a:chExt cx="15453600" cy="3559718"/>
          </a:xfrm>
        </p:grpSpPr>
        <p:pic>
          <p:nvPicPr>
            <p:cNvPr id="935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99299" y="235129"/>
              <a:ext cx="9454302" cy="33245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36" name="idf: inverse document frequency:"/>
            <p:cNvSpPr txBox="1"/>
            <p:nvPr/>
          </p:nvSpPr>
          <p:spPr>
            <a:xfrm>
              <a:off x="0" y="0"/>
              <a:ext cx="8550027" cy="104457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 algn="l" defTabSz="457200">
                <a:lnSpc>
                  <a:spcPts val="6600"/>
                </a:lnSpc>
                <a:defRPr sz="4600">
                  <a:solidFill>
                    <a:srgbClr val="404040"/>
                  </a:solidFill>
                  <a:latin typeface="Calibri"/>
                  <a:ea typeface="Calibri"/>
                  <a:cs typeface="Calibri"/>
                  <a:sym typeface="Calibri"/>
                </a:defRPr>
              </a:pPr>
              <a:r>
                <a:rPr>
                  <a:solidFill>
                    <a:srgbClr val="E48312"/>
                  </a:solidFill>
                </a:rPr>
                <a:t> </a:t>
              </a:r>
              <a:r>
                <a:rPr>
                  <a:solidFill>
                    <a:srgbClr val="000000"/>
                  </a:solidFill>
                </a:rPr>
                <a:t> </a:t>
              </a:r>
              <a:r>
                <a:rPr b="1">
                  <a:solidFill>
                    <a:srgbClr val="000000"/>
                  </a:solidFill>
                </a:rPr>
                <a:t>idf: inverse document frequency</a:t>
              </a:r>
              <a:r>
                <a:rPr>
                  <a:solidFill>
                    <a:srgbClr val="000000"/>
                  </a:solidFill>
                </a:rPr>
                <a:t>: </a:t>
              </a:r>
              <a:endParaRPr sz="1200"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endParaRP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28" grpId="0" animBg="1" advAuto="0"/>
      <p:bldP spid="929" grpId="0" animBg="1" advAuto="0"/>
      <p:bldP spid="932" grpId="0" animBg="1" advAuto="0"/>
      <p:bldP spid="933" grpId="0" animBg="1" advAuto="0"/>
      <p:bldP spid="934" grpId="0" animBg="1" advAuto="0"/>
      <p:bldP spid="937" grpId="0" animBg="1" advAuto="0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9" name="Raw counts vs tf-idf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Raw counts vs tf-idf</a:t>
            </a:r>
          </a:p>
        </p:txBody>
      </p:sp>
      <p:pic>
        <p:nvPicPr>
          <p:cNvPr id="94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43330" y="4132967"/>
            <a:ext cx="15897340" cy="2682500"/>
          </a:xfrm>
          <a:prstGeom prst="rect">
            <a:avLst/>
          </a:prstGeom>
          <a:ln w="12700">
            <a:miter lim="400000"/>
          </a:ln>
        </p:spPr>
      </p:pic>
      <p:pic>
        <p:nvPicPr>
          <p:cNvPr id="941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43330" y="7944572"/>
            <a:ext cx="15897340" cy="2798828"/>
          </a:xfrm>
          <a:prstGeom prst="rect">
            <a:avLst/>
          </a:prstGeom>
          <a:ln w="12700">
            <a:miter lim="400000"/>
          </a:ln>
        </p:spPr>
      </p:pic>
      <p:sp>
        <p:nvSpPr>
          <p:cNvPr id="942" name="Raw Counts"/>
          <p:cNvSpPr txBox="1"/>
          <p:nvPr/>
        </p:nvSpPr>
        <p:spPr>
          <a:xfrm>
            <a:off x="7003703" y="3367477"/>
            <a:ext cx="9688445" cy="73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457200">
              <a:lnSpc>
                <a:spcPts val="6600"/>
              </a:lnSpc>
              <a:defRPr sz="4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                   </a:t>
            </a:r>
            <a:r>
              <a:rPr b="1"/>
              <a:t> Raw Counts</a:t>
            </a:r>
          </a:p>
        </p:txBody>
      </p:sp>
      <p:sp>
        <p:nvSpPr>
          <p:cNvPr id="943" name="Tf-idf"/>
          <p:cNvSpPr txBox="1"/>
          <p:nvPr/>
        </p:nvSpPr>
        <p:spPr>
          <a:xfrm>
            <a:off x="7780010" y="7419158"/>
            <a:ext cx="9688444" cy="7378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457200">
              <a:lnSpc>
                <a:spcPts val="6600"/>
              </a:lnSpc>
              <a:defRPr sz="46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                       </a:t>
            </a:r>
            <a:r>
              <a:rPr b="1"/>
              <a:t> Tf-idf </a:t>
            </a:r>
          </a:p>
        </p:txBody>
      </p:sp>
      <p:grpSp>
        <p:nvGrpSpPr>
          <p:cNvPr id="946" name="Group"/>
          <p:cNvGrpSpPr/>
          <p:nvPr/>
        </p:nvGrpSpPr>
        <p:grpSpPr>
          <a:xfrm>
            <a:off x="6270481" y="5252002"/>
            <a:ext cx="12818078" cy="4469306"/>
            <a:chOff x="0" y="0"/>
            <a:chExt cx="12818077" cy="4469304"/>
          </a:xfrm>
        </p:grpSpPr>
        <p:sp>
          <p:nvSpPr>
            <p:cNvPr id="944" name="Rounded Rectangle"/>
            <p:cNvSpPr/>
            <p:nvPr/>
          </p:nvSpPr>
          <p:spPr>
            <a:xfrm>
              <a:off x="110576" y="0"/>
              <a:ext cx="12707502" cy="480676"/>
            </a:xfrm>
            <a:prstGeom prst="roundRect">
              <a:avLst>
                <a:gd name="adj" fmla="val 40588"/>
              </a:avLst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45" name="Rounded Rectangle"/>
            <p:cNvSpPr/>
            <p:nvPr/>
          </p:nvSpPr>
          <p:spPr>
            <a:xfrm>
              <a:off x="0" y="3988629"/>
              <a:ext cx="12707502" cy="480676"/>
            </a:xfrm>
            <a:prstGeom prst="roundRect">
              <a:avLst>
                <a:gd name="adj" fmla="val 40588"/>
              </a:avLst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49" name="Group"/>
          <p:cNvGrpSpPr/>
          <p:nvPr/>
        </p:nvGrpSpPr>
        <p:grpSpPr>
          <a:xfrm>
            <a:off x="19023593" y="9623079"/>
            <a:ext cx="4526861" cy="2312434"/>
            <a:chOff x="0" y="0"/>
            <a:chExt cx="4526859" cy="2312433"/>
          </a:xfrm>
        </p:grpSpPr>
        <p:sp>
          <p:nvSpPr>
            <p:cNvPr id="947" name="Line"/>
            <p:cNvSpPr/>
            <p:nvPr/>
          </p:nvSpPr>
          <p:spPr>
            <a:xfrm flipH="1" flipV="1">
              <a:off x="0" y="0"/>
              <a:ext cx="1289563" cy="1045437"/>
            </a:xfrm>
            <a:prstGeom prst="line">
              <a:avLst/>
            </a:prstGeom>
            <a:noFill/>
            <a:ln w="762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48" name="Common words…"/>
            <p:cNvSpPr txBox="1"/>
            <p:nvPr/>
          </p:nvSpPr>
          <p:spPr>
            <a:xfrm>
              <a:off x="476855" y="1090160"/>
              <a:ext cx="4050005" cy="1222274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/>
            <a:p>
              <a:pPr>
                <a:defRPr sz="3600"/>
              </a:pPr>
              <a:r>
                <a:t>Common words </a:t>
              </a:r>
            </a:p>
            <a:p>
              <a:pPr>
                <a:defRPr sz="3600"/>
              </a:pPr>
              <a:r>
                <a:t>are down weighted</a:t>
              </a:r>
            </a:p>
          </p:txBody>
        </p:sp>
      </p:grpSp>
      <p:grpSp>
        <p:nvGrpSpPr>
          <p:cNvPr id="953" name="Group"/>
          <p:cNvGrpSpPr/>
          <p:nvPr/>
        </p:nvGrpSpPr>
        <p:grpSpPr>
          <a:xfrm>
            <a:off x="233441" y="4995068"/>
            <a:ext cx="3831758" cy="6244900"/>
            <a:chOff x="0" y="0"/>
            <a:chExt cx="3831757" cy="6244899"/>
          </a:xfrm>
        </p:grpSpPr>
        <p:pic>
          <p:nvPicPr>
            <p:cNvPr id="950" name="Image" descr="Image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0" y="0"/>
              <a:ext cx="3831758" cy="4665882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sp>
          <p:nvSpPr>
            <p:cNvPr id="951" name="Line"/>
            <p:cNvSpPr/>
            <p:nvPr/>
          </p:nvSpPr>
          <p:spPr>
            <a:xfrm flipV="1">
              <a:off x="2149913" y="4553822"/>
              <a:ext cx="1" cy="787630"/>
            </a:xfrm>
            <a:prstGeom prst="line">
              <a:avLst/>
            </a:prstGeom>
            <a:noFill/>
            <a:ln w="762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952" name="37 plays total"/>
            <p:cNvSpPr txBox="1"/>
            <p:nvPr/>
          </p:nvSpPr>
          <p:spPr>
            <a:xfrm>
              <a:off x="704412" y="5568725"/>
              <a:ext cx="2891003" cy="6761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600"/>
              </a:lvl1pPr>
            </a:lstStyle>
            <a:p>
              <a:r>
                <a:t>37 plays total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46" grpId="0" animBg="1" advAuto="0"/>
      <p:bldP spid="949" grpId="0" animBg="1" advAuto="0"/>
      <p:bldP spid="953" grpId="0" animBg="1" advAuto="0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5" name="Tf-idf 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Tf-idf summary</a:t>
            </a:r>
          </a:p>
        </p:txBody>
      </p:sp>
      <p:sp>
        <p:nvSpPr>
          <p:cNvPr id="956" name="Tf-idf: term-frequency inverse-document frequency…"/>
          <p:cNvSpPr txBox="1">
            <a:spLocks noGrp="1"/>
          </p:cNvSpPr>
          <p:nvPr>
            <p:ph type="body" sz="half" idx="1"/>
          </p:nvPr>
        </p:nvSpPr>
        <p:spPr>
          <a:xfrm>
            <a:off x="4387453" y="3660082"/>
            <a:ext cx="17024861" cy="7129799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61022" indent="-561022" defTabSz="764024">
              <a:spcBef>
                <a:spcPts val="1300"/>
              </a:spcBef>
              <a:defRPr sz="3534"/>
            </a:pPr>
            <a:r>
              <a:t>Tf-idf: term-frequency inverse-document frequency</a:t>
            </a:r>
          </a:p>
          <a:p>
            <a:pPr marL="561022" indent="-561022" defTabSz="764024">
              <a:spcBef>
                <a:spcPts val="2700"/>
              </a:spcBef>
              <a:defRPr sz="3534"/>
            </a:pPr>
            <a:r>
              <a:t>Re-weighing scheme originally designed for information retrieval</a:t>
            </a:r>
          </a:p>
          <a:p>
            <a:pPr marL="974407" lvl="1" indent="-561022" defTabSz="764024">
              <a:spcBef>
                <a:spcPts val="1300"/>
              </a:spcBef>
              <a:buSzPct val="120000"/>
              <a:defRPr sz="3534"/>
            </a:pPr>
            <a:r>
              <a:t>Down-weighs frequent words such as </a:t>
            </a:r>
            <a:r>
              <a:rPr i="1"/>
              <a:t>this</a:t>
            </a:r>
            <a:r>
              <a:t>, </a:t>
            </a:r>
            <a:r>
              <a:rPr i="1"/>
              <a:t>that</a:t>
            </a:r>
            <a:r>
              <a:t>, </a:t>
            </a:r>
            <a:r>
              <a:rPr i="1"/>
              <a:t>the</a:t>
            </a:r>
          </a:p>
          <a:p>
            <a:pPr marL="561022" indent="-561022" defTabSz="764024">
              <a:spcBef>
                <a:spcPts val="2700"/>
              </a:spcBef>
              <a:defRPr sz="3534"/>
            </a:pPr>
            <a:r>
              <a:t>Can be used to</a:t>
            </a:r>
          </a:p>
          <a:p>
            <a:pPr marL="974407" lvl="1" indent="-561022" defTabSz="764024">
              <a:spcBef>
                <a:spcPts val="1300"/>
              </a:spcBef>
              <a:buSzPct val="120000"/>
              <a:defRPr sz="3534"/>
            </a:pPr>
            <a:r>
              <a:t>measure the similarity between words</a:t>
            </a:r>
          </a:p>
          <a:p>
            <a:pPr marL="974407" lvl="1" indent="-561022" defTabSz="764024">
              <a:spcBef>
                <a:spcPts val="1300"/>
              </a:spcBef>
              <a:buSzPct val="120000"/>
              <a:defRPr sz="3534"/>
            </a:pPr>
            <a:r>
              <a:t>measure the similarity between documents</a:t>
            </a:r>
          </a:p>
          <a:p>
            <a:pPr marL="974407" lvl="1" indent="-561022" defTabSz="764024">
              <a:spcBef>
                <a:spcPts val="1300"/>
              </a:spcBef>
              <a:buSzPct val="120000"/>
              <a:defRPr sz="3534"/>
            </a:pPr>
            <a:r>
              <a:t>measure the similarity between a query (mini-document) and a document</a:t>
            </a:r>
          </a:p>
          <a:p>
            <a:pPr marL="974407" lvl="1" indent="-561022" defTabSz="764024">
              <a:spcBef>
                <a:spcPts val="1300"/>
              </a:spcBef>
              <a:buSzPct val="120000"/>
              <a:defRPr sz="3534"/>
            </a:pPr>
            <a:r>
              <a:t>as features for classifiers</a:t>
            </a:r>
          </a:p>
          <a:p>
            <a:pPr marL="561022" indent="-561022" defTabSz="764024">
              <a:spcBef>
                <a:spcPts val="1300"/>
              </a:spcBef>
              <a:buSzPct val="120000"/>
              <a:defRPr sz="3534"/>
            </a:pPr>
            <a:r>
              <a:t>Useful to know about (good baseline method)</a:t>
            </a:r>
          </a:p>
          <a:p>
            <a:pPr marL="561022" indent="-561022" defTabSz="764024">
              <a:spcBef>
                <a:spcPts val="1300"/>
              </a:spcBef>
              <a:buSzPct val="120000"/>
              <a:defRPr sz="3534"/>
            </a:pPr>
            <a:r>
              <a:t>But not typically used for word embeddings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56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95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95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5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95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5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95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95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956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56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6" grpId="0" build="p" animBg="1" advAuto="0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Problem with raw frequencie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Problem with raw frequencies</a:t>
            </a:r>
          </a:p>
        </p:txBody>
      </p:sp>
      <p:sp>
        <p:nvSpPr>
          <p:cNvPr id="959" name="Problem: using raw frequency counts is not always very good..…"/>
          <p:cNvSpPr txBox="1">
            <a:spLocks noGrp="1"/>
          </p:cNvSpPr>
          <p:nvPr>
            <p:ph type="body" idx="1"/>
          </p:nvPr>
        </p:nvSpPr>
        <p:spPr>
          <a:xfrm>
            <a:off x="3757977" y="2701656"/>
            <a:ext cx="16346958" cy="8696611"/>
          </a:xfrm>
          <a:prstGeom prst="rect">
            <a:avLst/>
          </a:prstGeom>
        </p:spPr>
        <p:txBody>
          <a:bodyPr/>
          <a:lstStyle/>
          <a:p>
            <a:pPr marL="0" lvl="2" indent="0">
              <a:buSzTx/>
              <a:buNone/>
              <a:defRPr sz="4400"/>
            </a:pPr>
            <a:r>
              <a:rPr b="1"/>
              <a:t>Problem</a:t>
            </a:r>
            <a:r>
              <a:t>: using raw frequency counts is not always very good..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if sugar appears a lot near apricot, that's useful information.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963078" lvl="1" indent="-518578" defTabSz="457200">
              <a:spcBef>
                <a:spcPts val="2000"/>
              </a:spcBef>
              <a:defRPr sz="4400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But overly frequent words like </a:t>
            </a:r>
            <a:r>
              <a:rPr i="1"/>
              <a:t>the</a:t>
            </a:r>
            <a:r>
              <a:t>, </a:t>
            </a:r>
            <a:r>
              <a:rPr i="1"/>
              <a:t>it</a:t>
            </a:r>
            <a:r>
              <a:t>, or </a:t>
            </a:r>
            <a:r>
              <a:rPr i="1"/>
              <a:t>they</a:t>
            </a:r>
            <a:r>
              <a:t> are not very informative about the context</a:t>
            </a:r>
            <a:r>
              <a:rPr>
                <a:solidFill>
                  <a:srgbClr val="000000"/>
                </a:solidFill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  <a:p>
            <a:pPr marL="0" lvl="2" indent="0">
              <a:buSzTx/>
              <a:buNone/>
              <a:defRPr sz="4400"/>
            </a:pPr>
            <a:endParaRPr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0" lvl="2" indent="0">
              <a:buSzTx/>
              <a:buNone/>
              <a:defRPr sz="4400"/>
            </a:pPr>
            <a:r>
              <a:rPr b="1"/>
              <a:t>Solution</a:t>
            </a:r>
            <a:r>
              <a:t>: let’s weight the counts! </a:t>
            </a:r>
          </a:p>
          <a:p>
            <a:pPr marL="1861343" lvl="3" indent="-527843">
              <a:defRPr sz="4400"/>
            </a:pPr>
            <a:r>
              <a:t>TF-IDF = Traditional method used in document retrieval  </a:t>
            </a:r>
          </a:p>
          <a:p>
            <a:pPr marL="1861343" lvl="3" indent="-527843">
              <a:defRPr sz="4400">
                <a:solidFill>
                  <a:schemeClr val="accent1">
                    <a:lumOff val="-13575"/>
                  </a:schemeClr>
                </a:solidFill>
              </a:defRPr>
            </a:pPr>
            <a:r>
              <a:t>PPMI = Positive Pointwise Mutual Information</a:t>
            </a:r>
          </a:p>
        </p:txBody>
      </p:sp>
    </p:spTree>
  </p:cSld>
  <p:clrMapOvr>
    <a:masterClrMapping/>
  </p:clrMapOvr>
  <p:transition spd="med"/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PPMI"/>
          <p:cNvSpPr txBox="1">
            <a:spLocks noGrp="1"/>
          </p:cNvSpPr>
          <p:nvPr>
            <p:ph type="title"/>
          </p:nvPr>
        </p:nvSpPr>
        <p:spPr>
          <a:xfrm>
            <a:off x="4387453" y="357187"/>
            <a:ext cx="15609094" cy="1952626"/>
          </a:xfrm>
          <a:prstGeom prst="rect">
            <a:avLst/>
          </a:prstGeom>
        </p:spPr>
        <p:txBody>
          <a:bodyPr/>
          <a:lstStyle/>
          <a:p>
            <a:r>
              <a:t>PPMI</a:t>
            </a:r>
          </a:p>
        </p:txBody>
      </p:sp>
      <p:sp>
        <p:nvSpPr>
          <p:cNvPr id="962" name="PPMI = Positive Pointwise Mutual Information"/>
          <p:cNvSpPr txBox="1">
            <a:spLocks noGrp="1"/>
          </p:cNvSpPr>
          <p:nvPr>
            <p:ph type="body" sz="quarter" idx="1"/>
          </p:nvPr>
        </p:nvSpPr>
        <p:spPr>
          <a:xfrm>
            <a:off x="4387453" y="2590820"/>
            <a:ext cx="15609094" cy="2033628"/>
          </a:xfrm>
          <a:prstGeom prst="rect">
            <a:avLst/>
          </a:prstGeom>
        </p:spPr>
        <p:txBody>
          <a:bodyPr/>
          <a:lstStyle/>
          <a:p>
            <a:pPr marL="0" lvl="4" indent="1778000">
              <a:spcBef>
                <a:spcPts val="2000"/>
              </a:spcBef>
              <a:buSzTx/>
              <a:buNone/>
              <a:defRPr sz="4400"/>
            </a:pPr>
            <a:r>
              <a:t>PPMI = Positive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Pointwise Mutual Information</a:t>
            </a:r>
          </a:p>
        </p:txBody>
      </p:sp>
      <p:pic>
        <p:nvPicPr>
          <p:cNvPr id="963" name="Screen Shot 2019-09-26 at 9.14.52 AM.png" descr="Screen Shot 2019-09-26 at 9.14.52 AM.png"/>
          <p:cNvPicPr>
            <a:picLocks noChangeAspect="1"/>
          </p:cNvPicPr>
          <p:nvPr/>
        </p:nvPicPr>
        <p:blipFill>
          <a:blip r:embed="rId2"/>
          <a:srcRect t="14231"/>
          <a:stretch>
            <a:fillRect/>
          </a:stretch>
        </p:blipFill>
        <p:spPr>
          <a:xfrm>
            <a:off x="6589514" y="5444121"/>
            <a:ext cx="11204948" cy="2074356"/>
          </a:xfrm>
          <a:prstGeom prst="rect">
            <a:avLst/>
          </a:prstGeom>
          <a:ln w="12700">
            <a:miter lim="400000"/>
          </a:ln>
        </p:spPr>
      </p:pic>
      <p:sp>
        <p:nvSpPr>
          <p:cNvPr id="964" name="Do two events co-occur more than if they were independent?"/>
          <p:cNvSpPr txBox="1"/>
          <p:nvPr/>
        </p:nvSpPr>
        <p:spPr>
          <a:xfrm>
            <a:off x="4642991" y="1905689"/>
            <a:ext cx="15098019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>
            <a:lvl1pPr algn="l">
              <a:spcBef>
                <a:spcPts val="1400"/>
              </a:spcBef>
              <a:defRPr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Do two events co-occur more than if they were independent?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65" name="PMI ranges from   to"/>
              <p:cNvSpPr txBox="1"/>
              <p:nvPr/>
            </p:nvSpPr>
            <p:spPr>
              <a:xfrm>
                <a:off x="9733222" y="9385539"/>
                <a:ext cx="4917556" cy="149208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PMI ranges from </a:t>
                </a:r>
                <a14:m>
                  <m:oMath xmlns:m="http://schemas.openxmlformats.org/officeDocument/2006/math">
                    <m:r>
                      <a:rPr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−∞</m:t>
                    </m:r>
                  </m:oMath>
                </a14:m>
                <a:r>
                  <a:t> to </a:t>
                </a:r>
                <a14:m>
                  <m:oMath xmlns:m="http://schemas.openxmlformats.org/officeDocument/2006/math">
                    <m:r>
                      <a:rPr sz="49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+∞</m:t>
                    </m:r>
                  </m:oMath>
                </a14:m>
                <a:r>
                  <a:t> </a:t>
                </a:r>
              </a:p>
            </p:txBody>
          </p:sp>
        </mc:Choice>
        <mc:Fallback>
          <p:sp>
            <p:nvSpPr>
              <p:cNvPr id="965" name="PMI ranges from   to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33222" y="9385539"/>
                <a:ext cx="4917556" cy="1492086"/>
              </a:xfrm>
              <a:prstGeom prst="rect">
                <a:avLst/>
              </a:prstGeom>
              <a:blipFill>
                <a:blip r:embed="rId3"/>
                <a:stretch>
                  <a:fillRect l="-5459" t="-8607" b="-1926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66" name="Negative values are problematic so cap bottom to 0"/>
          <p:cNvSpPr txBox="1"/>
          <p:nvPr/>
        </p:nvSpPr>
        <p:spPr>
          <a:xfrm>
            <a:off x="16693667" y="9107644"/>
            <a:ext cx="5389550" cy="204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>
            <a:lvl1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Negative values are problematic so cap bottom to 0</a:t>
            </a:r>
          </a:p>
        </p:txBody>
      </p:sp>
      <p:sp>
        <p:nvSpPr>
          <p:cNvPr id="967" name="Joint probability"/>
          <p:cNvSpPr txBox="1"/>
          <p:nvPr/>
        </p:nvSpPr>
        <p:spPr>
          <a:xfrm>
            <a:off x="12290254" y="4357906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Joint probability</a:t>
            </a:r>
          </a:p>
        </p:txBody>
      </p:sp>
      <p:sp>
        <p:nvSpPr>
          <p:cNvPr id="968" name="Marginals"/>
          <p:cNvSpPr txBox="1"/>
          <p:nvPr/>
        </p:nvSpPr>
        <p:spPr>
          <a:xfrm>
            <a:off x="12290254" y="7431306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Marginals</a:t>
            </a:r>
          </a:p>
        </p:txBody>
      </p:sp>
      <p:sp>
        <p:nvSpPr>
          <p:cNvPr id="969" name="Negative if co-occurs less than if independent"/>
          <p:cNvSpPr txBox="1"/>
          <p:nvPr/>
        </p:nvSpPr>
        <p:spPr>
          <a:xfrm>
            <a:off x="7281685" y="10942208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defTabSz="747593">
              <a:spcBef>
                <a:spcPts val="1200"/>
              </a:spcBef>
              <a:defRPr sz="3822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Negative if co-occurs less than if independent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65" grpId="0" animBg="1" advAuto="0"/>
      <p:bldP spid="966" grpId="0" animBg="1" advAuto="0"/>
      <p:bldP spid="967" grpId="0" animBg="1" advAuto="0"/>
      <p:bldP spid="968" grpId="0" animBg="1" advAuto="0"/>
      <p:bldP spid="969" grpId="0" animBg="1" advAuto="0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1" name="Computing PPMI on a term-context matrix"/>
          <p:cNvSpPr txBox="1">
            <a:spLocks noGrp="1"/>
          </p:cNvSpPr>
          <p:nvPr>
            <p:ph type="title"/>
          </p:nvPr>
        </p:nvSpPr>
        <p:spPr>
          <a:xfrm>
            <a:off x="3864335" y="357187"/>
            <a:ext cx="16655330" cy="3036095"/>
          </a:xfrm>
          <a:prstGeom prst="rect">
            <a:avLst/>
          </a:prstGeom>
        </p:spPr>
        <p:txBody>
          <a:bodyPr/>
          <a:lstStyle/>
          <a:p>
            <a:r>
              <a:t>Computing PPMI on a term-context matrix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72" name="Matrix   with   rows (words) and   columns (contexts)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061622" y="3151638"/>
                <a:ext cx="15609095" cy="2591342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Matrix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𝐹</m:t>
                    </m:r>
                  </m:oMath>
                </a14:m>
                <a:r>
                  <a:t> with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𝑊</m:t>
                    </m:r>
                  </m:oMath>
                </a14:m>
                <a:r>
                  <a:t> rows (words) and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t> columns (contexts)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𝑖𝑗</m:t>
                        </m:r>
                      </m:sub>
                    </m:sSub>
                  </m:oMath>
                </a14:m>
                <a:r>
                  <a:t> is # of times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t> occurs in context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2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endParaRPr/>
              </a:p>
            </p:txBody>
          </p:sp>
        </mc:Choice>
        <mc:Fallback>
          <p:sp>
            <p:nvSpPr>
              <p:cNvPr id="972" name="Matrix   with   rows (words) and   columns (contexts)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061622" y="3151638"/>
                <a:ext cx="15609095" cy="2591342"/>
              </a:xfrm>
              <a:prstGeom prst="rect">
                <a:avLst/>
              </a:prstGeom>
              <a:blipFill>
                <a:blip r:embed="rId2"/>
                <a:stretch>
                  <a:fillRect l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73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43945" y="5492498"/>
            <a:ext cx="11596264" cy="2731005"/>
          </a:xfrm>
          <a:prstGeom prst="rect">
            <a:avLst/>
          </a:prstGeom>
          <a:ln w="12700">
            <a:miter lim="400000"/>
          </a:ln>
        </p:spPr>
      </p:pic>
      <p:pic>
        <p:nvPicPr>
          <p:cNvPr id="974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0213" y="10272621"/>
            <a:ext cx="3098342" cy="2591341"/>
          </a:xfrm>
          <a:prstGeom prst="rect">
            <a:avLst/>
          </a:prstGeom>
          <a:ln w="12700">
            <a:miter lim="400000"/>
          </a:ln>
        </p:spPr>
      </p:pic>
      <p:pic>
        <p:nvPicPr>
          <p:cNvPr id="975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93402" y="9797809"/>
            <a:ext cx="3098343" cy="35409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76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081286" y="9884409"/>
            <a:ext cx="3098343" cy="3367764"/>
          </a:xfrm>
          <a:prstGeom prst="rect">
            <a:avLst/>
          </a:prstGeom>
          <a:ln w="12700">
            <a:miter lim="400000"/>
          </a:ln>
        </p:spPr>
      </p:pic>
      <p:pic>
        <p:nvPicPr>
          <p:cNvPr id="977" name="Image" descr="Image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6542253" y="7671278"/>
            <a:ext cx="7169701" cy="2020035"/>
          </a:xfrm>
          <a:prstGeom prst="rect">
            <a:avLst/>
          </a:prstGeom>
          <a:ln w="12700">
            <a:miter lim="400000"/>
          </a:ln>
        </p:spPr>
      </p:pic>
      <p:sp>
        <p:nvSpPr>
          <p:cNvPr id="978" name="Joint probability"/>
          <p:cNvSpPr txBox="1"/>
          <p:nvPr/>
        </p:nvSpPr>
        <p:spPr>
          <a:xfrm>
            <a:off x="2638254" y="8802906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Joint probability</a:t>
            </a:r>
          </a:p>
        </p:txBody>
      </p:sp>
      <p:sp>
        <p:nvSpPr>
          <p:cNvPr id="979" name="Marginals"/>
          <p:cNvSpPr txBox="1"/>
          <p:nvPr/>
        </p:nvSpPr>
        <p:spPr>
          <a:xfrm>
            <a:off x="9216854" y="8802906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Marginals</a:t>
            </a:r>
          </a:p>
        </p:txBody>
      </p:sp>
      <p:pic>
        <p:nvPicPr>
          <p:cNvPr id="980" name="Image" descr="Image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10395" y="10571306"/>
            <a:ext cx="4968024" cy="1993970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9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9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9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9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74" grpId="0" animBg="1" advAuto="0"/>
      <p:bldP spid="975" grpId="0" animBg="1" advAuto="0"/>
      <p:bldP spid="976" grpId="0" animBg="1" advAuto="0"/>
      <p:bldP spid="977" grpId="0" animBg="1" advAuto="0"/>
      <p:bldP spid="978" grpId="0" animBg="1" advAuto="0"/>
      <p:bldP spid="979" grpId="0" animBg="1" advAuto="0"/>
      <p:bldP spid="980" grpId="0" animBg="1" advAuto="0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2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303" y="3696486"/>
            <a:ext cx="9980794" cy="3326932"/>
          </a:xfrm>
          <a:prstGeom prst="rect">
            <a:avLst/>
          </a:prstGeom>
          <a:ln w="12700">
            <a:miter lim="400000"/>
          </a:ln>
        </p:spPr>
      </p:pic>
      <p:sp>
        <p:nvSpPr>
          <p:cNvPr id="983" name="Rectangle"/>
          <p:cNvSpPr/>
          <p:nvPr/>
        </p:nvSpPr>
        <p:spPr>
          <a:xfrm>
            <a:off x="15312440" y="4785297"/>
            <a:ext cx="1040988" cy="2274208"/>
          </a:xfrm>
          <a:prstGeom prst="rect">
            <a:avLst/>
          </a:prstGeom>
          <a:ln w="63500">
            <a:solidFill>
              <a:schemeClr val="accent1">
                <a:lumOff val="-13575"/>
                <a:alpha val="5019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984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805" y="8246316"/>
            <a:ext cx="10923707" cy="4050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985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490" y="4450204"/>
            <a:ext cx="3253060" cy="2726830"/>
          </a:xfrm>
          <a:prstGeom prst="rect">
            <a:avLst/>
          </a:prstGeom>
          <a:ln w="12700">
            <a:miter lim="400000"/>
          </a:ln>
        </p:spPr>
      </p:pic>
      <p:pic>
        <p:nvPicPr>
          <p:cNvPr id="986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4260" y="8608287"/>
            <a:ext cx="4168686" cy="3326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987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03" y="10077686"/>
            <a:ext cx="3365583" cy="2639673"/>
          </a:xfrm>
          <a:prstGeom prst="rect">
            <a:avLst/>
          </a:prstGeom>
          <a:ln w="12700">
            <a:miter lim="400000"/>
          </a:ln>
        </p:spPr>
      </p:pic>
      <p:sp>
        <p:nvSpPr>
          <p:cNvPr id="988" name="Computing PPMI on a term-context matrix"/>
          <p:cNvSpPr txBox="1">
            <a:spLocks noGrp="1"/>
          </p:cNvSpPr>
          <p:nvPr>
            <p:ph type="title"/>
          </p:nvPr>
        </p:nvSpPr>
        <p:spPr>
          <a:xfrm>
            <a:off x="3864335" y="357187"/>
            <a:ext cx="16655330" cy="3036095"/>
          </a:xfrm>
          <a:prstGeom prst="rect">
            <a:avLst/>
          </a:prstGeom>
        </p:spPr>
        <p:txBody>
          <a:bodyPr/>
          <a:lstStyle/>
          <a:p>
            <a:r>
              <a:t>Computing PPMI on a term-context matrix</a:t>
            </a:r>
          </a:p>
        </p:txBody>
      </p:sp>
      <p:grpSp>
        <p:nvGrpSpPr>
          <p:cNvPr id="991" name="Group"/>
          <p:cNvGrpSpPr/>
          <p:nvPr/>
        </p:nvGrpSpPr>
        <p:grpSpPr>
          <a:xfrm>
            <a:off x="5881430" y="2913681"/>
            <a:ext cx="5298631" cy="1550266"/>
            <a:chOff x="0" y="0"/>
            <a:chExt cx="5298630" cy="1550264"/>
          </a:xfrm>
        </p:grpSpPr>
        <p:sp>
          <p:nvSpPr>
            <p:cNvPr id="989" name="count(wi, contextj)"/>
            <p:cNvSpPr txBox="1"/>
            <p:nvPr/>
          </p:nvSpPr>
          <p:spPr>
            <a:xfrm>
              <a:off x="0" y="0"/>
              <a:ext cx="5298631" cy="13990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>
                <a:spcBef>
                  <a:spcPts val="1400"/>
                </a:spcBef>
                <a:defRPr sz="4200">
                  <a:solidFill>
                    <a:srgbClr val="5E5E5E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count(w</a:t>
              </a:r>
              <a:r>
                <a:rPr baseline="-5999"/>
                <a:t>i</a:t>
              </a:r>
              <a:r>
                <a:t>, context</a:t>
              </a:r>
              <a:r>
                <a:rPr baseline="-5999"/>
                <a:t>j</a:t>
              </a:r>
              <a:r>
                <a:t>)</a:t>
              </a:r>
            </a:p>
          </p:txBody>
        </p:sp>
        <p:sp>
          <p:nvSpPr>
            <p:cNvPr id="990" name="Line"/>
            <p:cNvSpPr/>
            <p:nvPr/>
          </p:nvSpPr>
          <p:spPr>
            <a:xfrm flipH="1">
              <a:off x="907730" y="990993"/>
              <a:ext cx="559272" cy="559272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994" name="Group"/>
          <p:cNvGrpSpPr/>
          <p:nvPr/>
        </p:nvGrpSpPr>
        <p:grpSpPr>
          <a:xfrm>
            <a:off x="625745" y="5849744"/>
            <a:ext cx="4758226" cy="941832"/>
            <a:chOff x="0" y="0"/>
            <a:chExt cx="4758225" cy="941830"/>
          </a:xfrm>
        </p:grpSpPr>
        <p:sp>
          <p:nvSpPr>
            <p:cNvPr id="992" name="Total count N"/>
            <p:cNvSpPr txBox="1"/>
            <p:nvPr/>
          </p:nvSpPr>
          <p:spPr>
            <a:xfrm>
              <a:off x="0" y="0"/>
              <a:ext cx="4050817" cy="9418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>
                <a:spcBef>
                  <a:spcPts val="1400"/>
                </a:spcBef>
                <a:defRPr sz="4200">
                  <a:solidFill>
                    <a:srgbClr val="5E5E5E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Total count N</a:t>
              </a:r>
            </a:p>
          </p:txBody>
        </p:sp>
        <p:sp>
          <p:nvSpPr>
            <p:cNvPr id="993" name="Line"/>
            <p:cNvSpPr/>
            <p:nvPr/>
          </p:nvSpPr>
          <p:spPr>
            <a:xfrm>
              <a:off x="3936983" y="470915"/>
              <a:ext cx="821243" cy="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995" name="Text"/>
              <p:cNvSpPr txBox="1"/>
              <p:nvPr/>
            </p:nvSpPr>
            <p:spPr>
              <a:xfrm>
                <a:off x="1495471" y="7202011"/>
                <a:ext cx="6225214" cy="7895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information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99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71" y="7202011"/>
                <a:ext cx="6225214" cy="789584"/>
              </a:xfrm>
              <a:prstGeom prst="rect">
                <a:avLst/>
              </a:prstGeom>
              <a:blipFill>
                <a:blip r:embed="rId7"/>
                <a:stretch>
                  <a:fillRect l="-6458" r="-342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6" name="Equation"/>
              <p:cNvSpPr txBox="1"/>
              <p:nvPr/>
            </p:nvSpPr>
            <p:spPr>
              <a:xfrm>
                <a:off x="7766163" y="7473282"/>
                <a:ext cx="2637791" cy="3232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6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32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99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163" y="7473282"/>
                <a:ext cx="2637791" cy="323241"/>
              </a:xfrm>
              <a:prstGeom prst="rect">
                <a:avLst/>
              </a:prstGeom>
              <a:blipFill>
                <a:blip r:embed="rId8"/>
                <a:stretch>
                  <a:fillRect r="-8545" b="-679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997" name="Rectangle"/>
          <p:cNvSpPr/>
          <p:nvPr/>
        </p:nvSpPr>
        <p:spPr>
          <a:xfrm>
            <a:off x="8007816" y="10761409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98" name="Text"/>
              <p:cNvSpPr txBox="1"/>
              <p:nvPr/>
            </p:nvSpPr>
            <p:spPr>
              <a:xfrm>
                <a:off x="15419305" y="12126189"/>
                <a:ext cx="4158597" cy="7895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information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998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9305" y="12126189"/>
                <a:ext cx="4158597" cy="789585"/>
              </a:xfrm>
              <a:prstGeom prst="rect">
                <a:avLst/>
              </a:prstGeom>
              <a:blipFill>
                <a:blip r:embed="rId9"/>
                <a:stretch>
                  <a:fillRect l="-8053" r="-36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99" name="Equation"/>
              <p:cNvSpPr txBox="1"/>
              <p:nvPr/>
            </p:nvSpPr>
            <p:spPr>
              <a:xfrm>
                <a:off x="19624594" y="12409247"/>
                <a:ext cx="2853132" cy="3250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11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99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4594" y="12409247"/>
                <a:ext cx="2853132" cy="325070"/>
              </a:xfrm>
              <a:prstGeom prst="rect">
                <a:avLst/>
              </a:prstGeom>
              <a:blipFill>
                <a:blip r:embed="rId10"/>
                <a:stretch>
                  <a:fillRect r="-9829" b="-679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00" name="Text"/>
              <p:cNvSpPr txBox="1"/>
              <p:nvPr/>
            </p:nvSpPr>
            <p:spPr>
              <a:xfrm>
                <a:off x="939588" y="12856694"/>
                <a:ext cx="2638238" cy="7895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00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88" y="12856694"/>
                <a:ext cx="2638238" cy="789584"/>
              </a:xfrm>
              <a:prstGeom prst="rect">
                <a:avLst/>
              </a:prstGeom>
              <a:blipFill>
                <a:blip r:embed="rId11"/>
                <a:stretch>
                  <a:fillRect l="-508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1" name="Rectangle"/>
          <p:cNvSpPr/>
          <p:nvPr/>
        </p:nvSpPr>
        <p:spPr>
          <a:xfrm>
            <a:off x="15297305" y="6453310"/>
            <a:ext cx="1071258" cy="6162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02" name="Equation"/>
              <p:cNvSpPr txBox="1"/>
              <p:nvPr/>
            </p:nvSpPr>
            <p:spPr>
              <a:xfrm>
                <a:off x="3624512" y="13127049"/>
                <a:ext cx="2626361" cy="31958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7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19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37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0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512" y="13127049"/>
                <a:ext cx="2626361" cy="319584"/>
              </a:xfrm>
              <a:prstGeom prst="rect">
                <a:avLst/>
              </a:prstGeom>
              <a:blipFill>
                <a:blip r:embed="rId12"/>
                <a:stretch>
                  <a:fillRect r="-9767" b="-698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03" name="Rectangle"/>
          <p:cNvSpPr/>
          <p:nvPr/>
        </p:nvSpPr>
        <p:spPr>
          <a:xfrm>
            <a:off x="14050838" y="6453310"/>
            <a:ext cx="6257291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5019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04" name="Rectangle"/>
          <p:cNvSpPr/>
          <p:nvPr/>
        </p:nvSpPr>
        <p:spPr>
          <a:xfrm>
            <a:off x="13820188" y="10752856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4998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05" name="Rectangle"/>
          <p:cNvSpPr/>
          <p:nvPr/>
        </p:nvSpPr>
        <p:spPr>
          <a:xfrm>
            <a:off x="7980366" y="11676068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4998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9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9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9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9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9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9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9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9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2" fill="hold"/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9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0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9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83" grpId="0" animBg="1" advAuto="0"/>
      <p:bldP spid="984" grpId="0" animBg="1" advAuto="0"/>
      <p:bldP spid="985" grpId="0" animBg="1" advAuto="0"/>
      <p:bldP spid="986" grpId="0" animBg="1" advAuto="0"/>
      <p:bldP spid="987" grpId="0" animBg="1" advAuto="0"/>
      <p:bldP spid="991" grpId="0" animBg="1" advAuto="0"/>
      <p:bldP spid="994" grpId="0" animBg="1" advAuto="0"/>
      <p:bldP spid="995" grpId="0" animBg="1" advAuto="0"/>
      <p:bldP spid="996" grpId="0" animBg="1" advAuto="0"/>
      <p:bldP spid="997" grpId="0" animBg="1" advAuto="0"/>
      <p:bldP spid="998" grpId="0" animBg="1" advAuto="0"/>
      <p:bldP spid="999" grpId="0" animBg="1" advAuto="0"/>
      <p:bldP spid="1000" grpId="0" animBg="1" advAuto="0"/>
      <p:bldP spid="1001" grpId="0" animBg="1" advAuto="0"/>
      <p:bldP spid="1002" grpId="0" animBg="1" advAuto="0"/>
      <p:bldP spid="1003" grpId="0" animBg="1" advAuto="0"/>
      <p:bldP spid="1004" grpId="0" animBg="1" advAuto="0"/>
      <p:bldP spid="1005" grpId="0" animBg="1" advAuto="0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7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49303" y="3696486"/>
            <a:ext cx="9980794" cy="3326932"/>
          </a:xfrm>
          <a:prstGeom prst="rect">
            <a:avLst/>
          </a:prstGeom>
          <a:ln w="12700">
            <a:miter lim="400000"/>
          </a:ln>
        </p:spPr>
      </p:pic>
      <p:sp>
        <p:nvSpPr>
          <p:cNvPr id="1008" name="Rectangle"/>
          <p:cNvSpPr/>
          <p:nvPr/>
        </p:nvSpPr>
        <p:spPr>
          <a:xfrm>
            <a:off x="15312440" y="4785297"/>
            <a:ext cx="1040988" cy="2274208"/>
          </a:xfrm>
          <a:prstGeom prst="rect">
            <a:avLst/>
          </a:prstGeom>
          <a:ln w="63500">
            <a:solidFill>
              <a:schemeClr val="accent1">
                <a:lumOff val="-13575"/>
                <a:alpha val="5019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pic>
        <p:nvPicPr>
          <p:cNvPr id="1009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805" y="8246316"/>
            <a:ext cx="10923707" cy="4050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0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490" y="4450204"/>
            <a:ext cx="3253060" cy="2726830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1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414260" y="8608287"/>
            <a:ext cx="4168686" cy="3326932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2" name="Image" descr="Image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2303" y="10077686"/>
            <a:ext cx="3365583" cy="2639673"/>
          </a:xfrm>
          <a:prstGeom prst="rect">
            <a:avLst/>
          </a:prstGeom>
          <a:ln w="12700">
            <a:miter lim="400000"/>
          </a:ln>
        </p:spPr>
      </p:pic>
      <p:sp>
        <p:nvSpPr>
          <p:cNvPr id="1013" name="Computing PPMI on a term-context matrix"/>
          <p:cNvSpPr txBox="1">
            <a:spLocks noGrp="1"/>
          </p:cNvSpPr>
          <p:nvPr>
            <p:ph type="title"/>
          </p:nvPr>
        </p:nvSpPr>
        <p:spPr>
          <a:xfrm>
            <a:off x="3864335" y="357187"/>
            <a:ext cx="16655330" cy="3036095"/>
          </a:xfrm>
          <a:prstGeom prst="rect">
            <a:avLst/>
          </a:prstGeom>
        </p:spPr>
        <p:txBody>
          <a:bodyPr/>
          <a:lstStyle/>
          <a:p>
            <a:r>
              <a:t>Computing PPMI on a term-context matrix</a:t>
            </a:r>
          </a:p>
        </p:txBody>
      </p:sp>
      <p:sp>
        <p:nvSpPr>
          <p:cNvPr id="1014" name="Rectangle"/>
          <p:cNvSpPr/>
          <p:nvPr/>
        </p:nvSpPr>
        <p:spPr>
          <a:xfrm>
            <a:off x="3873551" y="11497905"/>
            <a:ext cx="9075525" cy="1270001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15" name="Rectangle"/>
          <p:cNvSpPr/>
          <p:nvPr/>
        </p:nvSpPr>
        <p:spPr>
          <a:xfrm>
            <a:off x="13435666" y="8081761"/>
            <a:ext cx="1492003" cy="4050875"/>
          </a:xfrm>
          <a:prstGeom prst="rect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rgbClr val="FFFFFF"/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grpSp>
        <p:nvGrpSpPr>
          <p:cNvPr id="1018" name="Group"/>
          <p:cNvGrpSpPr/>
          <p:nvPr/>
        </p:nvGrpSpPr>
        <p:grpSpPr>
          <a:xfrm>
            <a:off x="5881430" y="2913681"/>
            <a:ext cx="5298631" cy="1550266"/>
            <a:chOff x="0" y="0"/>
            <a:chExt cx="5298630" cy="1550264"/>
          </a:xfrm>
        </p:grpSpPr>
        <p:sp>
          <p:nvSpPr>
            <p:cNvPr id="1016" name="count(wi, contextj)"/>
            <p:cNvSpPr txBox="1"/>
            <p:nvPr/>
          </p:nvSpPr>
          <p:spPr>
            <a:xfrm>
              <a:off x="0" y="0"/>
              <a:ext cx="5298631" cy="1399059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>
                <a:spcBef>
                  <a:spcPts val="1400"/>
                </a:spcBef>
                <a:defRPr sz="4200">
                  <a:solidFill>
                    <a:srgbClr val="5E5E5E"/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count(w</a:t>
              </a:r>
              <a:r>
                <a:rPr baseline="-5999"/>
                <a:t>i</a:t>
              </a:r>
              <a:r>
                <a:t>, context</a:t>
              </a:r>
              <a:r>
                <a:rPr baseline="-5999"/>
                <a:t>j</a:t>
              </a:r>
              <a:r>
                <a:t>)</a:t>
              </a:r>
            </a:p>
          </p:txBody>
        </p:sp>
        <p:sp>
          <p:nvSpPr>
            <p:cNvPr id="1017" name="Line"/>
            <p:cNvSpPr/>
            <p:nvPr/>
          </p:nvSpPr>
          <p:spPr>
            <a:xfrm flipH="1">
              <a:off x="907730" y="990993"/>
              <a:ext cx="559272" cy="559272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grpSp>
        <p:nvGrpSpPr>
          <p:cNvPr id="1021" name="Group"/>
          <p:cNvGrpSpPr/>
          <p:nvPr/>
        </p:nvGrpSpPr>
        <p:grpSpPr>
          <a:xfrm>
            <a:off x="625745" y="5849744"/>
            <a:ext cx="4758226" cy="941832"/>
            <a:chOff x="0" y="0"/>
            <a:chExt cx="4758225" cy="941830"/>
          </a:xfrm>
        </p:grpSpPr>
        <p:sp>
          <p:nvSpPr>
            <p:cNvPr id="1019" name="Total count N"/>
            <p:cNvSpPr txBox="1"/>
            <p:nvPr/>
          </p:nvSpPr>
          <p:spPr>
            <a:xfrm>
              <a:off x="0" y="0"/>
              <a:ext cx="4050817" cy="941831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>
              <a:lvl1pPr>
                <a:spcBef>
                  <a:spcPts val="1400"/>
                </a:spcBef>
                <a:defRPr sz="4200">
                  <a:solidFill>
                    <a:srgbClr val="5E5E5E"/>
                  </a:solidFill>
                  <a:latin typeface="Georgia"/>
                  <a:ea typeface="Georgia"/>
                  <a:cs typeface="Georgia"/>
                  <a:sym typeface="Georgia"/>
                </a:defRPr>
              </a:lvl1pPr>
            </a:lstStyle>
            <a:p>
              <a:r>
                <a:t>Total count N</a:t>
              </a:r>
            </a:p>
          </p:txBody>
        </p:sp>
        <p:sp>
          <p:nvSpPr>
            <p:cNvPr id="1020" name="Line"/>
            <p:cNvSpPr/>
            <p:nvPr/>
          </p:nvSpPr>
          <p:spPr>
            <a:xfrm>
              <a:off x="3936983" y="470915"/>
              <a:ext cx="821243" cy="1"/>
            </a:xfrm>
            <a:prstGeom prst="line">
              <a:avLst/>
            </a:prstGeom>
            <a:noFill/>
            <a:ln w="63500" cap="flat">
              <a:solidFill>
                <a:srgbClr val="5E5E5E"/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1022" name="Text"/>
              <p:cNvSpPr txBox="1"/>
              <p:nvPr/>
            </p:nvSpPr>
            <p:spPr>
              <a:xfrm>
                <a:off x="1495471" y="7202011"/>
                <a:ext cx="6225214" cy="7895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information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22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95471" y="7202011"/>
                <a:ext cx="6225214" cy="789584"/>
              </a:xfrm>
              <a:prstGeom prst="rect">
                <a:avLst/>
              </a:prstGeom>
              <a:blipFill>
                <a:blip r:embed="rId7"/>
                <a:stretch>
                  <a:fillRect l="-6458" r="-342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3" name="Equation"/>
              <p:cNvSpPr txBox="1"/>
              <p:nvPr/>
            </p:nvSpPr>
            <p:spPr>
              <a:xfrm>
                <a:off x="7766163" y="7473282"/>
                <a:ext cx="2637791" cy="323241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=6/19=0.32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23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66163" y="7473282"/>
                <a:ext cx="2637791" cy="323241"/>
              </a:xfrm>
              <a:prstGeom prst="rect">
                <a:avLst/>
              </a:prstGeom>
              <a:blipFill>
                <a:blip r:embed="rId8"/>
                <a:stretch>
                  <a:fillRect r="-8545" b="-679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4" name="Rectangle"/>
          <p:cNvSpPr/>
          <p:nvPr/>
        </p:nvSpPr>
        <p:spPr>
          <a:xfrm>
            <a:off x="8007816" y="10761409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5" name="Text"/>
              <p:cNvSpPr txBox="1"/>
              <p:nvPr/>
            </p:nvSpPr>
            <p:spPr>
              <a:xfrm>
                <a:off x="15419305" y="12126189"/>
                <a:ext cx="4158597" cy="78958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information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25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419305" y="12126189"/>
                <a:ext cx="4158597" cy="789585"/>
              </a:xfrm>
              <a:prstGeom prst="rect">
                <a:avLst/>
              </a:prstGeom>
              <a:blipFill>
                <a:blip r:embed="rId9"/>
                <a:stretch>
                  <a:fillRect l="-8053" r="-366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6" name="Equation"/>
              <p:cNvSpPr txBox="1"/>
              <p:nvPr/>
            </p:nvSpPr>
            <p:spPr>
              <a:xfrm>
                <a:off x="19624594" y="12409247"/>
                <a:ext cx="2853132" cy="32507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=11/19=0.58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26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24594" y="12409247"/>
                <a:ext cx="2853132" cy="325070"/>
              </a:xfrm>
              <a:prstGeom prst="rect">
                <a:avLst/>
              </a:prstGeom>
              <a:blipFill>
                <a:blip r:embed="rId10"/>
                <a:stretch>
                  <a:fillRect r="-9829" b="-67925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27" name="Text"/>
              <p:cNvSpPr txBox="1"/>
              <p:nvPr/>
            </p:nvSpPr>
            <p:spPr>
              <a:xfrm>
                <a:off x="939588" y="12856694"/>
                <a:ext cx="2638238" cy="7895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27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39588" y="12856694"/>
                <a:ext cx="2638238" cy="789584"/>
              </a:xfrm>
              <a:prstGeom prst="rect">
                <a:avLst/>
              </a:prstGeom>
              <a:blipFill>
                <a:blip r:embed="rId11"/>
                <a:stretch>
                  <a:fillRect l="-508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28" name="Rectangle"/>
          <p:cNvSpPr/>
          <p:nvPr/>
        </p:nvSpPr>
        <p:spPr>
          <a:xfrm>
            <a:off x="15297305" y="6453310"/>
            <a:ext cx="1071258" cy="6162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29" name="Equation"/>
              <p:cNvSpPr txBox="1"/>
              <p:nvPr/>
            </p:nvSpPr>
            <p:spPr>
              <a:xfrm>
                <a:off x="3624512" y="13127049"/>
                <a:ext cx="2626361" cy="319584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=7/19=0.37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29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624512" y="13127049"/>
                <a:ext cx="2626361" cy="319584"/>
              </a:xfrm>
              <a:prstGeom prst="rect">
                <a:avLst/>
              </a:prstGeom>
              <a:blipFill>
                <a:blip r:embed="rId12"/>
                <a:stretch>
                  <a:fillRect r="-9767" b="-69811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30" name="Rectangle"/>
          <p:cNvSpPr/>
          <p:nvPr/>
        </p:nvSpPr>
        <p:spPr>
          <a:xfrm>
            <a:off x="14050838" y="6453310"/>
            <a:ext cx="6257291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5019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31" name="Rectangle"/>
          <p:cNvSpPr/>
          <p:nvPr/>
        </p:nvSpPr>
        <p:spPr>
          <a:xfrm>
            <a:off x="13820188" y="10752856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4998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32" name="Rectangle"/>
          <p:cNvSpPr/>
          <p:nvPr/>
        </p:nvSpPr>
        <p:spPr>
          <a:xfrm>
            <a:off x="7980366" y="11676068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4998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3" fill="hold"/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7" fill="hold"/>
                                        <p:tgtEl>
                                          <p:spTgt spid="10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1" fill="hold"/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1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6" fill="hold"/>
                                        <p:tgtEl>
                                          <p:spTgt spid="10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0" fill="hold"/>
                                        <p:tgtEl>
                                          <p:spTgt spid="1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4" fill="hold"/>
                                        <p:tgtEl>
                                          <p:spTgt spid="1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2" fill="hold"/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9" fill="hold"/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08" grpId="0" animBg="1" advAuto="0"/>
      <p:bldP spid="1009" grpId="0" animBg="1" advAuto="0"/>
      <p:bldP spid="1010" grpId="0" animBg="1" advAuto="0"/>
      <p:bldP spid="1011" grpId="0" animBg="1" advAuto="0"/>
      <p:bldP spid="1012" grpId="0" animBg="1" advAuto="0"/>
      <p:bldP spid="1014" grpId="0" animBg="1" advAuto="0"/>
      <p:bldP spid="1015" grpId="0" animBg="1" advAuto="0"/>
      <p:bldP spid="1018" grpId="0" animBg="1" advAuto="0"/>
      <p:bldP spid="1021" grpId="0" animBg="1" advAuto="0"/>
      <p:bldP spid="1022" grpId="0" animBg="1" advAuto="0"/>
      <p:bldP spid="1023" grpId="0" animBg="1" advAuto="0"/>
      <p:bldP spid="1024" grpId="0" animBg="1" advAuto="0"/>
      <p:bldP spid="1025" grpId="0" animBg="1" advAuto="0"/>
      <p:bldP spid="1026" grpId="0" animBg="1" advAuto="0"/>
      <p:bldP spid="1027" grpId="0" animBg="1" advAuto="0"/>
      <p:bldP spid="1028" grpId="0" animBg="1" advAuto="0"/>
      <p:bldP spid="1029" grpId="0" animBg="1" advAuto="0"/>
      <p:bldP spid="1030" grpId="0" animBg="1" advAuto="0"/>
      <p:bldP spid="1031" grpId="0" animBg="1" advAuto="0"/>
      <p:bldP spid="1032" grpId="0" animBg="1" advAuto="0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4" name="Double-click to edi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pic>
        <p:nvPicPr>
          <p:cNvPr id="1035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73937" y="3825823"/>
            <a:ext cx="10923707" cy="350953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6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7805" y="8246316"/>
            <a:ext cx="10923707" cy="4050875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7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7550" y="4482039"/>
            <a:ext cx="5436892" cy="219710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38" name="Image" descr="Image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263579" y="9261736"/>
            <a:ext cx="7169700" cy="2020035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39" name="Text"/>
              <p:cNvSpPr txBox="1"/>
              <p:nvPr/>
            </p:nvSpPr>
            <p:spPr>
              <a:xfrm>
                <a:off x="1219336" y="7202011"/>
                <a:ext cx="6777485" cy="78958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>
                <a:lvl1pPr>
                  <a:defRPr sz="3600">
                    <a:solidFill>
                      <a:schemeClr val="accent1">
                        <a:lumOff val="-13575"/>
                      </a:schemeClr>
                    </a:solidFill>
                  </a:defRPr>
                </a:lvl1pPr>
              </a:lstStyle>
              <a:p>
                <a:pPr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𝑝𝑚𝑖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information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,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data</m:t>
                      </m:r>
                      <m:r>
                        <a:rPr sz="43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39" name="Text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19336" y="7202011"/>
                <a:ext cx="6777485" cy="789584"/>
              </a:xfrm>
              <a:prstGeom prst="rect">
                <a:avLst/>
              </a:prstGeom>
              <a:blipFill>
                <a:blip r:embed="rId6"/>
                <a:stretch>
                  <a:fillRect l="-6655" r="-386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40" name="Equation"/>
              <p:cNvSpPr txBox="1"/>
              <p:nvPr/>
            </p:nvSpPr>
            <p:spPr>
              <a:xfrm>
                <a:off x="8023558" y="7154512"/>
                <a:ext cx="4821543" cy="986182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log</m:t>
                          </m:r>
                        </m:e>
                        <m:sub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f>
                        <m:fPr>
                          <m:ctrlP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32</m:t>
                          </m:r>
                        </m:num>
                        <m:den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37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0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sz="36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58</m:t>
                          </m:r>
                        </m:den>
                      </m:f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0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.</m:t>
                      </m:r>
                      <m:r>
                        <a:rPr sz="36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58</m:t>
                      </m:r>
                    </m:oMath>
                  </m:oMathPara>
                </a14:m>
                <a:endParaRPr sz="3600">
                  <a:solidFill>
                    <a:srgbClr val="0076BA"/>
                  </a:solidFill>
                </a:endParaRPr>
              </a:p>
            </p:txBody>
          </p:sp>
        </mc:Choice>
        <mc:Fallback>
          <p:sp>
            <p:nvSpPr>
              <p:cNvPr id="1040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023558" y="7154512"/>
                <a:ext cx="4821543" cy="986182"/>
              </a:xfrm>
              <a:prstGeom prst="rect">
                <a:avLst/>
              </a:prstGeom>
              <a:blipFill>
                <a:blip r:embed="rId7"/>
                <a:stretch>
                  <a:fillRect r="-4298" b="-4969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41" name="Rectangle"/>
          <p:cNvSpPr/>
          <p:nvPr/>
        </p:nvSpPr>
        <p:spPr>
          <a:xfrm>
            <a:off x="7980366" y="10752856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42" name="Rectangle"/>
          <p:cNvSpPr/>
          <p:nvPr/>
        </p:nvSpPr>
        <p:spPr>
          <a:xfrm>
            <a:off x="7980366" y="11676068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4998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43" name="Rectangle"/>
          <p:cNvSpPr/>
          <p:nvPr/>
        </p:nvSpPr>
        <p:spPr>
          <a:xfrm>
            <a:off x="13820188" y="10752856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  <a:alpha val="49989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  <p:sp>
        <p:nvSpPr>
          <p:cNvPr id="1044" name="Actually 0.57 using full precision"/>
          <p:cNvSpPr txBox="1"/>
          <p:nvPr/>
        </p:nvSpPr>
        <p:spPr>
          <a:xfrm>
            <a:off x="15536893" y="7329913"/>
            <a:ext cx="5298631" cy="1399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3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Actually 0.57 using full precision</a:t>
            </a:r>
          </a:p>
        </p:txBody>
      </p:sp>
      <p:sp>
        <p:nvSpPr>
          <p:cNvPr id="1045" name="Rectangle"/>
          <p:cNvSpPr/>
          <p:nvPr/>
        </p:nvSpPr>
        <p:spPr>
          <a:xfrm>
            <a:off x="17821155" y="6759458"/>
            <a:ext cx="1071259" cy="616236"/>
          </a:xfrm>
          <a:prstGeom prst="rect">
            <a:avLst/>
          </a:prstGeom>
          <a:ln w="635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/>
          <a:lstStyle/>
          <a:p>
            <a:pPr>
              <a:defRPr sz="3000">
                <a:solidFill>
                  <a:schemeClr val="accent3">
                    <a:hueOff val="914337"/>
                    <a:satOff val="31515"/>
                    <a:lumOff val="-30790"/>
                  </a:schemeClr>
                </a:solidFill>
                <a:latin typeface="+mn-lt"/>
                <a:ea typeface="+mn-ea"/>
                <a:cs typeface="+mn-cs"/>
                <a:sym typeface="Helvetica Neue Medium"/>
              </a:defRPr>
            </a:pPr>
            <a:endParaRPr/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10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10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10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4" fill="hold"/>
                                        <p:tgtEl>
                                          <p:spTgt spid="10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8" fill="hold"/>
                                        <p:tgtEl>
                                          <p:spTgt spid="1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0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35" grpId="0" animBg="1" advAuto="0"/>
      <p:bldP spid="1037" grpId="0" animBg="1" advAuto="0"/>
      <p:bldP spid="1038" grpId="0" animBg="1" advAuto="0"/>
      <p:bldP spid="1039" grpId="0" animBg="1" advAuto="0"/>
      <p:bldP spid="1040" grpId="0" animBg="1" advAuto="0"/>
      <p:bldP spid="1041" grpId="0" animBg="1" advAuto="0"/>
      <p:bldP spid="1042" grpId="0" animBg="1" advAuto="0"/>
      <p:bldP spid="1043" grpId="0" animBg="1" advAuto="0"/>
      <p:bldP spid="1044" grpId="0" animBg="1" advAuto="0"/>
      <p:bldP spid="1045" grpId="0" animBg="1" advAuto="0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" name="Issues with PM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Issues with PMI</a:t>
            </a:r>
          </a:p>
        </p:txBody>
      </p:sp>
      <p:sp>
        <p:nvSpPr>
          <p:cNvPr id="1048" name="PMI is biased toward infrequent events…"/>
          <p:cNvSpPr txBox="1">
            <a:spLocks noGrp="1"/>
          </p:cNvSpPr>
          <p:nvPr>
            <p:ph type="body" sz="half" idx="1"/>
          </p:nvPr>
        </p:nvSpPr>
        <p:spPr>
          <a:xfrm>
            <a:off x="4873791" y="3928407"/>
            <a:ext cx="15609095" cy="7129798"/>
          </a:xfrm>
          <a:prstGeom prst="rect">
            <a:avLst/>
          </a:prstGeom>
        </p:spPr>
        <p:txBody>
          <a:bodyPr/>
          <a:lstStyle/>
          <a:p>
            <a:pPr marL="0" indent="0" defTabSz="457200">
              <a:lnSpc>
                <a:spcPts val="6300"/>
              </a:lnSpc>
              <a:spcBef>
                <a:spcPts val="0"/>
              </a:spcBef>
              <a:buSzTx/>
              <a:buNone/>
              <a:defRPr sz="4400"/>
            </a:pPr>
            <a:r>
              <a:t>PMI is biased toward infrequent events</a:t>
            </a:r>
          </a:p>
          <a:p>
            <a:pPr marL="812806" lvl="1" indent="-812806" defTabSz="457200">
              <a:lnSpc>
                <a:spcPts val="6300"/>
              </a:lnSpc>
              <a:spcBef>
                <a:spcPts val="0"/>
              </a:spcBef>
              <a:buSzPct val="100000"/>
              <a:defRPr sz="4400"/>
            </a:pPr>
            <a:r>
              <a:t>Very rare words have very high PMI values</a:t>
            </a:r>
          </a:p>
          <a:p>
            <a:pPr marL="0" indent="0" defTabSz="457200">
              <a:lnSpc>
                <a:spcPts val="6300"/>
              </a:lnSpc>
              <a:spcBef>
                <a:spcPts val="0"/>
              </a:spcBef>
              <a:buSzTx/>
              <a:buNone/>
              <a:defRPr sz="4400"/>
            </a:pPr>
            <a:endParaRPr/>
          </a:p>
          <a:p>
            <a:pPr marL="0" indent="0" defTabSz="457200">
              <a:lnSpc>
                <a:spcPts val="6300"/>
              </a:lnSpc>
              <a:spcBef>
                <a:spcPts val="0"/>
              </a:spcBef>
              <a:buSzTx/>
              <a:buNone/>
              <a:defRPr sz="4400"/>
            </a:pPr>
            <a:endParaRPr/>
          </a:p>
          <a:p>
            <a:pPr marL="0" indent="0" defTabSz="457200">
              <a:lnSpc>
                <a:spcPts val="6300"/>
              </a:lnSpc>
              <a:spcBef>
                <a:spcPts val="0"/>
              </a:spcBef>
              <a:buSzTx/>
              <a:buNone/>
              <a:defRPr sz="4400"/>
            </a:pPr>
            <a:r>
              <a:t>Two solutions:</a:t>
            </a:r>
          </a:p>
          <a:p>
            <a:pPr marL="775847" indent="-775847" defTabSz="457200">
              <a:lnSpc>
                <a:spcPts val="6300"/>
              </a:lnSpc>
              <a:spcBef>
                <a:spcPts val="0"/>
              </a:spcBef>
              <a:buSzPct val="100000"/>
              <a:defRPr sz="4400"/>
            </a:pPr>
            <a:r>
              <a:t>Weighted PMI: Give rare words slightly higher probabilities</a:t>
            </a:r>
          </a:p>
          <a:p>
            <a:pPr marL="775847" indent="-775847" defTabSz="457200">
              <a:lnSpc>
                <a:spcPts val="6300"/>
              </a:lnSpc>
              <a:spcBef>
                <a:spcPts val="0"/>
              </a:spcBef>
              <a:buSzPct val="100000"/>
              <a:defRPr sz="4400"/>
            </a:pPr>
            <a:r>
              <a:t>Use add-one smoothing (which has a similar effect)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48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" fill="hold"/>
                                        <p:tgtEl>
                                          <p:spTgt spid="10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" fill="hold"/>
                                        <p:tgtEl>
                                          <p:spTgt spid="104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4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4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4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4" fill="hold"/>
                                        <p:tgtEl>
                                          <p:spTgt spid="104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04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48" grpId="0" build="p" bldLvl="5" animBg="1" advAuto="0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0" name="Weighting PM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Weighting PMI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51" name="Give rare context words slightly higher probability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949002" y="3039101"/>
                <a:ext cx="16086337" cy="1668302"/>
              </a:xfrm>
              <a:prstGeom prst="rect">
                <a:avLst/>
              </a:prstGeom>
            </p:spPr>
            <p:txBody>
              <a:bodyPr>
                <a:normAutofit fontScale="77500" lnSpcReduction="20000"/>
              </a:bodyPr>
              <a:lstStyle/>
              <a:p>
                <a:pPr marL="0" indent="0" defTabSz="457200">
                  <a:lnSpc>
                    <a:spcPts val="6300"/>
                  </a:lnSpc>
                  <a:spcBef>
                    <a:spcPts val="0"/>
                  </a:spcBef>
                  <a:buSzTx/>
                  <a:buNone/>
                  <a:defRPr sz="4400"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Give rare context words slightly higher probability</a:t>
                </a:r>
                <a:r>
                  <a:rPr>
                    <a:solidFill>
                      <a:srgbClr val="E48312"/>
                    </a:solidFill>
                  </a:rPr>
                  <a:t> </a:t>
                </a:r>
              </a:p>
              <a:p>
                <a:pPr marL="0" indent="0" defTabSz="457200">
                  <a:lnSpc>
                    <a:spcPts val="6300"/>
                  </a:lnSpc>
                  <a:spcBef>
                    <a:spcPts val="0"/>
                  </a:spcBef>
                  <a:buSzTx/>
                  <a:buNone/>
                  <a:defRPr sz="4400"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t>Raise the context probabilities to </a:t>
                </a:r>
                <a14:m>
                  <m:oMath xmlns:m="http://schemas.openxmlformats.org/officeDocument/2006/math"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𝛼</m:t>
                    </m:r>
                    <m:r>
                      <a:rPr sz="53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=0.75</m:t>
                    </m:r>
                  </m:oMath>
                </a14:m>
                <a:r>
                  <a:t>:</a:t>
                </a:r>
                <a:endParaRPr>
                  <a:solidFill>
                    <a:srgbClr val="000000"/>
                  </a:solidFill>
                </a:endParaRPr>
              </a:p>
            </p:txBody>
          </p:sp>
        </mc:Choice>
        <mc:Fallback>
          <p:sp>
            <p:nvSpPr>
              <p:cNvPr id="1051" name="Give rare context words slightly higher probability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949002" y="3039101"/>
                <a:ext cx="16086337" cy="1668302"/>
              </a:xfrm>
              <a:prstGeom prst="rect">
                <a:avLst/>
              </a:prstGeom>
              <a:blipFill>
                <a:blip r:embed="rId2"/>
                <a:stretch>
                  <a:fillRect l="-1175" b="-113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052" name="Image" descr="Image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58836" y="4682522"/>
            <a:ext cx="9266329" cy="329389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53" name="Image" descr="Image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64358" y="9752787"/>
            <a:ext cx="7552782" cy="3217332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054" name="This helps because   for rare…"/>
              <p:cNvSpPr txBox="1"/>
              <p:nvPr/>
            </p:nvSpPr>
            <p:spPr>
              <a:xfrm>
                <a:off x="4999802" y="8220701"/>
                <a:ext cx="11782670" cy="166830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 fontScale="77500" lnSpcReduction="20000"/>
              </a:bodyPr>
              <a:lstStyle/>
              <a:p>
                <a:pPr algn="l" defTabSz="457200">
                  <a:lnSpc>
                    <a:spcPts val="6300"/>
                  </a:lnSpc>
                  <a:defRPr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>
                    <a:solidFill>
                      <a:srgbClr val="E48312"/>
                    </a:solidFill>
                  </a:rPr>
                  <a:t> </a:t>
                </a:r>
                <a:r>
                  <a:t>This helps because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750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75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𝑃</m:t>
                        </m:r>
                      </m:e>
                      <m:sub>
                        <m:r>
                          <a:rPr sz="4750" i="1">
                            <a:solidFill>
                              <a:srgbClr val="3F3F3F"/>
                            </a:solidFill>
                            <a:latin typeface="Cambria Math" panose="02040503050406030204" pitchFamily="18" charset="0"/>
                          </a:rPr>
                          <m:t>𝛼</m:t>
                        </m:r>
                      </m:sub>
                    </m:sSub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)&gt;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t> for rare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endParaRPr>
                  <a:solidFill>
                    <a:srgbClr val="000000"/>
                  </a:solidFill>
                  <a:latin typeface="Times Roman"/>
                  <a:ea typeface="Times Roman"/>
                  <a:cs typeface="Times Roman"/>
                  <a:sym typeface="Times Roman"/>
                </a:endParaRPr>
              </a:p>
              <a:p>
                <a:pPr algn="l" defTabSz="457200">
                  <a:lnSpc>
                    <a:spcPts val="6300"/>
                  </a:lnSpc>
                  <a:defRPr>
                    <a:solidFill>
                      <a:srgbClr val="404040"/>
                    </a:solidFill>
                    <a:latin typeface="Calibri"/>
                    <a:ea typeface="Calibri"/>
                    <a:cs typeface="Calibri"/>
                    <a:sym typeface="Calibri"/>
                  </a:defRPr>
                </a:pPr>
                <a:r>
                  <a:rPr>
                    <a:solidFill>
                      <a:srgbClr val="E48312"/>
                    </a:solidFill>
                  </a:rPr>
                  <a:t> </a:t>
                </a:r>
                <a:r>
                  <a:t>Consider two events,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)=.99</m:t>
                    </m:r>
                  </m:oMath>
                </a14:m>
                <a:r>
                  <a:t> and </a:t>
                </a:r>
                <a14:m>
                  <m:oMath xmlns:m="http://schemas.openxmlformats.org/officeDocument/2006/math"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sz="4750" i="1">
                        <a:solidFill>
                          <a:srgbClr val="3F3F3F"/>
                        </a:solidFill>
                        <a:latin typeface="Cambria Math" panose="02040503050406030204" pitchFamily="18" charset="0"/>
                      </a:rPr>
                      <m:t>)=.01</m:t>
                    </m:r>
                  </m:oMath>
                </a14:m>
                <a:endParaRPr/>
              </a:p>
            </p:txBody>
          </p:sp>
        </mc:Choice>
        <mc:Fallback>
          <p:sp>
            <p:nvSpPr>
              <p:cNvPr id="1054" name="This helps because   for rar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99802" y="8220701"/>
                <a:ext cx="11782670" cy="1668302"/>
              </a:xfrm>
              <a:prstGeom prst="rect">
                <a:avLst/>
              </a:prstGeom>
              <a:blipFill>
                <a:blip r:embed="rId5"/>
                <a:stretch>
                  <a:fillRect l="-776" b="-10989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57" name="Group"/>
          <p:cNvGrpSpPr/>
          <p:nvPr/>
        </p:nvGrpSpPr>
        <p:grpSpPr>
          <a:xfrm>
            <a:off x="15547578" y="6122022"/>
            <a:ext cx="8139991" cy="2029446"/>
            <a:chOff x="0" y="0"/>
            <a:chExt cx="8139990" cy="2029444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55" name="is low, so PPMI is high…"/>
                <p:cNvSpPr txBox="1"/>
                <p:nvPr/>
              </p:nvSpPr>
              <p:spPr>
                <a:xfrm>
                  <a:off x="793190" y="255309"/>
                  <a:ext cx="7346801" cy="177413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 algn="l">
                    <a:spcBef>
                      <a:spcPts val="1400"/>
                    </a:spcBef>
                    <a:defRPr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14:m>
                    <m:oMath xmlns:m="http://schemas.openxmlformats.org/officeDocument/2006/math"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t> is low, so PPMI is high</a:t>
                  </a:r>
                </a:p>
                <a:p>
                  <a:pPr algn="l">
                    <a:spcBef>
                      <a:spcPts val="1400"/>
                    </a:spcBef>
                    <a:defRPr>
                      <a:solidFill>
                        <a:schemeClr val="accent1">
                          <a:lumOff val="-13575"/>
                        </a:schemeClr>
                      </a:solidFill>
                      <a:latin typeface="Georgia"/>
                      <a:ea typeface="Georgia"/>
                      <a:cs typeface="Georgia"/>
                      <a:sym typeface="Georgia"/>
                    </a:defRPr>
                  </a:pPr>
                  <a:r>
                    <a:t>Higher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900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sz="49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sz="49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)</m:t>
                      </m:r>
                    </m:oMath>
                  </a14:m>
                  <a:r>
                    <a:t> </a:t>
                  </a:r>
                  <a14:m>
                    <m:oMath xmlns:m="http://schemas.openxmlformats.org/officeDocument/2006/math">
                      <m:r>
                        <a:rPr sz="4900" i="1">
                          <a:solidFill>
                            <a:srgbClr val="0075B9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</m:oMath>
                  </a14:m>
                  <a:r>
                    <a:t> lower </a:t>
                  </a:r>
                  <a14:m>
                    <m:oMath xmlns:m="http://schemas.openxmlformats.org/officeDocument/2006/math">
                      <m:sSub>
                        <m:sSubPr>
                          <m:ctrlPr>
                            <a:rPr sz="4900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sz="49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PPMI</m:t>
                          </m:r>
                        </m:e>
                        <m:sub>
                          <m:r>
                            <a:rPr sz="4900" i="1">
                              <a:solidFill>
                                <a:srgbClr val="0075B9"/>
                              </a:solidFill>
                              <a:latin typeface="Cambria Math" panose="02040503050406030204" pitchFamily="18" charset="0"/>
                            </a:rPr>
                            <m:t>𝛼</m:t>
                          </m:r>
                        </m:sub>
                      </m:sSub>
                    </m:oMath>
                  </a14:m>
                  <a:endParaRPr>
                    <a:solidFill>
                      <a:srgbClr val="0076BA"/>
                    </a:solidFill>
                  </a:endParaRPr>
                </a:p>
              </p:txBody>
            </p:sp>
          </mc:Choice>
          <mc:Fallback>
            <p:sp>
              <p:nvSpPr>
                <p:cNvPr id="1055" name="is low, so PPMI is high…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93190" y="255309"/>
                  <a:ext cx="7346801" cy="1774136"/>
                </a:xfrm>
                <a:prstGeom prst="rect">
                  <a:avLst/>
                </a:prstGeom>
                <a:blipFill>
                  <a:blip r:embed="rId6"/>
                  <a:stretch>
                    <a:fillRect l="-3651" t="-3436" r="-166" b="-14777"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056" name="Line"/>
            <p:cNvSpPr/>
            <p:nvPr/>
          </p:nvSpPr>
          <p:spPr>
            <a:xfrm flipH="1" flipV="1">
              <a:off x="0" y="0"/>
              <a:ext cx="675079" cy="675079"/>
            </a:xfrm>
            <a:prstGeom prst="line">
              <a:avLst/>
            </a:prstGeom>
            <a:noFill/>
            <a:ln w="508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1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52" grpId="0" animBg="1" advAuto="0"/>
      <p:bldP spid="1053" grpId="0" animBg="1" advAuto="0"/>
      <p:bldP spid="1054" grpId="0" animBg="1" advAuto="0"/>
      <p:bldP spid="1057" grpId="0" animBg="1" advAuto="0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9" name="Smoothed PPMI (add-2)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Smoothed PPMI (add-2)</a:t>
            </a:r>
          </a:p>
        </p:txBody>
      </p:sp>
      <p:pic>
        <p:nvPicPr>
          <p:cNvPr id="1060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18951" y="3678420"/>
            <a:ext cx="13159019" cy="8665090"/>
          </a:xfrm>
          <a:prstGeom prst="rect">
            <a:avLst/>
          </a:prstGeom>
          <a:ln w="12700">
            <a:miter lim="400000"/>
          </a:ln>
        </p:spPr>
      </p:pic>
      <p:sp>
        <p:nvSpPr>
          <p:cNvPr id="1061" name="Use Laplace smoothing…"/>
          <p:cNvSpPr txBox="1"/>
          <p:nvPr/>
        </p:nvSpPr>
        <p:spPr>
          <a:xfrm>
            <a:off x="1083567" y="2793369"/>
            <a:ext cx="5934978" cy="3574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241300" indent="-228600" algn="l">
              <a:spcBef>
                <a:spcPts val="1600"/>
              </a:spcBef>
              <a:buSzPct val="100000"/>
              <a:buChar char="•"/>
              <a:defRPr sz="42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Use Laplace smoothing</a:t>
            </a:r>
          </a:p>
          <a:p>
            <a:pPr marL="241300" indent="-228600" algn="l">
              <a:spcBef>
                <a:spcPts val="1600"/>
              </a:spcBef>
              <a:buSzPct val="100000"/>
              <a:buChar char="•"/>
              <a:defRPr sz="42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Alternative to using weighted PPMI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60" grpId="0" animBg="1" advAuto="0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3" name="PPMI versus add-2 smoothed PPMI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PPMI versus add-2 smoothed PPMI</a:t>
            </a:r>
          </a:p>
        </p:txBody>
      </p:sp>
      <p:pic>
        <p:nvPicPr>
          <p:cNvPr id="1064" name="Image" descr="Image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55227" y="3523940"/>
            <a:ext cx="12816483" cy="8507963"/>
          </a:xfrm>
          <a:prstGeom prst="rect">
            <a:avLst/>
          </a:prstGeom>
          <a:ln w="12700">
            <a:miter lim="400000"/>
          </a:ln>
        </p:spPr>
      </p:pic>
    </p:spTree>
  </p:cSld>
  <p:clrMapOvr>
    <a:masterClrMapping/>
  </p:clrMapOvr>
  <p:transition spd="med"/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6" name="Building word vectors by counting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Building word vectors by counting</a:t>
            </a:r>
          </a:p>
        </p:txBody>
      </p:sp>
      <p:sp>
        <p:nvSpPr>
          <p:cNvPr id="1067" name="Build word-word (term-context) co-occurrence matrix"/>
          <p:cNvSpPr txBox="1">
            <a:spLocks noGrp="1"/>
          </p:cNvSpPr>
          <p:nvPr>
            <p:ph type="body" sz="quarter" idx="1"/>
          </p:nvPr>
        </p:nvSpPr>
        <p:spPr>
          <a:xfrm>
            <a:off x="4387453" y="2841576"/>
            <a:ext cx="15609094" cy="1947254"/>
          </a:xfrm>
          <a:prstGeom prst="rect">
            <a:avLst/>
          </a:prstGeom>
        </p:spPr>
        <p:txBody>
          <a:bodyPr/>
          <a:lstStyle/>
          <a:p>
            <a:r>
              <a:t>Build word-word (term-context) co-occurrence matrix </a:t>
            </a:r>
          </a:p>
        </p:txBody>
      </p:sp>
      <p:grpSp>
        <p:nvGrpSpPr>
          <p:cNvPr id="1070" name="Group"/>
          <p:cNvGrpSpPr/>
          <p:nvPr/>
        </p:nvGrpSpPr>
        <p:grpSpPr>
          <a:xfrm>
            <a:off x="3016786" y="4265441"/>
            <a:ext cx="14261777" cy="5656032"/>
            <a:chOff x="0" y="0"/>
            <a:chExt cx="14261775" cy="5656031"/>
          </a:xfrm>
        </p:grpSpPr>
        <p:pic>
          <p:nvPicPr>
            <p:cNvPr id="1068" name="Screen Shot 2019-09-26 at 9.17.06 AM.png" descr="Screen Shot 2019-09-26 at 9.17.06 AM.png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47953" y="0"/>
              <a:ext cx="11443018" cy="2702844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  <p:pic>
          <p:nvPicPr>
            <p:cNvPr id="1069" name="Screen Shot 2019-09-26 at 9.17.32 AM.png" descr="Screen Shot 2019-09-26 at 9.17.32 AM.png"/>
            <p:cNvPicPr>
              <a:picLocks noChangeAspect="1"/>
            </p:cNvPicPr>
            <p:nvPr/>
          </p:nvPicPr>
          <p:blipFill>
            <a:blip r:embed="rId3"/>
            <a:srcRect t="12786"/>
            <a:stretch>
              <a:fillRect/>
            </a:stretch>
          </p:blipFill>
          <p:spPr>
            <a:xfrm>
              <a:off x="0" y="3137542"/>
              <a:ext cx="14261776" cy="2518490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71" name="Raw counts"/>
          <p:cNvSpPr txBox="1"/>
          <p:nvPr/>
        </p:nvSpPr>
        <p:spPr>
          <a:xfrm>
            <a:off x="16387667" y="4576205"/>
            <a:ext cx="6570472" cy="2328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Raw counts</a:t>
            </a:r>
          </a:p>
        </p:txBody>
      </p:sp>
      <p:pic>
        <p:nvPicPr>
          <p:cNvPr id="1072" name="Screen Shot 2019-09-26 at 9.14.52 AM.png" descr="Screen Shot 2019-09-26 at 9.14.52 AM.png"/>
          <p:cNvPicPr>
            <a:picLocks noChangeAspect="1"/>
          </p:cNvPicPr>
          <p:nvPr/>
        </p:nvPicPr>
        <p:blipFill>
          <a:blip r:embed="rId4"/>
          <a:srcRect t="14231"/>
          <a:stretch>
            <a:fillRect/>
          </a:stretch>
        </p:blipFill>
        <p:spPr>
          <a:xfrm>
            <a:off x="14967956" y="10793632"/>
            <a:ext cx="8396820" cy="1554492"/>
          </a:xfrm>
          <a:prstGeom prst="rect">
            <a:avLst/>
          </a:prstGeom>
          <a:ln w="12700">
            <a:miter lim="400000"/>
          </a:ln>
        </p:spPr>
      </p:pic>
      <p:sp>
        <p:nvSpPr>
          <p:cNvPr id="1073" name="Positive pointwise…"/>
          <p:cNvSpPr txBox="1"/>
          <p:nvPr/>
        </p:nvSpPr>
        <p:spPr>
          <a:xfrm>
            <a:off x="16888553" y="7593084"/>
            <a:ext cx="6570471" cy="2328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Positive pointwise </a:t>
            </a:r>
          </a:p>
          <a:p>
            <a:pPr>
              <a:spcBef>
                <a:spcPts val="1400"/>
              </a:spcBef>
              <a:defRPr sz="42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mutual information</a:t>
            </a:r>
          </a:p>
        </p:txBody>
      </p:sp>
      <p:sp>
        <p:nvSpPr>
          <p:cNvPr id="1074" name="Practically, use smoothed/weighted PPMI to help with rare words having very high PMI values"/>
          <p:cNvSpPr txBox="1"/>
          <p:nvPr/>
        </p:nvSpPr>
        <p:spPr>
          <a:xfrm>
            <a:off x="2979924" y="9837530"/>
            <a:ext cx="12286426" cy="2328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solidFill>
                  <a:srgbClr val="5E5E5E"/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Practically, use smoothed/weighted PPMI to help with rare words having very high PMI values</a:t>
            </a:r>
          </a:p>
        </p:txBody>
      </p:sp>
      <p:sp>
        <p:nvSpPr>
          <p:cNvPr id="1075" name="Vectors are very long, sparse.  How to get short dense vectors?"/>
          <p:cNvSpPr txBox="1"/>
          <p:nvPr/>
        </p:nvSpPr>
        <p:spPr>
          <a:xfrm>
            <a:off x="2876931" y="11351317"/>
            <a:ext cx="11901270" cy="232838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>
              <a:spcBef>
                <a:spcPts val="1400"/>
              </a:spcBef>
              <a:defRPr sz="42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Vectors are very long, sparse.  How to get short dense vectors?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10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7" fill="hold"/>
                                        <p:tgtEl>
                                          <p:spTgt spid="10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1" fill="hold"/>
                                        <p:tgtEl>
                                          <p:spTgt spid="1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5" fill="hold"/>
                                        <p:tgtEl>
                                          <p:spTgt spid="1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70" grpId="0" animBg="1" advAuto="0"/>
      <p:bldP spid="1071" grpId="0" animBg="1" advAuto="0"/>
      <p:bldP spid="1072" grpId="0" animBg="1" advAuto="0"/>
      <p:bldP spid="1073" grpId="0" animBg="1" advAuto="0"/>
      <p:bldP spid="1074" grpId="0" animBg="1" advAuto="0"/>
      <p:bldP spid="1075" grpId="0" animBg="1" advAuto="0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7" name="Sparse vs dense vectors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Sparse vs dense vectors</a:t>
            </a:r>
          </a:p>
        </p:txBody>
      </p:sp>
      <p:sp>
        <p:nvSpPr>
          <p:cNvPr id="107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66</a:t>
            </a:fld>
            <a:endParaRPr/>
          </a:p>
        </p:txBody>
      </p:sp>
      <p:sp>
        <p:nvSpPr>
          <p:cNvPr id="1079" name="Vectors we get from word-word (term-context) co-occurrence matrix are…"/>
          <p:cNvSpPr txBox="1"/>
          <p:nvPr/>
        </p:nvSpPr>
        <p:spPr>
          <a:xfrm>
            <a:off x="3513047" y="3804236"/>
            <a:ext cx="18470864" cy="678722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25000" lnSpcReduction="20000"/>
          </a:bodyPr>
          <a:lstStyle/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Vectors we get from word-word (term-context) co-occurrence matrix are</a:t>
            </a:r>
            <a:endParaRPr sz="912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b="1">
                <a:solidFill>
                  <a:schemeClr val="accent1">
                    <a:lumOff val="-13575"/>
                  </a:schemeClr>
                </a:solidFill>
              </a:rPr>
              <a:t>long</a:t>
            </a:r>
            <a:r>
              <a:t> (length |V|= 20,000 to 50,000)</a:t>
            </a:r>
            <a:endParaRPr sz="912">
              <a:solidFill>
                <a:srgbClr val="000000"/>
              </a:solidFill>
              <a:latin typeface="Times Roman"/>
              <a:ea typeface="Times Roman"/>
              <a:cs typeface="Times Roman"/>
              <a:sym typeface="Times Roman"/>
            </a:endParaRP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rPr b="1">
                <a:solidFill>
                  <a:schemeClr val="accent1">
                    <a:lumOff val="-13575"/>
                  </a:schemeClr>
                </a:solidFill>
              </a:rPr>
              <a:t>sparse</a:t>
            </a:r>
            <a:r>
              <a:rPr b="1"/>
              <a:t> </a:t>
            </a:r>
            <a:r>
              <a:t>(most elements are zero)</a:t>
            </a:r>
          </a:p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True for both one-hot and PPMI vectors</a:t>
            </a:r>
          </a:p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endParaRPr/>
          </a:p>
          <a:p>
            <a:pPr algn="l" defTabSz="347472">
              <a:lnSpc>
                <a:spcPts val="7300"/>
              </a:lnSpc>
              <a:spcBef>
                <a:spcPts val="700"/>
              </a:spcBef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Alternative: we want to represent words as </a:t>
            </a: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short</a:t>
            </a:r>
            <a:r>
              <a:t> (50-300 dimensional) </a:t>
            </a:r>
          </a:p>
          <a:p>
            <a:pPr marL="675640" indent="-675640" algn="l" defTabSz="347472">
              <a:lnSpc>
                <a:spcPts val="7300"/>
              </a:lnSpc>
              <a:spcBef>
                <a:spcPts val="700"/>
              </a:spcBef>
              <a:buSzPct val="100000"/>
              <a:buChar char="•"/>
              <a:defRPr sz="4864">
                <a:solidFill>
                  <a:srgbClr val="404040"/>
                </a:solidFill>
                <a:latin typeface="Calibri"/>
                <a:ea typeface="Calibri"/>
                <a:cs typeface="Calibri"/>
                <a:sym typeface="Calibri"/>
              </a:defRPr>
            </a:pPr>
            <a:r>
              <a:t> </a:t>
            </a:r>
            <a:r>
              <a:rPr b="1">
                <a:solidFill>
                  <a:schemeClr val="accent1">
                    <a:lumOff val="-13575"/>
                  </a:schemeClr>
                </a:solidFill>
              </a:rPr>
              <a:t>dense</a:t>
            </a:r>
            <a:r>
              <a:t> (real-valued) vectors</a:t>
            </a:r>
          </a:p>
        </p:txBody>
      </p:sp>
      <p:pic>
        <p:nvPicPr>
          <p:cNvPr id="1080" name="Image" descr="Image"/>
          <p:cNvPicPr>
            <a:picLocks noChangeAspect="1"/>
          </p:cNvPicPr>
          <p:nvPr/>
        </p:nvPicPr>
        <p:blipFill>
          <a:blip r:embed="rId2"/>
          <a:srcRect l="54820" b="20251"/>
          <a:stretch>
            <a:fillRect/>
          </a:stretch>
        </p:blipFill>
        <p:spPr>
          <a:xfrm>
            <a:off x="17088687" y="7170766"/>
            <a:ext cx="6295573" cy="5035843"/>
          </a:xfrm>
          <a:prstGeom prst="rect">
            <a:avLst/>
          </a:prstGeom>
          <a:ln w="12700">
            <a:miter lim="400000"/>
          </a:ln>
        </p:spPr>
      </p:pic>
      <p:pic>
        <p:nvPicPr>
          <p:cNvPr id="1081" name="text_employees_=.pdf" descr="text_employees_=.pd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3275" y="8401199"/>
            <a:ext cx="3112229" cy="3299303"/>
          </a:xfrm>
          <a:prstGeom prst="rect">
            <a:avLst/>
          </a:prstGeom>
          <a:ln w="12700">
            <a:miter lim="400000"/>
          </a:ln>
        </p:spPr>
      </p:pic>
      <p:sp>
        <p:nvSpPr>
          <p:cNvPr id="1082" name="More memory efficient and easier to work with…"/>
          <p:cNvSpPr txBox="1"/>
          <p:nvPr/>
        </p:nvSpPr>
        <p:spPr>
          <a:xfrm>
            <a:off x="3271619" y="11002414"/>
            <a:ext cx="11707089" cy="14480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More memory efficient and easier to work with</a:t>
            </a:r>
          </a:p>
          <a:p>
            <a:r>
              <a:t>Capture similarity between words better</a:t>
            </a:r>
          </a:p>
        </p:txBody>
      </p:sp>
      <p:sp>
        <p:nvSpPr>
          <p:cNvPr id="1083" name="Distributed representation"/>
          <p:cNvSpPr txBox="1"/>
          <p:nvPr/>
        </p:nvSpPr>
        <p:spPr>
          <a:xfrm>
            <a:off x="15274439" y="6804033"/>
            <a:ext cx="6624803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Distributed representation</a:t>
            </a:r>
          </a:p>
        </p:txBody>
      </p:sp>
    </p:spTree>
  </p:cSld>
  <p:clrMapOvr>
    <a:masterClrMapping/>
  </p:clrMapOvr>
  <p:transition spd="med"/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5" name="Why dense vector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dense vectors?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086" name="Short vectors are easier to use as features in ML system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Short vectors are easier to use as features in ML systems</a:t>
                </a:r>
              </a:p>
              <a:p>
                <a:r>
                  <a:t>Dense vectors may generalize better than storing explicit counts</a:t>
                </a:r>
              </a:p>
              <a:p>
                <a:r>
                  <a:t>They do better at capturing synonymy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co-occurs with “car”,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co-occurs with “automobile”</a:t>
                </a:r>
                <a:endParaRPr sz="3900"/>
              </a:p>
            </p:txBody>
          </p:sp>
        </mc:Choice>
        <mc:Fallback>
          <p:sp>
            <p:nvSpPr>
              <p:cNvPr id="1086" name="Short vectors are easier to use as features in ML system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  <a:blipFill>
                <a:blip r:embed="rId2"/>
                <a:stretch>
                  <a:fillRect l="-2170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89" name="Group"/>
          <p:cNvGrpSpPr/>
          <p:nvPr/>
        </p:nvGrpSpPr>
        <p:grpSpPr>
          <a:xfrm>
            <a:off x="4185375" y="8181002"/>
            <a:ext cx="18781186" cy="3234059"/>
            <a:chOff x="0" y="0"/>
            <a:chExt cx="18781184" cy="3234057"/>
          </a:xfrm>
        </p:grpSpPr>
        <p:sp>
          <p:nvSpPr>
            <p:cNvPr id="1087" name="Different methods for getting dense vectors:…"/>
            <p:cNvSpPr txBox="1"/>
            <p:nvPr/>
          </p:nvSpPr>
          <p:spPr>
            <a:xfrm>
              <a:off x="0" y="0"/>
              <a:ext cx="11407589" cy="3234058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rmAutofit/>
            </a:bodyPr>
            <a:lstStyle/>
            <a:p>
              <a:pPr marL="603250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pPr>
              <a:r>
                <a:t>Different methods for getting dense vectors:</a:t>
              </a:r>
            </a:p>
            <a:p>
              <a:pPr marL="1492250" lvl="2" indent="-603250" algn="l">
                <a:spcBef>
                  <a:spcPts val="1400"/>
                </a:spcBef>
                <a:buSzPct val="145000"/>
                <a:buChar char="•"/>
                <a:defRPr sz="3800">
                  <a:solidFill>
                    <a:schemeClr val="accent1">
                      <a:lumOff val="-13575"/>
                    </a:schemeClr>
                  </a:solidFill>
                  <a:latin typeface="Georgia"/>
                  <a:ea typeface="Georgia"/>
                  <a:cs typeface="Georgia"/>
                  <a:sym typeface="Georgia"/>
                </a:defRPr>
              </a:pPr>
              <a:r>
                <a:t>Singular value decomposition (SVD)</a:t>
              </a:r>
            </a:p>
            <a:p>
              <a:pPr marL="1492250" lvl="2" indent="-603250" algn="l">
                <a:spcBef>
                  <a:spcPts val="1400"/>
                </a:spcBef>
                <a:buSzPct val="145000"/>
                <a:buChar char="•"/>
                <a:defRPr sz="3800">
                  <a:latin typeface="Georgia"/>
                  <a:ea typeface="Georgia"/>
                  <a:cs typeface="Georgia"/>
                  <a:sym typeface="Georgia"/>
                </a:defRPr>
              </a:pPr>
              <a:r>
                <a:t>word2vec and friends: “learn” the vectors!</a:t>
              </a:r>
            </a:p>
          </p:txBody>
        </p:sp>
        <p:pic>
          <p:nvPicPr>
            <p:cNvPr id="1088" name="pasted-movie.png" descr="pasted-movie.png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11107435" y="204361"/>
              <a:ext cx="7673750" cy="2825336"/>
            </a:xfrm>
            <a:prstGeom prst="rect">
              <a:avLst/>
            </a:prstGeom>
            <a:ln w="12700" cap="flat">
              <a:noFill/>
              <a:miter lim="400000"/>
            </a:ln>
            <a:effectLst/>
          </p:spPr>
        </p:pic>
      </p:grpSp>
      <p:sp>
        <p:nvSpPr>
          <p:cNvPr id="1090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67</a:t>
            </a:fld>
            <a:endParaRPr/>
          </a:p>
        </p:txBody>
      </p:sp>
      <p:sp>
        <p:nvSpPr>
          <p:cNvPr id="1091" name="Text"/>
          <p:cNvSpPr txBox="1"/>
          <p:nvPr/>
        </p:nvSpPr>
        <p:spPr>
          <a:xfrm>
            <a:off x="14914581" y="10940525"/>
            <a:ext cx="155576" cy="141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092" name="Count based method…"/>
          <p:cNvSpPr txBox="1"/>
          <p:nvPr/>
        </p:nvSpPr>
        <p:spPr>
          <a:xfrm>
            <a:off x="16060013" y="11567770"/>
            <a:ext cx="6068616" cy="12222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 sz="3600">
                <a:solidFill>
                  <a:srgbClr val="5E5E5E"/>
                </a:solidFill>
              </a:defRPr>
            </a:pPr>
            <a:r>
              <a:t>Count based method </a:t>
            </a:r>
          </a:p>
          <a:p>
            <a:pPr>
              <a:defRPr sz="3600">
                <a:solidFill>
                  <a:srgbClr val="5E5E5E"/>
                </a:solidFill>
              </a:defRPr>
            </a:pPr>
            <a:r>
              <a:t>(known since the 1990s)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89" grpId="0" animBg="1" advAuto="0"/>
      <p:bldP spid="1092" grpId="0" animBg="1" advAuto="0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4" name="page1image9569296.png" descr="page1image956929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47459" y="6467036"/>
            <a:ext cx="12025459" cy="3335239"/>
          </a:xfrm>
          <a:prstGeom prst="rect">
            <a:avLst/>
          </a:prstGeom>
          <a:ln w="12700">
            <a:miter lim="400000"/>
          </a:ln>
        </p:spPr>
      </p:pic>
      <p:grpSp>
        <p:nvGrpSpPr>
          <p:cNvPr id="1098" name="Group"/>
          <p:cNvGrpSpPr/>
          <p:nvPr/>
        </p:nvGrpSpPr>
        <p:grpSpPr>
          <a:xfrm>
            <a:off x="5188545" y="9712046"/>
            <a:ext cx="1927620" cy="3451245"/>
            <a:chOff x="0" y="0"/>
            <a:chExt cx="1927619" cy="3451243"/>
          </a:xfrm>
        </p:grpSpPr>
        <p:sp>
          <p:nvSpPr>
            <p:cNvPr id="1095" name="Wk"/>
            <p:cNvSpPr/>
            <p:nvPr/>
          </p:nvSpPr>
          <p:spPr>
            <a:xfrm>
              <a:off x="523346" y="502122"/>
              <a:ext cx="869962" cy="2398174"/>
            </a:xfrm>
            <a:prstGeom prst="rect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t">
              <a:noAutofit/>
            </a:bodyPr>
            <a:lstStyle/>
            <a:p>
              <a: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  <a:p>
              <a:pPr>
                <a:defRPr sz="3600">
                  <a:latin typeface="+mn-lt"/>
                  <a:ea typeface="+mn-ea"/>
                  <a:cs typeface="+mn-cs"/>
                  <a:sym typeface="Helvetica Neue Medium"/>
                </a:defRPr>
              </a:pPr>
              <a:r>
                <a:t>W</a:t>
              </a:r>
              <a:r>
                <a:rPr baseline="-5999"/>
                <a:t>k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6" name="Text"/>
                <p:cNvSpPr txBox="1"/>
                <p:nvPr/>
              </p:nvSpPr>
              <p:spPr>
                <a:xfrm>
                  <a:off x="0" y="0"/>
                  <a:ext cx="1927620" cy="571804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spAutoFit/>
                </a:bodyPr>
                <a:lstStyle>
                  <a:lvl1pPr>
                    <a:defRPr sz="2400"/>
                  </a:lvl1pPr>
                </a:lstStyle>
                <a:p>
                  <a:pPr/>
                  <a14:m>
                    <m:oMathPara xmlns:m="http://schemas.openxmlformats.org/officeDocument/2006/math">
                      <m:oMathParaPr>
                        <m:jc m:val="center"/>
                      </m:oMathParaPr>
                      <m:oMath xmlns:m="http://schemas.openxmlformats.org/officeDocument/2006/math">
                        <m: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1.....</m:t>
                        </m:r>
                        <m:r>
                          <m:rPr>
                            <m:nor/>
                          </m:rPr>
                          <a:rPr sz="28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k</m:t>
                        </m:r>
                      </m:oMath>
                    </m:oMathPara>
                  </a14:m>
                  <a:endParaRPr/>
                </a:p>
              </p:txBody>
            </p:sp>
          </mc:Choice>
          <mc:Fallback>
            <p:sp>
              <p:nvSpPr>
                <p:cNvPr id="1096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0" y="0"/>
                  <a:ext cx="1927620" cy="571804"/>
                </a:xfrm>
                <a:prstGeom prst="rect">
                  <a:avLst/>
                </a:prstGeom>
                <a:blipFill>
                  <a:blip r:embed="rId4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097" name="Text"/>
                <p:cNvSpPr txBox="1"/>
                <p:nvPr/>
              </p:nvSpPr>
              <p:spPr>
                <a:xfrm>
                  <a:off x="395192" y="2660668"/>
                  <a:ext cx="1126270" cy="79057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 b="1"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k</m:t>
                      </m:r>
                    </m:oMath>
                  </a14:m>
                  <a:r>
                    <a:t> </a:t>
                  </a:r>
                  <a:endParaRPr sz="2400"/>
                </a:p>
              </p:txBody>
            </p:sp>
          </mc:Choice>
          <mc:Fallback>
            <p:sp>
              <p:nvSpPr>
                <p:cNvPr id="1097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95192" y="2660668"/>
                  <a:ext cx="1126270" cy="790576"/>
                </a:xfrm>
                <a:prstGeom prst="rect">
                  <a:avLst/>
                </a:prstGeom>
                <a:blipFill>
                  <a:blip r:embed="rId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1099" name="Using SVD for obtaining dense vectors"/>
          <p:cNvSpPr txBox="1">
            <a:spLocks noGrp="1"/>
          </p:cNvSpPr>
          <p:nvPr>
            <p:ph type="title"/>
          </p:nvPr>
        </p:nvSpPr>
        <p:spPr>
          <a:xfrm>
            <a:off x="4387453" y="675652"/>
            <a:ext cx="15609094" cy="1315696"/>
          </a:xfrm>
          <a:prstGeom prst="rect">
            <a:avLst/>
          </a:prstGeom>
        </p:spPr>
        <p:txBody>
          <a:bodyPr/>
          <a:lstStyle/>
          <a:p>
            <a:r>
              <a:t>Using SVD for obtaining dense vectors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00" name="In our case,   is a  matrix.  Assume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10655555" y="5459612"/>
                <a:ext cx="9992760" cy="1067177"/>
              </a:xfrm>
              <a:prstGeom prst="rect">
                <a:avLst/>
              </a:prstGeom>
            </p:spPr>
            <p:txBody>
              <a:bodyPr/>
              <a:lstStyle/>
              <a:p>
                <a:pPr marL="0" indent="0" defTabSz="813315">
                  <a:spcBef>
                    <a:spcPts val="1300"/>
                  </a:spcBef>
                  <a:buSzTx/>
                  <a:buNone/>
                  <a:defRPr sz="3168"/>
                </a:pPr>
                <a:r>
                  <a:t>In our case,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r>
                  <a:t> is a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|×|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t>matrix.  Assume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=|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3200"/>
              </a:p>
            </p:txBody>
          </p:sp>
        </mc:Choice>
        <mc:Fallback>
          <p:sp>
            <p:nvSpPr>
              <p:cNvPr id="1100" name="In our case,   is a  matrix.  Assume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10655555" y="5459612"/>
                <a:ext cx="9992760" cy="1067177"/>
              </a:xfrm>
              <a:prstGeom prst="rect">
                <a:avLst/>
              </a:prstGeom>
              <a:blipFill>
                <a:blip r:embed="rId6"/>
                <a:stretch>
                  <a:fillRect l="-17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01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68</a:t>
            </a:fld>
            <a:endParaRPr/>
          </a:p>
        </p:txBody>
      </p:sp>
      <p:sp>
        <p:nvSpPr>
          <p:cNvPr id="1102" name="SVD = Singular value decomposition"/>
          <p:cNvSpPr txBox="1"/>
          <p:nvPr/>
        </p:nvSpPr>
        <p:spPr>
          <a:xfrm>
            <a:off x="10672764" y="2121730"/>
            <a:ext cx="8745398" cy="10671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spcBef>
                <a:spcPts val="70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SVD = Singular value decomposition</a:t>
            </a:r>
          </a:p>
        </p:txBody>
      </p:sp>
      <p:grpSp>
        <p:nvGrpSpPr>
          <p:cNvPr id="1112" name="Group"/>
          <p:cNvGrpSpPr/>
          <p:nvPr/>
        </p:nvGrpSpPr>
        <p:grpSpPr>
          <a:xfrm>
            <a:off x="5461386" y="3738892"/>
            <a:ext cx="4531023" cy="2918210"/>
            <a:chOff x="0" y="0"/>
            <a:chExt cx="4531022" cy="2918209"/>
          </a:xfrm>
        </p:grpSpPr>
        <p:grpSp>
          <p:nvGrpSpPr>
            <p:cNvPr id="1105" name="Group"/>
            <p:cNvGrpSpPr/>
            <p:nvPr/>
          </p:nvGrpSpPr>
          <p:grpSpPr>
            <a:xfrm>
              <a:off x="-1" y="-1"/>
              <a:ext cx="1230897" cy="2918211"/>
              <a:chOff x="0" y="0"/>
              <a:chExt cx="1230895" cy="2918209"/>
            </a:xfrm>
          </p:grpSpPr>
          <p:sp>
            <p:nvSpPr>
              <p:cNvPr id="1103" name="W"/>
              <p:cNvSpPr/>
              <p:nvPr/>
            </p:nvSpPr>
            <p:spPr>
              <a:xfrm>
                <a:off x="111484" y="0"/>
                <a:ext cx="1007927" cy="2398173"/>
              </a:xfrm>
              <a:prstGeom prst="rect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W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04" name="Text"/>
                  <p:cNvSpPr txBox="1"/>
                  <p:nvPr/>
                </p:nvSpPr>
                <p:spPr>
                  <a:xfrm>
                    <a:off x="0" y="2127634"/>
                    <a:ext cx="1230896" cy="79057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>
                      <a:defRPr b="1">
                        <a:latin typeface="+mj-lt"/>
                        <a:ea typeface="+mj-ea"/>
                        <a:cs typeface="+mj-cs"/>
                        <a:sym typeface="Gill Sans"/>
                      </a:defRPr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w</m:t>
                        </m:r>
                        <m: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a14:m>
                    <a:r>
                      <a:t> </a:t>
                    </a:r>
                    <a:endParaRPr sz="2400"/>
                  </a:p>
                </p:txBody>
              </p:sp>
            </mc:Choice>
            <mc:Fallback>
              <p:sp>
                <p:nvSpPr>
                  <p:cNvPr id="1104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0" y="2127634"/>
                    <a:ext cx="1230896" cy="790576"/>
                  </a:xfrm>
                  <a:prstGeom prst="rect">
                    <a:avLst/>
                  </a:prstGeom>
                  <a:blipFill>
                    <a:blip r:embed="rId7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08" name="Group"/>
            <p:cNvGrpSpPr/>
            <p:nvPr/>
          </p:nvGrpSpPr>
          <p:grpSpPr>
            <a:xfrm>
              <a:off x="1277805" y="-1"/>
              <a:ext cx="1272419" cy="1594375"/>
              <a:chOff x="0" y="0"/>
              <a:chExt cx="1272418" cy="1594373"/>
            </a:xfrm>
          </p:grpSpPr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06" name="Square"/>
                  <p:cNvSpPr/>
                  <p:nvPr/>
                </p:nvSpPr>
                <p:spPr>
                  <a:xfrm>
                    <a:off x="133177" y="0"/>
                    <a:ext cx="1100539" cy="1104963"/>
                  </a:xfrm>
                  <a:prstGeom prst="rect">
                    <a:avLst/>
                  </a:prstGeom>
                  <a:noFill/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square" lIns="71437" tIns="71437" rIns="71437" bIns="71437" numCol="1" anchor="ctr">
                    <a:noAutofit/>
                  </a:bodyPr>
                  <a:lstStyle>
                    <a:lvl1pPr>
                      <a:defRPr sz="3000">
                        <a:latin typeface="+mn-lt"/>
                        <a:ea typeface="+mn-ea"/>
                        <a:cs typeface="+mn-cs"/>
                        <a:sym typeface="Helvetica Neue Medium"/>
                      </a:defRPr>
                    </a:lvl1pPr>
                  </a:lstStyle>
                  <a:p>
                    <a:pPr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 xmlns:m="http://schemas.openxmlformats.org/officeDocument/2006/math">
                          <m:r>
                            <m:rPr>
                              <m:sty m:val="p"/>
                            </m:rPr>
                            <a:rPr sz="36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Σ</m:t>
                          </m:r>
                        </m:oMath>
                      </m:oMathPara>
                    </a14:m>
                    <a:endParaRPr/>
                  </a:p>
                </p:txBody>
              </p:sp>
            </mc:Choice>
            <mc:Fallback>
              <p:sp>
                <p:nvSpPr>
                  <p:cNvPr id="1106" name="Square"/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133177" y="0"/>
                    <a:ext cx="1100539" cy="1104963"/>
                  </a:xfrm>
                  <a:prstGeom prst="rect">
                    <a:avLst/>
                  </a:prstGeom>
                  <a:blipFill>
                    <a:blip r:embed="rId8"/>
                    <a:stretch>
                      <a:fillRect/>
                    </a:stretch>
                  </a:blipFill>
                  <a:ln w="63500" cap="flat">
                    <a:solidFill>
                      <a:srgbClr val="000000"/>
                    </a:solidFill>
                    <a:prstDash val="solid"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07" name="Text"/>
                  <p:cNvSpPr txBox="1"/>
                  <p:nvPr/>
                </p:nvSpPr>
                <p:spPr>
                  <a:xfrm>
                    <a:off x="-1" y="803798"/>
                    <a:ext cx="1272420" cy="79057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>
                      <a:defRPr b="1">
                        <a:latin typeface="+mj-lt"/>
                        <a:ea typeface="+mj-ea"/>
                        <a:cs typeface="+mj-cs"/>
                        <a:sym typeface="Gill Sans"/>
                      </a:defRPr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</m:oMath>
                    </a14:m>
                    <a:r>
                      <a:t> </a:t>
                    </a:r>
                    <a:endParaRPr sz="2400"/>
                  </a:p>
                </p:txBody>
              </p:sp>
            </mc:Choice>
            <mc:Fallback>
              <p:sp>
                <p:nvSpPr>
                  <p:cNvPr id="1107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-1" y="803798"/>
                    <a:ext cx="1272420" cy="790576"/>
                  </a:xfrm>
                  <a:prstGeom prst="rect">
                    <a:avLst/>
                  </a:prstGeom>
                  <a:blipFill>
                    <a:blip r:embed="rId9"/>
                    <a:stretch>
                      <a:fillRect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  <p:grpSp>
          <p:nvGrpSpPr>
            <p:cNvPr id="1111" name="Group"/>
            <p:cNvGrpSpPr/>
            <p:nvPr/>
          </p:nvGrpSpPr>
          <p:grpSpPr>
            <a:xfrm>
              <a:off x="2708618" y="-1"/>
              <a:ext cx="1822405" cy="1594375"/>
              <a:chOff x="0" y="0"/>
              <a:chExt cx="1822403" cy="1594373"/>
            </a:xfrm>
          </p:grpSpPr>
          <p:sp>
            <p:nvSpPr>
              <p:cNvPr id="1109" name="C"/>
              <p:cNvSpPr/>
              <p:nvPr/>
            </p:nvSpPr>
            <p:spPr>
              <a:xfrm>
                <a:off x="0" y="0"/>
                <a:ext cx="1822404" cy="1104963"/>
              </a:xfrm>
              <a:prstGeom prst="rect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C</a:t>
                </a:r>
              </a:p>
            </p:txBody>
          </p:sp>
          <mc:AlternateContent xmlns:mc="http://schemas.openxmlformats.org/markup-compatibility/2006">
            <mc:Choice xmlns:a14="http://schemas.microsoft.com/office/drawing/2010/main" Requires="a14">
              <p:sp>
                <p:nvSpPr>
                  <p:cNvPr id="1110" name="Text"/>
                  <p:cNvSpPr txBox="1"/>
                  <p:nvPr/>
                </p:nvSpPr>
                <p:spPr>
                  <a:xfrm>
                    <a:off x="347992" y="803798"/>
                    <a:ext cx="1126419" cy="790576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/>
                  <a:p>
                    <a:pPr>
                      <a:defRPr b="1">
                        <a:latin typeface="+mj-lt"/>
                        <a:ea typeface="+mj-ea"/>
                        <a:cs typeface="+mj-cs"/>
                        <a:sym typeface="Gill Sans"/>
                      </a:defRPr>
                    </a:pPr>
                    <a14:m>
                      <m:oMath xmlns:m="http://schemas.openxmlformats.org/officeDocument/2006/math"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m</m:t>
                        </m:r>
                        <m: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r>
                          <m:rPr>
                            <m:nor/>
                          </m:rPr>
                          <a:rPr sz="250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oMath>
                    </a14:m>
                    <a:r>
                      <a:t> </a:t>
                    </a:r>
                    <a:endParaRPr sz="2400"/>
                  </a:p>
                </p:txBody>
              </p:sp>
            </mc:Choice>
            <mc:Fallback>
              <p:sp>
                <p:nvSpPr>
                  <p:cNvPr id="1110" name="Text"/>
                  <p:cNvSpPr txBox="1"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347992" y="803798"/>
                    <a:ext cx="1126419" cy="790576"/>
                  </a:xfrm>
                  <a:prstGeom prst="rect">
                    <a:avLst/>
                  </a:prstGeom>
                  <a:blipFill>
                    <a:blip r:embed="rId10"/>
                    <a:stretch>
                      <a:fillRect t="-13846" r="-19459" b="-35385"/>
                    </a:stretch>
                  </a:blipFill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</p:grpSp>
      </p:grpSp>
      <p:grpSp>
        <p:nvGrpSpPr>
          <p:cNvPr id="1137" name="Group"/>
          <p:cNvGrpSpPr/>
          <p:nvPr/>
        </p:nvGrpSpPr>
        <p:grpSpPr>
          <a:xfrm>
            <a:off x="5511507" y="6787202"/>
            <a:ext cx="4480902" cy="3097692"/>
            <a:chOff x="0" y="0"/>
            <a:chExt cx="4480901" cy="3097690"/>
          </a:xfrm>
        </p:grpSpPr>
        <p:sp>
          <p:nvSpPr>
            <p:cNvPr id="1113" name="Rectangle"/>
            <p:cNvSpPr/>
            <p:nvPr/>
          </p:nvSpPr>
          <p:spPr>
            <a:xfrm>
              <a:off x="812930" y="45529"/>
              <a:ext cx="281157" cy="2360058"/>
            </a:xfrm>
            <a:prstGeom prst="rect">
              <a:avLst/>
            </a:prstGeom>
            <a:solidFill>
              <a:srgbClr val="929292"/>
            </a:solidFill>
            <a:ln w="12700" cap="flat">
              <a:noFill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grpSp>
          <p:nvGrpSpPr>
            <p:cNvPr id="1136" name="Group"/>
            <p:cNvGrpSpPr/>
            <p:nvPr/>
          </p:nvGrpSpPr>
          <p:grpSpPr>
            <a:xfrm>
              <a:off x="-1" y="-1"/>
              <a:ext cx="4480903" cy="3097692"/>
              <a:chOff x="0" y="0"/>
              <a:chExt cx="4480901" cy="3097690"/>
            </a:xfrm>
          </p:grpSpPr>
          <p:sp>
            <p:nvSpPr>
              <p:cNvPr id="1114" name="W"/>
              <p:cNvSpPr/>
              <p:nvPr/>
            </p:nvSpPr>
            <p:spPr>
              <a:xfrm>
                <a:off x="54409" y="26471"/>
                <a:ext cx="1007928" cy="2398174"/>
              </a:xfrm>
              <a:prstGeom prst="rect">
                <a:avLst/>
              </a:prstGeom>
              <a:noFill/>
              <a:ln w="63500" cap="flat">
                <a:solidFill>
                  <a:srgbClr val="000000"/>
                </a:solidFill>
                <a:prstDash val="solid"/>
                <a:miter lim="400000"/>
              </a:ln>
              <a:effectLst/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 wrap="square" lIns="71437" tIns="71437" rIns="71437" bIns="71437" numCol="1" anchor="ctr">
                <a:noAutofit/>
              </a:bodyPr>
              <a:lstStyle>
                <a:lvl1pPr>
                  <a:defRPr sz="3000">
                    <a:latin typeface="+mn-lt"/>
                    <a:ea typeface="+mn-ea"/>
                    <a:cs typeface="+mn-cs"/>
                    <a:sym typeface="Helvetica Neue Medium"/>
                  </a:defRPr>
                </a:lvl1pPr>
              </a:lstStyle>
              <a:p>
                <a:r>
                  <a:t>W</a:t>
                </a:r>
              </a:p>
            </p:txBody>
          </p:sp>
          <p:grpSp>
            <p:nvGrpSpPr>
              <p:cNvPr id="1121" name="Group"/>
              <p:cNvGrpSpPr/>
              <p:nvPr/>
            </p:nvGrpSpPr>
            <p:grpSpPr>
              <a:xfrm>
                <a:off x="2658497" y="19873"/>
                <a:ext cx="1822405" cy="1940485"/>
                <a:chOff x="0" y="0"/>
                <a:chExt cx="1822403" cy="1940483"/>
              </a:xfrm>
            </p:grpSpPr>
            <p:sp>
              <p:nvSpPr>
                <p:cNvPr id="1115" name="Rectangle"/>
                <p:cNvSpPr/>
                <p:nvPr/>
              </p:nvSpPr>
              <p:spPr>
                <a:xfrm>
                  <a:off x="28481" y="820771"/>
                  <a:ext cx="1765441" cy="300345"/>
                </a:xfrm>
                <a:prstGeom prst="rect">
                  <a:avLst/>
                </a:prstGeom>
                <a:solidFill>
                  <a:srgbClr val="92929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16" name="C"/>
                <p:cNvSpPr/>
                <p:nvPr/>
              </p:nvSpPr>
              <p:spPr>
                <a:xfrm>
                  <a:off x="0" y="0"/>
                  <a:ext cx="1822404" cy="1104963"/>
                </a:xfrm>
                <a:prstGeom prst="rect">
                  <a:avLst/>
                </a:prstGeom>
                <a:noFill/>
                <a:ln w="63500" cap="flat">
                  <a:solidFill>
                    <a:srgbClr val="000000"/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r>
                    <a:t>C</a:t>
                  </a:r>
                </a:p>
              </p:txBody>
            </p:sp>
            <p:grpSp>
              <p:nvGrpSpPr>
                <p:cNvPr id="1120" name="Group"/>
                <p:cNvGrpSpPr/>
                <p:nvPr/>
              </p:nvGrpSpPr>
              <p:grpSpPr>
                <a:xfrm>
                  <a:off x="347992" y="932234"/>
                  <a:ext cx="1126419" cy="1008250"/>
                  <a:chOff x="0" y="0"/>
                  <a:chExt cx="1126417" cy="1008249"/>
                </a:xfrm>
              </p:grpSpPr>
              <mc:AlternateContent xmlns:mc="http://schemas.openxmlformats.org/markup-compatibility/2006">
                <mc:Choice xmlns:a14="http://schemas.microsoft.com/office/drawing/2010/main" Requires="a14">
                  <p:sp>
                    <p:nvSpPr>
                      <p:cNvPr id="1117" name="Text"/>
                      <p:cNvSpPr txBox="1"/>
                      <p:nvPr/>
                    </p:nvSpPr>
                    <p:spPr>
                      <a:xfrm>
                        <a:off x="0" y="-1"/>
                        <a:ext cx="1126418" cy="790576"/>
                      </a:xfrm>
                      <a:prstGeom prst="rect">
                        <a:avLst/>
                      </a:prstGeom>
                      <a:noFill/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m="http://schemas.openxmlformats.org/officeDocument/2006/math" xmlns="" val="1"/>
                        </a:ext>
                      </a:extLst>
                    </p:spPr>
                    <p:txBody>
                      <a:bodyPr wrap="none" lIns="71437" tIns="71437" rIns="71437" bIns="71437" numCol="1" anchor="ctr">
                        <a:spAutoFit/>
                      </a:bodyPr>
                      <a:lstStyle/>
                      <a:p>
                        <a:pPr>
                          <a:defRPr b="1">
                            <a:latin typeface="+mj-lt"/>
                            <a:ea typeface="+mj-ea"/>
                            <a:cs typeface="+mj-cs"/>
                            <a:sym typeface="Gill Sans"/>
                          </a:defRPr>
                        </a:pPr>
                        <a14:m>
                          <m:oMath xmlns:m="http://schemas.openxmlformats.org/officeDocument/2006/math">
                            <m:r>
                              <m:rPr>
                                <m:nor/>
                              </m:rPr>
                              <a:rPr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m</m:t>
                            </m:r>
                            <m:r>
                              <a:rPr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×</m:t>
                            </m:r>
                            <m:r>
                              <m:rPr>
                                <m:nor/>
                              </m:rPr>
                              <a:rPr sz="25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c</m:t>
                            </m:r>
                          </m:oMath>
                        </a14:m>
                        <a:r>
                          <a:t> </a:t>
                        </a:r>
                        <a:endParaRPr sz="2400"/>
                      </a:p>
                    </p:txBody>
                  </p:sp>
                </mc:Choice>
                <mc:Fallback>
                  <p:sp>
                    <p:nvSpPr>
                      <p:cNvPr id="1117" name="Text"/>
                      <p:cNvSpPr txBox="1">
                        <a:spLocks noRot="1" noChangeAspect="1" noMove="1" noResize="1" noEditPoints="1" noAdjustHandles="1" noChangeArrowheads="1" noChangeShapeType="1" noTextEdit="1"/>
                      </p:cNvSpPr>
                      <p:nvPr/>
                    </p:nvSpPr>
                    <p:spPr>
                      <a:xfrm>
                        <a:off x="0" y="-1"/>
                        <a:ext cx="1126418" cy="790576"/>
                      </a:xfrm>
                      <a:prstGeom prst="rect">
                        <a:avLst/>
                      </a:prstGeom>
                      <a:blipFill>
                        <a:blip r:embed="rId11"/>
                        <a:stretch>
                          <a:fillRect t="-14729" r="-19459" b="-35659"/>
                        </a:stretch>
                      </a:blipFill>
                      <a:ln w="12700" cap="flat">
                        <a:noFill/>
                        <a:miter lim="400000"/>
                      </a:ln>
                      <a:effectLst/>
                      <a:extLst>
                        <a:ext uri="{C572A759-6A51-4108-AA02-DFA0A04FC94B}">
  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  </a:ext>
                      </a:extLst>
                    </p:spPr>
                    <p:txBody>
                      <a:bodyPr/>
                      <a:lstStyle/>
                      <a:p>
                        <a:r>
                          <a:rPr lang="en-US">
                            <a:noFill/>
                          </a:rPr>
                          <a:t> </a:t>
                        </a:r>
                      </a:p>
                    </p:txBody>
                  </p:sp>
                </mc:Fallback>
              </mc:AlternateContent>
              <p:sp>
                <p:nvSpPr>
                  <p:cNvPr id="1118" name="Line"/>
                  <p:cNvSpPr/>
                  <p:nvPr/>
                </p:nvSpPr>
                <p:spPr>
                  <a:xfrm flipV="1">
                    <a:off x="190010" y="349404"/>
                    <a:ext cx="292962" cy="292961"/>
                  </a:xfrm>
                  <a:prstGeom prst="line">
                    <a:avLst/>
                  </a:prstGeom>
                  <a:noFill/>
                  <a:ln w="50800" cap="flat">
                    <a:solidFill>
                      <a:schemeClr val="accent5">
                        <a:lumOff val="-29866"/>
                      </a:schemeClr>
                    </a:solidFill>
                    <a:prstDash val="solid"/>
                    <a:miter lim="400000"/>
                  </a:ln>
                  <a:effectLst/>
                </p:spPr>
                <p:txBody>
                  <a:bodyPr wrap="square" lIns="71437" tIns="71437" rIns="71437" bIns="71437" numCol="1" anchor="ctr">
                    <a:noAutofit/>
                  </a:bodyPr>
                  <a:lstStyle/>
                  <a:p>
                    <a:pPr>
                      <a:defRPr sz="3000">
                        <a:solidFill>
                          <a:srgbClr val="FFFFFF"/>
                        </a:solidFill>
                        <a:latin typeface="+mn-lt"/>
                        <a:ea typeface="+mn-ea"/>
                        <a:cs typeface="+mn-cs"/>
                        <a:sym typeface="Helvetica Neue Medium"/>
                      </a:defRPr>
                    </a:pPr>
                    <a:endParaRPr/>
                  </a:p>
                </p:txBody>
              </p:sp>
              <p:sp>
                <p:nvSpPr>
                  <p:cNvPr id="1119" name="k"/>
                  <p:cNvSpPr txBox="1"/>
                  <p:nvPr/>
                </p:nvSpPr>
                <p:spPr>
                  <a:xfrm>
                    <a:off x="436043" y="505915"/>
                    <a:ext cx="330532" cy="502335"/>
                  </a:xfrm>
                  <a:prstGeom prst="rect">
                    <a:avLst/>
                  </a:prstGeom>
                  <a:noFill/>
                  <a:ln w="12700" cap="flat">
                    <a:noFill/>
                    <a:miter lim="400000"/>
                  </a:ln>
                  <a:effectLst/>
                  <a:extLst>
                    <a:ext uri="{C572A759-6A51-4108-AA02-DFA0A04FC94B}">
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</a:ext>
                  </a:extLst>
                </p:spPr>
                <p:txBody>
                  <a:bodyPr wrap="none" lIns="71437" tIns="71437" rIns="71437" bIns="71437" numCol="1" anchor="ctr">
                    <a:spAutoFit/>
                  </a:bodyPr>
                  <a:lstStyle>
                    <a:lvl1pPr>
                      <a:defRPr sz="2400" b="1">
                        <a:solidFill>
                          <a:schemeClr val="accent5">
                            <a:lumOff val="-29866"/>
                          </a:schemeClr>
                        </a:solidFill>
                      </a:defRPr>
                    </a:lvl1pPr>
                  </a:lstStyle>
                  <a:p>
                    <a:r>
                      <a:t>k</a:t>
                    </a:r>
                  </a:p>
                </p:txBody>
              </p:sp>
            </p:grpSp>
          </p:grpSp>
          <p:grpSp>
            <p:nvGrpSpPr>
              <p:cNvPr id="1127" name="Group"/>
              <p:cNvGrpSpPr/>
              <p:nvPr/>
            </p:nvGrpSpPr>
            <p:grpSpPr>
              <a:xfrm>
                <a:off x="1220731" y="952107"/>
                <a:ext cx="1333134" cy="995551"/>
                <a:chOff x="0" y="0"/>
                <a:chExt cx="1333133" cy="995549"/>
              </a:xfrm>
            </p:grpSpPr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22" name="Text"/>
                    <p:cNvSpPr txBox="1"/>
                    <p:nvPr/>
                  </p:nvSpPr>
                  <p:spPr>
                    <a:xfrm>
                      <a:off x="-1" y="-1"/>
                      <a:ext cx="1272420" cy="790576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71437" tIns="71437" rIns="71437" bIns="71437" numCol="1" anchor="ctr">
                      <a:spAutoFit/>
                    </a:bodyPr>
                    <a:lstStyle/>
                    <a:p>
                      <a:pPr>
                        <a:defRPr b="1">
                          <a:latin typeface="+mj-lt"/>
                          <a:ea typeface="+mj-ea"/>
                          <a:cs typeface="+mj-cs"/>
                          <a:sym typeface="Gill Sans"/>
                        </a:defRPr>
                      </a:pPr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a14:m>
                      <a:r>
                        <a:t> </a:t>
                      </a:r>
                      <a:endParaRPr sz="2400"/>
                    </a:p>
                  </p:txBody>
                </p:sp>
              </mc:Choice>
              <mc:Fallback>
                <p:sp>
                  <p:nvSpPr>
                    <p:cNvPr id="1122" name="Text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-1" y="-1"/>
                      <a:ext cx="1272420" cy="790576"/>
                    </a:xfrm>
                    <a:prstGeom prst="rect">
                      <a:avLst/>
                    </a:prstGeom>
                    <a:blipFill>
                      <a:blip r:embed="rId12"/>
                      <a:stretch>
                        <a:fillRect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23" name="Line"/>
                <p:cNvSpPr/>
                <p:nvPr/>
              </p:nvSpPr>
              <p:spPr>
                <a:xfrm flipV="1">
                  <a:off x="796396" y="336704"/>
                  <a:ext cx="292962" cy="292961"/>
                </a:xfrm>
                <a:prstGeom prst="line">
                  <a:avLst/>
                </a:prstGeom>
                <a:noFill/>
                <a:ln w="50800" cap="flat">
                  <a:solidFill>
                    <a:schemeClr val="accent5">
                      <a:lumOff val="-29866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24" name="Line"/>
                <p:cNvSpPr/>
                <p:nvPr/>
              </p:nvSpPr>
              <p:spPr>
                <a:xfrm flipV="1">
                  <a:off x="224896" y="336704"/>
                  <a:ext cx="292962" cy="292961"/>
                </a:xfrm>
                <a:prstGeom prst="line">
                  <a:avLst/>
                </a:prstGeom>
                <a:noFill/>
                <a:ln w="50800" cap="flat">
                  <a:solidFill>
                    <a:schemeClr val="accent5">
                      <a:lumOff val="-29866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25" name="k"/>
                <p:cNvSpPr txBox="1"/>
                <p:nvPr/>
              </p:nvSpPr>
              <p:spPr>
                <a:xfrm>
                  <a:off x="1002603" y="493215"/>
                  <a:ext cx="330531" cy="502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>
                  <a:lvl1pPr>
                    <a:defRPr sz="2400" b="1">
                      <a:solidFill>
                        <a:schemeClr val="accent5">
                          <a:lumOff val="-29866"/>
                        </a:schemeClr>
                      </a:solidFill>
                    </a:defRPr>
                  </a:lvl1pPr>
                </a:lstStyle>
                <a:p>
                  <a:r>
                    <a:t>k</a:t>
                  </a:r>
                </a:p>
              </p:txBody>
            </p:sp>
            <p:sp>
              <p:nvSpPr>
                <p:cNvPr id="1126" name="k"/>
                <p:cNvSpPr txBox="1"/>
                <p:nvPr/>
              </p:nvSpPr>
              <p:spPr>
                <a:xfrm>
                  <a:off x="494603" y="493215"/>
                  <a:ext cx="330531" cy="502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>
                  <a:lvl1pPr>
                    <a:defRPr sz="2400" b="1">
                      <a:solidFill>
                        <a:schemeClr val="accent5">
                          <a:lumOff val="-29866"/>
                        </a:schemeClr>
                      </a:solidFill>
                    </a:defRPr>
                  </a:lvl1pPr>
                </a:lstStyle>
                <a:p>
                  <a:r>
                    <a:t>k</a:t>
                  </a:r>
                </a:p>
              </p:txBody>
            </p:sp>
          </p:grpSp>
          <p:grpSp>
            <p:nvGrpSpPr>
              <p:cNvPr id="1131" name="Group"/>
              <p:cNvGrpSpPr/>
              <p:nvPr/>
            </p:nvGrpSpPr>
            <p:grpSpPr>
              <a:xfrm>
                <a:off x="-1" y="2133270"/>
                <a:ext cx="1270731" cy="964421"/>
                <a:chOff x="0" y="0"/>
                <a:chExt cx="1270729" cy="964420"/>
              </a:xfrm>
            </p:grpSpPr>
            <p:sp>
              <p:nvSpPr>
                <p:cNvPr id="1128" name="k"/>
                <p:cNvSpPr txBox="1"/>
                <p:nvPr/>
              </p:nvSpPr>
              <p:spPr>
                <a:xfrm>
                  <a:off x="940199" y="462086"/>
                  <a:ext cx="330531" cy="502335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>
                  <a:lvl1pPr>
                    <a:defRPr sz="2400" b="1">
                      <a:solidFill>
                        <a:schemeClr val="accent5">
                          <a:lumOff val="-29866"/>
                        </a:schemeClr>
                      </a:solidFill>
                    </a:defRPr>
                  </a:lvl1pPr>
                </a:lstStyle>
                <a:p>
                  <a:r>
                    <a:t>k</a:t>
                  </a:r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29" name="Text"/>
                    <p:cNvSpPr txBox="1"/>
                    <p:nvPr/>
                  </p:nvSpPr>
                  <p:spPr>
                    <a:xfrm>
                      <a:off x="0" y="-1"/>
                      <a:ext cx="1230896" cy="790576"/>
                    </a:xfrm>
                    <a:prstGeom prst="rect">
                      <a:avLst/>
                    </a:prstGeom>
                    <a:noFill/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none" lIns="71437" tIns="71437" rIns="71437" bIns="71437" numCol="1" anchor="ctr">
                      <a:spAutoFit/>
                    </a:bodyPr>
                    <a:lstStyle/>
                    <a:p>
                      <a:pPr>
                        <a:defRPr b="1">
                          <a:latin typeface="+mj-lt"/>
                          <a:ea typeface="+mj-ea"/>
                          <a:cs typeface="+mj-cs"/>
                          <a:sym typeface="Gill Sans"/>
                        </a:defRPr>
                      </a:pPr>
                      <a14:m>
                        <m:oMath xmlns:m="http://schemas.openxmlformats.org/officeDocument/2006/math"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w</m:t>
                          </m:r>
                          <m: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×</m:t>
                          </m:r>
                          <m:r>
                            <m:rPr>
                              <m:nor/>
                            </m:rPr>
                            <a:rPr sz="25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m</m:t>
                          </m:r>
                        </m:oMath>
                      </a14:m>
                      <a:r>
                        <a:t> </a:t>
                      </a:r>
                      <a:endParaRPr sz="2400"/>
                    </a:p>
                  </p:txBody>
                </p:sp>
              </mc:Choice>
              <mc:Fallback>
                <p:sp>
                  <p:nvSpPr>
                    <p:cNvPr id="1129" name="Text"/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0" y="-1"/>
                      <a:ext cx="1230896" cy="790576"/>
                    </a:xfrm>
                    <a:prstGeom prst="rect">
                      <a:avLst/>
                    </a:prstGeom>
                    <a:blipFill>
                      <a:blip r:embed="rId13"/>
                      <a:stretch>
                        <a:fillRect/>
                      </a:stretch>
                    </a:blipFill>
                    <a:ln w="12700" cap="flat">
                      <a:noFill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30" name="Line"/>
                <p:cNvSpPr/>
                <p:nvPr/>
              </p:nvSpPr>
              <p:spPr>
                <a:xfrm flipV="1">
                  <a:off x="751134" y="388248"/>
                  <a:ext cx="292962" cy="292962"/>
                </a:xfrm>
                <a:prstGeom prst="line">
                  <a:avLst/>
                </a:prstGeom>
                <a:noFill/>
                <a:ln w="50800" cap="flat">
                  <a:solidFill>
                    <a:schemeClr val="accent5">
                      <a:lumOff val="-29866"/>
                    </a:schemeClr>
                  </a:solidFill>
                  <a:prstDash val="solid"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  <p:grpSp>
            <p:nvGrpSpPr>
              <p:cNvPr id="1135" name="Group"/>
              <p:cNvGrpSpPr/>
              <p:nvPr/>
            </p:nvGrpSpPr>
            <p:grpSpPr>
              <a:xfrm>
                <a:off x="1321862" y="-1"/>
                <a:ext cx="1164038" cy="1140990"/>
                <a:chOff x="0" y="0"/>
                <a:chExt cx="1164037" cy="1140988"/>
              </a:xfrm>
            </p:grpSpPr>
            <p:sp>
              <p:nvSpPr>
                <p:cNvPr id="1132" name="Rectangle"/>
                <p:cNvSpPr/>
                <p:nvPr/>
              </p:nvSpPr>
              <p:spPr>
                <a:xfrm>
                  <a:off x="0" y="840644"/>
                  <a:ext cx="1164038" cy="300345"/>
                </a:xfrm>
                <a:prstGeom prst="rect">
                  <a:avLst/>
                </a:prstGeom>
                <a:solidFill>
                  <a:srgbClr val="92929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33" name="Square"/>
                    <p:cNvSpPr/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noFill/>
                    <a:ln w="635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square" lIns="71437" tIns="71437" rIns="71437" bIns="71437" numCol="1" anchor="ctr">
                      <a:noAutofit/>
                    </a:bodyPr>
                    <a:lstStyle>
                      <a:lvl1pPr>
                        <a:defRPr sz="3000">
                          <a:latin typeface="+mn-lt"/>
                          <a:ea typeface="+mn-ea"/>
                          <a:cs typeface="+mn-cs"/>
                          <a:sym typeface="Helvetica Neue Medium"/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>
                <p:sp>
                  <p:nvSpPr>
                    <p:cNvPr id="1133" name="Square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blipFill>
                      <a:blip r:embed="rId14"/>
                      <a:stretch>
                        <a:fillRect/>
                      </a:stretch>
                    </a:blipFill>
                    <a:ln w="63500" cap="flat">
                      <a:solidFill>
                        <a:srgbClr val="000000"/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34" name="Rectangle"/>
                <p:cNvSpPr/>
                <p:nvPr/>
              </p:nvSpPr>
              <p:spPr>
                <a:xfrm>
                  <a:off x="830512" y="25720"/>
                  <a:ext cx="281157" cy="902361"/>
                </a:xfrm>
                <a:prstGeom prst="rect">
                  <a:avLst/>
                </a:prstGeom>
                <a:solidFill>
                  <a:srgbClr val="929292"/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</p:grpSp>
      </p:grpSp>
      <p:grpSp>
        <p:nvGrpSpPr>
          <p:cNvPr id="1141" name="Group"/>
          <p:cNvGrpSpPr/>
          <p:nvPr/>
        </p:nvGrpSpPr>
        <p:grpSpPr>
          <a:xfrm>
            <a:off x="3320926" y="3738892"/>
            <a:ext cx="1927621" cy="2918210"/>
            <a:chOff x="0" y="0"/>
            <a:chExt cx="1927619" cy="2918209"/>
          </a:xfrm>
        </p:grpSpPr>
        <p:sp>
          <p:nvSpPr>
            <p:cNvPr id="1138" name="X"/>
            <p:cNvSpPr/>
            <p:nvPr/>
          </p:nvSpPr>
          <p:spPr>
            <a:xfrm>
              <a:off x="247183" y="0"/>
              <a:ext cx="1433253" cy="2398173"/>
            </a:xfrm>
            <a:prstGeom prst="rect">
              <a:avLst/>
            </a:prstGeom>
            <a:noFill/>
            <a:ln w="63500" cap="flat">
              <a:solidFill>
                <a:srgbClr val="000000"/>
              </a:solidFill>
              <a:prstDash val="solid"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noAutofit/>
            </a:bodyPr>
            <a:lstStyle>
              <a:lvl1pPr>
                <a:defRPr sz="3000">
                  <a:latin typeface="+mn-lt"/>
                  <a:ea typeface="+mn-ea"/>
                  <a:cs typeface="+mn-cs"/>
                  <a:sym typeface="Helvetica Neue Medium"/>
                </a:defRPr>
              </a:lvl1pPr>
            </a:lstStyle>
            <a:p>
              <a:r>
                <a:t>X</a:t>
              </a: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39" name="Text"/>
                <p:cNvSpPr txBox="1"/>
                <p:nvPr/>
              </p:nvSpPr>
              <p:spPr>
                <a:xfrm>
                  <a:off x="421361" y="2127634"/>
                  <a:ext cx="1084896" cy="790576"/>
                </a:xfrm>
                <a:prstGeom prst="rect">
                  <a:avLst/>
                </a:prstGeom>
                <a:noFill/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m="http://schemas.openxmlformats.org/officeDocument/2006/math" xmlns="" val="1"/>
                  </a:ext>
                </a:extLst>
              </p:spPr>
              <p:txBody>
                <a:bodyPr wrap="none" lIns="71437" tIns="71437" rIns="71437" bIns="71437" numCol="1" anchor="ctr">
                  <a:spAutoFit/>
                </a:bodyPr>
                <a:lstStyle/>
                <a:p>
                  <a:pPr>
                    <a:defRPr b="1">
                      <a:latin typeface="+mj-lt"/>
                      <a:ea typeface="+mj-ea"/>
                      <a:cs typeface="+mj-cs"/>
                      <a:sym typeface="Gill Sans"/>
                    </a:defRPr>
                  </a:pPr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×</m:t>
                      </m:r>
                      <m:r>
                        <m:rPr>
                          <m:nor/>
                        </m:rPr>
                        <a:rPr sz="25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c</m:t>
                      </m:r>
                    </m:oMath>
                  </a14:m>
                  <a:r>
                    <a:t> </a:t>
                  </a:r>
                  <a:endParaRPr sz="2400"/>
                </a:p>
              </p:txBody>
            </p:sp>
          </mc:Choice>
          <mc:Fallback>
            <p:sp>
              <p:nvSpPr>
                <p:cNvPr id="1139" name="Text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1361" y="2127634"/>
                  <a:ext cx="1084896" cy="790576"/>
                </a:xfrm>
                <a:prstGeom prst="rect">
                  <a:avLst/>
                </a:prstGeom>
                <a:blipFill>
                  <a:blip r:embed="rId15"/>
                  <a:stretch>
                    <a:fillRect/>
                  </a:stretch>
                </a:blipFill>
                <a:ln w="12700" cap="flat">
                  <a:noFill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1140" name="word-word…"/>
            <p:cNvSpPr txBox="1"/>
            <p:nvPr/>
          </p:nvSpPr>
          <p:spPr>
            <a:xfrm>
              <a:off x="0" y="48888"/>
              <a:ext cx="1927620" cy="695275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square" lIns="71437" tIns="71437" rIns="71437" bIns="71437" numCol="1" anchor="ctr">
              <a:spAutoFit/>
            </a:bodyPr>
            <a:lstStyle/>
            <a:p>
              <a:pPr>
                <a:defRPr sz="1800"/>
              </a:pPr>
              <a:r>
                <a:t>word-word</a:t>
              </a:r>
            </a:p>
            <a:p>
              <a:pPr>
                <a:defRPr sz="1800"/>
              </a:pPr>
              <a:r>
                <a:t>PPMI matrix</a:t>
              </a:r>
            </a:p>
          </p:txBody>
        </p:sp>
      </p:grpSp>
      <p:sp>
        <p:nvSpPr>
          <p:cNvPr id="1142" name="1) SVD"/>
          <p:cNvSpPr txBox="1"/>
          <p:nvPr/>
        </p:nvSpPr>
        <p:spPr>
          <a:xfrm>
            <a:off x="846509" y="4544164"/>
            <a:ext cx="1863269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1) SVD</a:t>
            </a:r>
          </a:p>
        </p:txBody>
      </p:sp>
      <p:sp>
        <p:nvSpPr>
          <p:cNvPr id="1143" name="2) Truncation"/>
          <p:cNvSpPr txBox="1"/>
          <p:nvPr/>
        </p:nvSpPr>
        <p:spPr>
          <a:xfrm>
            <a:off x="846509" y="7618946"/>
            <a:ext cx="3374823" cy="7876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2) Truncation</a:t>
            </a:r>
          </a:p>
        </p:txBody>
      </p:sp>
      <p:sp>
        <p:nvSpPr>
          <p:cNvPr id="1144" name="3) Embeddings"/>
          <p:cNvSpPr txBox="1"/>
          <p:nvPr/>
        </p:nvSpPr>
        <p:spPr>
          <a:xfrm>
            <a:off x="846510" y="10221369"/>
            <a:ext cx="3913506" cy="78763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r>
              <a:t>3) Embeddings</a:t>
            </a:r>
          </a:p>
        </p:txBody>
      </p:sp>
      <p:grpSp>
        <p:nvGrpSpPr>
          <p:cNvPr id="1156" name="Group"/>
          <p:cNvGrpSpPr/>
          <p:nvPr/>
        </p:nvGrpSpPr>
        <p:grpSpPr>
          <a:xfrm>
            <a:off x="6715390" y="10074679"/>
            <a:ext cx="3339446" cy="1428285"/>
            <a:chOff x="0" y="0"/>
            <a:chExt cx="3339445" cy="1428283"/>
          </a:xfrm>
        </p:grpSpPr>
        <p:grpSp>
          <p:nvGrpSpPr>
            <p:cNvPr id="1149" name="Group"/>
            <p:cNvGrpSpPr/>
            <p:nvPr/>
          </p:nvGrpSpPr>
          <p:grpSpPr>
            <a:xfrm>
              <a:off x="1517042" y="-1"/>
              <a:ext cx="1822404" cy="1414497"/>
              <a:chOff x="0" y="0"/>
              <a:chExt cx="1822403" cy="1414495"/>
            </a:xfrm>
          </p:grpSpPr>
          <p:grpSp>
            <p:nvGrpSpPr>
              <p:cNvPr id="1147" name="Group"/>
              <p:cNvGrpSpPr/>
              <p:nvPr/>
            </p:nvGrpSpPr>
            <p:grpSpPr>
              <a:xfrm>
                <a:off x="0" y="146689"/>
                <a:ext cx="1822404" cy="1121117"/>
                <a:chOff x="0" y="0"/>
                <a:chExt cx="1822403" cy="1121115"/>
              </a:xfrm>
            </p:grpSpPr>
            <p:sp>
              <p:nvSpPr>
                <p:cNvPr id="1145" name="Rectangle"/>
                <p:cNvSpPr/>
                <p:nvPr/>
              </p:nvSpPr>
              <p:spPr>
                <a:xfrm>
                  <a:off x="28481" y="820771"/>
                  <a:ext cx="1765441" cy="300345"/>
                </a:xfrm>
                <a:prstGeom prst="rect">
                  <a:avLst/>
                </a:prstGeom>
                <a:solidFill>
                  <a:srgbClr val="929292">
                    <a:alpha val="49838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p:sp>
              <p:nvSpPr>
                <p:cNvPr id="1146" name="C"/>
                <p:cNvSpPr/>
                <p:nvPr/>
              </p:nvSpPr>
              <p:spPr>
                <a:xfrm>
                  <a:off x="0" y="0"/>
                  <a:ext cx="1822404" cy="1104963"/>
                </a:xfrm>
                <a:prstGeom prst="rect">
                  <a:avLst/>
                </a:prstGeom>
                <a:noFill/>
                <a:ln w="63500" cap="flat">
                  <a:solidFill>
                    <a:srgbClr val="000000">
                      <a:alpha val="49838"/>
                    </a:srgbClr>
                  </a:solidFill>
                  <a:prstDash val="solid"/>
                  <a:miter lim="400000"/>
                </a:ln>
                <a:effectLst/>
                <a:extLst>
                  <a:ext uri="{C572A759-6A51-4108-AA02-DFA0A04FC94B}">
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</a:ext>
                </a:extLst>
              </p:spPr>
              <p:txBody>
                <a:bodyPr wrap="square" lIns="71437" tIns="71437" rIns="71437" bIns="71437" numCol="1" anchor="ctr">
                  <a:noAutofit/>
                </a:bodyPr>
                <a:lstStyle>
                  <a:lvl1pPr>
                    <a:defRPr sz="3000">
                      <a:latin typeface="+mn-lt"/>
                      <a:ea typeface="+mn-ea"/>
                      <a:cs typeface="+mn-cs"/>
                      <a:sym typeface="Helvetica Neue Medium"/>
                    </a:defRPr>
                  </a:lvl1pPr>
                </a:lstStyle>
                <a:p>
                  <a:r>
                    <a:t>C</a:t>
                  </a:r>
                </a:p>
              </p:txBody>
            </p:sp>
          </p:grpSp>
          <p:sp>
            <p:nvSpPr>
              <p:cNvPr id="1148" name="Line"/>
              <p:cNvSpPr/>
              <p:nvPr/>
            </p:nvSpPr>
            <p:spPr>
              <a:xfrm flipV="1">
                <a:off x="141526" y="-1"/>
                <a:ext cx="1414497" cy="1414497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  <p:grpSp>
          <p:nvGrpSpPr>
            <p:cNvPr id="1155" name="Group"/>
            <p:cNvGrpSpPr/>
            <p:nvPr/>
          </p:nvGrpSpPr>
          <p:grpSpPr>
            <a:xfrm>
              <a:off x="-1" y="13788"/>
              <a:ext cx="1414497" cy="1414496"/>
              <a:chOff x="0" y="0"/>
              <a:chExt cx="1414495" cy="1414495"/>
            </a:xfrm>
          </p:grpSpPr>
          <p:grpSp>
            <p:nvGrpSpPr>
              <p:cNvPr id="1153" name="Group"/>
              <p:cNvGrpSpPr/>
              <p:nvPr/>
            </p:nvGrpSpPr>
            <p:grpSpPr>
              <a:xfrm>
                <a:off x="125229" y="84884"/>
                <a:ext cx="1164038" cy="1140990"/>
                <a:chOff x="0" y="0"/>
                <a:chExt cx="1164037" cy="1140988"/>
              </a:xfrm>
            </p:grpSpPr>
            <p:sp>
              <p:nvSpPr>
                <p:cNvPr id="1150" name="Rectangle"/>
                <p:cNvSpPr/>
                <p:nvPr/>
              </p:nvSpPr>
              <p:spPr>
                <a:xfrm>
                  <a:off x="0" y="840644"/>
                  <a:ext cx="1164038" cy="300345"/>
                </a:xfrm>
                <a:prstGeom prst="rect">
                  <a:avLst/>
                </a:prstGeom>
                <a:solidFill>
                  <a:srgbClr val="929292">
                    <a:alpha val="50013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  <mc:AlternateContent xmlns:mc="http://schemas.openxmlformats.org/markup-compatibility/2006">
              <mc:Choice xmlns:a14="http://schemas.microsoft.com/office/drawing/2010/main" Requires="a14">
                <p:sp>
                  <p:nvSpPr>
                    <p:cNvPr id="1151" name="Square"/>
                    <p:cNvSpPr/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noFill/>
                    <a:ln w="63500" cap="flat">
                      <a:solidFill>
                        <a:srgbClr val="000000">
                          <a:alpha val="50013"/>
                        </a:srgbClr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m="http://schemas.openxmlformats.org/officeDocument/2006/math" xmlns="" val="1"/>
                      </a:ext>
                    </a:extLst>
                  </p:spPr>
                  <p:txBody>
                    <a:bodyPr wrap="square" lIns="71437" tIns="71437" rIns="71437" bIns="71437" numCol="1" anchor="ctr">
                      <a:noAutofit/>
                    </a:bodyPr>
                    <a:lstStyle>
                      <a:lvl1pPr>
                        <a:defRPr sz="3000">
                          <a:latin typeface="+mn-lt"/>
                          <a:ea typeface="+mn-ea"/>
                          <a:cs typeface="+mn-cs"/>
                          <a:sym typeface="Helvetica Neue Medium"/>
                        </a:defRPr>
                      </a:lvl1pPr>
                    </a:lstStyle>
                    <a:p>
                      <a:pPr/>
                      <a14:m>
                        <m:oMathPara xmlns:m="http://schemas.openxmlformats.org/officeDocument/2006/math">
                          <m:oMathParaPr>
                            <m:jc m:val="center"/>
                          </m:oMathParaPr>
                          <m:oMath xmlns:m="http://schemas.openxmlformats.org/officeDocument/2006/math">
                            <m:r>
                              <m:rPr>
                                <m:sty m:val="p"/>
                              </m:rPr>
                              <a:rPr sz="3600" i="1">
                                <a:solidFill>
                                  <a:srgbClr val="000000"/>
                                </a:solidFill>
                                <a:latin typeface="Cambria Math" panose="02040503050406030204" pitchFamily="18" charset="0"/>
                              </a:rPr>
                              <m:t>Σ</m:t>
                            </m:r>
                          </m:oMath>
                        </m:oMathPara>
                      </a14:m>
                      <a:endParaRPr/>
                    </a:p>
                  </p:txBody>
                </p:sp>
              </mc:Choice>
              <mc:Fallback>
                <p:sp>
                  <p:nvSpPr>
                    <p:cNvPr id="1151" name="Square"/>
                    <p:cNvSpPr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38999" y="0"/>
                      <a:ext cx="1100539" cy="1104963"/>
                    </a:xfrm>
                    <a:prstGeom prst="rect">
                      <a:avLst/>
                    </a:prstGeom>
                    <a:blipFill>
                      <a:blip r:embed="rId16"/>
                      <a:stretch>
                        <a:fillRect/>
                      </a:stretch>
                    </a:blipFill>
                    <a:ln w="63500" cap="flat">
                      <a:solidFill>
                        <a:srgbClr val="000000">
                          <a:alpha val="50013"/>
                        </a:srgbClr>
                      </a:solidFill>
                      <a:prstDash val="solid"/>
                      <a:miter lim="400000"/>
                    </a:ln>
                    <a:effectLst/>
                    <a:extLst>
                      <a:ext uri="{C572A759-6A51-4108-AA02-DFA0A04FC94B}">
      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      </a:ext>
                    </a:extLst>
                  </p:spPr>
                  <p:txBody>
                    <a:bodyPr/>
                    <a:lstStyle/>
                    <a:p>
                      <a:r>
                        <a:rPr 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1152" name="Rectangle"/>
                <p:cNvSpPr/>
                <p:nvPr/>
              </p:nvSpPr>
              <p:spPr>
                <a:xfrm>
                  <a:off x="830512" y="25720"/>
                  <a:ext cx="281157" cy="830322"/>
                </a:xfrm>
                <a:prstGeom prst="rect">
                  <a:avLst/>
                </a:prstGeom>
                <a:solidFill>
                  <a:srgbClr val="929292">
                    <a:alpha val="50013"/>
                  </a:srgbClr>
                </a:solidFill>
                <a:ln w="12700" cap="flat">
                  <a:noFill/>
                  <a:miter lim="400000"/>
                </a:ln>
                <a:effectLst/>
              </p:spPr>
              <p:txBody>
                <a:bodyPr wrap="square" lIns="71437" tIns="71437" rIns="71437" bIns="71437" numCol="1" anchor="ctr">
                  <a:noAutofit/>
                </a:bodyPr>
                <a:lstStyle/>
                <a:p>
                  <a:pPr>
                    <a:defRPr sz="3000">
                      <a:solidFill>
                        <a:srgbClr val="FFFFFF"/>
                      </a:solidFill>
                      <a:latin typeface="+mn-lt"/>
                      <a:ea typeface="+mn-ea"/>
                      <a:cs typeface="+mn-cs"/>
                      <a:sym typeface="Helvetica Neue Medium"/>
                    </a:defRPr>
                  </a:pPr>
                  <a:endParaRPr/>
                </a:p>
              </p:txBody>
            </p:sp>
          </p:grpSp>
          <p:sp>
            <p:nvSpPr>
              <p:cNvPr id="1154" name="Line"/>
              <p:cNvSpPr/>
              <p:nvPr/>
            </p:nvSpPr>
            <p:spPr>
              <a:xfrm flipV="1">
                <a:off x="0" y="-1"/>
                <a:ext cx="1414496" cy="1414497"/>
              </a:xfrm>
              <a:prstGeom prst="line">
                <a:avLst/>
              </a:prstGeom>
              <a:noFill/>
              <a:ln w="50800" cap="flat">
                <a:solidFill>
                  <a:srgbClr val="000000"/>
                </a:solidFill>
                <a:prstDash val="solid"/>
                <a:miter lim="400000"/>
              </a:ln>
              <a:effectLst/>
            </p:spPr>
            <p:txBody>
              <a:bodyPr wrap="square" lIns="71437" tIns="71437" rIns="71437" bIns="71437" numCol="1" anchor="ctr">
                <a:noAutofit/>
              </a:bodyPr>
              <a:lstStyle/>
              <a:p>
                <a:pPr>
                  <a:defRPr sz="3000">
                    <a:solidFill>
                      <a:srgbClr val="FFFFFF"/>
                    </a:solidFill>
                    <a:latin typeface="+mn-lt"/>
                    <a:ea typeface="+mn-ea"/>
                    <a:cs typeface="+mn-cs"/>
                    <a:sym typeface="Helvetica Neue Medium"/>
                  </a:defRPr>
                </a:pPr>
                <a:endParaRPr/>
              </a:p>
            </p:txBody>
          </p:sp>
        </p:grpSp>
      </p:grpSp>
      <p:grpSp>
        <p:nvGrpSpPr>
          <p:cNvPr id="1159" name="Group"/>
          <p:cNvGrpSpPr/>
          <p:nvPr/>
        </p:nvGrpSpPr>
        <p:grpSpPr>
          <a:xfrm>
            <a:off x="730615" y="11482641"/>
            <a:ext cx="6050456" cy="638786"/>
            <a:chOff x="0" y="0"/>
            <a:chExt cx="6050454" cy="638784"/>
          </a:xfrm>
        </p:grpSpPr>
        <p:sp>
          <p:nvSpPr>
            <p:cNvPr id="1157" name="embedding for word i"/>
            <p:cNvSpPr txBox="1"/>
            <p:nvPr/>
          </p:nvSpPr>
          <p:spPr>
            <a:xfrm>
              <a:off x="0" y="-1"/>
              <a:ext cx="4282288" cy="638786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400"/>
              </a:lvl1pPr>
            </a:lstStyle>
            <a:p>
              <a:r>
                <a:t>embedding for word i</a:t>
              </a:r>
            </a:p>
          </p:txBody>
        </p:sp>
        <p:sp>
          <p:nvSpPr>
            <p:cNvPr id="1158" name="Rectangle"/>
            <p:cNvSpPr/>
            <p:nvPr/>
          </p:nvSpPr>
          <p:spPr>
            <a:xfrm>
              <a:off x="4407449" y="145776"/>
              <a:ext cx="1643006" cy="347233"/>
            </a:xfrm>
            <a:prstGeom prst="rect">
              <a:avLst/>
            </a:prstGeom>
            <a:solidFill>
              <a:srgbClr val="FFFFFF"/>
            </a:solidFill>
            <a:ln w="38100" cap="flat">
              <a:solidFill>
                <a:schemeClr val="accent5">
                  <a:lumOff val="-29866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</p:grpSp>
      <p:sp>
        <p:nvSpPr>
          <p:cNvPr id="1160" name="1…"/>
          <p:cNvSpPr txBox="1"/>
          <p:nvPr/>
        </p:nvSpPr>
        <p:spPr>
          <a:xfrm>
            <a:off x="5295672" y="10159051"/>
            <a:ext cx="310922" cy="25353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>
              <a:defRPr sz="2200"/>
            </a:pPr>
            <a:r>
              <a:t>1</a:t>
            </a:r>
          </a:p>
          <a:p>
            <a:pPr>
              <a:defRPr sz="2200"/>
            </a:pPr>
            <a:r>
              <a:t>2</a:t>
            </a:r>
          </a:p>
          <a:p>
            <a:pPr>
              <a:defRPr sz="2200"/>
            </a:pPr>
            <a:r>
              <a:t>.</a:t>
            </a:r>
          </a:p>
          <a:p>
            <a:pPr>
              <a:defRPr sz="2200"/>
            </a:pPr>
            <a:r>
              <a:t>.</a:t>
            </a:r>
          </a:p>
          <a:p>
            <a:pPr>
              <a:defRPr sz="2200"/>
            </a:pPr>
            <a:r>
              <a:t>i</a:t>
            </a:r>
          </a:p>
          <a:p>
            <a:pPr>
              <a:defRPr sz="2200"/>
            </a:pPr>
            <a:r>
              <a:t>.</a:t>
            </a:r>
          </a:p>
          <a:p>
            <a:pPr>
              <a:defRPr sz="2200"/>
            </a:pPr>
            <a:r>
              <a:t>w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61" name="Equation"/>
              <p:cNvSpPr txBox="1"/>
              <p:nvPr/>
            </p:nvSpPr>
            <p:spPr>
              <a:xfrm>
                <a:off x="5091525" y="4863379"/>
                <a:ext cx="329693" cy="149200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1161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525" y="4863379"/>
                <a:ext cx="329693" cy="149200"/>
              </a:xfrm>
              <a:prstGeom prst="rect">
                <a:avLst/>
              </a:prstGeom>
              <a:blipFill>
                <a:blip r:embed="rId17"/>
                <a:stretch>
                  <a:fillRect r="-16667" b="-212500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2" name="Equation"/>
              <p:cNvSpPr txBox="1"/>
              <p:nvPr/>
            </p:nvSpPr>
            <p:spPr>
              <a:xfrm>
                <a:off x="5091525" y="7938161"/>
                <a:ext cx="329693" cy="252019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44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≈</m:t>
                      </m:r>
                    </m:oMath>
                  </m:oMathPara>
                </a14:m>
                <a:endParaRPr sz="4400"/>
              </a:p>
            </p:txBody>
          </p:sp>
        </mc:Choice>
        <mc:Fallback>
          <p:sp>
            <p:nvSpPr>
              <p:cNvPr id="1162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1525" y="7938161"/>
                <a:ext cx="329693" cy="252019"/>
              </a:xfrm>
              <a:prstGeom prst="rect">
                <a:avLst/>
              </a:prstGeom>
              <a:blipFill>
                <a:blip r:embed="rId18"/>
                <a:stretch>
                  <a:fillRect r="-14815" b="-9047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3" name="is a diagonal matrix with singular values:…"/>
              <p:cNvSpPr txBox="1"/>
              <p:nvPr/>
            </p:nvSpPr>
            <p:spPr>
              <a:xfrm>
                <a:off x="10876422" y="3033323"/>
                <a:ext cx="12567531" cy="2075973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𝚺</m:t>
                    </m:r>
                  </m:oMath>
                </a14:m>
                <a:r>
                  <a:t> is a diagonal matrix with singular values:</a:t>
                </a:r>
              </a:p>
              <a:p>
                <a:pPr lvl="1" indent="0"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𝜎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b>
                    </m:sSub>
                  </m:oMath>
                </a14:m>
                <a:r>
                  <a:t>                     where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t> is the rank of the matrix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𝐗</m:t>
                    </m:r>
                  </m:oMath>
                </a14:m>
                <a:endParaRPr/>
              </a:p>
              <a:p>
                <a:pPr lvl="1" indent="0"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𝐔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has orthonormal columns, 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𝐕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⊤</m:t>
                        </m:r>
                      </m:sup>
                    </m:sSup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𝐂</m:t>
                    </m:r>
                  </m:oMath>
                </a14:m>
                <a:r>
                  <a:t> has orthonormal rows</a:t>
                </a:r>
              </a:p>
            </p:txBody>
          </p:sp>
        </mc:Choice>
        <mc:Fallback>
          <p:sp>
            <p:nvSpPr>
              <p:cNvPr id="1163" name="is a diagonal matrix with singular values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876422" y="3033323"/>
                <a:ext cx="12567531" cy="2075973"/>
              </a:xfrm>
              <a:prstGeom prst="rect">
                <a:avLst/>
              </a:prstGeom>
              <a:blipFill>
                <a:blip r:embed="rId19"/>
                <a:stretch>
                  <a:fillRect l="-1406" t="-1765" b="-9118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4" name="Equation"/>
              <p:cNvSpPr txBox="1"/>
              <p:nvPr/>
            </p:nvSpPr>
            <p:spPr>
              <a:xfrm>
                <a:off x="6410212" y="2922267"/>
                <a:ext cx="2178716" cy="415046"/>
              </a:xfrm>
              <a:prstGeom prst="rect">
                <a:avLst/>
              </a:prstGeom>
              <a:ln w="12700">
                <a:miter lim="400000"/>
              </a:ln>
            </p:spPr>
            <p:txBody>
              <a:bodyPr wrap="none" lIns="0" tIns="0" rIns="0" bIns="0">
                <a:spAutoFit/>
              </a:bodyPr>
              <a:lstStyle/>
              <a:p>
                <a:pPr algn="l" defTabSz="914400" latinLnBrk="1">
                  <a:defRPr sz="1800"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𝐗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𝐔</m:t>
                      </m:r>
                      <m:r>
                        <a:rPr sz="3800" i="1">
                          <a:solidFill>
                            <a:srgbClr val="000000"/>
                          </a:solidFill>
                          <a:latin typeface="Cambria Math" panose="02040503050406030204" pitchFamily="18" charset="0"/>
                        </a:rPr>
                        <m:t>𝚺</m:t>
                      </m:r>
                      <m:sSup>
                        <m:sSupPr>
                          <m:ctrlP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𝐕</m:t>
                          </m:r>
                        </m:e>
                        <m:sup>
                          <m:r>
                            <a:rPr sz="3800" i="1">
                              <a:solidFill>
                                <a:srgbClr val="000000"/>
                              </a:solidFill>
                              <a:latin typeface="Cambria Math" panose="02040503050406030204" pitchFamily="18" charset="0"/>
                            </a:rPr>
                            <m:t>⊤</m:t>
                          </m:r>
                        </m:sup>
                      </m:sSup>
                    </m:oMath>
                  </m:oMathPara>
                </a14:m>
                <a:endParaRPr sz="3800"/>
              </a:p>
            </p:txBody>
          </p:sp>
        </mc:Choice>
        <mc:Fallback>
          <p:sp>
            <p:nvSpPr>
              <p:cNvPr id="1164" name="Equation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10212" y="2922267"/>
                <a:ext cx="2178716" cy="415046"/>
              </a:xfrm>
              <a:prstGeom prst="rect">
                <a:avLst/>
              </a:prstGeom>
              <a:blipFill>
                <a:blip r:embed="rId20"/>
                <a:stretch>
                  <a:fillRect b="-14706"/>
                </a:stretch>
              </a:blipFill>
              <a:ln w="12700">
                <a:miter lim="400000"/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165" name="page1image9994448.png" descr="page1image9994448.png"/>
          <p:cNvPicPr>
            <a:picLocks noChangeAspect="1"/>
          </p:cNvPicPr>
          <p:nvPr/>
        </p:nvPicPr>
        <p:blipFill>
          <a:blip r:embed="rId21"/>
          <a:stretch>
            <a:fillRect/>
          </a:stretch>
        </p:blipFill>
        <p:spPr>
          <a:xfrm>
            <a:off x="10990713" y="6467036"/>
            <a:ext cx="12338950" cy="3335239"/>
          </a:xfrm>
          <a:prstGeom prst="rect">
            <a:avLst/>
          </a:prstGeom>
          <a:ln w="12700">
            <a:miter lim="400000"/>
          </a:ln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166" name="Finally, we take  th row of   as the embedding of word"/>
              <p:cNvSpPr txBox="1"/>
              <p:nvPr/>
            </p:nvSpPr>
            <p:spPr>
              <a:xfrm>
                <a:off x="11163631" y="10168875"/>
                <a:ext cx="10636419" cy="679935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Finally, we take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th row of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t> as the embedding of word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𝑖</m:t>
                    </m:r>
                  </m:oMath>
                </a14:m>
                <a:r>
                  <a:t>  </a:t>
                </a:r>
              </a:p>
            </p:txBody>
          </p:sp>
        </mc:Choice>
        <mc:Fallback>
          <p:sp>
            <p:nvSpPr>
              <p:cNvPr id="1166" name="Finally, we take  th row of   as the embedding of word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631" y="10168875"/>
                <a:ext cx="10636419" cy="679935"/>
              </a:xfrm>
              <a:prstGeom prst="rect">
                <a:avLst/>
              </a:prstGeom>
              <a:blipFill>
                <a:blip r:embed="rId22"/>
                <a:stretch>
                  <a:fillRect l="-1605" t="-1786" b="-24107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7" name="Truncation:…"/>
              <p:cNvSpPr txBox="1"/>
              <p:nvPr/>
            </p:nvSpPr>
            <p:spPr>
              <a:xfrm>
                <a:off x="11147459" y="6605065"/>
                <a:ext cx="12025459" cy="3051839"/>
              </a:xfrm>
              <a:prstGeom prst="rect">
                <a:avLst/>
              </a:prstGeom>
              <a:solidFill>
                <a:srgbClr val="FFFFFF"/>
              </a:solid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lIns="71437" tIns="71437" rIns="71437" bIns="71437" anchor="ctr">
                <a:normAutofit/>
              </a:bodyPr>
              <a:lstStyle/>
              <a:p>
                <a:pPr algn="l" defTabSz="714732">
                  <a:spcBef>
                    <a:spcPts val="1200"/>
                  </a:spcBef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rPr sz="3132"/>
                  <a:t>Truncation</a:t>
                </a:r>
                <a:r>
                  <a:t>: </a:t>
                </a:r>
              </a:p>
              <a:p>
                <a:pPr marL="386715" indent="-386715" algn="l" defTabSz="714732">
                  <a:spcBef>
                    <a:spcPts val="1200"/>
                  </a:spcBef>
                  <a:buSzPct val="145000"/>
                  <a:buChar char="•"/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Select the first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columns of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𝐖</m:t>
                    </m:r>
                  </m:oMath>
                </a14:m>
                <a:r>
                  <a:t> to get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-dimensional row vectors</a:t>
                </a:r>
              </a:p>
              <a:p>
                <a:pPr marL="386715" indent="-386715" algn="l" defTabSz="714732">
                  <a:spcBef>
                    <a:spcPts val="1200"/>
                  </a:spcBef>
                  <a:buSzPct val="145000"/>
                  <a:buChar char="•"/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Note that the singular values are ordered from largest to smallest, which each singular value representing the variance captured by that dimension</a:t>
                </a:r>
              </a:p>
              <a:p>
                <a:pPr marL="386715" indent="-386715" algn="l" defTabSz="714732">
                  <a:spcBef>
                    <a:spcPts val="1200"/>
                  </a:spcBef>
                  <a:buSzPct val="145000"/>
                  <a:buChar char="•"/>
                  <a:defRPr sz="2784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So the first </a:t>
                </a:r>
                <a14:m>
                  <m:oMath xmlns:m="http://schemas.openxmlformats.org/officeDocument/2006/math">
                    <m:r>
                      <a:rPr sz="310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t> dimensions are the dimensions with the most variance</a:t>
                </a:r>
                <a:endParaRPr sz="3200"/>
              </a:p>
            </p:txBody>
          </p:sp>
        </mc:Choice>
        <mc:Fallback>
          <p:sp>
            <p:nvSpPr>
              <p:cNvPr id="1167" name="Truncation: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47459" y="6605065"/>
                <a:ext cx="12025459" cy="3051839"/>
              </a:xfrm>
              <a:prstGeom prst="rect">
                <a:avLst/>
              </a:prstGeom>
              <a:blipFill>
                <a:blip r:embed="rId23"/>
                <a:stretch>
                  <a:fillRect l="-1876" r="-609" b="-4800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168" name="Note there are variants where the word embedding matrix is taken to be…"/>
              <p:cNvSpPr txBox="1"/>
              <p:nvPr/>
            </p:nvSpPr>
            <p:spPr>
              <a:xfrm>
                <a:off x="11163631" y="11005060"/>
                <a:ext cx="13026431" cy="131572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val="1"/>
                </a:ext>
              </a:extLst>
            </p:spPr>
            <p:txBody>
              <a:bodyPr wrap="none" lIns="71437" tIns="71437" rIns="71437" bIns="71437" anchor="ctr">
                <a:spAutoFit/>
              </a:bodyPr>
              <a:lstStyle/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:r>
                  <a:t>Note there are variants where the word embedding matrix is taken to be</a:t>
                </a:r>
              </a:p>
              <a:p>
                <a:pPr algn="l">
                  <a:spcBef>
                    <a:spcPts val="1400"/>
                  </a:spcBef>
                  <a:defRPr sz="3200">
                    <a:latin typeface="Georgia"/>
                    <a:ea typeface="Georgia"/>
                    <a:cs typeface="Georgia"/>
                    <a:sym typeface="Georgia"/>
                  </a:defRPr>
                </a:pPr>
                <a14:m>
                  <m:oMath xmlns:m="http://schemas.openxmlformats.org/officeDocument/2006/math">
                    <m:sSub>
                      <m:sSubPr>
                        <m:ctrlPr>
                          <a:rPr sz="35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𝐖</m:t>
                        </m:r>
                      </m:e>
                      <m:sub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sSup>
                      <m:sSupPr>
                        <m:ctrlP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𝚺</m:t>
                        </m:r>
                      </m:e>
                      <m:sup>
                        <m:r>
                          <a:rPr sz="35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t>  (with common values being </a:t>
                </a:r>
                <a14:m>
                  <m:oMath xmlns:m="http://schemas.openxmlformats.org/officeDocument/2006/math"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𝜆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=1,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0.5,</m:t>
                    </m:r>
                    <m:r>
                      <m:rPr>
                        <m:nor/>
                      </m:rP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or</m:t>
                    </m:r>
                    <m:r>
                      <a:rPr sz="35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t>) </a:t>
                </a:r>
              </a:p>
            </p:txBody>
          </p:sp>
        </mc:Choice>
        <mc:Fallback>
          <p:sp>
            <p:nvSpPr>
              <p:cNvPr id="1168" name="Note there are variants where the word embedding matrix is taken to be…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163631" y="11005060"/>
                <a:ext cx="13026431" cy="1315728"/>
              </a:xfrm>
              <a:prstGeom prst="rect">
                <a:avLst/>
              </a:prstGeom>
              <a:blipFill>
                <a:blip r:embed="rId24"/>
                <a:stretch>
                  <a:fillRect l="-1310" t="-5556" r="-1357" b="-15741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172" name="Group"/>
          <p:cNvGrpSpPr/>
          <p:nvPr/>
        </p:nvGrpSpPr>
        <p:grpSpPr>
          <a:xfrm>
            <a:off x="17506746" y="11736828"/>
            <a:ext cx="1774237" cy="2591505"/>
            <a:chOff x="472915" y="0"/>
            <a:chExt cx="1774235" cy="2591503"/>
          </a:xfrm>
        </p:grpSpPr>
        <p:sp>
          <p:nvSpPr>
            <p:cNvPr id="1169" name="Rectangle"/>
            <p:cNvSpPr/>
            <p:nvPr/>
          </p:nvSpPr>
          <p:spPr>
            <a:xfrm>
              <a:off x="472915" y="0"/>
              <a:ext cx="1008471" cy="530668"/>
            </a:xfrm>
            <a:prstGeom prst="rect">
              <a:avLst/>
            </a:prstGeom>
            <a:noFill/>
            <a:ln w="381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0" name="Line"/>
            <p:cNvSpPr/>
            <p:nvPr/>
          </p:nvSpPr>
          <p:spPr>
            <a:xfrm flipV="1">
              <a:off x="1008738" y="514272"/>
              <a:ext cx="1" cy="517681"/>
            </a:xfrm>
            <a:prstGeom prst="line">
              <a:avLst/>
            </a:prstGeom>
            <a:noFill/>
            <a:ln w="25400" cap="flat">
              <a:solidFill>
                <a:schemeClr val="accent1">
                  <a:lumOff val="-13575"/>
                </a:schemeClr>
              </a:solidFill>
              <a:prstDash val="solid"/>
              <a:miter lim="400000"/>
              <a:tailEnd type="triangle" w="med" len="med"/>
            </a:ln>
            <a:effectLst/>
          </p:spPr>
          <p:txBody>
            <a:bodyPr wrap="square" lIns="71437" tIns="71437" rIns="71437" bIns="71437" numCol="1" anchor="ctr">
              <a:noAutofit/>
            </a:bodyPr>
            <a:lstStyle/>
            <a:p>
              <a:pPr>
                <a:defRPr sz="3000">
                  <a:solidFill>
                    <a:srgbClr val="FFFFFF"/>
                  </a:solidFill>
                  <a:latin typeface="+mn-lt"/>
                  <a:ea typeface="+mn-ea"/>
                  <a:cs typeface="+mn-cs"/>
                  <a:sym typeface="Helvetica Neue Medium"/>
                </a:defRPr>
              </a:pPr>
              <a:endParaRPr/>
            </a:p>
          </p:txBody>
        </p:sp>
        <p:sp>
          <p:nvSpPr>
            <p:cNvPr id="1171" name="traditional"/>
            <p:cNvSpPr/>
            <p:nvPr/>
          </p:nvSpPr>
          <p:spPr>
            <a:xfrm>
              <a:off x="977150" y="1321503"/>
              <a:ext cx="1270001" cy="1270001"/>
            </a:xfrm>
            <a:prstGeom prst="line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xmlns:a14="http://schemas.microsoft.com/office/drawing/2010/main" xmlns:m="http://schemas.openxmlformats.org/officeDocument/2006/math" xmlns="" val="1"/>
              </a:ext>
            </a:extLst>
          </p:spPr>
          <p:txBody>
            <a:bodyPr wrap="none" lIns="71437" tIns="71437" rIns="71437" bIns="71437" numCol="1" anchor="ctr">
              <a:spAutoFit/>
            </a:bodyPr>
            <a:lstStyle>
              <a:lvl1pPr>
                <a:defRPr sz="3200">
                  <a:solidFill>
                    <a:schemeClr val="accent1">
                      <a:lumOff val="-13575"/>
                    </a:schemeClr>
                  </a:solidFill>
                </a:defRPr>
              </a:lvl1pPr>
            </a:lstStyle>
            <a:p>
              <a:r>
                <a:t>traditional</a:t>
              </a:r>
            </a:p>
          </p:txBody>
        </p:sp>
      </p:grp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" fill="hold"/>
                                        <p:tgtEl>
                                          <p:spTgt spid="1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" fill="hold"/>
                                        <p:tgtEl>
                                          <p:spTgt spid="1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6" fill="hold"/>
                                        <p:tgtEl>
                                          <p:spTgt spid="1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1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3" fill="hold"/>
                                        <p:tgtEl>
                                          <p:spTgt spid="1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7" fill="hold"/>
                                        <p:tgtEl>
                                          <p:spTgt spid="1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1" fill="hold"/>
                                        <p:tgtEl>
                                          <p:spTgt spid="1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5" fill="hold"/>
                                        <p:tgtEl>
                                          <p:spTgt spid="1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9" fill="hold"/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2" fill="hold"/>
                                        <p:tgtEl>
                                          <p:spTgt spid="116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4" fill="hold"/>
                                        <p:tgtEl>
                                          <p:spTgt spid="11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7" fill="hold"/>
                                        <p:tgtEl>
                                          <p:spTgt spid="11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1" fill="hold"/>
                                        <p:tgtEl>
                                          <p:spTgt spid="1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4" fill="hold"/>
                                        <p:tgtEl>
                                          <p:spTgt spid="1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8" fill="hold"/>
                                        <p:tgtEl>
                                          <p:spTgt spid="11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1" fill="hold"/>
                                        <p:tgtEl>
                                          <p:spTgt spid="11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5" fill="hold"/>
                                        <p:tgtEl>
                                          <p:spTgt spid="1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8" fill="hold"/>
                                        <p:tgtEl>
                                          <p:spTgt spid="1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1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8" fill="hold"/>
                                        <p:tgtEl>
                                          <p:spTgt spid="1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1" fill="hold"/>
                                        <p:tgtEl>
                                          <p:spTgt spid="1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>
                      <p:stCondLst>
                        <p:cond delay="indefinite"/>
                      </p:stCondLst>
                      <p:childTnLst>
                        <p:par>
                          <p:cTn id="83" fill="hold">
                            <p:stCondLst>
                              <p:cond delay="0"/>
                            </p:stCondLst>
                            <p:childTnLst>
                              <p:par>
                                <p:cTn id="8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1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>
                      <p:stCondLst>
                        <p:cond delay="indefinite"/>
                      </p:stCondLst>
                      <p:childTnLst>
                        <p:par>
                          <p:cTn id="87" fill="hold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1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94" grpId="0" animBg="1" advAuto="0"/>
      <p:bldP spid="1098" grpId="0" animBg="1" advAuto="0"/>
      <p:bldP spid="1100" grpId="0" animBg="1" advAuto="0"/>
      <p:bldP spid="1102" grpId="0" animBg="1" advAuto="0"/>
      <p:bldP spid="1112" grpId="0" animBg="1" advAuto="0"/>
      <p:bldP spid="1137" grpId="0" animBg="1" advAuto="0"/>
      <p:bldP spid="1142" grpId="0" animBg="1" advAuto="0"/>
      <p:bldP spid="1143" grpId="0" animBg="1" advAuto="0"/>
      <p:bldP spid="1144" grpId="0" animBg="1" advAuto="0"/>
      <p:bldP spid="1156" grpId="0" animBg="1" advAuto="0"/>
      <p:bldP spid="1159" grpId="0" animBg="1" advAuto="0"/>
      <p:bldP spid="1160" grpId="0" animBg="1" advAuto="0"/>
      <p:bldP spid="1161" grpId="0" animBg="1" advAuto="0"/>
      <p:bldP spid="1162" grpId="0" animBg="1" advAuto="0"/>
      <p:bldP spid="1163" grpId="0" animBg="1" advAuto="0"/>
      <p:bldP spid="1164" grpId="0" animBg="1" advAuto="0"/>
      <p:bldP spid="1165" grpId="0" animBg="1" advAuto="0"/>
      <p:bldP spid="1166" grpId="0" animBg="1" advAuto="0"/>
      <p:bldP spid="1167" grpId="0" build="p" animBg="1" advAuto="0"/>
      <p:bldP spid="1168" grpId="0" animBg="1" advAuto="0"/>
      <p:bldP spid="1172" grpId="0" animBg="1" advAuto="0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6" name="What is wrong with using SVD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What is wrong with using SVD?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77" name="Computational complexity is high:…"/>
              <p:cNvSpPr txBox="1">
                <a:spLocks noGrp="1"/>
              </p:cNvSpPr>
              <p:nvPr>
                <p:ph type="body" sz="half" idx="1"/>
              </p:nvPr>
            </p:nvSpPr>
            <p:spPr>
              <a:xfrm>
                <a:off x="4725291" y="3504202"/>
                <a:ext cx="15609095" cy="7063736"/>
              </a:xfrm>
              <a:prstGeom prst="rect">
                <a:avLst/>
              </a:prstGeom>
            </p:spPr>
            <p:txBody>
              <a:bodyPr/>
              <a:lstStyle/>
              <a:p>
                <a:pPr>
                  <a:spcBef>
                    <a:spcPts val="4000"/>
                  </a:spcBef>
                </a:pPr>
                <a:r>
                  <a:t>Computational complexity is high: </a:t>
                </a:r>
                <a14:m>
                  <m:oMath xmlns:m="http://schemas.openxmlformats.org/officeDocument/2006/math"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(|</m:t>
                    </m:r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𝑉</m:t>
                    </m:r>
                    <m:sSup>
                      <m:sSupPr>
                        <m:ctrlP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  <m:sup>
                        <m:r>
                          <a:rPr sz="42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sz="4250" i="1">
                        <a:solidFill>
                          <a:srgbClr val="0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/>
              </a:p>
              <a:p>
                <a:pPr>
                  <a:spcBef>
                    <a:spcPts val="4000"/>
                  </a:spcBef>
                </a:pPr>
                <a:r>
                  <a:t>Cannot be trained as part of a larger model</a:t>
                </a:r>
              </a:p>
              <a:p>
                <a:pPr lvl="1">
                  <a:spcBef>
                    <a:spcPts val="4000"/>
                  </a:spcBef>
                </a:pPr>
                <a:r>
                  <a:t>Not a component that can be part of a larger neural network</a:t>
                </a:r>
              </a:p>
              <a:p>
                <a:pPr>
                  <a:spcBef>
                    <a:spcPts val="4000"/>
                  </a:spcBef>
                </a:pPr>
                <a:r>
                  <a:t>Cannot be trained discriminatively for a particular task</a:t>
                </a:r>
              </a:p>
            </p:txBody>
          </p:sp>
        </mc:Choice>
        <mc:Fallback>
          <p:sp>
            <p:nvSpPr>
              <p:cNvPr id="1177" name="Computational complexity is high: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half" idx="1"/>
              </p:nvPr>
            </p:nvSpPr>
            <p:spPr>
              <a:xfrm>
                <a:off x="4725291" y="3504202"/>
                <a:ext cx="15609095" cy="7063736"/>
              </a:xfrm>
              <a:prstGeom prst="rect">
                <a:avLst/>
              </a:prstGeom>
              <a:blipFill>
                <a:blip r:embed="rId2"/>
                <a:stretch>
                  <a:fillRect l="-210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78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69</a:t>
            </a:fld>
            <a:endParaRPr/>
          </a:p>
        </p:txBody>
      </p:sp>
    </p:spTree>
  </p:cSld>
  <p:clrMapOvr>
    <a:masterClrMapping/>
  </p:clrMapOvr>
  <p:transition spd="med"/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Why dense vectors?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Why dense vectors?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81" name="Short vectors are easier to use as features in ML systems…"/>
              <p:cNvSpPr txBox="1">
                <a:spLocks noGrp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</p:spPr>
            <p:txBody>
              <a:bodyPr/>
              <a:lstStyle/>
              <a:p>
                <a:r>
                  <a:t>Short vectors are easier to use as features in ML systems</a:t>
                </a:r>
              </a:p>
              <a:p>
                <a:r>
                  <a:t>Dense vectors may generalize better than storing explicit counts</a:t>
                </a:r>
              </a:p>
              <a:p>
                <a:r>
                  <a:t>They do better at capturing synonymy</a:t>
                </a:r>
              </a:p>
              <a:p>
                <a:pPr lvl="2"/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t> co-occurs with “car”,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sz="4350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𝑤</m:t>
                        </m:r>
                      </m:e>
                      <m:sub>
                        <m:r>
                          <a:rPr sz="4350" i="1">
                            <a:solidFill>
                              <a:srgbClr val="0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r>
                  <a:t> co-occurs with “automobile”</a:t>
                </a:r>
                <a:endParaRPr sz="3900"/>
              </a:p>
            </p:txBody>
          </p:sp>
        </mc:Choice>
        <mc:Fallback>
          <p:sp>
            <p:nvSpPr>
              <p:cNvPr id="1181" name="Short vectors are easier to use as features in ML systems…"/>
              <p:cNvSpPr txBox="1">
                <a:spLocks noGrp="1" noRot="1" noChangeAspect="1" noMove="1" noResize="1" noEditPoints="1" noAdjustHandles="1" noChangeArrowheads="1" noChangeShapeType="1" noTextEdit="1"/>
              </p:cNvSpPr>
              <p:nvPr>
                <p:ph type="body" sz="quarter" idx="1"/>
              </p:nvPr>
            </p:nvSpPr>
            <p:spPr>
              <a:xfrm>
                <a:off x="4387453" y="3643312"/>
                <a:ext cx="15171730" cy="3601451"/>
              </a:xfrm>
              <a:prstGeom prst="rect">
                <a:avLst/>
              </a:prstGeom>
              <a:blipFill>
                <a:blip r:embed="rId2"/>
                <a:stretch>
                  <a:fillRect l="-2170" t="-84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82" name="Group"/>
          <p:cNvSpPr txBox="1"/>
          <p:nvPr/>
        </p:nvSpPr>
        <p:spPr>
          <a:xfrm>
            <a:off x="4185375" y="8181002"/>
            <a:ext cx="11407590" cy="32340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/>
          <a:p>
            <a:pPr marL="603250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Different methods for getting dense vectors:</a:t>
            </a:r>
          </a:p>
          <a:p>
            <a:pPr marL="1492250" lvl="2" indent="-603250" algn="l">
              <a:spcBef>
                <a:spcPts val="1400"/>
              </a:spcBef>
              <a:buSzPct val="145000"/>
              <a:buChar char="•"/>
              <a:defRPr sz="3800">
                <a:latin typeface="Georgia"/>
                <a:ea typeface="Georgia"/>
                <a:cs typeface="Georgia"/>
                <a:sym typeface="Georgia"/>
              </a:defRPr>
            </a:pPr>
            <a:r>
              <a:t>Singular value decomposition (SVD)</a:t>
            </a:r>
          </a:p>
          <a:p>
            <a:pPr marL="1492250" lvl="2" indent="-603250" algn="l">
              <a:spcBef>
                <a:spcPts val="1400"/>
              </a:spcBef>
              <a:buSzPct val="145000"/>
              <a:buChar char="•"/>
              <a:defRPr sz="3800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pPr>
            <a:r>
              <a:t>word2vec and friends: “learn” the vectors!</a:t>
            </a:r>
          </a:p>
        </p:txBody>
      </p:sp>
      <p:sp>
        <p:nvSpPr>
          <p:cNvPr id="1183" name="Slide Number"/>
          <p:cNvSpPr txBox="1">
            <a:spLocks noGrp="1"/>
          </p:cNvSpPr>
          <p:nvPr>
            <p:ph type="sldNum" sz="quarter" idx="4294967295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t"/>
          <a:lstStyle>
            <a:lvl1pPr defTabSz="821531">
              <a:defRPr sz="2200">
                <a:latin typeface="Helvetica Neue Light"/>
                <a:ea typeface="Helvetica Neue Light"/>
                <a:cs typeface="Helvetica Neue Light"/>
                <a:sym typeface="Helvetica Neue Light"/>
              </a:defRPr>
            </a:lvl1pPr>
          </a:lstStyle>
          <a:p>
            <a:fld id="{86CB4B4D-7CA3-9044-876B-883B54F8677D}" type="slidenum">
              <a:t>70</a:t>
            </a:fld>
            <a:endParaRPr/>
          </a:p>
        </p:txBody>
      </p:sp>
      <p:sp>
        <p:nvSpPr>
          <p:cNvPr id="1184" name="Text"/>
          <p:cNvSpPr txBox="1"/>
          <p:nvPr/>
        </p:nvSpPr>
        <p:spPr>
          <a:xfrm>
            <a:off x="14914581" y="10940525"/>
            <a:ext cx="155576" cy="14136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 sz="38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</p:spTree>
  </p:cSld>
  <p:clrMapOvr>
    <a:masterClrMapping/>
  </p:clrMapOvr>
  <p:transition spd="med"/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86" name="Table 1"/>
          <p:cNvGraphicFramePr/>
          <p:nvPr/>
        </p:nvGraphicFramePr>
        <p:xfrm>
          <a:off x="11332816" y="3716351"/>
          <a:ext cx="11736843" cy="7071371"/>
        </p:xfrm>
        <a:graphic>
          <a:graphicData uri="http://schemas.openxmlformats.org/drawingml/2006/table">
            <a:tbl>
              <a:tblPr>
                <a:tableStyleId>{2708684C-4D16-4618-839F-0558EEFCDFE6}</a:tableStyleId>
              </a:tblPr>
              <a:tblGrid>
                <a:gridCol w="327356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585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8429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013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5958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559586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010195">
                <a:tc>
                  <a:txBody>
                    <a:bodyPr/>
                    <a:lstStyle/>
                    <a:p>
                      <a:pPr algn="l" defTabSz="914400">
                        <a:defRPr sz="4000">
                          <a:latin typeface="Georgia"/>
                          <a:ea typeface="Georgia"/>
                          <a:cs typeface="Georgia"/>
                          <a:sym typeface="Georgia"/>
                        </a:defRPr>
                      </a:pPr>
                      <a:endParaRPr/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bottle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likes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before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make</a:t>
                      </a:r>
                    </a:p>
                  </a:txBody>
                  <a:tcPr marL="50800" marR="50800" marT="50800" marB="50800" anchor="ctr" horzOverflow="overflow">
                    <a:lnT w="12700">
                      <a:miter lim="400000"/>
                    </a:lnT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corn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T w="12700">
                      <a:miter lim="400000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821531">
                        <a:lnSpc>
                          <a:spcPct val="120000"/>
                        </a:lnSpc>
                        <a:spcBef>
                          <a:spcPts val="7000"/>
                        </a:spcBef>
                      </a:pPr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tejuino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loud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motor-oil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tortillas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choices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/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010195">
                <a:tc>
                  <a:txBody>
                    <a:bodyPr/>
                    <a:lstStyle/>
                    <a:p>
                      <a:pPr algn="l"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wine</a:t>
                      </a:r>
                    </a:p>
                  </a:txBody>
                  <a:tcPr marL="50800" marR="50800" marT="50800" marB="50800" anchor="ctr" horzOverflow="overflow">
                    <a:lnL w="12700">
                      <a:miter lim="400000"/>
                    </a:lnL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1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B w="12700">
                      <a:miter lim="400000"/>
                    </a:lnB>
                  </a:tcPr>
                </a:tc>
                <a:tc>
                  <a:txBody>
                    <a:bodyPr/>
                    <a:lstStyle/>
                    <a:p>
                      <a:pPr defTabSz="914400"/>
                      <a:r>
                        <a:rPr sz="4000">
                          <a:latin typeface="Georgia"/>
                          <a:ea typeface="Georgia"/>
                          <a:cs typeface="Georgia"/>
                          <a:sym typeface="Georgia"/>
                        </a:rPr>
                        <a:t>0</a:t>
                      </a:r>
                    </a:p>
                  </a:txBody>
                  <a:tcPr marL="50800" marR="50800" marT="50800" marB="50800" anchor="ctr" horzOverflow="overflow">
                    <a:lnR w="12700">
                      <a:miter lim="400000"/>
                    </a:lnR>
                    <a:lnB w="12700">
                      <a:miter lim="400000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187" name="C1: A bottle of ___ is on the table."/>
          <p:cNvSpPr txBox="1"/>
          <p:nvPr/>
        </p:nvSpPr>
        <p:spPr>
          <a:xfrm>
            <a:off x="1692703" y="5242056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 fontScale="92500"/>
          </a:bodyPr>
          <a:lstStyle>
            <a:lvl1pPr algn="l" defTabSz="813315">
              <a:lnSpc>
                <a:spcPct val="120000"/>
              </a:lnSpc>
              <a:spcBef>
                <a:spcPts val="6900"/>
              </a:spcBef>
              <a:defRPr sz="3959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C1: A bottle of ___ is on the table.</a:t>
            </a:r>
          </a:p>
        </p:txBody>
      </p:sp>
      <p:sp>
        <p:nvSpPr>
          <p:cNvPr id="1188" name="C2: Everybody likes ___."/>
          <p:cNvSpPr txBox="1"/>
          <p:nvPr/>
        </p:nvSpPr>
        <p:spPr>
          <a:xfrm>
            <a:off x="1692703" y="6386985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C2: Everybody likes ___.</a:t>
            </a:r>
          </a:p>
        </p:txBody>
      </p:sp>
      <p:sp>
        <p:nvSpPr>
          <p:cNvPr id="1189" name="C3: Don’t have ___ before you drive."/>
          <p:cNvSpPr txBox="1"/>
          <p:nvPr/>
        </p:nvSpPr>
        <p:spPr>
          <a:xfrm>
            <a:off x="1692703" y="7437367"/>
            <a:ext cx="8723060" cy="1459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C3: Don’t have ___ before you drive.</a:t>
            </a:r>
          </a:p>
        </p:txBody>
      </p:sp>
      <p:sp>
        <p:nvSpPr>
          <p:cNvPr id="1190" name="C4: We make ___ out of corn."/>
          <p:cNvSpPr txBox="1"/>
          <p:nvPr/>
        </p:nvSpPr>
        <p:spPr>
          <a:xfrm>
            <a:off x="1692703" y="8676842"/>
            <a:ext cx="7620001" cy="1270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>
              <a:lnSpc>
                <a:spcPct val="120000"/>
              </a:lnSpc>
              <a:spcBef>
                <a:spcPts val="7000"/>
              </a:spcBef>
              <a:defRPr sz="4000"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C4: We make ___ out of corn.</a:t>
            </a:r>
          </a:p>
        </p:txBody>
      </p:sp>
      <p:sp>
        <p:nvSpPr>
          <p:cNvPr id="1191" name="Rectangle"/>
          <p:cNvSpPr txBox="1"/>
          <p:nvPr/>
        </p:nvSpPr>
        <p:spPr>
          <a:xfrm>
            <a:off x="11166833" y="9872058"/>
            <a:ext cx="11972290" cy="874861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92" name="Rectangle"/>
          <p:cNvSpPr txBox="1"/>
          <p:nvPr/>
        </p:nvSpPr>
        <p:spPr>
          <a:xfrm>
            <a:off x="11147351" y="4757992"/>
            <a:ext cx="12011255" cy="985264"/>
          </a:xfrm>
          <a:prstGeom prst="rect">
            <a:avLst/>
          </a:prstGeom>
          <a:ln w="76200">
            <a:solidFill>
              <a:schemeClr val="accent1">
                <a:lumOff val="-13575"/>
              </a:schemeClr>
            </a:solidFill>
            <a:miter lim="400000"/>
          </a:ln>
        </p:spPr>
        <p:txBody>
          <a:bodyPr lIns="71437" tIns="71437" rIns="71437" bIns="71437" anchor="ctr">
            <a:normAutofit/>
          </a:bodyPr>
          <a:lstStyle/>
          <a:p>
            <a:pPr algn="l">
              <a:lnSpc>
                <a:spcPct val="120000"/>
              </a:lnSpc>
              <a:spcBef>
                <a:spcPts val="7000"/>
              </a:spcBef>
              <a:defRPr sz="3400">
                <a:latin typeface="Georgia"/>
                <a:ea typeface="Georgia"/>
                <a:cs typeface="Georgia"/>
                <a:sym typeface="Georgia"/>
              </a:defRPr>
            </a:pPr>
            <a:endParaRPr/>
          </a:p>
        </p:txBody>
      </p:sp>
      <p:sp>
        <p:nvSpPr>
          <p:cNvPr id="1193" name="“words that occur in similar contexts tend to have similar meanings”"/>
          <p:cNvSpPr txBox="1"/>
          <p:nvPr/>
        </p:nvSpPr>
        <p:spPr>
          <a:xfrm>
            <a:off x="3693877" y="12111628"/>
            <a:ext cx="16996247" cy="77787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none" lIns="71437" tIns="71437" rIns="71437" bIns="71437" anchor="ctr">
            <a:spAutoFit/>
          </a:bodyPr>
          <a:lstStyle/>
          <a:p>
            <a:pPr algn="l">
              <a:spcBef>
                <a:spcPts val="1400"/>
              </a:spcBef>
              <a:defRPr>
                <a:latin typeface="Georgia"/>
                <a:ea typeface="Georgia"/>
                <a:cs typeface="Georgia"/>
                <a:sym typeface="Georgia"/>
              </a:defRPr>
            </a:pPr>
            <a:r>
              <a:t>“words that occur in similar </a:t>
            </a:r>
            <a:r>
              <a:rPr>
                <a:solidFill>
                  <a:schemeClr val="accent1">
                    <a:lumOff val="-13575"/>
                  </a:schemeClr>
                </a:solidFill>
              </a:rPr>
              <a:t>contexts</a:t>
            </a:r>
            <a:r>
              <a:t> tend to have similar meanings”</a:t>
            </a:r>
          </a:p>
        </p:txBody>
      </p:sp>
      <p:sp>
        <p:nvSpPr>
          <p:cNvPr id="1194" name="Use as context:  other words that appear in a span around the target word"/>
          <p:cNvSpPr txBox="1"/>
          <p:nvPr/>
        </p:nvSpPr>
        <p:spPr>
          <a:xfrm>
            <a:off x="3660316" y="11110791"/>
            <a:ext cx="16832423" cy="116387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r" defTabSz="788669">
              <a:spcBef>
                <a:spcPts val="1300"/>
              </a:spcBef>
              <a:defRPr sz="403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Use as context:  other words that appear in a span around the target word</a:t>
            </a:r>
          </a:p>
        </p:txBody>
      </p:sp>
      <p:sp>
        <p:nvSpPr>
          <p:cNvPr id="1195" name="How are these embeddings learned?"/>
          <p:cNvSpPr txBox="1">
            <a:spLocks noGrp="1"/>
          </p:cNvSpPr>
          <p:nvPr>
            <p:ph type="title"/>
          </p:nvPr>
        </p:nvSpPr>
        <p:spPr>
          <a:xfrm>
            <a:off x="4271980" y="357187"/>
            <a:ext cx="15609095" cy="3036095"/>
          </a:xfrm>
          <a:prstGeom prst="rect">
            <a:avLst/>
          </a:prstGeom>
        </p:spPr>
        <p:txBody>
          <a:bodyPr/>
          <a:lstStyle/>
          <a:p>
            <a:r>
              <a:t>How are these embeddings learned?</a:t>
            </a:r>
          </a:p>
        </p:txBody>
      </p:sp>
      <p:sp>
        <p:nvSpPr>
          <p:cNvPr id="1196" name="Learn predictor to fill in the blank!"/>
          <p:cNvSpPr txBox="1"/>
          <p:nvPr/>
        </p:nvSpPr>
        <p:spPr>
          <a:xfrm>
            <a:off x="1554128" y="3153795"/>
            <a:ext cx="7620001" cy="11638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normAutofit/>
          </a:bodyPr>
          <a:lstStyle>
            <a:lvl1pPr algn="l" defTabSz="747593">
              <a:spcBef>
                <a:spcPts val="1200"/>
              </a:spcBef>
              <a:defRPr sz="3822">
                <a:solidFill>
                  <a:schemeClr val="accent1">
                    <a:lumOff val="-13575"/>
                  </a:schemeClr>
                </a:solidFill>
                <a:latin typeface="Georgia"/>
                <a:ea typeface="Georgia"/>
                <a:cs typeface="Georgia"/>
                <a:sym typeface="Georgia"/>
              </a:defRPr>
            </a:lvl1pPr>
          </a:lstStyle>
          <a:p>
            <a:r>
              <a:t>Learn predictor to fill in the blank!</a:t>
            </a:r>
          </a:p>
        </p:txBody>
      </p:sp>
      <p:sp>
        <p:nvSpPr>
          <p:cNvPr id="1197" name="Represent each word as a vector…"/>
          <p:cNvSpPr txBox="1"/>
          <p:nvPr/>
        </p:nvSpPr>
        <p:spPr>
          <a:xfrm>
            <a:off x="1479215" y="6657385"/>
            <a:ext cx="8499098" cy="3860934"/>
          </a:xfrm>
          <a:prstGeom prst="rect">
            <a:avLst/>
          </a:prstGeom>
          <a:solidFill>
            <a:srgbClr val="FFFFFF"/>
          </a:solidFill>
          <a:ln w="38100">
            <a:solidFill>
              <a:schemeClr val="accent1">
                <a:hueOff val="114395"/>
                <a:lumOff val="-24975"/>
              </a:schemeClr>
            </a:solidFill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71437" tIns="71437" rIns="71437" bIns="71437" anchor="ctr">
            <a:spAutoFit/>
          </a:bodyPr>
          <a:lstStyle/>
          <a:p>
            <a:pPr algn="l" defTabSz="457200">
              <a:defRPr sz="1200">
                <a:latin typeface="Times Roman"/>
                <a:ea typeface="Times Roman"/>
                <a:cs typeface="Times Roman"/>
                <a:sym typeface="Times Roman"/>
              </a:defRPr>
            </a:pPr>
            <a:endParaRPr/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r>
              <a:t>Represent each word as a vector</a:t>
            </a:r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r>
              <a:t>Train classifier to predict word using context words.</a:t>
            </a: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endParaRPr sz="1200">
              <a:latin typeface="Times Roman"/>
              <a:ea typeface="Times Roman"/>
              <a:cs typeface="Times Roman"/>
              <a:sym typeface="Times Roman"/>
            </a:endParaRPr>
          </a:p>
          <a:p>
            <a:pPr marL="518578" indent="-518578" algn="l" defTabSz="457200">
              <a:buSzPct val="145000"/>
              <a:buChar char="•"/>
              <a:defRPr sz="3733">
                <a:latin typeface="Calibri"/>
                <a:ea typeface="Calibri"/>
                <a:cs typeface="Calibri"/>
                <a:sym typeface="Calibri"/>
              </a:defRPr>
            </a:pPr>
            <a:r>
              <a:t>During training, the word vector is updated so that it is possible to predict the center word using the context words</a:t>
            </a:r>
            <a:r>
              <a:rPr sz="1200">
                <a:latin typeface="Times Roman"/>
                <a:ea typeface="Times Roman"/>
                <a:cs typeface="Times Roman"/>
                <a:sym typeface="Times Roman"/>
              </a:rPr>
              <a:t> </a:t>
            </a:r>
          </a:p>
        </p:txBody>
      </p:sp>
    </p:spTree>
  </p:cSld>
  <p:clrMapOvr>
    <a:masterClrMapping/>
  </p:clrMapOvr>
  <p:transition spd="med"/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1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1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1" grpId="0" animBg="1" advAuto="0"/>
      <p:bldP spid="1192" grpId="0" animBg="1" advAuto="0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1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sp>
        <p:nvSpPr>
          <p:cNvPr id="1202" name="Representing words as vectors…"/>
          <p:cNvSpPr txBox="1">
            <a:spLocks noGrp="1"/>
          </p:cNvSpPr>
          <p:nvPr>
            <p:ph type="body" idx="1"/>
          </p:nvPr>
        </p:nvSpPr>
        <p:spPr>
          <a:xfrm>
            <a:off x="3312566" y="3083864"/>
            <a:ext cx="19095945" cy="9200883"/>
          </a:xfrm>
          <a:prstGeom prst="rect">
            <a:avLst/>
          </a:prstGeom>
        </p:spPr>
        <p:txBody>
          <a:bodyPr>
            <a:normAutofit lnSpcReduction="10000"/>
          </a:bodyPr>
          <a:lstStyle/>
          <a:p>
            <a:pPr marL="579119" indent="-579119" defTabSz="788669">
              <a:spcBef>
                <a:spcPts val="2400"/>
              </a:spcBef>
              <a:defRPr sz="3839"/>
            </a:pPr>
            <a:r>
              <a:t>Representing words as vectors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One-hot vectors vs vectors built using context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Cosine similarity for measuring similarity between words</a:t>
            </a:r>
          </a:p>
          <a:p>
            <a:pPr marL="579119" indent="-579119" defTabSz="788669">
              <a:spcBef>
                <a:spcPts val="2400"/>
              </a:spcBef>
              <a:defRPr sz="3839"/>
            </a:pPr>
            <a:r>
              <a:t>Using context to represent words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Distributional hypothesis: </a:t>
            </a:r>
          </a:p>
          <a:p>
            <a:pPr marL="0" lvl="1" indent="426719" defTabSz="788669">
              <a:spcBef>
                <a:spcPts val="2400"/>
              </a:spcBef>
              <a:buSzTx/>
              <a:buNone/>
              <a:defRPr sz="3839"/>
            </a:pPr>
            <a:r>
              <a:t>words that occur in similar contexts tend to have similar meanings</a:t>
            </a:r>
          </a:p>
          <a:p>
            <a:pPr marL="579119" indent="-579119" defTabSz="788669">
              <a:spcBef>
                <a:spcPts val="2400"/>
              </a:spcBef>
              <a:defRPr sz="3839"/>
            </a:pPr>
            <a:r>
              <a:t>Co-occurrence matrix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Raw counts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TF-IDF (term-frequency inverse-document-frequency)</a:t>
            </a:r>
          </a:p>
          <a:p>
            <a:pPr marL="1005839" lvl="1" indent="-579119" defTabSz="788669">
              <a:spcBef>
                <a:spcPts val="2400"/>
              </a:spcBef>
              <a:defRPr sz="3839"/>
            </a:pPr>
            <a:r>
              <a:t>PPMI (positive pointwise mutual information)</a:t>
            </a:r>
          </a:p>
          <a:p>
            <a:pPr marL="579119" indent="-579119" defTabSz="788669">
              <a:spcBef>
                <a:spcPts val="2400"/>
              </a:spcBef>
              <a:defRPr sz="3839"/>
            </a:pPr>
            <a:r>
              <a:t>Dense vectors via SVD or learned by predicting the missing word</a:t>
            </a:r>
          </a:p>
        </p:txBody>
      </p:sp>
    </p:spTree>
  </p:cSld>
  <p:clrMapOvr>
    <a:masterClrMapping/>
  </p:clrMapOvr>
  <p:transition spd="med"/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4" name="Summary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Summary</a:t>
            </a:r>
          </a:p>
        </p:txBody>
      </p:sp>
      <p:sp>
        <p:nvSpPr>
          <p:cNvPr id="1205" name="Use as input embeddings in neural networks…"/>
          <p:cNvSpPr txBox="1">
            <a:spLocks noGrp="1"/>
          </p:cNvSpPr>
          <p:nvPr>
            <p:ph type="body" idx="1"/>
          </p:nvPr>
        </p:nvSpPr>
        <p:spPr>
          <a:xfrm>
            <a:off x="3312566" y="3083864"/>
            <a:ext cx="19095945" cy="920088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500"/>
              </a:spcBef>
              <a:defRPr sz="4000"/>
            </a:pPr>
            <a:r>
              <a:t>Use as input embeddings in neural networks</a:t>
            </a:r>
          </a:p>
          <a:p>
            <a:pPr lvl="1">
              <a:spcBef>
                <a:spcPts val="2500"/>
              </a:spcBef>
              <a:defRPr sz="4000"/>
            </a:pPr>
            <a:r>
              <a:t>Start with pretrained </a:t>
            </a:r>
          </a:p>
          <a:p>
            <a:pPr lvl="2">
              <a:spcBef>
                <a:spcPts val="2500"/>
              </a:spcBef>
              <a:defRPr sz="4000"/>
            </a:pPr>
            <a:r>
              <a:t>Keep frozen - just train other parts of the network</a:t>
            </a:r>
          </a:p>
          <a:p>
            <a:pPr lvl="2">
              <a:spcBef>
                <a:spcPts val="2500"/>
              </a:spcBef>
              <a:defRPr sz="4000"/>
            </a:pPr>
            <a:r>
              <a:t>Better to also fine-tune (train) the embeddings as well</a:t>
            </a:r>
          </a:p>
        </p:txBody>
      </p:sp>
    </p:spTree>
  </p:cSld>
  <p:clrMapOvr>
    <a:masterClrMapping/>
  </p:clrMapOvr>
  <p:transition spd="med"/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7" name="Next time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Next time</a:t>
            </a:r>
          </a:p>
        </p:txBody>
      </p:sp>
      <p:sp>
        <p:nvSpPr>
          <p:cNvPr id="1208" name="Dense vectors vs sparse vectors…"/>
          <p:cNvSpPr txBox="1">
            <a:spLocks noGrp="1"/>
          </p:cNvSpPr>
          <p:nvPr>
            <p:ph type="body" idx="1"/>
          </p:nvPr>
        </p:nvSpPr>
        <p:spPr>
          <a:xfrm>
            <a:off x="3312566" y="3083864"/>
            <a:ext cx="19095945" cy="9200883"/>
          </a:xfrm>
          <a:prstGeom prst="rect">
            <a:avLst/>
          </a:prstGeom>
        </p:spPr>
        <p:txBody>
          <a:bodyPr/>
          <a:lstStyle/>
          <a:p>
            <a:pPr>
              <a:spcBef>
                <a:spcPts val="2500"/>
              </a:spcBef>
              <a:defRPr sz="4000"/>
            </a:pPr>
            <a:r>
              <a:t>Dense vectors vs sparse vectors</a:t>
            </a:r>
          </a:p>
          <a:p>
            <a:pPr>
              <a:spcBef>
                <a:spcPts val="2500"/>
              </a:spcBef>
              <a:defRPr sz="4000"/>
            </a:pPr>
            <a:r>
              <a:t>Learning word embeddings by predicting vs counting</a:t>
            </a:r>
          </a:p>
          <a:p>
            <a:pPr>
              <a:spcBef>
                <a:spcPts val="2500"/>
              </a:spcBef>
              <a:defRPr sz="4000"/>
            </a:pPr>
            <a:r>
              <a:t>Word2vec (Skip-gram with negative sampling)</a:t>
            </a:r>
          </a:p>
        </p:txBody>
      </p:sp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White">
      <a:majorFont>
        <a:latin typeface="Gill Sans"/>
        <a:ea typeface="Gill Sans"/>
        <a:cs typeface="Gill Sans"/>
      </a:majorFont>
      <a:minorFont>
        <a:latin typeface="Helvetica Neue Medium"/>
        <a:ea typeface="Helvetica Neue Medium"/>
        <a:cs typeface="Helvetica Neue Medium"/>
      </a:minorFont>
    </a:fontScheme>
    <a:fmtScheme name="Whit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30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+mn-lt"/>
            <a:ea typeface="+mn-ea"/>
            <a:cs typeface="+mn-cs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71437" tIns="71437" rIns="71437" bIns="71437" numCol="1" spcCol="38100" rtlCol="0" anchor="ctr">
        <a:spAutoFit/>
      </a:bodyPr>
      <a:lstStyle>
        <a:defPPr marL="0" marR="0" indent="0" algn="ctr" defTabSz="821531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44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Helvetica Neue"/>
            <a:ea typeface="Helvetica Neue"/>
            <a:cs typeface="Helvetica Neue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4532</Words>
  <Application>Microsoft Office PowerPoint</Application>
  <PresentationFormat>Custom</PresentationFormat>
  <Paragraphs>938</Paragraphs>
  <Slides>74</Slides>
  <Notes>16</Notes>
  <HiddenSlides>7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74</vt:i4>
      </vt:variant>
    </vt:vector>
  </HeadingPairs>
  <TitlesOfParts>
    <vt:vector size="84" baseType="lpstr">
      <vt:lpstr>Helvetica Light</vt:lpstr>
      <vt:lpstr>Helvetica Neue</vt:lpstr>
      <vt:lpstr>Helvetica Neue Light</vt:lpstr>
      <vt:lpstr>Helvetica Neue Thin</vt:lpstr>
      <vt:lpstr>Times Roman</vt:lpstr>
      <vt:lpstr>Arial</vt:lpstr>
      <vt:lpstr>Calibri</vt:lpstr>
      <vt:lpstr>Cambria Math</vt:lpstr>
      <vt:lpstr>Georgia</vt:lpstr>
      <vt:lpstr>White</vt:lpstr>
      <vt:lpstr>Word Embeddings</vt:lpstr>
      <vt:lpstr>CMPT 413/713: Natural Language Processing</vt:lpstr>
      <vt:lpstr>How to represent words?</vt:lpstr>
      <vt:lpstr>Representing words</vt:lpstr>
      <vt:lpstr>Can measure similarity of words</vt:lpstr>
      <vt:lpstr>Representing words</vt:lpstr>
      <vt:lpstr>Words in sentences</vt:lpstr>
      <vt:lpstr>Looking up embeddings</vt:lpstr>
      <vt:lpstr>Where do these word embeddings come from?</vt:lpstr>
      <vt:lpstr>Task specific training</vt:lpstr>
      <vt:lpstr>Pretraining and task-specific fine-tuning</vt:lpstr>
      <vt:lpstr>Summary of three options</vt:lpstr>
      <vt:lpstr>Neural Networks with Word Embeddings</vt:lpstr>
      <vt:lpstr>Estimating the probability of the next word</vt:lpstr>
      <vt:lpstr>Language modelling with neural networks</vt:lpstr>
      <vt:lpstr>Neural Bag-of-Words (NBOW)</vt:lpstr>
      <vt:lpstr>Feedforward Neural LMs</vt:lpstr>
      <vt:lpstr>Language modelling with neural networks</vt:lpstr>
      <vt:lpstr>Feedforward Neural Language Model (Neural BOW LM)</vt:lpstr>
      <vt:lpstr>Neural networks</vt:lpstr>
      <vt:lpstr>Computational graph</vt:lpstr>
      <vt:lpstr>Simplified example</vt:lpstr>
      <vt:lpstr>RNNs for Language Modeling</vt:lpstr>
      <vt:lpstr>Learning contextualized word embeddings with RNNs: ELMo</vt:lpstr>
      <vt:lpstr>Transformers for Language Modeling</vt:lpstr>
      <vt:lpstr>How does this pretraining work?</vt:lpstr>
      <vt:lpstr>Representing words by their context</vt:lpstr>
      <vt:lpstr>Distributional hypothesis</vt:lpstr>
      <vt:lpstr>Distributional hypothesis</vt:lpstr>
      <vt:lpstr>How are these embeddings learned?</vt:lpstr>
      <vt:lpstr>How are these embeddings learned?</vt:lpstr>
      <vt:lpstr>Representing words as vectors</vt:lpstr>
      <vt:lpstr>Problem with raw frequencies</vt:lpstr>
      <vt:lpstr>PPMI</vt:lpstr>
      <vt:lpstr>Sparse vs dense vectors</vt:lpstr>
      <vt:lpstr>Why dense vectors?</vt:lpstr>
      <vt:lpstr>Using SVD for obtaining dense vectors</vt:lpstr>
      <vt:lpstr>What is wrong with using SVD?</vt:lpstr>
      <vt:lpstr>Why dense vectors?</vt:lpstr>
      <vt:lpstr>How are these embeddings learned?</vt:lpstr>
      <vt:lpstr>Many different ways to learn the representations</vt:lpstr>
      <vt:lpstr>Many different ways to learn the representations</vt:lpstr>
      <vt:lpstr>Summary</vt:lpstr>
      <vt:lpstr>PowerPoint Presentation</vt:lpstr>
      <vt:lpstr>Notes on count based word vectors</vt:lpstr>
      <vt:lpstr>Representing words as vectors</vt:lpstr>
      <vt:lpstr>Example</vt:lpstr>
      <vt:lpstr>Problem with raw frequencies</vt:lpstr>
      <vt:lpstr>Problem with raw frequencies</vt:lpstr>
      <vt:lpstr>Tf-idf </vt:lpstr>
      <vt:lpstr>Tf-idf </vt:lpstr>
      <vt:lpstr>Tf-idf combine two factors</vt:lpstr>
      <vt:lpstr>Raw counts vs tf-idf</vt:lpstr>
      <vt:lpstr>Tf-idf summary</vt:lpstr>
      <vt:lpstr>Problem with raw frequencies</vt:lpstr>
      <vt:lpstr>PPMI</vt:lpstr>
      <vt:lpstr>Computing PPMI on a term-context matrix</vt:lpstr>
      <vt:lpstr>Computing PPMI on a term-context matrix</vt:lpstr>
      <vt:lpstr>Computing PPMI on a term-context matrix</vt:lpstr>
      <vt:lpstr>PowerPoint Presentation</vt:lpstr>
      <vt:lpstr>Issues with PMI</vt:lpstr>
      <vt:lpstr>Weighting PMI</vt:lpstr>
      <vt:lpstr>Smoothed PPMI (add-2)</vt:lpstr>
      <vt:lpstr>PPMI versus add-2 smoothed PPMI</vt:lpstr>
      <vt:lpstr>Building word vectors by counting</vt:lpstr>
      <vt:lpstr>Sparse vs dense vectors</vt:lpstr>
      <vt:lpstr>Why dense vectors?</vt:lpstr>
      <vt:lpstr>Using SVD for obtaining dense vectors</vt:lpstr>
      <vt:lpstr>What is wrong with using SVD?</vt:lpstr>
      <vt:lpstr>Why dense vectors?</vt:lpstr>
      <vt:lpstr>How are these embeddings learned?</vt:lpstr>
      <vt:lpstr>Summary</vt:lpstr>
      <vt:lpstr>Summary</vt:lpstr>
      <vt:lpstr>Next time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Richard Peng</cp:lastModifiedBy>
  <cp:revision>1</cp:revision>
  <dcterms:modified xsi:type="dcterms:W3CDTF">2026-09-24T15:46:49Z</dcterms:modified>
</cp:coreProperties>
</file>